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E4_317100E4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F6_8E75D29F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F9_CDE43323.xml" ContentType="application/vnd.ms-powerpoint.comments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908" r:id="rId4"/>
    <p:sldMasterId id="2147485092" r:id="rId5"/>
  </p:sldMasterIdLst>
  <p:notesMasterIdLst>
    <p:notesMasterId r:id="rId14"/>
  </p:notesMasterIdLst>
  <p:sldIdLst>
    <p:sldId id="459" r:id="rId6"/>
    <p:sldId id="460" r:id="rId7"/>
    <p:sldId id="484" r:id="rId8"/>
    <p:sldId id="500" r:id="rId9"/>
    <p:sldId id="502" r:id="rId10"/>
    <p:sldId id="504" r:id="rId11"/>
    <p:sldId id="505" r:id="rId12"/>
    <p:sldId id="506" r:id="rId1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32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F27B05-B380-A508-B94F-828C498CC063}" name="Maria Tullin" initials="MT" userId="S::mtullin@horizonmedia.com::aac8871a-2cd6-466b-a6e8-5454b63820f3" providerId="AD"/>
  <p188:author id="{B177B80A-38B8-313E-352D-5C345BCF5D79}" name="Radames Roldan" initials="RR" userId="S::rroldan@horizoncommerce.com::9e720aa8-609b-4402-97ba-d7b699c305f3" providerId="AD"/>
  <p188:author id="{2D50510C-E4A5-A47D-F059-E2D618C1F8B0}" name="Ali Yang" initials="AY" userId="S::AYang@horizon-next.com::6506549a-74a7-4c9e-8759-1808e4a7aa04" providerId="AD"/>
  <p188:author id="{6D4FF512-BC90-AB35-AC06-A8FD322413F8}" name="Brian Dahms" initials="BD" userId="S::bdahms@horizon-next.com::c3e8a035-2b44-468e-a363-2e8278c704f5" providerId="AD"/>
  <p188:author id="{ACFFE415-E7D5-FDDD-1C8C-C221D1B25509}" name="Heather Kleeman" initials="HK" userId="S::hkleeman@horizon-next.com::0a5fac54-dc21-4d72-9564-77182dbbb87c" providerId="AD"/>
  <p188:author id="{C8B41A17-95B5-FDF7-E521-FC62BFDA3B0A}" name="Cherie Hankin Calingasan" initials="CHC" userId="S::chcalingasan@horizon-next.com::5d1e5b94-7bfe-4001-b20a-c5d925fb6b1d" providerId="AD"/>
  <p188:author id="{CCEE2F20-2426-D9C3-6B6F-75D9C0E21729}" name="Jacqueline Conklin" initials="JC" userId="S::jconklin@horizon-next.com::7a1b4aa6-231c-4fa2-ab7a-b4211ce74772" providerId="AD"/>
  <p188:author id="{2D7BE220-2389-D2C7-0A5F-3A83AC3B1BC8}" name="David Yuan" initials="DY" userId="S::dyuan@night-market.com::4ce66996-e684-448d-8d55-19d0c50742fb" providerId="AD"/>
  <p188:author id="{9E953E28-03F9-763C-A388-A6685DECEC19}" name="Michael O'Connor" initials="MO" userId="S::moconnor@horizon-next.com::1fe67b22-e8c6-43ad-b0a4-82b4277c39ee" providerId="AD"/>
  <p188:author id="{E46FFD2F-0D95-F072-0A44-6A233510C735}" name="Maggie Kmiecik" initials="MK" userId="S::mkmiecik@horizoncommerce.com::22e34a70-8e61-46c8-adf2-52cddd3fd88c" providerId="AD"/>
  <p188:author id="{C3156D32-7251-3E8E-AA1D-BD131D92E721}" name="Zoe Gonzalez" initials="ZG" userId="S::zgonzalez@horizon-next.com::4b3816bc-0205-4ffc-a237-2768f2a151f1" providerId="AD"/>
  <p188:author id="{392DA135-8D19-FD71-E11E-593DBDF444A3}" name="Jennifer Lovold" initials="JL" userId="S::JLovold@horizoncommerce.com::7629fd42-3616-4afb-b1ae-cf47d47de7b2" providerId="AD"/>
  <p188:author id="{6D9A9747-D274-8A81-B369-9B256C2FB221}" name="Jordan Shapiro" initials="JS" userId="S::JoShapiro@horizoncommerce.com::92b2466c-6413-4671-86a6-7745ec6dd2d5" providerId="AD"/>
  <p188:author id="{3F35414A-AEF5-1B25-4AA8-83026E71FCAB}" name="Lauren Russo" initials="LR" userId="S::Lrusso@horizonmedia.com::0e8da455-1146-4839-9530-01b993b98919" providerId="AD"/>
  <p188:author id="{45AEA14E-F348-2455-E479-E09B15A18E88}" name="Courtney Hirose" initials="CH" userId="S::chirose@horizonmedia.com::7dddb706-2bd4-4e77-956b-f62f7c083db7" providerId="AD"/>
  <p188:author id="{0C5F3751-A1F9-899A-6F08-6EBCF294A124}" name="Yamila Frej" initials="YF" userId="S::yfrej@horizon-next.com::0c5b4632-f555-4803-8d4f-98a7c5d56af4" providerId="AD"/>
  <p188:author id="{B4E49151-52B7-4ADE-CBCC-D5C2D7FB0D08}" name="Carmel Shalev" initials="CS" userId="S::cshalev@horizon-next.com::fe158908-70f3-442c-8138-5d71f3582556" providerId="AD"/>
  <p188:author id="{2ECB075C-F1BA-B8DD-8861-F4FE2C5108D8}" name="Michelle Posen" initials="MP" userId="S::mposen@horizon-big.com::3fc1eaf9-8e67-4023-b6a8-a89c65ed421c" providerId="AD"/>
  <p188:author id="{7B0CE265-204A-B1E4-6F77-EA9637F1DA98}" name="Rachel Wallach-Baker" initials="RW" userId="S::rwbaker@horizon-next.com::ae6a4867-02dc-46e9-be97-83d8f6a05418" providerId="AD"/>
  <p188:author id="{A7C97466-916D-49AC-698C-CE106D8B70E2}" name="Khasai Ramsey" initials="" userId="S::KRamsey@horizonmedia.com::15459d6c-7aaf-457e-99b1-b095dbba96b7" providerId="AD"/>
  <p188:author id="{77122E69-55AA-84A8-BEBB-068E0D7B3484}" name="Kevin McGehee" initials="" userId="S::KeMcGehee@horizonmedia.com::7150370f-7a21-46fa-8a13-c41b1d91e936" providerId="AD"/>
  <p188:author id="{B50AF875-8BFF-7D0A-559A-4D10DF118FF0}" name="Yamila Frej" initials="YF" userId="S::YFrej@horizon-next.com::0c5b4632-f555-4803-8d4f-98a7c5d56af4" providerId="AD"/>
  <p188:author id="{665F5676-8F3F-93E2-7AAC-CC9966EBAE02}" name="Radames Roldan" initials="" userId="S::RRoldan@horizoncommerce.com::9e720aa8-609b-4402-97ba-d7b699c305f3" providerId="AD"/>
  <p188:author id="{D6680478-815C-C307-0DE8-4FBA3E9D499E}" name="Julie Russell" initials="JR" userId="S::jrussell@horizon-next.com::71981a0d-5b5d-4a9e-b6b3-a84f0b11f538" providerId="AD"/>
  <p188:author id="{DBBD7C83-13FC-3D01-DC76-A685EC661261}" name="Andrew Jones" initials="AJ" userId="S::anjones@night-market.com::1e283303-1d46-4200-8cb5-02aae40765bc" providerId="AD"/>
  <p188:author id="{A9BDDA83-55D2-24CE-40A5-6A2339A863F3}" name="Julie Heppt" initials="JH" userId="S::jheppt@horizon-next.com::820f031e-d33b-4625-ab9a-d1d30e453649" providerId="AD"/>
  <p188:author id="{B6958D89-B9D4-40DF-F9E5-EB4EDB83D794}" name="Rachel Hazelwood" initials="RH" userId="S::RHazelwood@horizoncommerce.com::5d7a4f47-d9d9-4ea5-a2f8-08b612e116e8" providerId="AD"/>
  <p188:author id="{599CCF8F-5C19-4D4D-6645-AF77D68446FE}" name="Caroline Cook" initials="CC" userId="S::ccook@horizon-next.com::58e9ba11-6296-409c-9e8b-9b1730435328" providerId="AD"/>
  <p188:author id="{CAEC9893-3F60-F5B3-BAA4-9999CC108C82}" name="Katie Comerford" initials="KC" userId="S::kcomerford@horizon-next.com::a9d30a89-c7c6-48e7-98e1-bc24511332b8" providerId="AD"/>
  <p188:author id="{ACAF8296-8479-9163-3485-99A7A3E259A9}" name="Laila Leszyk" initials="" userId="S::lleszyk@horizon-next.com::ff5afe76-66ef-4425-b81d-0400e676aab6" providerId="AD"/>
  <p188:author id="{12A5FAA4-F185-7CBE-3A5E-7D5C2620670F}" name="Gene Turner" initials="GT" userId="S::gturner@horizon-next.com::69237c72-5d4d-4ad8-822d-212f9a7da37c" providerId="AD"/>
  <p188:author id="{B7E96FA9-8546-5300-DCDA-AAF29808BB43}" name="Katie Kelly" initials="KK" userId="S::KaKelly@night-market.com::c591806e-921f-49ac-bb98-c06d433d3659" providerId="AD"/>
  <p188:author id="{E3FFFEAA-96E3-FB4B-E318-9DA50DE71550}" name="Keith Brewer" initials="KB" userId="S::kbrewer@horizon-next.com::b360ee03-826a-433c-8564-8fb185862b3b" providerId="AD"/>
  <p188:author id="{63B871AC-2781-A780-6E10-F3F6D650CD3E}" name="Ken Nippes" initials="KN" userId="S::knippes@horizon-next.com::4c270593-5dd1-44d7-b817-2f59ed9e5600" providerId="AD"/>
  <p188:author id="{239A7FAE-F53F-E3AF-6F01-3273BE19676B}" name="Andrew Jones" initials="AJ" userId="S::anjones@horizoncommerce.com::1e283303-1d46-4200-8cb5-02aae40765bc" providerId="AD"/>
  <p188:author id="{27505EB9-78FA-A67D-A832-E95A449AE717}" name="Lauren Russo" initials="LR" userId="S::lrusso@horizonmedia.com::0e8da455-1146-4839-9530-01b993b98919" providerId="AD"/>
  <p188:author id="{AB20F4C5-F8A8-E422-878E-240F3B2AB22A}" name="Rachel Hazelwood" initials="RH" userId="S::rhazelwood@horizoncommerce.com::5d7a4f47-d9d9-4ea5-a2f8-08b612e116e8" providerId="AD"/>
  <p188:author id="{7168ABC6-6B29-1523-5D89-AF6799914902}" name="Emmeline van der Post" initials="EP" userId="S::evanderpost@night-market.com::752d3862-efcb-4c5a-8aff-afe147443aaf" providerId="AD"/>
  <p188:author id="{D215A1D3-4D04-5B89-2AB8-952711FC1965}" name="Will McGihon" initials="WM" userId="S::WMcGihon@horizoncommerce.com::420d5f3b-cd55-4f5a-9090-ad5f75817626" providerId="AD"/>
  <p188:author id="{6FE46ED5-506B-07D1-0B72-E2A08BAEB799}" name="Christi Townsend" initials="CT" userId="S::CTownsend@horizoncommerce.com::0439edfa-92c8-4b49-8232-31d93a657f0a" providerId="AD"/>
  <p188:author id="{F50326E2-9553-99E2-C6EA-068841B9EA43}" name="Jamie Leder" initials="JL" userId="S::jleder@horizonmedia.com::30735221-dc81-42b9-bc00-b7ddf7651edd" providerId="AD"/>
  <p188:author id="{231433E8-68A9-7EE2-6F6A-ECE7C8AC7E7F}" name="Mia Cosgrove" initials="MC" userId="S::mcosgrove@horizon-next.com::cb0231d0-9661-4b91-8b58-17eeb0ee099d" providerId="AD"/>
  <p188:author id="{5637B7E8-B415-49F5-AA28-0570E820F3ED}" name="Emmeline van der Post" initials="Ev" userId="S::evanderpost@horizoncommerce.com::752d3862-efcb-4c5a-8aff-afe147443aaf" providerId="AD"/>
  <p188:author id="{F59DE8EA-FB97-7D95-A991-DF44BBCFBF97}" name="Randolph Browning" initials="RB" userId="S::rbrowning@horizoncommerce.com::73f245ed-1392-4c97-b1f9-93db3a94fcaf" providerId="AD"/>
  <p188:author id="{1EE9D7EB-9E95-96CD-3FC7-C5ADC864B138}" name="Andrew Jones" initials="AJ" userId="S::AnJones@horizoncommerce.com::1e283303-1d46-4200-8cb5-02aae40765bc" providerId="AD"/>
  <p188:author id="{5A8E3CF2-76DB-56CF-61F1-B2E06ADC598D}" name="Anita Palachan" initials="AP" userId="S::apalachan@horizonmedia.com::dfd23ba8-c670-4264-a399-78289c5b452d" providerId="AD"/>
  <p188:author id="{67CAEBF5-C439-8081-438C-028B3B5CC171}" name="Suzanna Hodges" initials="SH" userId="S::shodges@horizon-next.com::57b7a683-a0ff-485a-89ec-576eb853283a" providerId="AD"/>
  <p188:author id="{DCF845FC-8C30-099C-28F4-217922633308}" name="Randolph Browning" initials="" userId="S::rbrowning@night-market.com::73f245ed-1392-4c97-b1f9-93db3a94fcaf" providerId="AD"/>
  <p188:author id="{E0A7BFFC-7B78-9645-0711-F8402E249ABE}" name="Katie Kelly" initials="" userId="S::KaKelly@horizoncommerce.com::c591806e-921f-49ac-bb98-c06d433d3659" providerId="AD"/>
  <p188:author id="{B7265EFD-3054-6BE8-86B1-6AD045ABA49C}" name="Carla Velasquez-Deulofeu" initials="CV" userId="S::CVelasquez-Deulofeu@horizoncommerce.com::69738540-5d8d-44b3-8129-cf4fa5497f37" providerId="AD"/>
  <p188:author id="{B48395FE-BF38-A2BE-936B-44D6B106B3C4}" name="Camilla Cunningham" initials="CC" userId="S::ccunningham@horizon-big.com::7845fc2b-c4e7-4e7c-8892-b917a3635df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B449"/>
    <a:srgbClr val="13405B"/>
    <a:srgbClr val="007CA7"/>
    <a:srgbClr val="00B2AA"/>
    <a:srgbClr val="006284"/>
    <a:srgbClr val="17274A"/>
    <a:srgbClr val="002740"/>
    <a:srgbClr val="004D85"/>
    <a:srgbClr val="00A0A5"/>
    <a:srgbClr val="003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28" y="52"/>
      </p:cViewPr>
      <p:guideLst>
        <p:guide orient="horz" pos="3432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comments/modernComment_1E4_317100E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E5C7C3-B770-4D37-920B-04A6A97EBFFE}" authorId="{6D9A9747-D274-8A81-B369-9B256C2FB221}" status="resolved" created="2026-01-26T20:28:59.761" complete="100000">
    <pc:sldMkLst xmlns:pc="http://schemas.microsoft.com/office/powerpoint/2013/main/command">
      <pc:docMk/>
      <pc:sldMk cId="1790914436" sldId="257"/>
    </pc:sldMkLst>
    <p188:txBody>
      <a:bodyPr/>
      <a:lstStyle/>
      <a:p>
        <a:r>
          <a:rPr lang="en-US"/>
          <a:t>Swap what and where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2-04T15:18:18.581" authorId="{392DA135-8D19-FD71-E11E-593DBDF444A3}"/>
          </p223:rxn>
        </p223:reactions>
      </p:ext>
    </p188:extLst>
  </p188:cm>
</p188:cmLst>
</file>

<file path=ppt/comments/modernComment_1F6_8E75D29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CF57676-8ECE-4E92-B16A-768D6733C375}" authorId="{392DA135-8D19-FD71-E11E-593DBDF444A3}" status="resolved" created="2026-01-05T23:16:52.995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390086303" sldId="502"/>
      <ac:spMk id="18" creationId="{17B3C89B-DDA6-B769-27F4-A2FC4BE84727}"/>
      <ac:txMk cp="0" len="108">
        <ac:context len="140" hash="3044483538"/>
      </ac:txMk>
    </ac:txMkLst>
    <p188:pos x="4591550" y="279895"/>
    <p188:replyLst>
      <p188:reply id="{865F9C00-67AD-435B-97D2-8666158D105D}" authorId="{B7265EFD-3054-6BE8-86B1-6AD045ABA49C}" created="2026-01-06T14:19:39.001">
        <p188:txBody>
          <a:bodyPr/>
          <a:lstStyle/>
          <a:p>
            <a:r>
              <a:rPr lang="en-US"/>
              <a:t>I’m not sure what you’re asking here - This is GA4 session data… This isn’t product data...
</a:t>
            </a:r>
          </a:p>
        </p188:txBody>
      </p188:reply>
      <p188:reply id="{45D3E4E9-12AE-4690-BF03-37115FE6A004}" authorId="{392DA135-8D19-FD71-E11E-593DBDF444A3}" created="2026-01-06T21:24:24.866">
        <p188:txBody>
          <a:bodyPr/>
          <a:lstStyle/>
          <a:p>
            <a:r>
              <a:rPr lang="en-US"/>
              <a:t>I’m trying to get at what channel is driving traffic to PDPs. Is it paid? And is it paid shopping? </a:t>
            </a:r>
          </a:p>
        </p188:txBody>
      </p188:reply>
      <p188:reply id="{120AF505-EBA8-4A0C-AFCB-CC95EA4024C8}" authorId="{B7265EFD-3054-6BE8-86B1-6AD045ABA49C}" created="2026-01-06T21:41:14.368">
        <p188:txBody>
          <a:bodyPr/>
          <a:lstStyle/>
          <a:p>
            <a:r>
              <a:rPr lang="en-US"/>
              <a:t>I don’t have that breakout, nor is it shown here but I can get it… would you want a new visual for this as well? 
This is more holistic only broken down by device type...but if you think a channel grouping could tell a better story I can create that table.
</a:t>
            </a:r>
          </a:p>
        </p188:txBody>
      </p188:reply>
      <p188:reply id="{05CD8071-0392-4600-A3F1-ED6BBB01234B}" authorId="{392DA135-8D19-FD71-E11E-593DBDF444A3}" created="2026-01-20T23:18:37.173">
        <p188:txBody>
          <a:bodyPr/>
          <a:lstStyle/>
          <a:p>
            <a:r>
              <a:rPr lang="en-US"/>
              <a:t>I don’t think we need a visual but have the data for the talk track and we can follow up with details if they want it</a:t>
            </a:r>
          </a:p>
        </p188:txBody>
      </p188:reply>
    </p188:replyLst>
    <p188:txBody>
      <a:bodyPr/>
      <a:lstStyle/>
      <a:p>
        <a:r>
          <a:rPr lang="en-US"/>
          <a:t>[@Carla Velasquez-Deulofeu]  can you tell if these are coming in on a product feed?</a:t>
        </a:r>
      </a:p>
    </p188:txBody>
  </p188:cm>
</p188:cmLst>
</file>

<file path=ppt/comments/modernComment_1F9_CDE4332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FC85446-117B-49AC-93A9-479947493CF7}" authorId="{6D9A9747-D274-8A81-B369-9B256C2FB221}" status="resolved" created="2025-12-29T18:17:20.521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54284579" sldId="505"/>
      <ac:spMk id="25" creationId="{56587734-0C25-2472-2FB2-12A83D11C0C4}"/>
    </ac:deMkLst>
    <p188:replyLst>
      <p188:reply id="{9A7ABC56-E025-4D26-B2C1-E140536A828F}" authorId="{B7265EFD-3054-6BE8-86B1-6AD045ABA49C}" created="2026-01-05T21:52:29.258">
        <p188:txBody>
          <a:bodyPr/>
          <a:lstStyle/>
          <a:p>
            <a:r>
              <a:rPr lang="en-US"/>
              <a:t>All GA4 data</a:t>
            </a:r>
          </a:p>
        </p188:txBody>
      </p188:reply>
      <p188:reply id="{E9E5D1E0-3F2D-4457-B6E9-CDE09E498A04}" authorId="{6D9A9747-D274-8A81-B369-9B256C2FB221}" created="2026-01-06T16:20:53.891">
        <p188:txBody>
          <a:bodyPr/>
          <a:lstStyle/>
          <a:p>
            <a:r>
              <a:rPr lang="en-US"/>
              <a:t>Lol, meant for my statement but I guess the GA4 data supports it enough</a:t>
            </a:r>
          </a:p>
        </p188:txBody>
      </p188:reply>
    </p188:replyLst>
    <p188:txBody>
      <a:bodyPr/>
      <a:lstStyle/>
      <a:p>
        <a:r>
          <a:rPr lang="en-US"/>
          <a:t>Get sources for this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81B32E7-0916-BB49-895C-AECA9D6419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Avenir Next LT Pro" panose="020B0504020202020204" pitchFamily="34" charset="77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E28B15-6B1D-9646-9D1E-75AA6357316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Avenir Next LT Pro" panose="020B0504020202020204" pitchFamily="34" charset="77"/>
              </a:defRPr>
            </a:lvl1pPr>
          </a:lstStyle>
          <a:p>
            <a:pPr>
              <a:defRPr/>
            </a:pPr>
            <a:fld id="{A1F1C37A-FA55-1C49-B48D-209D44EEA36A}" type="datetimeFigureOut">
              <a:rPr lang="en-US" smtClean="0"/>
              <a:pPr>
                <a:defRPr/>
              </a:pPr>
              <a:t>8/3/2026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52F77C7-E035-2946-BC08-5466FD6030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3F449BA-52E8-3549-9DC9-F71F39E1A5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EF490-BB14-B048-8368-2A8BD316EDF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>
                <a:latin typeface="Avenir Next LT Pro" panose="020B0504020202020204" pitchFamily="34" charset="77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16755-CE0D-A541-8D5F-A107B4D2F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Avenir Next LT Pro" panose="020B0504020202020204" pitchFamily="34" charset="77"/>
              </a:defRPr>
            </a:lvl1pPr>
          </a:lstStyle>
          <a:p>
            <a:pPr>
              <a:defRPr/>
            </a:pPr>
            <a:fld id="{4AA59A63-F837-CF4C-8906-49CCB333AF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venir Next LT Pro" panose="020B0504020202020204" pitchFamily="34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AB8FB-7ACF-6774-19EB-5C9FF597B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F089A3-3ADC-B68C-F222-8D6F519B7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3E008-16D6-6418-4EBA-BA328A977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82B33-F31C-DDE8-AA5F-AE39821DED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E4C67E-71B3-4B27-AAA3-2DA96DC2F1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0730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31524-BBC9-0D8D-B538-C9872D33F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F6875A-F9A4-FBD3-264A-6AA2387AEB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95BA7-4E70-6017-621F-595FEE850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5A229-8FD5-8A50-5569-0EF93DD23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E4C67E-71B3-4B27-AAA3-2DA96DC2F1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4564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5B0A5-16C1-13B7-3D71-C7B5F11C7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85DCE-C3CE-6097-3429-2466C28B1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575922-76BE-B917-209A-A1070C0BD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318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A04C4-FA77-B335-E1A3-2429C95EC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A9F7E1-E081-4794-5AF3-E2AD01AE3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1CF08D-0209-2568-8409-F4A74DEC3A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>
              <a:solidFill>
                <a:schemeClr val="tx1"/>
              </a:solidFill>
              <a:latin typeface="Avenir Next LT Pro" panose="020B0504020202020204" pitchFamily="34" charset="77"/>
              <a:ea typeface="+mn-ea"/>
              <a:cs typeface="Poppin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E8B76-F8D7-3225-AB20-D16953163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AA59A63-F837-CF4C-8906-49CCB333AF1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05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60B6C-86EE-B52E-5D92-AB60ECDCC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8C3500-9002-ECFD-ECAD-22B983FC4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CEDD3-7B6C-5D70-6794-EB2864E5C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316F2-62D9-0625-CED5-8968C8245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C017AC-3EE7-4777-8678-D846DFE970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5945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A0924-9C16-F997-BF78-F1C7CDE84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6C1F8D-27B6-A663-F88E-5FA848849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A9118A-D459-8138-8B04-B3C31B8EC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46761-E620-38B7-0CAE-EA199A01EC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C017AC-3EE7-4777-8678-D846DFE970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4850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8B698-DD9A-702B-6450-79C3597B0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2D9F52-BCB5-AC66-11C5-3FEBA37E6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0A617-F8EC-B6D7-8017-DE2C1EF0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CBFA6-49CC-35DF-7782-974DA03D8C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C017AC-3EE7-4777-8678-D846DFE970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4622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2AD68-360C-8D5A-B37A-54CDBFC25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7248A5-25EE-6B4F-7C29-2B90C5A50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BB7BC-5D89-3803-C9AE-B745574EE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D4137-EE4A-D422-4A37-F74F383B2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C017AC-3EE7-4777-8678-D846DFE970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0901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ean Slide No 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4717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665692"/>
            <a:ext cx="10515600" cy="561975"/>
          </a:xfrm>
        </p:spPr>
        <p:txBody>
          <a:bodyPr anchor="t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600" b="1" i="0" kern="1200" dirty="0">
                <a:solidFill>
                  <a:schemeClr val="tx1"/>
                </a:solidFill>
                <a:latin typeface="Gotham Black" pitchFamily="2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9347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289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USE TH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632AED-F102-EF14-6C61-C6CBA3F2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91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4012F-607D-3AED-43B8-BBEDB5921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800554-B66E-6BB6-808D-17FF36C8E4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64111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A43B5D7-4775-5D42-916D-FC3370430C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786314"/>
            <a:ext cx="105156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5EB8BB7-A9B1-3BE9-A210-E61CC1446FDC}"/>
              </a:ext>
            </a:extLst>
          </p:cNvPr>
          <p:cNvSpPr txBox="1">
            <a:spLocks/>
          </p:cNvSpPr>
          <p:nvPr/>
        </p:nvSpPr>
        <p:spPr>
          <a:xfrm>
            <a:off x="9491412" y="6401398"/>
            <a:ext cx="2556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lanOT-Book" panose="0200050303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aseline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  <a:sym typeface="Symbol" panose="05050102010706020507" pitchFamily="18" charset="2"/>
              </a:rPr>
              <a:t>HORIZON COMMERCE  </a:t>
            </a:r>
            <a:fld id="{CF067BAB-ACAF-470B-88DC-99E80D1D4992}" type="slidenum">
              <a:rPr lang="en-US" sz="700" smtClean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00">
              <a:solidFill>
                <a:schemeClr val="bg1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045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9" r:id="rId1"/>
    <p:sldLayoutId id="2147485151" r:id="rId2"/>
    <p:sldLayoutId id="2147485155" r:id="rId3"/>
    <p:sldLayoutId id="2147485156" r:id="rId4"/>
  </p:sldLayoutIdLst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en-US" altLang="en-US" sz="2800" b="0" i="0" kern="1200" dirty="0">
          <a:solidFill>
            <a:srgbClr val="00355B"/>
          </a:solidFill>
          <a:latin typeface="Poppins SemiBold" panose="00000700000000000000" pitchFamily="2" charset="0"/>
          <a:ea typeface="+mj-ea"/>
          <a:cs typeface="Poppins SemiBold" panose="00000700000000000000" pitchFamily="2" charset="0"/>
        </a:defRPr>
      </a:lvl1pPr>
      <a:lvl2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>
          <a:solidFill>
            <a:srgbClr val="767171"/>
          </a:solidFill>
          <a:latin typeface="Gotham Light" pitchFamily="2" charset="0"/>
        </a:defRPr>
      </a:lvl2pPr>
      <a:lvl3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>
          <a:solidFill>
            <a:srgbClr val="767171"/>
          </a:solidFill>
          <a:latin typeface="Gotham Light" pitchFamily="2" charset="0"/>
        </a:defRPr>
      </a:lvl3pPr>
      <a:lvl4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>
          <a:solidFill>
            <a:srgbClr val="767171"/>
          </a:solidFill>
          <a:latin typeface="Gotham Light" pitchFamily="2" charset="0"/>
        </a:defRPr>
      </a:lvl4pPr>
      <a:lvl5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>
          <a:solidFill>
            <a:srgbClr val="767171"/>
          </a:solidFill>
          <a:latin typeface="Gotham Light" pitchFamily="2" charset="0"/>
        </a:defRPr>
      </a:lvl5pPr>
      <a:lvl6pPr marL="4572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>
          <a:solidFill>
            <a:srgbClr val="767171"/>
          </a:solidFill>
          <a:latin typeface="Gotham Light" pitchFamily="2" charset="0"/>
        </a:defRPr>
      </a:lvl6pPr>
      <a:lvl7pPr marL="9144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>
          <a:solidFill>
            <a:srgbClr val="767171"/>
          </a:solidFill>
          <a:latin typeface="Gotham Light" pitchFamily="2" charset="0"/>
        </a:defRPr>
      </a:lvl7pPr>
      <a:lvl8pPr marL="13716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>
          <a:solidFill>
            <a:srgbClr val="767171"/>
          </a:solidFill>
          <a:latin typeface="Gotham Light" pitchFamily="2" charset="0"/>
        </a:defRPr>
      </a:lvl8pPr>
      <a:lvl9pPr marL="18288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>
          <a:solidFill>
            <a:srgbClr val="767171"/>
          </a:solidFill>
          <a:latin typeface="Gotham Light" pitchFamily="2" charset="0"/>
        </a:defRPr>
      </a:lvl9pPr>
    </p:titleStyle>
    <p:bodyStyle>
      <a:lvl1pPr marL="9525" indent="-9525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System Font Regular"/>
        <a:buNone/>
        <a:tabLst/>
        <a:defRPr kumimoji="0" lang="en-US" altLang="en-US" sz="1200" b="0" i="0" u="none" strike="noStrike" kern="1200" cap="none" spc="0" normalizeH="0" baseline="0" dirty="0">
          <a:ln>
            <a:noFill/>
          </a:ln>
          <a:solidFill>
            <a:srgbClr val="00355B"/>
          </a:solidFill>
          <a:effectLst/>
          <a:uLnTx/>
          <a:uFillTx/>
          <a:latin typeface="Avenir Next LT Pro" panose="020B0504020202020204" pitchFamily="34" charset="77"/>
          <a:ea typeface="+mn-ea"/>
          <a:cs typeface="+mn-cs"/>
        </a:defRPr>
      </a:lvl1pPr>
      <a:lvl2pPr marL="457200" indent="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None/>
        <a:defRPr sz="1600" b="0" i="0" kern="1200">
          <a:solidFill>
            <a:srgbClr val="767171"/>
          </a:solidFill>
          <a:latin typeface="Avenir Next LT Pro" panose="020B0504020202020204" pitchFamily="34" charset="77"/>
          <a:ea typeface="+mn-ea"/>
          <a:cs typeface="+mn-cs"/>
        </a:defRPr>
      </a:lvl2pPr>
      <a:lvl3pPr marL="914400" indent="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Courier New" panose="02070309020205020404" pitchFamily="49" charset="0"/>
        <a:buNone/>
        <a:defRPr sz="1400" b="0" i="0" kern="1200">
          <a:solidFill>
            <a:srgbClr val="767171"/>
          </a:solidFill>
          <a:latin typeface="Avenir Next LT Pro" panose="020B0504020202020204" pitchFamily="34" charset="77"/>
          <a:ea typeface="+mn-ea"/>
          <a:cs typeface="+mn-cs"/>
        </a:defRPr>
      </a:lvl3pPr>
      <a:lvl4pPr marL="1371600" indent="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None/>
        <a:defRPr sz="1200" b="0" i="0" kern="1200">
          <a:solidFill>
            <a:srgbClr val="767171"/>
          </a:solidFill>
          <a:latin typeface="Avenir Next LT Pro" panose="020B0504020202020204" pitchFamily="34" charset="77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Gotham Light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D85459-D7D9-41FA-9EAD-B86DE6D0E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8173"/>
            <a:ext cx="10515600" cy="56270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picture containing shape&#10;&#10;Description automatically generated">
            <a:extLst>
              <a:ext uri="{FF2B5EF4-FFF2-40B4-BE49-F238E27FC236}">
                <a16:creationId xmlns:a16="http://schemas.microsoft.com/office/drawing/2014/main" id="{BA1139D7-B9F0-ADD2-6B4C-C6FD296D9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90716"/>
            <a:ext cx="2387600" cy="6350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DA9167D-5EF9-381C-22EA-387560AEE427}"/>
              </a:ext>
            </a:extLst>
          </p:cNvPr>
          <p:cNvSpPr txBox="1">
            <a:spLocks/>
          </p:cNvSpPr>
          <p:nvPr userDrawn="1"/>
        </p:nvSpPr>
        <p:spPr>
          <a:xfrm>
            <a:off x="9491412" y="6401398"/>
            <a:ext cx="2556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ClanOT-Book" panose="0200050303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chemeClr val="bg1">
                    <a:lumMod val="50000"/>
                  </a:schemeClr>
                </a:solidFill>
                <a:latin typeface="Poppins  "/>
                <a:sym typeface="Symbol" panose="05050102010706020507" pitchFamily="18" charset="2"/>
              </a:rPr>
              <a:t>SHARKNINJA  |  HORIZON  </a:t>
            </a:r>
            <a:fld id="{CF067BAB-ACAF-470B-88DC-99E80D1D4992}" type="slidenum">
              <a:rPr lang="en-US" sz="600" smtClean="0">
                <a:solidFill>
                  <a:schemeClr val="bg1">
                    <a:lumMod val="50000"/>
                  </a:schemeClr>
                </a:solidFill>
                <a:latin typeface="Poppins  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600">
              <a:solidFill>
                <a:schemeClr val="bg1">
                  <a:lumMod val="50000"/>
                </a:schemeClr>
              </a:solidFill>
              <a:latin typeface="Poppins  "/>
            </a:endParaRPr>
          </a:p>
        </p:txBody>
      </p:sp>
    </p:spTree>
    <p:extLst>
      <p:ext uri="{BB962C8B-B14F-4D97-AF65-F5344CB8AC3E}">
        <p14:creationId xmlns:p14="http://schemas.microsoft.com/office/powerpoint/2010/main" val="184792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60" r:id="rId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tx1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E4_317100E4.xml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F6_8E75D29F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F9_CDE43323.xml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CF5C4-9134-9B51-1EFB-C572F9F2F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98BCDB-087A-6107-88F4-FF536C1C0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589" y="1951426"/>
            <a:ext cx="1635978" cy="353497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49AA548-5204-1213-E8FE-68654F21E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4674" y="1938131"/>
            <a:ext cx="1642130" cy="3548269"/>
          </a:xfrm>
          <a:prstGeom prst="rect">
            <a:avLst/>
          </a:prstGeom>
        </p:spPr>
      </p:pic>
      <p:pic>
        <p:nvPicPr>
          <p:cNvPr id="8" name="Picture 7" descr="A black rectangular device with a black screen&#10;&#10;Description automatically generated">
            <a:extLst>
              <a:ext uri="{FF2B5EF4-FFF2-40B4-BE49-F238E27FC236}">
                <a16:creationId xmlns:a16="http://schemas.microsoft.com/office/drawing/2014/main" id="{DC387978-E4F7-8CBD-80B6-8FDDCEDF0F1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4"/>
          <a:stretch/>
        </p:blipFill>
        <p:spPr>
          <a:xfrm>
            <a:off x="458745" y="1791388"/>
            <a:ext cx="1887766" cy="379876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3882AF1-F2A9-67E2-D155-14ADC718587E}"/>
              </a:ext>
            </a:extLst>
          </p:cNvPr>
          <p:cNvSpPr txBox="1"/>
          <p:nvPr/>
        </p:nvSpPr>
        <p:spPr>
          <a:xfrm>
            <a:off x="6840758" y="5036174"/>
            <a:ext cx="5118739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b="1">
                <a:latin typeface="+mn-lt"/>
                <a:cs typeface="Poppins"/>
              </a:rPr>
              <a:t>Takeaways:</a:t>
            </a:r>
          </a:p>
          <a:p>
            <a:pPr algn="ctr"/>
            <a:r>
              <a:rPr lang="en-US" sz="1100">
                <a:latin typeface="+mn-lt"/>
                <a:cs typeface="Poppins"/>
              </a:rPr>
              <a:t>Having information as accessible as possible makes decisions easy and reduces user fatigue as shoppers progress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B780837-9694-E214-C39F-3B9E82D8C070}"/>
              </a:ext>
            </a:extLst>
          </p:cNvPr>
          <p:cNvSpPr/>
          <p:nvPr/>
        </p:nvSpPr>
        <p:spPr>
          <a:xfrm>
            <a:off x="7216752" y="2156735"/>
            <a:ext cx="4822638" cy="776743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0" tIns="45720" rIns="91440" bIns="45720" rtlCol="0" anchor="ctr"/>
          <a:lstStyle/>
          <a:p>
            <a:pPr defTabSz="914392">
              <a:spcAft>
                <a:spcPts val="100"/>
              </a:spcAft>
              <a:defRPr/>
            </a:pPr>
            <a:r>
              <a:rPr lang="en-MY" sz="1100" b="1" kern="0">
                <a:solidFill>
                  <a:schemeClr val="bg1"/>
                </a:solidFill>
                <a:latin typeface="+mn-lt"/>
                <a:cs typeface="Poppins"/>
              </a:rPr>
              <a:t>Popular &amp; New Product Tags</a:t>
            </a:r>
            <a:br>
              <a:rPr lang="en-MY" sz="1050" b="1" kern="0">
                <a:solidFill>
                  <a:schemeClr val="bg1"/>
                </a:solidFill>
                <a:latin typeface="+mn-lt"/>
                <a:cs typeface="Poppins"/>
              </a:rPr>
            </a:br>
            <a:r>
              <a:rPr lang="en-MY" sz="1050" kern="0">
                <a:solidFill>
                  <a:schemeClr val="bg1"/>
                </a:solidFill>
                <a:latin typeface="+mn-lt"/>
                <a:cs typeface="Poppins"/>
              </a:rPr>
              <a:t>Information tags present buy signals in a digestible way that doesn’t compete with other important information</a:t>
            </a:r>
            <a:endParaRPr lang="en-MY" sz="800" kern="0">
              <a:solidFill>
                <a:schemeClr val="bg1"/>
              </a:solidFill>
              <a:latin typeface="+mn-lt"/>
              <a:cs typeface="Poppin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DF56A4E-AA62-2B26-2AA0-1021B0BD07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7479" y="2226855"/>
            <a:ext cx="628360" cy="628360"/>
          </a:xfrm>
          <a:prstGeom prst="ellipse">
            <a:avLst/>
          </a:prstGeom>
          <a:solidFill>
            <a:srgbClr val="002060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56054A-D5C5-8D60-6296-708F7A051F95}"/>
              </a:ext>
            </a:extLst>
          </p:cNvPr>
          <p:cNvGraphicFramePr>
            <a:graphicFrameLocks noGrp="1"/>
          </p:cNvGraphicFramePr>
          <p:nvPr/>
        </p:nvGraphicFramePr>
        <p:xfrm>
          <a:off x="8198851" y="7221"/>
          <a:ext cx="3993140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285">
                  <a:extLst>
                    <a:ext uri="{9D8B030D-6E8A-4147-A177-3AD203B41FA5}">
                      <a16:colId xmlns:a16="http://schemas.microsoft.com/office/drawing/2014/main" val="2656284998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2956292035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3844296440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561235515"/>
                    </a:ext>
                  </a:extLst>
                </a:gridCol>
              </a:tblGrid>
              <a:tr h="2093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Product Selection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Product Education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Personalization Practices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Checkout Ease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295855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1F12E6F9-54C7-0082-2083-D7962A898DE8}"/>
              </a:ext>
            </a:extLst>
          </p:cNvPr>
          <p:cNvSpPr txBox="1">
            <a:spLocks/>
          </p:cNvSpPr>
          <p:nvPr/>
        </p:nvSpPr>
        <p:spPr>
          <a:xfrm>
            <a:off x="609600" y="457200"/>
            <a:ext cx="10972800" cy="792480"/>
          </a:xfrm>
          <a:prstGeom prst="rect">
            <a:avLst/>
          </a:prstGeom>
        </p:spPr>
        <p:txBody>
          <a:bodyPr/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 spc="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Product Information Available On Load Makes Decisions Easier</a:t>
            </a:r>
          </a:p>
        </p:txBody>
      </p:sp>
      <p:pic>
        <p:nvPicPr>
          <p:cNvPr id="10" name="Graphic 9" descr="Tag with solid fill">
            <a:extLst>
              <a:ext uri="{FF2B5EF4-FFF2-40B4-BE49-F238E27FC236}">
                <a16:creationId xmlns:a16="http://schemas.microsoft.com/office/drawing/2014/main" id="{8BC82812-D79F-9EDC-744B-8E53E3F91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516869" y="2298352"/>
            <a:ext cx="485366" cy="485366"/>
          </a:xfrm>
          <a:prstGeom prst="rect">
            <a:avLst/>
          </a:prstGeom>
        </p:spPr>
      </p:pic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59C84702-8768-117A-90F2-BE3A24D75337}"/>
              </a:ext>
            </a:extLst>
          </p:cNvPr>
          <p:cNvGraphicFramePr>
            <a:graphicFrameLocks noGrp="1"/>
          </p:cNvGraphicFramePr>
          <p:nvPr/>
        </p:nvGraphicFramePr>
        <p:xfrm>
          <a:off x="10" y="7221"/>
          <a:ext cx="3993140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285">
                  <a:extLst>
                    <a:ext uri="{9D8B030D-6E8A-4147-A177-3AD203B41FA5}">
                      <a16:colId xmlns:a16="http://schemas.microsoft.com/office/drawing/2014/main" val="2656284998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2956292035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3844296440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561235515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Casualization Reversing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Personalization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Re-sales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Social Appeal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295855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0E39C8FB-313F-3BD4-F14D-D81ED4E31B14}"/>
              </a:ext>
            </a:extLst>
          </p:cNvPr>
          <p:cNvSpPr/>
          <p:nvPr/>
        </p:nvSpPr>
        <p:spPr>
          <a:xfrm>
            <a:off x="7216752" y="3063790"/>
            <a:ext cx="4822638" cy="776743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0" tIns="45720" rIns="91440" bIns="45720" rtlCol="0" anchor="ctr"/>
          <a:lstStyle/>
          <a:p>
            <a:pPr defTabSz="914392">
              <a:spcAft>
                <a:spcPts val="100"/>
              </a:spcAft>
              <a:defRPr/>
            </a:pPr>
            <a:r>
              <a:rPr lang="en-MY" sz="1100" b="1" kern="0">
                <a:solidFill>
                  <a:schemeClr val="bg1"/>
                </a:solidFill>
                <a:latin typeface="+mn-lt"/>
                <a:cs typeface="Poppins"/>
              </a:rPr>
              <a:t>Red Sale Text</a:t>
            </a:r>
            <a:br>
              <a:rPr lang="en-MY" sz="1050" b="1" kern="0">
                <a:solidFill>
                  <a:schemeClr val="bg1"/>
                </a:solidFill>
                <a:latin typeface="+mn-lt"/>
                <a:cs typeface="Poppins"/>
              </a:rPr>
            </a:br>
            <a:r>
              <a:rPr lang="en-MY" sz="1050" kern="0">
                <a:solidFill>
                  <a:schemeClr val="bg1"/>
                </a:solidFill>
                <a:latin typeface="+mn-lt"/>
                <a:cs typeface="Poppins"/>
              </a:rPr>
              <a:t>Red sale text demonstrates the urgency of the sale and encourages immediate purchase to capitalize</a:t>
            </a:r>
            <a:endParaRPr lang="en-MY" sz="800" kern="0">
              <a:solidFill>
                <a:schemeClr val="bg1"/>
              </a:solidFill>
              <a:latin typeface="+mn-lt"/>
              <a:cs typeface="Poppin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449233C-0769-84E0-DB27-1AE0A43D5811}"/>
              </a:ext>
            </a:extLst>
          </p:cNvPr>
          <p:cNvSpPr/>
          <p:nvPr/>
        </p:nvSpPr>
        <p:spPr>
          <a:xfrm>
            <a:off x="6447479" y="3133910"/>
            <a:ext cx="628360" cy="628360"/>
          </a:xfrm>
          <a:prstGeom prst="ellipse">
            <a:avLst/>
          </a:prstGeom>
          <a:solidFill>
            <a:srgbClr val="002060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6" name="Graphic 15" descr="Chat bubble with solid fill">
            <a:extLst>
              <a:ext uri="{FF2B5EF4-FFF2-40B4-BE49-F238E27FC236}">
                <a16:creationId xmlns:a16="http://schemas.microsoft.com/office/drawing/2014/main" id="{212A8047-B296-520F-B47F-1D797C7B4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516869" y="3205407"/>
            <a:ext cx="485366" cy="48536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61385BB-A770-DFE8-9F9C-3D36980D0C81}"/>
              </a:ext>
            </a:extLst>
          </p:cNvPr>
          <p:cNvSpPr/>
          <p:nvPr/>
        </p:nvSpPr>
        <p:spPr>
          <a:xfrm>
            <a:off x="7213712" y="3965057"/>
            <a:ext cx="4822638" cy="776743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0" tIns="45720" rIns="91440" bIns="45720" rtlCol="0" anchor="ctr"/>
          <a:lstStyle/>
          <a:p>
            <a:pPr defTabSz="914392">
              <a:spcAft>
                <a:spcPts val="100"/>
              </a:spcAft>
              <a:defRPr/>
            </a:pPr>
            <a:r>
              <a:rPr lang="en-MY" sz="1100" b="1" kern="0">
                <a:solidFill>
                  <a:schemeClr val="bg1"/>
                </a:solidFill>
                <a:latin typeface="+mn-lt"/>
                <a:cs typeface="Poppins"/>
              </a:rPr>
              <a:t>In-Page Sort Dropdown</a:t>
            </a:r>
            <a:br>
              <a:rPr lang="en-MY" sz="1050" b="1" kern="0">
                <a:solidFill>
                  <a:schemeClr val="bg1"/>
                </a:solidFill>
                <a:latin typeface="+mn-lt"/>
                <a:cs typeface="Poppins"/>
              </a:rPr>
            </a:br>
            <a:r>
              <a:rPr lang="en-MY" sz="1050" kern="0">
                <a:solidFill>
                  <a:schemeClr val="bg1"/>
                </a:solidFill>
                <a:latin typeface="+mn-lt"/>
                <a:cs typeface="Poppins"/>
              </a:rPr>
              <a:t>Separating the sort &amp; filter dropdowns makes sorting easier</a:t>
            </a:r>
            <a:endParaRPr lang="en-MY" sz="800" kern="0">
              <a:solidFill>
                <a:schemeClr val="bg1"/>
              </a:solidFill>
              <a:latin typeface="+mn-lt"/>
              <a:cs typeface="Poppin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BBA17C8-1E1D-ACA5-1EFE-C366E78BCBF1}"/>
              </a:ext>
            </a:extLst>
          </p:cNvPr>
          <p:cNvSpPr/>
          <p:nvPr/>
        </p:nvSpPr>
        <p:spPr>
          <a:xfrm>
            <a:off x="6444439" y="4035177"/>
            <a:ext cx="628360" cy="628360"/>
          </a:xfrm>
          <a:prstGeom prst="ellipse">
            <a:avLst/>
          </a:prstGeom>
          <a:solidFill>
            <a:srgbClr val="002060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8" name="Graphic 27" descr="Sort with solid fill">
            <a:extLst>
              <a:ext uri="{FF2B5EF4-FFF2-40B4-BE49-F238E27FC236}">
                <a16:creationId xmlns:a16="http://schemas.microsoft.com/office/drawing/2014/main" id="{C7F0A132-FF0C-5416-9C6F-CA1D12F029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513829" y="4106674"/>
            <a:ext cx="485366" cy="485366"/>
          </a:xfrm>
          <a:prstGeom prst="rect">
            <a:avLst/>
          </a:prstGeom>
        </p:spPr>
      </p:pic>
      <p:pic>
        <p:nvPicPr>
          <p:cNvPr id="19" name="Picture 18" descr="A black rectangular device with a black screen&#10;&#10;Description automatically generated">
            <a:extLst>
              <a:ext uri="{FF2B5EF4-FFF2-40B4-BE49-F238E27FC236}">
                <a16:creationId xmlns:a16="http://schemas.microsoft.com/office/drawing/2014/main" id="{617582D0-007F-E796-83A8-D1151B701CA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4"/>
          <a:stretch/>
        </p:blipFill>
        <p:spPr>
          <a:xfrm>
            <a:off x="2536803" y="1791388"/>
            <a:ext cx="1887766" cy="379876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9B394AD-36B2-173F-16E4-FEF6CB63CA41}"/>
              </a:ext>
            </a:extLst>
          </p:cNvPr>
          <p:cNvSpPr/>
          <p:nvPr/>
        </p:nvSpPr>
        <p:spPr>
          <a:xfrm flipV="1">
            <a:off x="565736" y="3410381"/>
            <a:ext cx="1633831" cy="430152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4C16DB-A3D1-C6B7-D281-86FEC857F7B4}"/>
              </a:ext>
            </a:extLst>
          </p:cNvPr>
          <p:cNvSpPr/>
          <p:nvPr/>
        </p:nvSpPr>
        <p:spPr>
          <a:xfrm flipV="1">
            <a:off x="2725840" y="3075765"/>
            <a:ext cx="1496638" cy="430152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D4EA81-5C72-9C86-8FDF-ECB57F367FE7}"/>
              </a:ext>
            </a:extLst>
          </p:cNvPr>
          <p:cNvSpPr/>
          <p:nvPr/>
        </p:nvSpPr>
        <p:spPr>
          <a:xfrm flipV="1">
            <a:off x="2709276" y="4072991"/>
            <a:ext cx="1196802" cy="570559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BA83B8-EB29-6D52-9471-CAF620963D4A}"/>
              </a:ext>
            </a:extLst>
          </p:cNvPr>
          <p:cNvSpPr/>
          <p:nvPr/>
        </p:nvSpPr>
        <p:spPr>
          <a:xfrm flipV="1">
            <a:off x="1301234" y="4949686"/>
            <a:ext cx="756166" cy="313398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99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34889-70B2-A445-7A07-C9B8E20CD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B4E6C6-FAB0-03BB-E45B-453C33FFF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4" y="1875369"/>
            <a:ext cx="5280021" cy="2551642"/>
          </a:xfrm>
          <a:prstGeom prst="rect">
            <a:avLst/>
          </a:prstGeom>
        </p:spPr>
      </p:pic>
      <p:pic>
        <p:nvPicPr>
          <p:cNvPr id="7" name="Picture 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22082807-7A0C-10AF-A4BA-2429E5C57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054" y="1685191"/>
            <a:ext cx="5741413" cy="3725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590EC38-B729-74ED-C817-8F515232AA04}"/>
              </a:ext>
            </a:extLst>
          </p:cNvPr>
          <p:cNvSpPr txBox="1"/>
          <p:nvPr/>
        </p:nvSpPr>
        <p:spPr>
          <a:xfrm>
            <a:off x="6840758" y="5036174"/>
            <a:ext cx="5118739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200" b="1">
                <a:latin typeface="+mn-lt"/>
                <a:cs typeface="Poppins"/>
              </a:rPr>
              <a:t>Takeaways:</a:t>
            </a:r>
          </a:p>
          <a:p>
            <a:pPr algn="ctr"/>
            <a:r>
              <a:rPr lang="en-US" sz="1100">
                <a:latin typeface="+mn-lt"/>
                <a:cs typeface="Poppins"/>
              </a:rPr>
              <a:t>Giving maximum detail without disrupting or displacing important information and functionality should improve user selection / education capabilities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7649F2-E086-E966-600E-B025E9A93C47}"/>
              </a:ext>
            </a:extLst>
          </p:cNvPr>
          <p:cNvSpPr/>
          <p:nvPr/>
        </p:nvSpPr>
        <p:spPr>
          <a:xfrm>
            <a:off x="7216752" y="2156735"/>
            <a:ext cx="4822638" cy="776743"/>
          </a:xfrm>
          <a:prstGeom prst="rect">
            <a:avLst/>
          </a:prstGeom>
          <a:solidFill>
            <a:srgbClr val="00206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60000" tIns="45720" rIns="91440" bIns="45720" rtlCol="0" anchor="ctr"/>
          <a:lstStyle/>
          <a:p>
            <a:pPr defTabSz="914392">
              <a:spcAft>
                <a:spcPts val="100"/>
              </a:spcAft>
              <a:defRPr/>
            </a:pPr>
            <a:r>
              <a:rPr lang="en-MY" sz="1100" b="1" kern="0">
                <a:solidFill>
                  <a:schemeClr val="bg1"/>
                </a:solidFill>
                <a:latin typeface="+mn-lt"/>
                <a:cs typeface="Poppins"/>
              </a:rPr>
              <a:t>Filter Info + Visuals</a:t>
            </a:r>
            <a:br>
              <a:rPr lang="en-MY" sz="1050" b="1" kern="0">
                <a:solidFill>
                  <a:schemeClr val="bg1"/>
                </a:solidFill>
                <a:latin typeface="+mn-lt"/>
                <a:cs typeface="Poppins"/>
              </a:rPr>
            </a:br>
            <a:r>
              <a:rPr lang="en-MY" sz="1050" kern="0">
                <a:solidFill>
                  <a:schemeClr val="bg1"/>
                </a:solidFill>
                <a:latin typeface="+mn-lt"/>
                <a:cs typeface="Poppins"/>
              </a:rPr>
              <a:t>Adding info icons that lead to clearer descriptions of filters and their values gives users greater ability to find the right product for them</a:t>
            </a:r>
            <a:endParaRPr lang="en-MY" sz="800" kern="0">
              <a:solidFill>
                <a:schemeClr val="bg1"/>
              </a:solidFill>
              <a:latin typeface="+mn-lt"/>
              <a:cs typeface="Poppin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60B6C18-432C-07E2-709E-5CBFA174F6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7479" y="2226855"/>
            <a:ext cx="628360" cy="628360"/>
          </a:xfrm>
          <a:prstGeom prst="ellipse">
            <a:avLst/>
          </a:prstGeom>
          <a:solidFill>
            <a:srgbClr val="002060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B22578-EA9B-0656-CAC4-9F017A7A7DAC}"/>
              </a:ext>
            </a:extLst>
          </p:cNvPr>
          <p:cNvGraphicFramePr>
            <a:graphicFrameLocks noGrp="1"/>
          </p:cNvGraphicFramePr>
          <p:nvPr/>
        </p:nvGraphicFramePr>
        <p:xfrm>
          <a:off x="8198851" y="7221"/>
          <a:ext cx="3993140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285">
                  <a:extLst>
                    <a:ext uri="{9D8B030D-6E8A-4147-A177-3AD203B41FA5}">
                      <a16:colId xmlns:a16="http://schemas.microsoft.com/office/drawing/2014/main" val="2656284998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2956292035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3844296440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561235515"/>
                    </a:ext>
                  </a:extLst>
                </a:gridCol>
              </a:tblGrid>
              <a:tr h="20934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Product Selection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Product Education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Personalization Practices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Checkout Ease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295855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3D8C0A58-39E3-34E2-AAD6-0AB912B45DB0}"/>
              </a:ext>
            </a:extLst>
          </p:cNvPr>
          <p:cNvSpPr txBox="1">
            <a:spLocks/>
          </p:cNvSpPr>
          <p:nvPr/>
        </p:nvSpPr>
        <p:spPr>
          <a:xfrm>
            <a:off x="609600" y="457200"/>
            <a:ext cx="10972800" cy="792480"/>
          </a:xfrm>
          <a:prstGeom prst="rect">
            <a:avLst/>
          </a:prstGeom>
        </p:spPr>
        <p:txBody>
          <a:bodyPr/>
          <a:lstStyle>
            <a:lvl1pPr algn="l" defTabSz="914377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i="0" kern="1200" spc="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Detailed Information Gives Users Confidence &amp; Control </a:t>
            </a:r>
          </a:p>
        </p:txBody>
      </p:sp>
      <p:pic>
        <p:nvPicPr>
          <p:cNvPr id="10" name="Graphic 9" descr="Remote control with solid fill">
            <a:extLst>
              <a:ext uri="{FF2B5EF4-FFF2-40B4-BE49-F238E27FC236}">
                <a16:creationId xmlns:a16="http://schemas.microsoft.com/office/drawing/2014/main" id="{E2B79211-DFA5-0E01-4967-CD2DD77E68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516869" y="2298352"/>
            <a:ext cx="485366" cy="485366"/>
          </a:xfrm>
          <a:prstGeom prst="rect">
            <a:avLst/>
          </a:prstGeom>
        </p:spPr>
      </p:pic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5AB0E47-29DD-78A2-2AB5-926D900F7077}"/>
              </a:ext>
            </a:extLst>
          </p:cNvPr>
          <p:cNvGraphicFramePr>
            <a:graphicFrameLocks noGrp="1"/>
          </p:cNvGraphicFramePr>
          <p:nvPr/>
        </p:nvGraphicFramePr>
        <p:xfrm>
          <a:off x="10" y="7221"/>
          <a:ext cx="3993140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285">
                  <a:extLst>
                    <a:ext uri="{9D8B030D-6E8A-4147-A177-3AD203B41FA5}">
                      <a16:colId xmlns:a16="http://schemas.microsoft.com/office/drawing/2014/main" val="2656284998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2956292035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3844296440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561235515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Casualization Reversing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Personalization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Decision Simplification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</a:rPr>
                        <a:t>Social Appeal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295855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654AF0AE-B1F2-2F7C-A593-929185F13C88}"/>
              </a:ext>
            </a:extLst>
          </p:cNvPr>
          <p:cNvSpPr/>
          <p:nvPr/>
        </p:nvSpPr>
        <p:spPr>
          <a:xfrm flipV="1">
            <a:off x="396879" y="3493648"/>
            <a:ext cx="288921" cy="233526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B4496D5-773F-7FDE-485A-3F96DB86BB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3060" y="3228515"/>
            <a:ext cx="1614535" cy="3488641"/>
          </a:xfrm>
          <a:prstGeom prst="rect">
            <a:avLst/>
          </a:prstGeom>
        </p:spPr>
      </p:pic>
      <p:pic>
        <p:nvPicPr>
          <p:cNvPr id="8" name="Picture 7" descr="A black rectangular device with a black screen&#10;&#10;Description automatically generated">
            <a:extLst>
              <a:ext uri="{FF2B5EF4-FFF2-40B4-BE49-F238E27FC236}">
                <a16:creationId xmlns:a16="http://schemas.microsoft.com/office/drawing/2014/main" id="{19AA89A8-8404-8E2D-2215-07F97B2D6A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4"/>
          <a:stretch/>
        </p:blipFill>
        <p:spPr>
          <a:xfrm>
            <a:off x="2101356" y="3036509"/>
            <a:ext cx="1887766" cy="379876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C73B16C-3018-8DFA-65F6-47505A8554ED}"/>
              </a:ext>
            </a:extLst>
          </p:cNvPr>
          <p:cNvSpPr/>
          <p:nvPr/>
        </p:nvSpPr>
        <p:spPr>
          <a:xfrm flipV="1">
            <a:off x="2591490" y="4426708"/>
            <a:ext cx="288921" cy="233526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5A0D0FF-37FF-EBE8-E8D6-4D763D8FE0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5119" y="3211182"/>
            <a:ext cx="1610635" cy="3480215"/>
          </a:xfrm>
          <a:prstGeom prst="rect">
            <a:avLst/>
          </a:prstGeom>
          <a:ln>
            <a:noFill/>
          </a:ln>
        </p:spPr>
      </p:pic>
      <p:pic>
        <p:nvPicPr>
          <p:cNvPr id="23" name="Picture 22" descr="A black rectangular device with a black screen&#10;&#10;Description automatically generated">
            <a:extLst>
              <a:ext uri="{FF2B5EF4-FFF2-40B4-BE49-F238E27FC236}">
                <a16:creationId xmlns:a16="http://schemas.microsoft.com/office/drawing/2014/main" id="{DD2837C6-655B-8E79-068A-03C48A8575E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4"/>
          <a:stretch/>
        </p:blipFill>
        <p:spPr>
          <a:xfrm>
            <a:off x="4376553" y="3031394"/>
            <a:ext cx="1887766" cy="3798769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0F12AB9-4C16-1D5F-A052-0422E6E831E1}"/>
              </a:ext>
            </a:extLst>
          </p:cNvPr>
          <p:cNvCxnSpPr>
            <a:cxnSpLocks/>
            <a:stCxn id="8" idx="3"/>
            <a:endCxn id="23" idx="1"/>
          </p:cNvCxnSpPr>
          <p:nvPr/>
        </p:nvCxnSpPr>
        <p:spPr>
          <a:xfrm flipV="1">
            <a:off x="3989122" y="4930779"/>
            <a:ext cx="387431" cy="5115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623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317CF-6365-05DD-1824-17AEEF748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2" descr="Image result for wendys logo">
            <a:extLst>
              <a:ext uri="{FF2B5EF4-FFF2-40B4-BE49-F238E27FC236}">
                <a16:creationId xmlns:a16="http://schemas.microsoft.com/office/drawing/2014/main" id="{081F20C7-E80E-4240-AE57-FE2DD74A6B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2477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5" name="Title 3">
            <a:extLst>
              <a:ext uri="{FF2B5EF4-FFF2-40B4-BE49-F238E27FC236}">
                <a16:creationId xmlns:a16="http://schemas.microsoft.com/office/drawing/2014/main" id="{2DAE734A-650D-2994-8C2E-9AC476218AAF}"/>
              </a:ext>
            </a:extLst>
          </p:cNvPr>
          <p:cNvSpPr txBox="1">
            <a:spLocks/>
          </p:cNvSpPr>
          <p:nvPr/>
        </p:nvSpPr>
        <p:spPr>
          <a:xfrm>
            <a:off x="18190" y="474961"/>
            <a:ext cx="12192000" cy="104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D60057"/>
              </a:buClr>
              <a:buSzPts val="2200"/>
              <a:buFont typeface="Arial Narrow"/>
              <a:buNone/>
              <a:defRPr lang="en-US" sz="2600" b="1" i="0" u="none" strike="noStrike" kern="1200" cap="none" dirty="0">
                <a:solidFill>
                  <a:schemeClr val="tx1"/>
                </a:solidFill>
                <a:latin typeface="Gotham Black" pitchFamily="2" charset="0"/>
                <a:ea typeface="+mj-ea"/>
                <a:cs typeface="+mj-cs"/>
                <a:sym typeface="Arial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spcBef>
                <a:spcPts val="0"/>
              </a:spcBef>
              <a:defRPr/>
            </a:pPr>
            <a:r>
              <a:rPr lang="en-US" sz="3200">
                <a:solidFill>
                  <a:schemeClr val="accent1"/>
                </a:solidFill>
                <a:latin typeface="+mj-lt"/>
                <a:cs typeface="Poppins SemiBold" panose="00000700000000000000" pitchFamily="2" charset="0"/>
              </a:rPr>
              <a:t>What We Looked for: </a:t>
            </a:r>
          </a:p>
          <a:p>
            <a:pPr lvl="0">
              <a:spcBef>
                <a:spcPts val="0"/>
              </a:spcBef>
              <a:defRPr/>
            </a:pPr>
            <a:r>
              <a:rPr lang="en-US" sz="3200">
                <a:solidFill>
                  <a:schemeClr val="accent1"/>
                </a:solidFill>
                <a:latin typeface="+mj-lt"/>
                <a:cs typeface="Poppins SemiBold" panose="00000700000000000000" pitchFamily="2" charset="0"/>
              </a:rPr>
              <a:t>Behavioral Signals Behind Higher RPV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sym typeface="Arial Narrow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C19A27-8A68-6162-CCF0-BBD39096F0BC}"/>
              </a:ext>
            </a:extLst>
          </p:cNvPr>
          <p:cNvSpPr txBox="1"/>
          <p:nvPr/>
        </p:nvSpPr>
        <p:spPr>
          <a:xfrm>
            <a:off x="1806760" y="4248309"/>
            <a:ext cx="1914383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latin typeface="+mj-lt"/>
                <a:cs typeface="Arial" panose="020B0604020202020204" pitchFamily="34" charset="0"/>
              </a:rPr>
              <a:t>Identify user segments with the highest &amp; lowest propensities purchase or bundle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0F64FAD-2546-64DC-BE62-575411DDCA0F}"/>
              </a:ext>
            </a:extLst>
          </p:cNvPr>
          <p:cNvSpPr/>
          <p:nvPr/>
        </p:nvSpPr>
        <p:spPr>
          <a:xfrm>
            <a:off x="2079078" y="2531980"/>
            <a:ext cx="1340989" cy="1344168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+mj-lt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1368248-304D-4F2E-EA73-DB749AD009A6}"/>
              </a:ext>
            </a:extLst>
          </p:cNvPr>
          <p:cNvSpPr/>
          <p:nvPr/>
        </p:nvSpPr>
        <p:spPr>
          <a:xfrm>
            <a:off x="4256517" y="2531980"/>
            <a:ext cx="1340989" cy="1344168"/>
          </a:xfrm>
          <a:prstGeom prst="ellipse">
            <a:avLst/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+mj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33ACF34-829B-F833-6CC0-3B878B6294B9}"/>
              </a:ext>
            </a:extLst>
          </p:cNvPr>
          <p:cNvSpPr/>
          <p:nvPr/>
        </p:nvSpPr>
        <p:spPr>
          <a:xfrm>
            <a:off x="1796889" y="1897166"/>
            <a:ext cx="1914383" cy="4211153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+mj-lt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233F087-0F8C-9CBA-E3BC-FC312AE1CA80}"/>
              </a:ext>
            </a:extLst>
          </p:cNvPr>
          <p:cNvSpPr/>
          <p:nvPr/>
        </p:nvSpPr>
        <p:spPr>
          <a:xfrm>
            <a:off x="4010623" y="1897166"/>
            <a:ext cx="1914383" cy="4211153"/>
          </a:xfrm>
          <a:prstGeom prst="rect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+mj-lt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9165C3B-3FFA-2CE1-A23F-1ED45DC3CB51}"/>
              </a:ext>
            </a:extLst>
          </p:cNvPr>
          <p:cNvSpPr/>
          <p:nvPr/>
        </p:nvSpPr>
        <p:spPr>
          <a:xfrm>
            <a:off x="6243684" y="1897166"/>
            <a:ext cx="1914383" cy="421115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+mj-lt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DEC27A4-CF98-A033-8F93-F4C17797CD00}"/>
              </a:ext>
            </a:extLst>
          </p:cNvPr>
          <p:cNvSpPr/>
          <p:nvPr/>
        </p:nvSpPr>
        <p:spPr>
          <a:xfrm>
            <a:off x="6530380" y="2531980"/>
            <a:ext cx="1340989" cy="1344168"/>
          </a:xfrm>
          <a:prstGeom prst="ellipse">
            <a:avLst/>
          </a:prstGeom>
          <a:solidFill>
            <a:schemeClr val="accent4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+mj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64C1D0-833A-1C5A-798D-00F04161EA21}"/>
              </a:ext>
            </a:extLst>
          </p:cNvPr>
          <p:cNvSpPr txBox="1"/>
          <p:nvPr/>
        </p:nvSpPr>
        <p:spPr>
          <a:xfrm>
            <a:off x="6233731" y="4297469"/>
            <a:ext cx="1914383" cy="11695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latin typeface="+mj-lt"/>
                <a:cs typeface="Arial" panose="020B0604020202020204" pitchFamily="34" charset="0"/>
              </a:rPr>
              <a:t>Understand which products or services are purchased often and cross-sold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1D976D2-D6BF-19C6-935B-CEC1C5E2CE2F}"/>
              </a:ext>
            </a:extLst>
          </p:cNvPr>
          <p:cNvSpPr txBox="1"/>
          <p:nvPr/>
        </p:nvSpPr>
        <p:spPr>
          <a:xfrm>
            <a:off x="3974795" y="4297469"/>
            <a:ext cx="1904430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latin typeface="+mj-lt"/>
                <a:cs typeface="Arial" panose="020B0604020202020204" pitchFamily="34" charset="0"/>
              </a:rPr>
              <a:t>Pinpoint key touchpoints that drive successful visits</a:t>
            </a:r>
            <a:endParaRPr lang="en-US" sz="1400">
              <a:solidFill>
                <a:srgbClr val="002477"/>
              </a:solidFill>
              <a:highlight>
                <a:srgbClr val="FFFF00"/>
              </a:highlight>
              <a:latin typeface="+mj-lt"/>
              <a:cs typeface="Arial" panose="020B0604020202020204" pitchFamily="34" charset="0"/>
            </a:endParaRPr>
          </a:p>
        </p:txBody>
      </p:sp>
      <p:pic>
        <p:nvPicPr>
          <p:cNvPr id="3" name="Graphic 2" descr="User with solid fill">
            <a:extLst>
              <a:ext uri="{FF2B5EF4-FFF2-40B4-BE49-F238E27FC236}">
                <a16:creationId xmlns:a16="http://schemas.microsoft.com/office/drawing/2014/main" id="{5589E1D6-1DC0-3A96-A0F7-2AECA6B76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366697" y="2821184"/>
            <a:ext cx="765753" cy="765753"/>
          </a:xfrm>
          <a:prstGeom prst="rect">
            <a:avLst/>
          </a:prstGeom>
        </p:spPr>
      </p:pic>
      <p:pic>
        <p:nvPicPr>
          <p:cNvPr id="5" name="Graphic 4" descr="Search Inventory with solid fill">
            <a:extLst>
              <a:ext uri="{FF2B5EF4-FFF2-40B4-BE49-F238E27FC236}">
                <a16:creationId xmlns:a16="http://schemas.microsoft.com/office/drawing/2014/main" id="{990B92FE-1B15-A178-9B37-7A4BA09FBF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817997" y="2821183"/>
            <a:ext cx="765753" cy="765753"/>
          </a:xfrm>
          <a:prstGeom prst="rect">
            <a:avLst/>
          </a:prstGeom>
        </p:spPr>
      </p:pic>
      <p:pic>
        <p:nvPicPr>
          <p:cNvPr id="7" name="Graphic 6" descr="Map with pin with solid fill">
            <a:extLst>
              <a:ext uri="{FF2B5EF4-FFF2-40B4-BE49-F238E27FC236}">
                <a16:creationId xmlns:a16="http://schemas.microsoft.com/office/drawing/2014/main" id="{57CB6FA9-8654-4B87-9AB3-446E59E412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353320" y="2759754"/>
            <a:ext cx="1147381" cy="76575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160A4E2-4098-AFF4-402C-66E1A83A1C4B}"/>
              </a:ext>
            </a:extLst>
          </p:cNvPr>
          <p:cNvSpPr/>
          <p:nvPr/>
        </p:nvSpPr>
        <p:spPr>
          <a:xfrm>
            <a:off x="8475281" y="1897166"/>
            <a:ext cx="1914383" cy="4211153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+mj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66ED7AB-8A72-14B8-D1E6-096167AD3435}"/>
              </a:ext>
            </a:extLst>
          </p:cNvPr>
          <p:cNvSpPr/>
          <p:nvPr/>
        </p:nvSpPr>
        <p:spPr>
          <a:xfrm>
            <a:off x="8761977" y="2531980"/>
            <a:ext cx="1340989" cy="134416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1DE145-9DB4-C563-BE27-E59A1246D2C5}"/>
              </a:ext>
            </a:extLst>
          </p:cNvPr>
          <p:cNvSpPr txBox="1"/>
          <p:nvPr/>
        </p:nvSpPr>
        <p:spPr>
          <a:xfrm>
            <a:off x="8485234" y="4248309"/>
            <a:ext cx="1914383" cy="11695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latin typeface="+mj-lt"/>
                <a:cs typeface="Arial" panose="020B0604020202020204" pitchFamily="34" charset="0"/>
              </a:rPr>
              <a:t>Understand what drives or prevents users from completing purchases</a:t>
            </a:r>
          </a:p>
        </p:txBody>
      </p:sp>
      <p:pic>
        <p:nvPicPr>
          <p:cNvPr id="8" name="Graphic 7" descr="Puzzle with solid fill">
            <a:extLst>
              <a:ext uri="{FF2B5EF4-FFF2-40B4-BE49-F238E27FC236}">
                <a16:creationId xmlns:a16="http://schemas.microsoft.com/office/drawing/2014/main" id="{95F5D9D3-89A6-3CF7-B01B-0D01DEFCC5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049594" y="2821184"/>
            <a:ext cx="765753" cy="76575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F0EBAA3-F7A8-DB60-C456-99E4408C178A}"/>
              </a:ext>
            </a:extLst>
          </p:cNvPr>
          <p:cNvSpPr/>
          <p:nvPr/>
        </p:nvSpPr>
        <p:spPr>
          <a:xfrm>
            <a:off x="1792383" y="1897167"/>
            <a:ext cx="1914383" cy="4329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+mj-lt"/>
              </a:rPr>
              <a:t>Who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72027F-3D4F-5969-BD84-FC6E24FA7ECC}"/>
              </a:ext>
            </a:extLst>
          </p:cNvPr>
          <p:cNvSpPr/>
          <p:nvPr/>
        </p:nvSpPr>
        <p:spPr>
          <a:xfrm>
            <a:off x="4006020" y="1897167"/>
            <a:ext cx="1914383" cy="4329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+mj-lt"/>
              </a:rPr>
              <a:t>Where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27D757-BB82-F2EB-B377-40985622CA5E}"/>
              </a:ext>
            </a:extLst>
          </p:cNvPr>
          <p:cNvSpPr/>
          <p:nvPr/>
        </p:nvSpPr>
        <p:spPr>
          <a:xfrm>
            <a:off x="6250966" y="1897167"/>
            <a:ext cx="1914383" cy="4329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+mj-lt"/>
              </a:rPr>
              <a:t>What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589BA3-8F19-B45A-125C-B2F80EA90820}"/>
              </a:ext>
            </a:extLst>
          </p:cNvPr>
          <p:cNvSpPr/>
          <p:nvPr/>
        </p:nvSpPr>
        <p:spPr>
          <a:xfrm>
            <a:off x="8475281" y="1897167"/>
            <a:ext cx="1914383" cy="4329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+mj-lt"/>
              </a:rPr>
              <a:t>Why</a:t>
            </a:r>
          </a:p>
        </p:txBody>
      </p:sp>
    </p:spTree>
    <p:extLst>
      <p:ext uri="{BB962C8B-B14F-4D97-AF65-F5344CB8AC3E}">
        <p14:creationId xmlns:p14="http://schemas.microsoft.com/office/powerpoint/2010/main" val="8294893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66C60-1AEC-1A98-1821-2C139B042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009F4504-2EE9-C045-B423-FAE45F54C34E}"/>
              </a:ext>
            </a:extLst>
          </p:cNvPr>
          <p:cNvSpPr txBox="1"/>
          <p:nvPr/>
        </p:nvSpPr>
        <p:spPr>
          <a:xfrm>
            <a:off x="397625" y="1815462"/>
            <a:ext cx="3295961" cy="3198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accent1"/>
                </a:solidFill>
                <a:latin typeface="Poppins SemiBold" pitchFamily="2" charset="77"/>
                <a:cs typeface="Poppins SemiBold" pitchFamily="2" charset="77"/>
              </a:rPr>
              <a:t>YoY revenue growth has been driven by increased traffic—further gains will come from improving conversion rates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EFABC2-3DB6-E7E2-C2C4-C1F987EE1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336" y="827849"/>
            <a:ext cx="3752368" cy="25574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020E2AA5-311C-1EFE-5EEB-46B3D57974B0}"/>
              </a:ext>
            </a:extLst>
          </p:cNvPr>
          <p:cNvSpPr/>
          <p:nvPr/>
        </p:nvSpPr>
        <p:spPr>
          <a:xfrm>
            <a:off x="6847088" y="50907"/>
            <a:ext cx="1325409" cy="1356188"/>
          </a:xfrm>
          <a:prstGeom prst="ellipse">
            <a:avLst/>
          </a:prstGeom>
          <a:solidFill>
            <a:srgbClr val="0062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Revenue $48.5M</a:t>
            </a:r>
          </a:p>
          <a:p>
            <a:pPr algn="ctr"/>
            <a:r>
              <a:rPr lang="en-US" sz="1200" b="1">
                <a:solidFill>
                  <a:srgbClr val="37B449"/>
                </a:solidFill>
              </a:rPr>
              <a:t>+8.5%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20E3C1-FE71-B2E1-0768-AEE3FFD16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375" y="827850"/>
            <a:ext cx="3752368" cy="25604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8BA5CB9A-F137-7EDA-03D5-F85AC9749DD5}"/>
              </a:ext>
            </a:extLst>
          </p:cNvPr>
          <p:cNvSpPr/>
          <p:nvPr/>
        </p:nvSpPr>
        <p:spPr>
          <a:xfrm>
            <a:off x="10780378" y="75324"/>
            <a:ext cx="1325409" cy="1356188"/>
          </a:xfrm>
          <a:prstGeom prst="ellipse">
            <a:avLst/>
          </a:prstGeom>
          <a:solidFill>
            <a:srgbClr val="0062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Sessions 12.14M</a:t>
            </a:r>
          </a:p>
          <a:p>
            <a:pPr algn="ctr"/>
            <a:r>
              <a:rPr lang="en-US" sz="1200" b="1">
                <a:solidFill>
                  <a:srgbClr val="37B449"/>
                </a:solidFill>
              </a:rPr>
              <a:t>+39.6%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1D6DF6-C3D3-C6DC-9790-2124D92075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7337" y="3768045"/>
            <a:ext cx="3752368" cy="25355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5087F7E6-0C10-88EC-6124-24D152F05ACF}"/>
              </a:ext>
            </a:extLst>
          </p:cNvPr>
          <p:cNvSpPr/>
          <p:nvPr/>
        </p:nvSpPr>
        <p:spPr>
          <a:xfrm>
            <a:off x="6847088" y="3126562"/>
            <a:ext cx="1325409" cy="1356188"/>
          </a:xfrm>
          <a:prstGeom prst="ellipse">
            <a:avLst/>
          </a:prstGeom>
          <a:solidFill>
            <a:srgbClr val="0062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AOV $269.00</a:t>
            </a:r>
          </a:p>
          <a:p>
            <a:pPr algn="ctr"/>
            <a:r>
              <a:rPr lang="en-US" sz="1200" b="1">
                <a:solidFill>
                  <a:srgbClr val="37B449"/>
                </a:solidFill>
              </a:rPr>
              <a:t>+15.5%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E0AF34-5827-C58D-5208-C59A9E19E2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2497" y="3768045"/>
            <a:ext cx="3752368" cy="25724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0CEDEC38-84E7-A0E2-4FAF-B69AD630F7D6}"/>
              </a:ext>
            </a:extLst>
          </p:cNvPr>
          <p:cNvSpPr/>
          <p:nvPr/>
        </p:nvSpPr>
        <p:spPr>
          <a:xfrm>
            <a:off x="10780378" y="3053344"/>
            <a:ext cx="1325409" cy="1356188"/>
          </a:xfrm>
          <a:prstGeom prst="ellipse">
            <a:avLst/>
          </a:prstGeom>
          <a:solidFill>
            <a:srgbClr val="0062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CVR 1.48%</a:t>
            </a:r>
          </a:p>
          <a:p>
            <a:pPr algn="ctr"/>
            <a:r>
              <a:rPr lang="en-US" sz="1200" b="1">
                <a:solidFill>
                  <a:srgbClr val="FF0000"/>
                </a:solidFill>
              </a:rPr>
              <a:t>-32.7%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43CC18F-41B2-E882-B7AF-2041A684B474}"/>
              </a:ext>
            </a:extLst>
          </p:cNvPr>
          <p:cNvGraphicFramePr>
            <a:graphicFrameLocks noGrp="1"/>
          </p:cNvGraphicFramePr>
          <p:nvPr/>
        </p:nvGraphicFramePr>
        <p:xfrm>
          <a:off x="8194233" y="294"/>
          <a:ext cx="3993140" cy="213360"/>
        </p:xfrm>
        <a:graphic>
          <a:graphicData uri="http://schemas.openxmlformats.org/drawingml/2006/table">
            <a:tbl>
              <a:tblPr firstRow="1" bandRow="1"/>
              <a:tblGrid>
                <a:gridCol w="998285">
                  <a:extLst>
                    <a:ext uri="{9D8B030D-6E8A-4147-A177-3AD203B41FA5}">
                      <a16:colId xmlns:a16="http://schemas.microsoft.com/office/drawing/2014/main" val="3436952185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2656284998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2956292035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561235515"/>
                    </a:ext>
                  </a:extLst>
                </a:gridCol>
              </a:tblGrid>
              <a:tr h="2093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Traffic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Pathing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Basket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9pPr>
                    </a:lstStyle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  <a:latin typeface="+mn-lt"/>
                        </a:rPr>
                        <a:t>CVR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295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468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C2620-FFA7-C38F-E76E-2BB47E26A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711E9-BAE6-FB3E-6E04-6005ED928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666484"/>
            <a:ext cx="12191999" cy="422275"/>
          </a:xfrm>
        </p:spPr>
        <p:txBody>
          <a:bodyPr anchor="ctr">
            <a:noAutofit/>
          </a:bodyPr>
          <a:lstStyle/>
          <a:p>
            <a:r>
              <a:rPr lang="en-US" sz="3200" b="1">
                <a:solidFill>
                  <a:schemeClr val="accent1"/>
                </a:solidFill>
              </a:rPr>
              <a:t>PDPs Are The Most Trafficked Page Group And Have The Highest Drop-Off Rate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D29B5F-D231-A551-E652-9422DD52E50F}"/>
              </a:ext>
            </a:extLst>
          </p:cNvPr>
          <p:cNvSpPr txBox="1"/>
          <p:nvPr/>
        </p:nvSpPr>
        <p:spPr>
          <a:xfrm>
            <a:off x="6515974" y="2138366"/>
            <a:ext cx="4920757" cy="10926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+mn-lt"/>
                <a:ea typeface="+mn-lt"/>
                <a:cs typeface="Arial" panose="020B0604020202020204" pitchFamily="34" charset="0"/>
              </a:rPr>
              <a:t>PDPs are the inflection point between purchase and exit. This is where users formalize decisions and conduct most in-depth research.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+mn-lt"/>
                <a:ea typeface="+mn-lt"/>
                <a:cs typeface="Arial" panose="020B0604020202020204" pitchFamily="34" charset="0"/>
              </a:rPr>
              <a:t>Maximizing information accessibility without overwhelming users should move the needle</a:t>
            </a:r>
            <a:endParaRPr lang="en-US" altLang="en-US" sz="12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B3C89B-DDA6-B769-27F4-A2FC4BE84727}"/>
              </a:ext>
            </a:extLst>
          </p:cNvPr>
          <p:cNvSpPr txBox="1"/>
          <p:nvPr/>
        </p:nvSpPr>
        <p:spPr>
          <a:xfrm rot="10800000" flipV="1">
            <a:off x="822954" y="2183413"/>
            <a:ext cx="4891719" cy="7232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latin typeface="+mn-lt"/>
                <a:cs typeface="Arial" panose="020B0604020202020204" pitchFamily="34" charset="0"/>
              </a:rPr>
              <a:t>Product detail pages receive tremendous amounts of traffic and are the most visited page type across devices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latin typeface="+mn-lt"/>
                <a:cs typeface="Arial" panose="020B0604020202020204" pitchFamily="34" charset="0"/>
              </a:rPr>
              <a:t>Most of that traffic is mobile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5ECB4F2-D89D-FE55-2A8B-F095FC574AAA}"/>
              </a:ext>
            </a:extLst>
          </p:cNvPr>
          <p:cNvSpPr/>
          <p:nvPr/>
        </p:nvSpPr>
        <p:spPr>
          <a:xfrm>
            <a:off x="822960" y="1551138"/>
            <a:ext cx="4891717" cy="531894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600" b="1">
                <a:latin typeface="+mj-lt"/>
                <a:cs typeface="Arial" panose="020B0604020202020204" pitchFamily="34" charset="0"/>
              </a:rPr>
              <a:t>High PDP Traffic &amp; Mostly Mobile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C663C66-F784-78DA-FA7D-927884DD592F}"/>
              </a:ext>
            </a:extLst>
          </p:cNvPr>
          <p:cNvSpPr/>
          <p:nvPr/>
        </p:nvSpPr>
        <p:spPr>
          <a:xfrm>
            <a:off x="6515977" y="1551138"/>
            <a:ext cx="4920758" cy="531894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1600" b="1">
                <a:solidFill>
                  <a:srgbClr val="FFFFFF"/>
                </a:solidFill>
                <a:latin typeface="+mj-lt"/>
                <a:cs typeface="Arial" panose="020B0604020202020204" pitchFamily="34" charset="0"/>
              </a:rPr>
              <a:t>High PDP Drop-Off</a:t>
            </a:r>
            <a:endParaRPr lang="en-US" sz="2000"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5898B17-D7A7-F7B2-597F-95542E529C64}"/>
              </a:ext>
            </a:extLst>
          </p:cNvPr>
          <p:cNvCxnSpPr>
            <a:cxnSpLocks/>
          </p:cNvCxnSpPr>
          <p:nvPr/>
        </p:nvCxnSpPr>
        <p:spPr>
          <a:xfrm>
            <a:off x="6096000" y="1551138"/>
            <a:ext cx="0" cy="4786162"/>
          </a:xfrm>
          <a:prstGeom prst="straightConnector1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627FFD4-1573-4478-E2C0-C8A81D295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974" y="3300598"/>
            <a:ext cx="4891717" cy="25196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8C24BD-D251-6327-2136-4D9E9DE5DAF1}"/>
              </a:ext>
            </a:extLst>
          </p:cNvPr>
          <p:cNvSpPr/>
          <p:nvPr/>
        </p:nvSpPr>
        <p:spPr>
          <a:xfrm>
            <a:off x="8291262" y="5394192"/>
            <a:ext cx="655202" cy="30062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C9D25C7-CA3A-623E-3401-51FAFC261CD4}"/>
              </a:ext>
            </a:extLst>
          </p:cNvPr>
          <p:cNvGrpSpPr/>
          <p:nvPr/>
        </p:nvGrpSpPr>
        <p:grpSpPr>
          <a:xfrm>
            <a:off x="793920" y="3551879"/>
            <a:ext cx="4920753" cy="2017123"/>
            <a:chOff x="793067" y="3300598"/>
            <a:chExt cx="4920753" cy="201712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1705EE1-B16B-F6DF-DA97-5947A82F35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3067" y="3300598"/>
              <a:ext cx="4920753" cy="2017123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D5F4EE7-4691-D41F-57B8-8B1C11DD5063}"/>
                </a:ext>
              </a:extLst>
            </p:cNvPr>
            <p:cNvSpPr/>
            <p:nvPr/>
          </p:nvSpPr>
          <p:spPr>
            <a:xfrm>
              <a:off x="1659556" y="3408241"/>
              <a:ext cx="1500912" cy="134209"/>
            </a:xfrm>
            <a:prstGeom prst="round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6F9BD19-D3DD-CC09-840B-A8D9A8BEE95F}"/>
                </a:ext>
              </a:extLst>
            </p:cNvPr>
            <p:cNvSpPr/>
            <p:nvPr/>
          </p:nvSpPr>
          <p:spPr>
            <a:xfrm>
              <a:off x="1659556" y="3779302"/>
              <a:ext cx="1500912" cy="134209"/>
            </a:xfrm>
            <a:prstGeom prst="round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C8F0D74-5E96-5187-D9CF-E1F48D06CB3C}"/>
              </a:ext>
            </a:extLst>
          </p:cNvPr>
          <p:cNvGraphicFramePr>
            <a:graphicFrameLocks noGrp="1"/>
          </p:cNvGraphicFramePr>
          <p:nvPr/>
        </p:nvGraphicFramePr>
        <p:xfrm>
          <a:off x="8194234" y="294"/>
          <a:ext cx="3993140" cy="213360"/>
        </p:xfrm>
        <a:graphic>
          <a:graphicData uri="http://schemas.openxmlformats.org/drawingml/2006/table">
            <a:tbl>
              <a:tblPr firstRow="1" bandRow="1"/>
              <a:tblGrid>
                <a:gridCol w="998285">
                  <a:extLst>
                    <a:ext uri="{9D8B030D-6E8A-4147-A177-3AD203B41FA5}">
                      <a16:colId xmlns:a16="http://schemas.microsoft.com/office/drawing/2014/main" val="3436952185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2656284998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2956292035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561235515"/>
                    </a:ext>
                  </a:extLst>
                </a:gridCol>
              </a:tblGrid>
              <a:tr h="2093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Traffic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Pathing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Basket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9pPr>
                    </a:lstStyle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  <a:latin typeface="+mn-lt"/>
                        </a:rPr>
                        <a:t>CVR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295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08630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587D0-A56F-78A8-B45A-226F85618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95E64-4F08-7A84-E574-C985397C8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666484"/>
            <a:ext cx="12191999" cy="422275"/>
          </a:xfrm>
        </p:spPr>
        <p:txBody>
          <a:bodyPr anchor="ctr">
            <a:noAutofit/>
          </a:bodyPr>
          <a:lstStyle/>
          <a:p>
            <a:r>
              <a:rPr lang="en-US" sz="3200" b="1">
                <a:solidFill>
                  <a:schemeClr val="accent1"/>
                </a:solidFill>
              </a:rPr>
              <a:t>Increased RTO Makes Formal Attire Stickier But Casual Apparel Still Drives More Volume &amp; Higher CVR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CE6280-3878-40D0-68DD-B8AF6126E24F}"/>
              </a:ext>
            </a:extLst>
          </p:cNvPr>
          <p:cNvSpPr txBox="1"/>
          <p:nvPr/>
        </p:nvSpPr>
        <p:spPr>
          <a:xfrm>
            <a:off x="6515974" y="5715089"/>
            <a:ext cx="4920748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Promoting casual apparel on pages with broad audiences, like men’s apparel, is likely to engage more users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111872-A185-F990-F164-7F334FA10A18}"/>
              </a:ext>
            </a:extLst>
          </p:cNvPr>
          <p:cNvSpPr txBox="1"/>
          <p:nvPr/>
        </p:nvSpPr>
        <p:spPr>
          <a:xfrm>
            <a:off x="6515974" y="2138366"/>
            <a:ext cx="4920757" cy="9079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+mn-lt"/>
                <a:ea typeface="+mn-lt"/>
                <a:cs typeface="Arial" panose="020B0604020202020204" pitchFamily="34" charset="0"/>
              </a:rPr>
              <a:t>Outfit and event guides help users who haven’t bought formal attire for work or other events in a while (or ever)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200">
                <a:solidFill>
                  <a:srgbClr val="000000"/>
                </a:solidFill>
                <a:latin typeface="+mn-lt"/>
                <a:ea typeface="+mn-lt"/>
                <a:cs typeface="Arial" panose="020B0604020202020204" pitchFamily="34" charset="0"/>
              </a:rPr>
              <a:t>Enhanced PLP tooling like occasion filters or important info explanations can give users confidence to buy</a:t>
            </a:r>
            <a:endParaRPr lang="en-US" altLang="en-US" sz="12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42231E-67D6-4BE9-D5D1-9E2A8E4C4F67}"/>
              </a:ext>
            </a:extLst>
          </p:cNvPr>
          <p:cNvSpPr txBox="1"/>
          <p:nvPr/>
        </p:nvSpPr>
        <p:spPr>
          <a:xfrm rot="10800000" flipV="1">
            <a:off x="822954" y="2076333"/>
            <a:ext cx="4891719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latin typeface="+mn-lt"/>
                <a:cs typeface="Arial" panose="020B0604020202020204" pitchFamily="34" charset="0"/>
              </a:rPr>
              <a:t>Dress shirts, suits, and sport coats &amp; blazers declined by only ~10% compared to ~25% for sweaters, coats &amp; jackers and chinos &amp; casual pants. This is also seen in AOV rising disproportionately to UPT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latin typeface="+mn-lt"/>
                <a:cs typeface="Arial" panose="020B0604020202020204" pitchFamily="34" charset="0"/>
              </a:rPr>
              <a:t>Casual apparel still received ~7.1M views (61% of top 10 product views)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D498728-C8EB-2F06-FCEE-B7E5B2E68EB7}"/>
              </a:ext>
            </a:extLst>
          </p:cNvPr>
          <p:cNvSpPr/>
          <p:nvPr/>
        </p:nvSpPr>
        <p:spPr>
          <a:xfrm>
            <a:off x="822960" y="1551138"/>
            <a:ext cx="4891717" cy="531894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600" b="1">
                <a:latin typeface="+mj-lt"/>
                <a:cs typeface="Arial" panose="020B0604020202020204" pitchFamily="34" charset="0"/>
              </a:rPr>
              <a:t>Formal Attire Less Impacted By CVR Drop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69C8A66-F38A-2229-5FC9-2580DDDC4E5C}"/>
              </a:ext>
            </a:extLst>
          </p:cNvPr>
          <p:cNvSpPr/>
          <p:nvPr/>
        </p:nvSpPr>
        <p:spPr>
          <a:xfrm>
            <a:off x="6515977" y="1551138"/>
            <a:ext cx="4920758" cy="531894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1600" b="1">
                <a:solidFill>
                  <a:srgbClr val="FFFFFF"/>
                </a:solidFill>
                <a:latin typeface="+mj-lt"/>
                <a:cs typeface="Arial" panose="020B0604020202020204" pitchFamily="34" charset="0"/>
              </a:rPr>
              <a:t>Capitalizing On RTO</a:t>
            </a:r>
            <a:endParaRPr lang="en-US" sz="2000">
              <a:latin typeface="+mj-lt"/>
              <a:cs typeface="Arial" panose="020B06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857E0A9-1CB3-ED49-C62A-C1A3AABE428A}"/>
              </a:ext>
            </a:extLst>
          </p:cNvPr>
          <p:cNvSpPr/>
          <p:nvPr/>
        </p:nvSpPr>
        <p:spPr>
          <a:xfrm>
            <a:off x="6515973" y="5154751"/>
            <a:ext cx="4920749" cy="531894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1600" b="1">
                <a:solidFill>
                  <a:srgbClr val="FFFFFF"/>
                </a:solidFill>
                <a:latin typeface="+mj-lt"/>
                <a:cs typeface="Arial" panose="020B0604020202020204" pitchFamily="34" charset="0"/>
              </a:rPr>
              <a:t>Maintaining Eye On Casual</a:t>
            </a:r>
            <a:endParaRPr lang="en-US" sz="2000"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95DE289-878E-F576-B1E6-488135790DDE}"/>
              </a:ext>
            </a:extLst>
          </p:cNvPr>
          <p:cNvCxnSpPr>
            <a:cxnSpLocks/>
          </p:cNvCxnSpPr>
          <p:nvPr/>
        </p:nvCxnSpPr>
        <p:spPr>
          <a:xfrm>
            <a:off x="6096000" y="1551138"/>
            <a:ext cx="0" cy="4786162"/>
          </a:xfrm>
          <a:prstGeom prst="straightConnector1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057F0B-30E1-928B-BCDE-F467E6B5AEA6}"/>
              </a:ext>
            </a:extLst>
          </p:cNvPr>
          <p:cNvGraphicFramePr>
            <a:graphicFrameLocks noGrp="1"/>
          </p:cNvGraphicFramePr>
          <p:nvPr/>
        </p:nvGraphicFramePr>
        <p:xfrm>
          <a:off x="8187307" y="294"/>
          <a:ext cx="3993140" cy="213360"/>
        </p:xfrm>
        <a:graphic>
          <a:graphicData uri="http://schemas.openxmlformats.org/drawingml/2006/table">
            <a:tbl>
              <a:tblPr firstRow="1" bandRow="1"/>
              <a:tblGrid>
                <a:gridCol w="998285">
                  <a:extLst>
                    <a:ext uri="{9D8B030D-6E8A-4147-A177-3AD203B41FA5}">
                      <a16:colId xmlns:a16="http://schemas.microsoft.com/office/drawing/2014/main" val="3436952185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2656284998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2956292035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561235515"/>
                    </a:ext>
                  </a:extLst>
                </a:gridCol>
              </a:tblGrid>
              <a:tr h="2093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Traffic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Pathing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Basket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9pPr>
                    </a:lstStyle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  <a:latin typeface="+mn-lt"/>
                        </a:rPr>
                        <a:t>CVR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29585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88F907E-E9EC-A436-DA87-BB1158FA69B7}"/>
              </a:ext>
            </a:extLst>
          </p:cNvPr>
          <p:cNvSpPr txBox="1"/>
          <p:nvPr/>
        </p:nvSpPr>
        <p:spPr>
          <a:xfrm>
            <a:off x="26099" y="6625606"/>
            <a:ext cx="3267943" cy="2000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i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cs typeface="Poppins SemiBold"/>
              </a:rPr>
              <a:t>8/1/2025-11/15/2025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818C749-6CDD-ECEA-B273-8FEA2CAA6A74}"/>
              </a:ext>
            </a:extLst>
          </p:cNvPr>
          <p:cNvGrpSpPr/>
          <p:nvPr/>
        </p:nvGrpSpPr>
        <p:grpSpPr>
          <a:xfrm>
            <a:off x="1002487" y="3391923"/>
            <a:ext cx="4532651" cy="2683856"/>
            <a:chOff x="1273236" y="3487745"/>
            <a:chExt cx="4532651" cy="268385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648B46A-0923-A4EB-076A-BF0FCA53D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6805" b="55414"/>
            <a:stretch>
              <a:fillRect/>
            </a:stretch>
          </p:blipFill>
          <p:spPr>
            <a:xfrm>
              <a:off x="1273236" y="3487745"/>
              <a:ext cx="4532651" cy="2683856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2FFDF92B-AD5D-4AA6-BE67-D37C00DC2288}"/>
                </a:ext>
              </a:extLst>
            </p:cNvPr>
            <p:cNvSpPr/>
            <p:nvPr/>
          </p:nvSpPr>
          <p:spPr>
            <a:xfrm>
              <a:off x="3794119" y="5930585"/>
              <a:ext cx="655202" cy="241014"/>
            </a:xfrm>
            <a:prstGeom prst="round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098789A-BAED-4415-74D8-F5C593592744}"/>
                </a:ext>
              </a:extLst>
            </p:cNvPr>
            <p:cNvSpPr/>
            <p:nvPr/>
          </p:nvSpPr>
          <p:spPr>
            <a:xfrm>
              <a:off x="3794119" y="4260064"/>
              <a:ext cx="655202" cy="241014"/>
            </a:xfrm>
            <a:prstGeom prst="round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328C116E-5AAF-C992-BD2B-1D8495138C1B}"/>
                </a:ext>
              </a:extLst>
            </p:cNvPr>
            <p:cNvSpPr/>
            <p:nvPr/>
          </p:nvSpPr>
          <p:spPr>
            <a:xfrm>
              <a:off x="3794119" y="4745489"/>
              <a:ext cx="655202" cy="241014"/>
            </a:xfrm>
            <a:prstGeom prst="round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544BA097-D2C7-19C3-07E2-1D5C9D940893}"/>
                </a:ext>
              </a:extLst>
            </p:cNvPr>
            <p:cNvSpPr/>
            <p:nvPr/>
          </p:nvSpPr>
          <p:spPr>
            <a:xfrm>
              <a:off x="3794119" y="4005492"/>
              <a:ext cx="655202" cy="241014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CD51F5C7-7C3F-F15E-DFD5-BFEDC98CD06E}"/>
                </a:ext>
              </a:extLst>
            </p:cNvPr>
            <p:cNvSpPr/>
            <p:nvPr/>
          </p:nvSpPr>
          <p:spPr>
            <a:xfrm>
              <a:off x="3794119" y="4504474"/>
              <a:ext cx="655202" cy="241014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8D2D3CD7-E8AC-8694-41B7-64BBC70ECE87}"/>
                </a:ext>
              </a:extLst>
            </p:cNvPr>
            <p:cNvSpPr/>
            <p:nvPr/>
          </p:nvSpPr>
          <p:spPr>
            <a:xfrm>
              <a:off x="3794119" y="4986503"/>
              <a:ext cx="655202" cy="241014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F3508DE0-8E39-B8E9-BC62-AC7F8A2361EC}"/>
                </a:ext>
              </a:extLst>
            </p:cNvPr>
            <p:cNvSpPr/>
            <p:nvPr/>
          </p:nvSpPr>
          <p:spPr>
            <a:xfrm>
              <a:off x="3794118" y="5439242"/>
              <a:ext cx="655202" cy="241014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CF86A529-8EEA-56CF-F9FF-5A17584A15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396"/>
          <a:stretch>
            <a:fillRect/>
          </a:stretch>
        </p:blipFill>
        <p:spPr>
          <a:xfrm>
            <a:off x="2366907" y="-4806266"/>
            <a:ext cx="8298132" cy="417029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889A7AE-DE62-07D3-C0DF-EC59FDC3F1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9128"/>
          <a:stretch>
            <a:fillRect/>
          </a:stretch>
        </p:blipFill>
        <p:spPr>
          <a:xfrm>
            <a:off x="6515973" y="3165561"/>
            <a:ext cx="4940394" cy="17106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B488646-6B9F-FF68-05C8-B88871E4A011}"/>
              </a:ext>
            </a:extLst>
          </p:cNvPr>
          <p:cNvSpPr/>
          <p:nvPr/>
        </p:nvSpPr>
        <p:spPr>
          <a:xfrm>
            <a:off x="6477324" y="4649396"/>
            <a:ext cx="4733415" cy="241014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653A242-0112-B6D9-F0D2-4ACB29D3D4F1}"/>
              </a:ext>
            </a:extLst>
          </p:cNvPr>
          <p:cNvSpPr/>
          <p:nvPr/>
        </p:nvSpPr>
        <p:spPr>
          <a:xfrm>
            <a:off x="6473242" y="3502009"/>
            <a:ext cx="4733415" cy="241014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413271F-7393-7FDC-E5C2-98EE1B22C421}"/>
              </a:ext>
            </a:extLst>
          </p:cNvPr>
          <p:cNvSpPr/>
          <p:nvPr/>
        </p:nvSpPr>
        <p:spPr>
          <a:xfrm>
            <a:off x="10789104" y="3502009"/>
            <a:ext cx="417552" cy="241014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222E2DD-D40A-8876-AEA9-FA05B419AF55}"/>
              </a:ext>
            </a:extLst>
          </p:cNvPr>
          <p:cNvSpPr/>
          <p:nvPr/>
        </p:nvSpPr>
        <p:spPr>
          <a:xfrm>
            <a:off x="10789104" y="4649396"/>
            <a:ext cx="417552" cy="241014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887EDD70-FBF7-C9B7-EE97-3E2F0416B3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7193" y="6102182"/>
            <a:ext cx="3267943" cy="6177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9869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94791-9B1C-CA66-A888-431BBFB32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C0A2F349-CD9E-AF87-CD4B-ACB8BEC7E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0250" y="5695197"/>
            <a:ext cx="1491581" cy="10926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E50A89-076E-B441-766B-E88034C93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211" y="666484"/>
            <a:ext cx="11463580" cy="422275"/>
          </a:xfrm>
        </p:spPr>
        <p:txBody>
          <a:bodyPr anchor="ctr">
            <a:noAutofit/>
          </a:bodyPr>
          <a:lstStyle/>
          <a:p>
            <a:r>
              <a:rPr lang="en-US" sz="3200" b="1">
                <a:solidFill>
                  <a:schemeClr val="accent1"/>
                </a:solidFill>
              </a:rPr>
              <a:t>Over 60% Of Cross-Sells Occur Within The Same Category And Most Are Tops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A5ECF5-100E-51C7-EC19-B07CC5FD866D}"/>
              </a:ext>
            </a:extLst>
          </p:cNvPr>
          <p:cNvSpPr txBox="1"/>
          <p:nvPr/>
        </p:nvSpPr>
        <p:spPr>
          <a:xfrm>
            <a:off x="6515974" y="2138366"/>
            <a:ext cx="531181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+mn-lt"/>
                <a:ea typeface="+mn-lt"/>
                <a:cs typeface="Arial" panose="020B0604020202020204" pitchFamily="34" charset="0"/>
              </a:rPr>
              <a:t>Tops are more likely to be cross-sold than bottoms, making them a good pairing with both bottoms or tops and a potentially lucrative product priority</a:t>
            </a:r>
            <a:endParaRPr lang="en-US" altLang="en-US" sz="12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1C34C7-ED61-3621-B152-87AE90983CD6}"/>
              </a:ext>
            </a:extLst>
          </p:cNvPr>
          <p:cNvSpPr txBox="1"/>
          <p:nvPr/>
        </p:nvSpPr>
        <p:spPr>
          <a:xfrm rot="10800000" flipV="1">
            <a:off x="822954" y="2080894"/>
            <a:ext cx="4891719" cy="10926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latin typeface="+mn-lt"/>
                <a:cs typeface="Arial" panose="020B0604020202020204" pitchFamily="34" charset="0"/>
              </a:rPr>
              <a:t>Many multi‑product purchasers are buying multiples of the same item. They have a single need but require variations to address style preferences and frequency of use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latin typeface="+mn-lt"/>
                <a:cs typeface="Arial" panose="020B0604020202020204" pitchFamily="34" charset="0"/>
              </a:rPr>
              <a:t>Could be addressed with recently viewed, frequently bought with or recommendation-based cross-sells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E40F41F-C3AD-1323-EEAE-A018ADB903B8}"/>
              </a:ext>
            </a:extLst>
          </p:cNvPr>
          <p:cNvSpPr/>
          <p:nvPr/>
        </p:nvSpPr>
        <p:spPr>
          <a:xfrm>
            <a:off x="822960" y="1551138"/>
            <a:ext cx="4891717" cy="531894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600" b="1">
                <a:latin typeface="+mj-lt"/>
                <a:cs typeface="Arial" panose="020B0604020202020204" pitchFamily="34" charset="0"/>
              </a:rPr>
              <a:t>Same Product Need But Want Variety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6587734-0C25-2472-2FB2-12A83D11C0C4}"/>
              </a:ext>
            </a:extLst>
          </p:cNvPr>
          <p:cNvSpPr/>
          <p:nvPr/>
        </p:nvSpPr>
        <p:spPr>
          <a:xfrm>
            <a:off x="6515976" y="1551138"/>
            <a:ext cx="5311811" cy="531894"/>
          </a:xfrm>
          <a:prstGeom prst="round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1600" b="1">
                <a:solidFill>
                  <a:srgbClr val="FFFFFF"/>
                </a:solidFill>
                <a:latin typeface="+mj-lt"/>
                <a:cs typeface="Arial" panose="020B0604020202020204" pitchFamily="34" charset="0"/>
              </a:rPr>
              <a:t>Tops More Varied &amp; Less Re-Wear Than bottoms</a:t>
            </a:r>
            <a:endParaRPr lang="en-US" sz="2000"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CABFEB4-0441-D15C-8173-01EB302ED13F}"/>
              </a:ext>
            </a:extLst>
          </p:cNvPr>
          <p:cNvCxnSpPr>
            <a:cxnSpLocks/>
          </p:cNvCxnSpPr>
          <p:nvPr/>
        </p:nvCxnSpPr>
        <p:spPr>
          <a:xfrm>
            <a:off x="6096000" y="1551138"/>
            <a:ext cx="0" cy="4786162"/>
          </a:xfrm>
          <a:prstGeom prst="straightConnector1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C00292-ACD6-7873-60C4-C2A601BBBB66}"/>
              </a:ext>
            </a:extLst>
          </p:cNvPr>
          <p:cNvGraphicFramePr>
            <a:graphicFrameLocks noGrp="1"/>
          </p:cNvGraphicFramePr>
          <p:nvPr/>
        </p:nvGraphicFramePr>
        <p:xfrm>
          <a:off x="8187304" y="294"/>
          <a:ext cx="3993140" cy="213360"/>
        </p:xfrm>
        <a:graphic>
          <a:graphicData uri="http://schemas.openxmlformats.org/drawingml/2006/table">
            <a:tbl>
              <a:tblPr firstRow="1" bandRow="1"/>
              <a:tblGrid>
                <a:gridCol w="998285">
                  <a:extLst>
                    <a:ext uri="{9D8B030D-6E8A-4147-A177-3AD203B41FA5}">
                      <a16:colId xmlns:a16="http://schemas.microsoft.com/office/drawing/2014/main" val="3436952185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2656284998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2956292035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561235515"/>
                    </a:ext>
                  </a:extLst>
                </a:gridCol>
              </a:tblGrid>
              <a:tr h="2093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Traffic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Pathing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Basket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9pPr>
                    </a:lstStyle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  <a:latin typeface="+mn-lt"/>
                        </a:rPr>
                        <a:t>CVR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29585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9B44B625-DAD1-6F38-3A83-6FDC00A8EB7E}"/>
              </a:ext>
            </a:extLst>
          </p:cNvPr>
          <p:cNvSpPr txBox="1"/>
          <p:nvPr/>
        </p:nvSpPr>
        <p:spPr>
          <a:xfrm>
            <a:off x="70168" y="6482385"/>
            <a:ext cx="2378342" cy="2000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i="1">
                <a:solidFill>
                  <a:srgbClr val="000000">
                    <a:lumMod val="49000"/>
                    <a:lumOff val="51000"/>
                  </a:srgbClr>
                </a:solidFill>
                <a:latin typeface="+mj-lt"/>
                <a:cs typeface="Poppins SemiBold"/>
              </a:rPr>
              <a:t>8/1/2025-11/15/2025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F46784E-8EEB-373B-A62A-F5EA3A82BAA5}"/>
              </a:ext>
            </a:extLst>
          </p:cNvPr>
          <p:cNvGrpSpPr/>
          <p:nvPr/>
        </p:nvGrpSpPr>
        <p:grpSpPr>
          <a:xfrm>
            <a:off x="336003" y="3192192"/>
            <a:ext cx="5865619" cy="3189077"/>
            <a:chOff x="359008" y="2814511"/>
            <a:chExt cx="5865619" cy="3189077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D4E2A24-B6A5-9C56-0EC8-2D1E8C76965F}"/>
                </a:ext>
              </a:extLst>
            </p:cNvPr>
            <p:cNvGrpSpPr/>
            <p:nvPr/>
          </p:nvGrpSpPr>
          <p:grpSpPr>
            <a:xfrm>
              <a:off x="822954" y="2814511"/>
              <a:ext cx="4891720" cy="3189077"/>
              <a:chOff x="115793" y="1424976"/>
              <a:chExt cx="7922421" cy="5164893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EFAC577B-989A-9E4D-E649-3AD0FCB05C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5793" y="1424976"/>
                <a:ext cx="7922421" cy="5164893"/>
              </a:xfrm>
              <a:prstGeom prst="rect">
                <a:avLst/>
              </a:prstGeom>
            </p:spPr>
          </p:pic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AE5DF6C5-F5AC-B805-351D-34D9DE770B37}"/>
                  </a:ext>
                </a:extLst>
              </p:cNvPr>
              <p:cNvSpPr/>
              <p:nvPr/>
            </p:nvSpPr>
            <p:spPr>
              <a:xfrm>
                <a:off x="6035177" y="2950976"/>
                <a:ext cx="309176" cy="196261"/>
              </a:xfrm>
              <a:prstGeom prst="round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25773339-6462-7015-B249-2D2DB37D2FC5}"/>
                  </a:ext>
                </a:extLst>
              </p:cNvPr>
              <p:cNvSpPr/>
              <p:nvPr/>
            </p:nvSpPr>
            <p:spPr>
              <a:xfrm>
                <a:off x="7185217" y="2174788"/>
                <a:ext cx="309176" cy="463996"/>
              </a:xfrm>
              <a:prstGeom prst="round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C5F9A7DD-1A74-5573-A264-D7F72BA1E139}"/>
                  </a:ext>
                </a:extLst>
              </p:cNvPr>
              <p:cNvSpPr/>
              <p:nvPr/>
            </p:nvSpPr>
            <p:spPr>
              <a:xfrm>
                <a:off x="6035178" y="4140780"/>
                <a:ext cx="309175" cy="580881"/>
              </a:xfrm>
              <a:prstGeom prst="round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EABFA2B6-E976-B764-F1CF-4E49580FCF8B}"/>
                  </a:ext>
                </a:extLst>
              </p:cNvPr>
              <p:cNvSpPr/>
              <p:nvPr/>
            </p:nvSpPr>
            <p:spPr>
              <a:xfrm>
                <a:off x="6035177" y="2437268"/>
                <a:ext cx="309176" cy="196261"/>
              </a:xfrm>
              <a:prstGeom prst="round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6456EBF7-D9CB-571A-FAF6-DFF2E3713152}"/>
                  </a:ext>
                </a:extLst>
              </p:cNvPr>
              <p:cNvSpPr/>
              <p:nvPr/>
            </p:nvSpPr>
            <p:spPr>
              <a:xfrm>
                <a:off x="7185217" y="4193629"/>
                <a:ext cx="309176" cy="463996"/>
              </a:xfrm>
              <a:prstGeom prst="round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C9576C25-A89F-7CEA-7047-9040B45FCDF5}"/>
                  </a:ext>
                </a:extLst>
              </p:cNvPr>
              <p:cNvSpPr/>
              <p:nvPr/>
            </p:nvSpPr>
            <p:spPr>
              <a:xfrm>
                <a:off x="3740370" y="1973272"/>
                <a:ext cx="309176" cy="463996"/>
              </a:xfrm>
              <a:prstGeom prst="round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2EB1B32E-C73A-454D-C678-E00C2D6121D0}"/>
                  </a:ext>
                </a:extLst>
              </p:cNvPr>
              <p:cNvSpPr/>
              <p:nvPr/>
            </p:nvSpPr>
            <p:spPr>
              <a:xfrm>
                <a:off x="7185217" y="5300064"/>
                <a:ext cx="309176" cy="178673"/>
              </a:xfrm>
              <a:prstGeom prst="round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387DC928-A68D-1197-2208-DF56FBD3B203}"/>
                </a:ext>
              </a:extLst>
            </p:cNvPr>
            <p:cNvSpPr/>
            <p:nvPr/>
          </p:nvSpPr>
          <p:spPr>
            <a:xfrm rot="1916706">
              <a:off x="359008" y="4312474"/>
              <a:ext cx="5865619" cy="319537"/>
            </a:xfrm>
            <a:prstGeom prst="roundRect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7" name="Picture 26" descr="A list of clothing items&#10;&#10;AI-generated content may be incorrect.">
            <a:extLst>
              <a:ext uri="{FF2B5EF4-FFF2-40B4-BE49-F238E27FC236}">
                <a16:creationId xmlns:a16="http://schemas.microsoft.com/office/drawing/2014/main" id="{6D9284FA-D93D-E4F0-A476-F4C42D9E35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7304" y="4901704"/>
            <a:ext cx="3464364" cy="1688566"/>
          </a:xfrm>
          <a:prstGeom prst="rect">
            <a:avLst/>
          </a:prstGeom>
        </p:spPr>
      </p:pic>
      <p:pic>
        <p:nvPicPr>
          <p:cNvPr id="29" name="Picture 28" descr="A chart of clothing items&#10;&#10;AI-generated content may be incorrect.">
            <a:extLst>
              <a:ext uri="{FF2B5EF4-FFF2-40B4-BE49-F238E27FC236}">
                <a16:creationId xmlns:a16="http://schemas.microsoft.com/office/drawing/2014/main" id="{9A0A36E1-6435-E0C6-9958-7C94A56FA2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974" y="3113375"/>
            <a:ext cx="3464364" cy="170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28457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76887-08E1-326E-A93C-B9E19887E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FCA41-7398-DEB6-2AB7-BCBF178A6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666484"/>
            <a:ext cx="12191999" cy="422275"/>
          </a:xfrm>
        </p:spPr>
        <p:txBody>
          <a:bodyPr anchor="ctr">
            <a:noAutofit/>
          </a:bodyPr>
          <a:lstStyle/>
          <a:p>
            <a:r>
              <a:rPr lang="en-US" sz="3200" b="1">
                <a:solidFill>
                  <a:schemeClr val="accent1"/>
                </a:solidFill>
              </a:rPr>
              <a:t>PLP CVR Being Lower On Brooks Brothers Than Other SPARC Brand Demonstrates Opportunity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60542C-D032-6081-18A3-32B224C23A67}"/>
              </a:ext>
            </a:extLst>
          </p:cNvPr>
          <p:cNvSpPr txBox="1"/>
          <p:nvPr/>
        </p:nvSpPr>
        <p:spPr>
          <a:xfrm>
            <a:off x="6515974" y="2138366"/>
            <a:ext cx="4920757" cy="9079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+mn-lt"/>
                <a:ea typeface="+mn-lt"/>
                <a:cs typeface="Arial" panose="020B0604020202020204" pitchFamily="34" charset="0"/>
              </a:rPr>
              <a:t>Taking a more informative approach by bringing product content onto PLPs may motivate further research</a:t>
            </a:r>
            <a:endParaRPr lang="en-US" altLang="en-US" sz="12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lt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en-US" sz="1200">
                <a:solidFill>
                  <a:srgbClr val="000000"/>
                </a:solidFill>
                <a:latin typeface="+mn-lt"/>
                <a:ea typeface="+mn-lt"/>
                <a:cs typeface="Arial" panose="020B0604020202020204" pitchFamily="34" charset="0"/>
              </a:rPr>
              <a:t>Clearer directives to PDPs with the promise of greater detail could push users to interact</a:t>
            </a:r>
            <a:endParaRPr lang="en-US" altLang="en-US" sz="120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A9C2BB-42FF-0454-AE95-0D273F5C5765}"/>
              </a:ext>
            </a:extLst>
          </p:cNvPr>
          <p:cNvSpPr txBox="1"/>
          <p:nvPr/>
        </p:nvSpPr>
        <p:spPr>
          <a:xfrm rot="10800000" flipV="1">
            <a:off x="822954" y="2128521"/>
            <a:ext cx="489171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200">
                <a:latin typeface="+mn-lt"/>
                <a:cs typeface="Arial" panose="020B0604020202020204" pitchFamily="34" charset="0"/>
              </a:rPr>
              <a:t>Brooks Brothers’ Product View Rate and ATC From PLP Rate are the lowest of any SPARC brands and declined YoY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6C14936-6191-90D0-1785-9AAFA301033F}"/>
              </a:ext>
            </a:extLst>
          </p:cNvPr>
          <p:cNvSpPr/>
          <p:nvPr/>
        </p:nvSpPr>
        <p:spPr>
          <a:xfrm>
            <a:off x="822960" y="1551138"/>
            <a:ext cx="4891717" cy="531894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600" b="1">
                <a:latin typeface="+mj-lt"/>
                <a:cs typeface="Arial" panose="020B0604020202020204" pitchFamily="34" charset="0"/>
              </a:rPr>
              <a:t>PLPs Below Benchmark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85A3899-BF54-F904-37FF-37FA6A59935E}"/>
              </a:ext>
            </a:extLst>
          </p:cNvPr>
          <p:cNvSpPr/>
          <p:nvPr/>
        </p:nvSpPr>
        <p:spPr>
          <a:xfrm>
            <a:off x="6515977" y="1551138"/>
            <a:ext cx="4920758" cy="531894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1600" b="1">
                <a:solidFill>
                  <a:srgbClr val="FFFFFF"/>
                </a:solidFill>
                <a:latin typeface="+mj-lt"/>
                <a:cs typeface="Arial" panose="020B0604020202020204" pitchFamily="34" charset="0"/>
              </a:rPr>
              <a:t>Informative Approach</a:t>
            </a:r>
            <a:endParaRPr lang="en-US" sz="2000"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C2FFDE8-F355-3862-B0E0-632C5EBDB5DD}"/>
              </a:ext>
            </a:extLst>
          </p:cNvPr>
          <p:cNvCxnSpPr>
            <a:cxnSpLocks/>
          </p:cNvCxnSpPr>
          <p:nvPr/>
        </p:nvCxnSpPr>
        <p:spPr>
          <a:xfrm>
            <a:off x="6096000" y="1551138"/>
            <a:ext cx="0" cy="4786162"/>
          </a:xfrm>
          <a:prstGeom prst="straightConnector1">
            <a:avLst/>
          </a:prstGeom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2B6268-DA18-0279-E31F-F715D92FC614}"/>
              </a:ext>
            </a:extLst>
          </p:cNvPr>
          <p:cNvGraphicFramePr>
            <a:graphicFrameLocks noGrp="1"/>
          </p:cNvGraphicFramePr>
          <p:nvPr/>
        </p:nvGraphicFramePr>
        <p:xfrm>
          <a:off x="8194234" y="294"/>
          <a:ext cx="3993140" cy="213360"/>
        </p:xfrm>
        <a:graphic>
          <a:graphicData uri="http://schemas.openxmlformats.org/drawingml/2006/table">
            <a:tbl>
              <a:tblPr firstRow="1" bandRow="1"/>
              <a:tblGrid>
                <a:gridCol w="998285">
                  <a:extLst>
                    <a:ext uri="{9D8B030D-6E8A-4147-A177-3AD203B41FA5}">
                      <a16:colId xmlns:a16="http://schemas.microsoft.com/office/drawing/2014/main" val="3436952185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2656284998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2956292035"/>
                    </a:ext>
                  </a:extLst>
                </a:gridCol>
                <a:gridCol w="998285">
                  <a:extLst>
                    <a:ext uri="{9D8B030D-6E8A-4147-A177-3AD203B41FA5}">
                      <a16:colId xmlns:a16="http://schemas.microsoft.com/office/drawing/2014/main" val="561235515"/>
                    </a:ext>
                  </a:extLst>
                </a:gridCol>
              </a:tblGrid>
              <a:tr h="2093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Traffic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7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Pathing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8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Basket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eorgia" panose="02040502050405020303"/>
                        </a:defRPr>
                      </a:lvl9pPr>
                    </a:lstStyle>
                    <a:p>
                      <a:pPr algn="ctr"/>
                      <a:r>
                        <a:rPr lang="en-US" sz="800">
                          <a:solidFill>
                            <a:schemeClr val="bg1"/>
                          </a:solidFill>
                          <a:latin typeface="+mn-lt"/>
                        </a:rPr>
                        <a:t>CVR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295855"/>
                  </a:ext>
                </a:extLst>
              </a:tr>
            </a:tbl>
          </a:graphicData>
        </a:graphic>
      </p:graphicFrame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9F59B9F2-BE6D-8E24-6E84-B07B86D6E197}"/>
              </a:ext>
            </a:extLst>
          </p:cNvPr>
          <p:cNvGraphicFramePr>
            <a:graphicFrameLocks noGrp="1"/>
          </p:cNvGraphicFramePr>
          <p:nvPr/>
        </p:nvGraphicFramePr>
        <p:xfrm>
          <a:off x="822954" y="2661905"/>
          <a:ext cx="4891720" cy="290203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08974">
                  <a:extLst>
                    <a:ext uri="{9D8B030D-6E8A-4147-A177-3AD203B41FA5}">
                      <a16:colId xmlns:a16="http://schemas.microsoft.com/office/drawing/2014/main" val="3214227377"/>
                    </a:ext>
                  </a:extLst>
                </a:gridCol>
                <a:gridCol w="1691373">
                  <a:extLst>
                    <a:ext uri="{9D8B030D-6E8A-4147-A177-3AD203B41FA5}">
                      <a16:colId xmlns:a16="http://schemas.microsoft.com/office/drawing/2014/main" val="3478323516"/>
                    </a:ext>
                  </a:extLst>
                </a:gridCol>
                <a:gridCol w="1691373">
                  <a:extLst>
                    <a:ext uri="{9D8B030D-6E8A-4147-A177-3AD203B41FA5}">
                      <a16:colId xmlns:a16="http://schemas.microsoft.com/office/drawing/2014/main" val="3629106428"/>
                    </a:ext>
                  </a:extLst>
                </a:gridCol>
              </a:tblGrid>
              <a:tr h="509059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lang="en-US" sz="1100" b="1" i="0">
                          <a:solidFill>
                            <a:schemeClr val="tx1"/>
                          </a:solidFill>
                          <a:latin typeface="Poppins SemiBold"/>
                          <a:cs typeface="Poppins SemiBold"/>
                        </a:rPr>
                        <a:t>Brand</a:t>
                      </a:r>
                    </a:p>
                  </a:txBody>
                  <a:tcPr marL="89380" marR="89380" marT="109895" marB="1098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 i="0" kern="1200">
                          <a:solidFill>
                            <a:schemeClr val="lt1"/>
                          </a:solidFill>
                          <a:latin typeface="Poppins SemiBold"/>
                          <a:ea typeface="+mn-ea"/>
                          <a:cs typeface="Poppins SemiBold"/>
                        </a:rPr>
                        <a:t>Product View</a:t>
                      </a:r>
                    </a:p>
                    <a:p>
                      <a:pPr lvl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 i="0" kern="1200">
                          <a:solidFill>
                            <a:schemeClr val="lt1"/>
                          </a:solidFill>
                          <a:latin typeface="Poppins SemiBold"/>
                          <a:ea typeface="+mn-ea"/>
                          <a:cs typeface="Poppins SemiBold"/>
                        </a:rPr>
                        <a:t>Rate </a:t>
                      </a:r>
                      <a:endParaRPr lang="en-US" sz="1200"/>
                    </a:p>
                  </a:txBody>
                  <a:tcPr marL="89380" marR="89380" marT="109895" marB="1098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 i="0" kern="1200">
                          <a:solidFill>
                            <a:schemeClr val="lt1"/>
                          </a:solidFill>
                          <a:latin typeface="Poppins SemiBold"/>
                          <a:ea typeface="+mn-ea"/>
                          <a:cs typeface="Poppins SemiBold"/>
                        </a:rPr>
                        <a:t>ATC Rate </a:t>
                      </a:r>
                    </a:p>
                    <a:p>
                      <a:pPr lvl="0" algn="ctr">
                        <a:lnSpc>
                          <a:spcPct val="110000"/>
                        </a:lnSpc>
                        <a:buNone/>
                      </a:pPr>
                      <a:r>
                        <a:rPr lang="en-US" sz="1200" b="1" i="0" kern="1200">
                          <a:solidFill>
                            <a:schemeClr val="lt1"/>
                          </a:solidFill>
                          <a:latin typeface="Poppins SemiBold"/>
                          <a:ea typeface="+mn-ea"/>
                          <a:cs typeface="Poppins SemiBold"/>
                        </a:rPr>
                        <a:t>from PLP</a:t>
                      </a:r>
                      <a:endParaRPr lang="en-US" sz="1200"/>
                    </a:p>
                  </a:txBody>
                  <a:tcPr marL="111556" marR="111556" marT="137160" marB="13716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505719"/>
                  </a:ext>
                </a:extLst>
              </a:tr>
              <a:tr h="343721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kumimoji="0" lang="en-US" sz="1100" b="1">
                        <a:latin typeface="Poppins"/>
                      </a:endParaRPr>
                    </a:p>
                  </a:txBody>
                  <a:tcPr marL="89380" marR="89380" marT="109895" marB="1098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Poppins"/>
                        </a:rPr>
                        <a:t>51.8%</a:t>
                      </a:r>
                    </a:p>
                  </a:txBody>
                  <a:tcPr marL="89380" marR="89380" marT="109895" marB="1098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Poppins"/>
                        </a:rPr>
                        <a:t>0.27%</a:t>
                      </a:r>
                    </a:p>
                  </a:txBody>
                  <a:tcPr marL="111556" marR="111556" marT="137160" marB="13716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722009"/>
                  </a:ext>
                </a:extLst>
              </a:tr>
              <a:tr h="343721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kumimoji="0" lang="en-US" sz="1100" b="1">
                        <a:latin typeface="Poppins"/>
                      </a:endParaRPr>
                    </a:p>
                  </a:txBody>
                  <a:tcPr marL="89380" marR="89380" marT="109895" marB="1098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oppins"/>
                        </a:rPr>
                        <a:t>61.1%</a:t>
                      </a:r>
                    </a:p>
                  </a:txBody>
                  <a:tcPr marL="89380" marR="89380" marT="109895" marB="1098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oppins"/>
                        </a:rPr>
                        <a:t>0.69%</a:t>
                      </a:r>
                    </a:p>
                  </a:txBody>
                  <a:tcPr marL="111556" marR="111556" marT="137160" marB="13716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621713"/>
                  </a:ext>
                </a:extLst>
              </a:tr>
              <a:tr h="33628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kumimoji="0" lang="en-US" sz="1100" b="1">
                        <a:latin typeface="Poppins"/>
                      </a:endParaRPr>
                    </a:p>
                  </a:txBody>
                  <a:tcPr marL="89380" marR="89380" marT="109895" marB="1098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100">
                          <a:latin typeface="Poppins"/>
                        </a:rPr>
                        <a:t>55.6%</a:t>
                      </a:r>
                    </a:p>
                  </a:txBody>
                  <a:tcPr marL="89380" marR="89380" marT="109895" marB="1098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100">
                          <a:latin typeface="Poppins"/>
                        </a:rPr>
                        <a:t>0.32%</a:t>
                      </a:r>
                    </a:p>
                  </a:txBody>
                  <a:tcPr marL="111556" marR="111556" marT="137160" marB="13716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690203"/>
                  </a:ext>
                </a:extLst>
              </a:tr>
              <a:tr h="33628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kumimoji="0" lang="en-US" sz="1100" b="1">
                        <a:latin typeface="Poppins"/>
                      </a:endParaRPr>
                    </a:p>
                  </a:txBody>
                  <a:tcPr marL="89380" marR="89380" marT="109895" marB="1098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100"/>
                        <a:t>53.9%</a:t>
                      </a:r>
                    </a:p>
                  </a:txBody>
                  <a:tcPr marL="89380" marR="89380" marT="109895" marB="10989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100"/>
                        <a:t>0.98%</a:t>
                      </a:r>
                    </a:p>
                  </a:txBody>
                  <a:tcPr marL="111556" marR="111556" marT="137160" marB="13716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8405630"/>
                  </a:ext>
                </a:extLst>
              </a:tr>
              <a:tr h="339047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</a:t>
                      </a:r>
                      <a:endParaRPr kumimoji="0" lang="en-US" sz="1100" b="1"/>
                    </a:p>
                  </a:txBody>
                  <a:tcPr marL="89380" marR="89380" marT="109895" marB="1098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US" sz="1100"/>
                        <a:t>69.8%</a:t>
                      </a:r>
                    </a:p>
                  </a:txBody>
                  <a:tcPr marL="89380" marR="89380" marT="109895" marB="109895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kumimoji="0" lang="en-US" sz="1100"/>
                    </a:p>
                  </a:txBody>
                  <a:tcPr marL="89380" marR="89380" marT="109895" marB="109895" anchor="ctr">
                    <a:lnL w="0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905573"/>
                  </a:ext>
                </a:extLst>
              </a:tr>
            </a:tbl>
          </a:graphicData>
        </a:graphic>
      </p:graphicFrame>
      <p:pic>
        <p:nvPicPr>
          <p:cNvPr id="20" name="Picture 2">
            <a:extLst>
              <a:ext uri="{FF2B5EF4-FFF2-40B4-BE49-F238E27FC236}">
                <a16:creationId xmlns:a16="http://schemas.microsoft.com/office/drawing/2014/main" id="{B69D11C4-2C19-7D1C-C14A-B24D4AA65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17" y="3962474"/>
            <a:ext cx="1108302" cy="93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31952D93-E181-3CFB-5DE1-D739190EF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001" y="4870013"/>
            <a:ext cx="1078379" cy="1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B50E8A2-575A-1484-A515-55D5894BA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074" y="4391021"/>
            <a:ext cx="1013612" cy="142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D49B01E-A9BB-AC53-566C-A1DA2E9B6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277" y="3426177"/>
            <a:ext cx="908407" cy="28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0" descr="A black and grey logo&#10;&#10;AI-generated content may be incorrect.">
            <a:extLst>
              <a:ext uri="{FF2B5EF4-FFF2-40B4-BE49-F238E27FC236}">
                <a16:creationId xmlns:a16="http://schemas.microsoft.com/office/drawing/2014/main" id="{6663EC5D-F4F6-81F0-5D4C-82C5408A3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093" y="5262471"/>
            <a:ext cx="1216367" cy="16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B5F5A8-0793-C2AD-B393-6A91C53115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9587" y="3567145"/>
            <a:ext cx="3269294" cy="158075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F40D59B-3334-9FE7-F3D1-14290D7778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8856" y="3307917"/>
            <a:ext cx="1419423" cy="4096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7" name="Picture 46" descr="A screenshot of a product&#10;&#10;AI-generated content may be incorrect.">
            <a:extLst>
              <a:ext uri="{FF2B5EF4-FFF2-40B4-BE49-F238E27FC236}">
                <a16:creationId xmlns:a16="http://schemas.microsoft.com/office/drawing/2014/main" id="{670D4A5F-105E-C5C9-F000-E13E493890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8881" y="3738780"/>
            <a:ext cx="1733792" cy="152421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9" name="Picture 48" descr="A white rectangular object with black lines&#10;&#10;AI-generated content may be incorrect.">
            <a:extLst>
              <a:ext uri="{FF2B5EF4-FFF2-40B4-BE49-F238E27FC236}">
                <a16:creationId xmlns:a16="http://schemas.microsoft.com/office/drawing/2014/main" id="{8AA7C72F-D44A-2300-310A-A7F6C621A0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515" y="5142415"/>
            <a:ext cx="3238952" cy="95263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C856451-98BC-A5EC-02FF-8BA46302B0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91146" y="3457472"/>
            <a:ext cx="541675" cy="36111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F1EA3258-90CF-1F78-8982-7F6E73C7C2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2954" y="5577999"/>
            <a:ext cx="3118590" cy="11915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98579918"/>
      </p:ext>
    </p:extLst>
  </p:cSld>
  <p:clrMapOvr>
    <a:masterClrMapping/>
  </p:clrMapOvr>
</p:sld>
</file>

<file path=ppt/theme/theme1.xml><?xml version="1.0" encoding="utf-8"?>
<a:theme xmlns:a="http://schemas.openxmlformats.org/drawingml/2006/main" name="2_Next colors">
  <a:themeElements>
    <a:clrScheme name="NEXT COLORS">
      <a:dk1>
        <a:srgbClr val="000000"/>
      </a:dk1>
      <a:lt1>
        <a:srgbClr val="FFFFFF"/>
      </a:lt1>
      <a:dk2>
        <a:srgbClr val="0B1923"/>
      </a:dk2>
      <a:lt2>
        <a:srgbClr val="E7E6E6"/>
      </a:lt2>
      <a:accent1>
        <a:srgbClr val="14405B"/>
      </a:accent1>
      <a:accent2>
        <a:srgbClr val="35B248"/>
      </a:accent2>
      <a:accent3>
        <a:srgbClr val="1168B6"/>
      </a:accent3>
      <a:accent4>
        <a:srgbClr val="00B1A9"/>
      </a:accent4>
      <a:accent5>
        <a:srgbClr val="E26402"/>
      </a:accent5>
      <a:accent6>
        <a:srgbClr val="EAF8FD"/>
      </a:accent6>
      <a:hlink>
        <a:srgbClr val="EAF8FD"/>
      </a:hlink>
      <a:folHlink>
        <a:srgbClr val="0070B8"/>
      </a:folHlink>
    </a:clrScheme>
    <a:fontScheme name="Custom 1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xt colors" id="{BB8E350E-97A8-F444-8DA6-DD4528CFE459}" vid="{BA728FA2-67CB-AC4F-9905-A0EB53865217}"/>
    </a:ext>
  </a:extLst>
</a:theme>
</file>

<file path=ppt/theme/theme2.xml><?xml version="1.0" encoding="utf-8"?>
<a:theme xmlns:a="http://schemas.openxmlformats.org/drawingml/2006/main" name="1_Sharkninja">
  <a:themeElements>
    <a:clrScheme name="SharkNinja">
      <a:dk1>
        <a:srgbClr val="000000"/>
      </a:dk1>
      <a:lt1>
        <a:srgbClr val="FFFFFF"/>
      </a:lt1>
      <a:dk2>
        <a:srgbClr val="54575B"/>
      </a:dk2>
      <a:lt2>
        <a:srgbClr val="E7E6E6"/>
      </a:lt2>
      <a:accent1>
        <a:srgbClr val="00A29E"/>
      </a:accent1>
      <a:accent2>
        <a:srgbClr val="006A66"/>
      </a:accent2>
      <a:accent3>
        <a:srgbClr val="F5F5F5"/>
      </a:accent3>
      <a:accent4>
        <a:srgbClr val="C2C961"/>
      </a:accent4>
      <a:accent5>
        <a:srgbClr val="ED8236"/>
      </a:accent5>
      <a:accent6>
        <a:srgbClr val="1AC0EE"/>
      </a:accent6>
      <a:hlink>
        <a:srgbClr val="00A29E"/>
      </a:hlink>
      <a:folHlink>
        <a:srgbClr val="006A67"/>
      </a:folHlink>
    </a:clrScheme>
    <a:fontScheme name="Poppins">
      <a:majorFont>
        <a:latin typeface="Poppins 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 sz="1600" b="1" dirty="0" smtClean="0">
            <a:latin typeface="Poppins SemiBold" pitchFamily="2" charset="77"/>
            <a:cs typeface="Poppins SemiBold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0" marR="0" indent="0" algn="l" defTabSz="914400" rtl="0" eaLnBrk="1" fontAlgn="base" latinLnBrk="0" hangingPunct="1">
          <a:lnSpc>
            <a:spcPct val="112000"/>
          </a:lnSpc>
          <a:spcBef>
            <a:spcPct val="0"/>
          </a:spcBef>
          <a:spcAft>
            <a:spcPct val="0"/>
          </a:spcAft>
          <a:buClr>
            <a:srgbClr val="442735"/>
          </a:buClr>
          <a:buSzTx/>
          <a:buFontTx/>
          <a:buNone/>
          <a:tabLst/>
          <a:defRPr kumimoji="0" sz="1400" b="0" i="0" u="none" strike="noStrike" kern="1200" cap="none" spc="0" normalizeH="0" baseline="0" noProof="0" dirty="0">
            <a:ln>
              <a:noFill/>
            </a:ln>
            <a:solidFill>
              <a:schemeClr val="tx2"/>
            </a:solidFill>
            <a:effectLst/>
            <a:uLnTx/>
            <a:uFillTx/>
            <a:latin typeface="Avenir Next LT Pro" panose="020B0504020202020204" pitchFamily="34" charset="77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harkninja" id="{ADD008D2-7F49-5547-B82C-540BB4DA0115}" vid="{29EA7BCC-7BED-A14C-8744-B152912B37D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44a2af-62a5-4e8d-98dc-8a79b8aeb8cb">
      <Terms xmlns="http://schemas.microsoft.com/office/infopath/2007/PartnerControls"/>
    </lcf76f155ced4ddcb4097134ff3c332f>
    <TaxCatchAll xmlns="0938163b-3131-4d51-8c32-57a4c87c7dcf" xsi:nil="true"/>
    <Client_x002d_Facing xmlns="2644a2af-62a5-4e8d-98dc-8a79b8aeb8cb">false</Client_x002d_Facing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02F0EA130091489E3146B467F55735" ma:contentTypeVersion="21" ma:contentTypeDescription="Create a new document." ma:contentTypeScope="" ma:versionID="f9ddfaacf6d7b5e5843bc722112eec3e">
  <xsd:schema xmlns:xsd="http://www.w3.org/2001/XMLSchema" xmlns:xs="http://www.w3.org/2001/XMLSchema" xmlns:p="http://schemas.microsoft.com/office/2006/metadata/properties" xmlns:ns2="2644a2af-62a5-4e8d-98dc-8a79b8aeb8cb" xmlns:ns3="0938163b-3131-4d51-8c32-57a4c87c7dcf" targetNamespace="http://schemas.microsoft.com/office/2006/metadata/properties" ma:root="true" ma:fieldsID="5d69f62928b4928ab2d5c89c2d6ddfd5" ns2:_="" ns3:_="">
    <xsd:import namespace="2644a2af-62a5-4e8d-98dc-8a79b8aeb8cb"/>
    <xsd:import namespace="0938163b-3131-4d51-8c32-57a4c87c7d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Client_x002d_Facing"/>
                <xsd:element ref="ns2:MediaServiceObjectDetectorVersion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44a2af-62a5-4e8d-98dc-8a79b8aeb8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1f119d9-9750-42cd-a5ee-7af4dcc452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lient_x002d_Facing" ma:index="23" ma:displayName="Client-Facing" ma:default="0" ma:description="Is this document client facing?" ma:format="Dropdown" ma:internalName="Client_x002d_Facing">
      <xsd:simpleType>
        <xsd:restriction base="dms:Boolea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38163b-3131-4d51-8c32-57a4c87c7dc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e4730522-532f-4b4e-baa1-16554052326c}" ma:internalName="TaxCatchAll" ma:showField="CatchAllData" ma:web="0938163b-3131-4d51-8c32-57a4c87c7d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262769-23B3-4D91-A939-43C6D883E87D}">
  <ds:schemaRefs>
    <ds:schemaRef ds:uri="2644a2af-62a5-4e8d-98dc-8a79b8aeb8cb"/>
    <ds:schemaRef ds:uri="http://schemas.microsoft.com/office/2006/metadata/properties"/>
    <ds:schemaRef ds:uri="http://purl.org/dc/dcmitype/"/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0938163b-3131-4d51-8c32-57a4c87c7dcf"/>
  </ds:schemaRefs>
</ds:datastoreItem>
</file>

<file path=customXml/itemProps2.xml><?xml version="1.0" encoding="utf-8"?>
<ds:datastoreItem xmlns:ds="http://schemas.openxmlformats.org/officeDocument/2006/customXml" ds:itemID="{BFAE4DD2-F0B7-4AC4-93C0-080FA0DF282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25F706-AC48-48EA-8655-315E486A82CB}">
  <ds:schemaRefs>
    <ds:schemaRef ds:uri="0938163b-3131-4d51-8c32-57a4c87c7dcf"/>
    <ds:schemaRef ds:uri="2644a2af-62a5-4e8d-98dc-8a79b8aeb8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703</Words>
  <Application>Microsoft Office PowerPoint</Application>
  <PresentationFormat>Widescreen</PresentationFormat>
  <Paragraphs>117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Aptos</vt:lpstr>
      <vt:lpstr>Arial</vt:lpstr>
      <vt:lpstr>Avenir Next LT Pro</vt:lpstr>
      <vt:lpstr>Calibri</vt:lpstr>
      <vt:lpstr>Courier New</vt:lpstr>
      <vt:lpstr>Gotham Black</vt:lpstr>
      <vt:lpstr>Gotham Light</vt:lpstr>
      <vt:lpstr>Poppins</vt:lpstr>
      <vt:lpstr>Poppins  </vt:lpstr>
      <vt:lpstr>Poppins SemiBold</vt:lpstr>
      <vt:lpstr>System Font Regular</vt:lpstr>
      <vt:lpstr>2_Next colors</vt:lpstr>
      <vt:lpstr>1_Sharkninja</vt:lpstr>
      <vt:lpstr>PowerPoint Presentation</vt:lpstr>
      <vt:lpstr>PowerPoint Presentation</vt:lpstr>
      <vt:lpstr>PowerPoint Presentation</vt:lpstr>
      <vt:lpstr>PowerPoint Presentation</vt:lpstr>
      <vt:lpstr>PDPs Are The Most Trafficked Page Group And Have The Highest Drop-Off Rate</vt:lpstr>
      <vt:lpstr>Increased RTO Makes Formal Attire Stickier But Casual Apparel Still Drives More Volume &amp; Higher CVR</vt:lpstr>
      <vt:lpstr>Over 60% Of Cross-Sells Occur Within The Same Category And Most Are Tops </vt:lpstr>
      <vt:lpstr>PLP CVR Being Lower On Brooks Brothers Than Other SPARC Brand Demonstrates Opportunity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POWERED HUMAN UNDERSTANDING</dc:title>
  <dc:creator>Julian Bonilla</dc:creator>
  <cp:lastModifiedBy>Jordan Shapiro</cp:lastModifiedBy>
  <cp:revision>3</cp:revision>
  <dcterms:created xsi:type="dcterms:W3CDTF">2018-10-17T15:20:37Z</dcterms:created>
  <dcterms:modified xsi:type="dcterms:W3CDTF">2026-08-03T15:56:37Z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0x0101005E02F0EA130091489E3146B467F55735</vt:lpwstr>
  </property>
  <property fmtid="{D5CDD505-2E9C-101B-9397-08002B2CF9AE}" pid="3" name="MediaServiceImageTags">
    <vt:lpwstr/>
  </property>
</Properties>
</file>