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2.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drawings/drawing1.xml" ContentType="application/vnd.openxmlformats-officedocument.drawingml.chartshapes+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5.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7" Type="http://schemas.microsoft.com/office/2020/02/relationships/classificationlabels" Target="docMetadata/LabelInfo.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54"/>
  </p:notesMasterIdLst>
  <p:sldIdLst>
    <p:sldId id="2147475380" r:id="rId5"/>
    <p:sldId id="2147475319" r:id="rId6"/>
    <p:sldId id="2147475375" r:id="rId7"/>
    <p:sldId id="2147475994" r:id="rId8"/>
    <p:sldId id="2147475995" r:id="rId9"/>
    <p:sldId id="2147476000" r:id="rId10"/>
    <p:sldId id="2147476003" r:id="rId11"/>
    <p:sldId id="2147476004" r:id="rId12"/>
    <p:sldId id="2147475368" r:id="rId13"/>
    <p:sldId id="2147475997" r:id="rId14"/>
    <p:sldId id="2147476001" r:id="rId15"/>
    <p:sldId id="2147475999" r:id="rId16"/>
    <p:sldId id="2147475998" r:id="rId17"/>
    <p:sldId id="2147476006" r:id="rId18"/>
    <p:sldId id="2147476002" r:id="rId19"/>
    <p:sldId id="2147482916" r:id="rId20"/>
    <p:sldId id="2147483392" r:id="rId21"/>
    <p:sldId id="2147483601" r:id="rId22"/>
    <p:sldId id="2147483457" r:id="rId23"/>
    <p:sldId id="311" r:id="rId24"/>
    <p:sldId id="2147473660" r:id="rId25"/>
    <p:sldId id="2147473425" r:id="rId26"/>
    <p:sldId id="2147473666" r:id="rId27"/>
    <p:sldId id="2147473672" r:id="rId28"/>
    <p:sldId id="2147473669" r:id="rId29"/>
    <p:sldId id="2147473668" r:id="rId30"/>
    <p:sldId id="2147473673" r:id="rId31"/>
    <p:sldId id="2147473667" r:id="rId32"/>
    <p:sldId id="2147473665" r:id="rId33"/>
    <p:sldId id="2147473670" r:id="rId34"/>
    <p:sldId id="2147473679" r:id="rId35"/>
    <p:sldId id="2147473682" r:id="rId36"/>
    <p:sldId id="2147483602" r:id="rId37"/>
    <p:sldId id="2147473671" r:id="rId38"/>
    <p:sldId id="2147473675" r:id="rId39"/>
    <p:sldId id="2147473678" r:id="rId40"/>
    <p:sldId id="2147473677" r:id="rId41"/>
    <p:sldId id="2147473674" r:id="rId42"/>
    <p:sldId id="2147473681" r:id="rId43"/>
    <p:sldId id="2147473680" r:id="rId44"/>
    <p:sldId id="2147475996" r:id="rId45"/>
    <p:sldId id="2147475369" r:id="rId46"/>
    <p:sldId id="2147475367" r:id="rId47"/>
    <p:sldId id="2147475378" r:id="rId48"/>
    <p:sldId id="256" r:id="rId49"/>
    <p:sldId id="2147475382" r:id="rId50"/>
    <p:sldId id="2147475374" r:id="rId51"/>
    <p:sldId id="2147475363" r:id="rId52"/>
    <p:sldId id="2147474773" r:id="rId5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87BBBC6-41F3-4EB1-A696-E795380F61DC}">
          <p14:sldIdLst>
            <p14:sldId id="2147475380"/>
            <p14:sldId id="2147475319"/>
            <p14:sldId id="2147475375"/>
            <p14:sldId id="2147475994"/>
            <p14:sldId id="2147475995"/>
            <p14:sldId id="2147476000"/>
            <p14:sldId id="2147476003"/>
            <p14:sldId id="2147476004"/>
            <p14:sldId id="2147475368"/>
            <p14:sldId id="2147475997"/>
            <p14:sldId id="2147476001"/>
            <p14:sldId id="2147475999"/>
            <p14:sldId id="2147475998"/>
            <p14:sldId id="2147476006"/>
            <p14:sldId id="2147476002"/>
            <p14:sldId id="2147482916"/>
            <p14:sldId id="2147483392"/>
            <p14:sldId id="2147483601"/>
            <p14:sldId id="2147483457"/>
            <p14:sldId id="311"/>
            <p14:sldId id="2147473660"/>
            <p14:sldId id="2147473425"/>
            <p14:sldId id="2147473666"/>
            <p14:sldId id="2147473672"/>
            <p14:sldId id="2147473669"/>
            <p14:sldId id="2147473668"/>
            <p14:sldId id="2147473673"/>
            <p14:sldId id="2147473667"/>
            <p14:sldId id="2147473665"/>
            <p14:sldId id="2147473670"/>
            <p14:sldId id="2147473679"/>
            <p14:sldId id="2147473682"/>
            <p14:sldId id="2147483602"/>
            <p14:sldId id="2147473671"/>
            <p14:sldId id="2147473675"/>
            <p14:sldId id="2147473678"/>
            <p14:sldId id="2147473677"/>
            <p14:sldId id="2147473674"/>
            <p14:sldId id="2147473681"/>
            <p14:sldId id="2147473680"/>
          </p14:sldIdLst>
        </p14:section>
        <p14:section name="Template Slides" id="{61A2CF97-42CB-48FF-A210-25C02EC49B68}">
          <p14:sldIdLst>
            <p14:sldId id="2147475996"/>
            <p14:sldId id="2147475369"/>
            <p14:sldId id="2147475367"/>
            <p14:sldId id="2147475378"/>
            <p14:sldId id="256"/>
            <p14:sldId id="2147475382"/>
            <p14:sldId id="2147475374"/>
            <p14:sldId id="2147475363"/>
            <p14:sldId id="2147474773"/>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537A111-2555-AD09-BF10-CF1DF5F1D80E}" name="Amanda Hamilton" initials="AH" userId="S::ahamilton@horizonmedia.com::aafefb2e-3332-4882-9d3f-219c1b814c9f" providerId="AD"/>
  <p188:author id="{392DA135-8D19-FD71-E11E-593DBDF444A3}" name="Jennifer Lovold" initials="JL" userId="S::JLovold@horizoncommerce.com::7629fd42-3616-4afb-b1ae-cf47d47de7b2" providerId="AD"/>
  <p188:author id="{6D9A9747-D274-8A81-B369-9B256C2FB221}" name="Jordan Shapiro" initials="JS" userId="S::JoShapiro@horizoncommerce.com::92b2466c-6413-4671-86a6-7745ec6dd2d5" providerId="AD"/>
  <p188:author id="{82559266-4604-AC62-CE62-B7E3EACBB5B7}" name="Joey Squires" initials="JS" userId="S::jsquires@horizonmedia.com::7079d4ba-d458-495e-8b52-38592e567ce5" providerId="AD"/>
  <p188:author id="{5637B7E8-B415-49F5-AA28-0570E820F3ED}" name="Emmeline van der Post" initials="Ev" userId="S::evanderpost@horizoncommerce.com::752d3862-efcb-4c5a-8aff-afe147443aaf" providerId="AD"/>
  <p188:author id="{E0A7BFFC-7B78-9645-0711-F8402E249ABE}" name="Katie Kelly" initials="" userId="S::KaKelly@horizoncommerce.com::c591806e-921f-49ac-bb98-c06d433d3659"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E5FFF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8"/>
    <p:restoredTop sz="94692"/>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tableStyles" Target="tableStyle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microsoft.com/office/2018/10/relationships/authors" Target="author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heme" Target="theme/theme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s>
</file>

<file path=ppt/charts/_rels/chart1.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chartUserShapes" Target="../drawings/drawing1.xml"/></Relationships>
</file>

<file path=ppt/charts/_rels/chart4.xml.rels><?xml version="1.0" encoding="UTF-8" standalone="yes"?>
<Relationships xmlns="http://schemas.openxmlformats.org/package/2006/relationships"><Relationship Id="rId3" Type="http://schemas.openxmlformats.org/officeDocument/2006/relationships/oleObject" Target="Chart%20in%20Microsoft%20PowerPoint"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Chart%20in%20Microsoft%20PowerPoint"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Chart%20in%20Microsoft%20PowerPoint"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Chart%20in%20Microsoft%20PowerPoint"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10.xml"/><Relationship Id="rId1" Type="http://schemas.microsoft.com/office/2011/relationships/chartStyle" Target="style10.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Test ROI: A Function Of Impact &amp; Ease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Sheet1!$I$10</c:f>
              <c:strCache>
                <c:ptCount val="1"/>
                <c:pt idx="0">
                  <c:v>Ease of Execution</c:v>
                </c:pt>
              </c:strCache>
            </c:strRef>
          </c:tx>
          <c:spPr>
            <a:ln w="28575" cap="rnd">
              <a:solidFill>
                <a:schemeClr val="accent1"/>
              </a:solidFill>
              <a:round/>
            </a:ln>
            <a:effectLst/>
          </c:spPr>
          <c:marker>
            <c:symbol val="none"/>
          </c:marker>
          <c:trendline>
            <c:spPr>
              <a:ln w="19050" cap="rnd">
                <a:solidFill>
                  <a:schemeClr val="accent1"/>
                </a:solidFill>
                <a:prstDash val="sysDot"/>
              </a:ln>
              <a:effectLst/>
            </c:spPr>
            <c:trendlineType val="linear"/>
            <c:dispRSqr val="0"/>
            <c:dispEq val="0"/>
          </c:trendline>
          <c:cat>
            <c:numRef>
              <c:f>Sheet1!$H$11:$H$15</c:f>
              <c:numCache>
                <c:formatCode>General</c:formatCode>
                <c:ptCount val="5"/>
                <c:pt idx="0">
                  <c:v>1</c:v>
                </c:pt>
                <c:pt idx="1">
                  <c:v>2</c:v>
                </c:pt>
                <c:pt idx="2">
                  <c:v>3</c:v>
                </c:pt>
                <c:pt idx="3">
                  <c:v>4</c:v>
                </c:pt>
                <c:pt idx="4">
                  <c:v>5</c:v>
                </c:pt>
              </c:numCache>
            </c:numRef>
          </c:cat>
          <c:val>
            <c:numRef>
              <c:f>Sheet1!$I$11:$I$15</c:f>
              <c:numCache>
                <c:formatCode>General</c:formatCode>
                <c:ptCount val="5"/>
                <c:pt idx="0">
                  <c:v>1</c:v>
                </c:pt>
                <c:pt idx="1">
                  <c:v>2</c:v>
                </c:pt>
                <c:pt idx="2">
                  <c:v>3</c:v>
                </c:pt>
                <c:pt idx="3">
                  <c:v>4</c:v>
                </c:pt>
                <c:pt idx="4">
                  <c:v>5</c:v>
                </c:pt>
              </c:numCache>
            </c:numRef>
          </c:val>
          <c:smooth val="0"/>
          <c:extLst>
            <c:ext xmlns:c16="http://schemas.microsoft.com/office/drawing/2014/chart" uri="{C3380CC4-5D6E-409C-BE32-E72D297353CC}">
              <c16:uniqueId val="{00000001-BEA6-4BD7-8571-5CCF6E1B7BB6}"/>
            </c:ext>
          </c:extLst>
        </c:ser>
        <c:dLbls>
          <c:showLegendKey val="0"/>
          <c:showVal val="0"/>
          <c:showCatName val="0"/>
          <c:showSerName val="0"/>
          <c:showPercent val="0"/>
          <c:showBubbleSize val="0"/>
        </c:dLbls>
        <c:smooth val="0"/>
        <c:axId val="2013004415"/>
        <c:axId val="2013001055"/>
      </c:lineChart>
      <c:catAx>
        <c:axId val="2013004415"/>
        <c:scaling>
          <c:orientation val="minMax"/>
        </c:scaling>
        <c:delete val="1"/>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Ease of Execution</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crossAx val="2013001055"/>
        <c:crosses val="autoZero"/>
        <c:auto val="1"/>
        <c:lblAlgn val="ctr"/>
        <c:lblOffset val="100"/>
        <c:noMultiLvlLbl val="0"/>
      </c:catAx>
      <c:valAx>
        <c:axId val="2013001055"/>
        <c:scaling>
          <c:orientation val="minMax"/>
        </c:scaling>
        <c:delete val="1"/>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Revenue Impact</a:t>
                </a:r>
              </a:p>
            </c:rich>
          </c:tx>
          <c:layout>
            <c:manualLayout>
              <c:xMode val="edge"/>
              <c:yMode val="edge"/>
              <c:x val="1.3871794905403096E-2"/>
              <c:y val="0.32013588125287074"/>
            </c:manualLayout>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crossAx val="2013004415"/>
        <c:crosses val="autoZero"/>
        <c:crossBetween val="between"/>
      </c:valAx>
      <c:spPr>
        <a:noFill/>
        <a:ln>
          <a:noFill/>
        </a:ln>
        <a:effectLst/>
      </c:spPr>
    </c:plotArea>
    <c:plotVisOnly val="1"/>
    <c:dispBlanksAs val="gap"/>
    <c:showDLblsOverMax val="0"/>
  </c:chart>
  <c:spPr>
    <a:noFill/>
    <a:ln>
      <a:solidFill>
        <a:schemeClr val="tx1">
          <a:lumMod val="50000"/>
          <a:lumOff val="50000"/>
        </a:schemeClr>
      </a:solid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Test ROI: A Function Of Impact &amp; Ease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Sheet1!$I$10</c:f>
              <c:strCache>
                <c:ptCount val="1"/>
                <c:pt idx="0">
                  <c:v>Ease of Execution</c:v>
                </c:pt>
              </c:strCache>
            </c:strRef>
          </c:tx>
          <c:spPr>
            <a:ln w="28575" cap="rnd">
              <a:solidFill>
                <a:schemeClr val="accent1"/>
              </a:solidFill>
              <a:round/>
            </a:ln>
            <a:effectLst/>
          </c:spPr>
          <c:marker>
            <c:symbol val="none"/>
          </c:marker>
          <c:trendline>
            <c:spPr>
              <a:ln w="19050" cap="rnd">
                <a:solidFill>
                  <a:schemeClr val="accent1"/>
                </a:solidFill>
                <a:prstDash val="sysDot"/>
              </a:ln>
              <a:effectLst/>
            </c:spPr>
            <c:trendlineType val="linear"/>
            <c:dispRSqr val="0"/>
            <c:dispEq val="0"/>
          </c:trendline>
          <c:cat>
            <c:numRef>
              <c:f>Sheet1!$H$11:$H$15</c:f>
              <c:numCache>
                <c:formatCode>General</c:formatCode>
                <c:ptCount val="5"/>
                <c:pt idx="0">
                  <c:v>1</c:v>
                </c:pt>
                <c:pt idx="1">
                  <c:v>2</c:v>
                </c:pt>
                <c:pt idx="2">
                  <c:v>3</c:v>
                </c:pt>
                <c:pt idx="3">
                  <c:v>4</c:v>
                </c:pt>
                <c:pt idx="4">
                  <c:v>5</c:v>
                </c:pt>
              </c:numCache>
            </c:numRef>
          </c:cat>
          <c:val>
            <c:numRef>
              <c:f>Sheet1!$I$11:$I$15</c:f>
              <c:numCache>
                <c:formatCode>General</c:formatCode>
                <c:ptCount val="5"/>
                <c:pt idx="0">
                  <c:v>1</c:v>
                </c:pt>
                <c:pt idx="1">
                  <c:v>2</c:v>
                </c:pt>
                <c:pt idx="2">
                  <c:v>3</c:v>
                </c:pt>
                <c:pt idx="3">
                  <c:v>4</c:v>
                </c:pt>
                <c:pt idx="4">
                  <c:v>5</c:v>
                </c:pt>
              </c:numCache>
            </c:numRef>
          </c:val>
          <c:smooth val="0"/>
          <c:extLst>
            <c:ext xmlns:c16="http://schemas.microsoft.com/office/drawing/2014/chart" uri="{C3380CC4-5D6E-409C-BE32-E72D297353CC}">
              <c16:uniqueId val="{00000001-41AC-4535-BF36-7717FA10D8FF}"/>
            </c:ext>
          </c:extLst>
        </c:ser>
        <c:dLbls>
          <c:showLegendKey val="0"/>
          <c:showVal val="0"/>
          <c:showCatName val="0"/>
          <c:showSerName val="0"/>
          <c:showPercent val="0"/>
          <c:showBubbleSize val="0"/>
        </c:dLbls>
        <c:smooth val="0"/>
        <c:axId val="2013004415"/>
        <c:axId val="2013001055"/>
      </c:lineChart>
      <c:catAx>
        <c:axId val="2013004415"/>
        <c:scaling>
          <c:orientation val="minMax"/>
        </c:scaling>
        <c:delete val="1"/>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Ease of Execution</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crossAx val="2013001055"/>
        <c:crosses val="autoZero"/>
        <c:auto val="1"/>
        <c:lblAlgn val="ctr"/>
        <c:lblOffset val="100"/>
        <c:noMultiLvlLbl val="0"/>
      </c:catAx>
      <c:valAx>
        <c:axId val="2013001055"/>
        <c:scaling>
          <c:orientation val="minMax"/>
        </c:scaling>
        <c:delete val="1"/>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Revenue Impact</a:t>
                </a:r>
              </a:p>
            </c:rich>
          </c:tx>
          <c:layout>
            <c:manualLayout>
              <c:xMode val="edge"/>
              <c:yMode val="edge"/>
              <c:x val="1.3871794905403096E-2"/>
              <c:y val="0.32013588125287074"/>
            </c:manualLayout>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crossAx val="2013004415"/>
        <c:crosses val="autoZero"/>
        <c:crossBetween val="between"/>
      </c:valAx>
      <c:spPr>
        <a:noFill/>
        <a:ln>
          <a:noFill/>
        </a:ln>
        <a:effectLst/>
      </c:spPr>
    </c:plotArea>
    <c:plotVisOnly val="1"/>
    <c:dispBlanksAs val="gap"/>
    <c:showDLblsOverMax val="0"/>
  </c:chart>
  <c:spPr>
    <a:noFill/>
    <a:ln>
      <a:solidFill>
        <a:schemeClr val="tx1">
          <a:lumMod val="50000"/>
          <a:lumOff val="50000"/>
        </a:schemeClr>
      </a:solid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0323068754547713"/>
          <c:y val="1.6222532800801524E-3"/>
          <c:w val="0.79676924846545572"/>
          <c:h val="0.96105372266175149"/>
        </c:manualLayout>
      </c:layout>
      <c:doughnutChart>
        <c:varyColors val="1"/>
        <c:ser>
          <c:idx val="0"/>
          <c:order val="0"/>
          <c:dPt>
            <c:idx val="0"/>
            <c:bubble3D val="0"/>
            <c:spPr>
              <a:solidFill>
                <a:schemeClr val="accent1"/>
              </a:solidFill>
              <a:ln w="19050">
                <a:solidFill>
                  <a:schemeClr val="lt1"/>
                </a:solidFill>
              </a:ln>
              <a:effectLst/>
            </c:spPr>
            <c:extLst>
              <c:ext xmlns:c16="http://schemas.microsoft.com/office/drawing/2014/chart" uri="{C3380CC4-5D6E-409C-BE32-E72D297353CC}">
                <c16:uniqueId val="{00000001-A913-473B-991E-DC8A24BBFAB1}"/>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A913-473B-991E-DC8A24BBFAB1}"/>
              </c:ext>
            </c:extLst>
          </c:dPt>
          <c:dPt>
            <c:idx val="2"/>
            <c:bubble3D val="0"/>
            <c:spPr>
              <a:solidFill>
                <a:schemeClr val="bg2">
                  <a:lumMod val="75000"/>
                </a:schemeClr>
              </a:solidFill>
              <a:ln w="19050">
                <a:solidFill>
                  <a:schemeClr val="lt1"/>
                </a:solidFill>
              </a:ln>
              <a:effectLst/>
            </c:spPr>
            <c:extLst>
              <c:ext xmlns:c16="http://schemas.microsoft.com/office/drawing/2014/chart" uri="{C3380CC4-5D6E-409C-BE32-E72D297353CC}">
                <c16:uniqueId val="{00000005-A913-473B-991E-DC8A24BBFAB1}"/>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A913-473B-991E-DC8A24BBFAB1}"/>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A913-473B-991E-DC8A24BBFAB1}"/>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B-A913-473B-991E-DC8A24BBFAB1}"/>
              </c:ext>
            </c:extLst>
          </c:dPt>
          <c:dPt>
            <c:idx val="6"/>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0D-A913-473B-991E-DC8A24BBFAB1}"/>
              </c:ext>
            </c:extLst>
          </c:dPt>
          <c:dPt>
            <c:idx val="7"/>
            <c:bubble3D val="0"/>
            <c:spPr>
              <a:solidFill>
                <a:schemeClr val="accent2">
                  <a:lumMod val="60000"/>
                </a:schemeClr>
              </a:solidFill>
              <a:ln w="19050">
                <a:solidFill>
                  <a:schemeClr val="lt1"/>
                </a:solidFill>
              </a:ln>
              <a:effectLst/>
            </c:spPr>
            <c:extLst>
              <c:ext xmlns:c16="http://schemas.microsoft.com/office/drawing/2014/chart" uri="{C3380CC4-5D6E-409C-BE32-E72D297353CC}">
                <c16:uniqueId val="{0000000F-A913-473B-991E-DC8A24BBFAB1}"/>
              </c:ext>
            </c:extLst>
          </c:dPt>
          <c:dPt>
            <c:idx val="8"/>
            <c:bubble3D val="0"/>
            <c:spPr>
              <a:solidFill>
                <a:schemeClr val="accent3">
                  <a:lumMod val="60000"/>
                </a:schemeClr>
              </a:solidFill>
              <a:ln w="19050">
                <a:solidFill>
                  <a:schemeClr val="lt1"/>
                </a:solidFill>
              </a:ln>
              <a:effectLst/>
            </c:spPr>
            <c:extLst>
              <c:ext xmlns:c16="http://schemas.microsoft.com/office/drawing/2014/chart" uri="{C3380CC4-5D6E-409C-BE32-E72D297353CC}">
                <c16:uniqueId val="{00000011-A913-473B-991E-DC8A24BBFAB1}"/>
              </c:ext>
            </c:extLst>
          </c:dPt>
          <c:dPt>
            <c:idx val="9"/>
            <c:bubble3D val="0"/>
            <c:spPr>
              <a:solidFill>
                <a:schemeClr val="accent4">
                  <a:lumMod val="60000"/>
                </a:schemeClr>
              </a:solidFill>
              <a:ln w="19050">
                <a:solidFill>
                  <a:schemeClr val="lt1"/>
                </a:solidFill>
              </a:ln>
              <a:effectLst/>
            </c:spPr>
            <c:extLst>
              <c:ext xmlns:c16="http://schemas.microsoft.com/office/drawing/2014/chart" uri="{C3380CC4-5D6E-409C-BE32-E72D297353CC}">
                <c16:uniqueId val="{00000013-A913-473B-991E-DC8A24BBFAB1}"/>
              </c:ext>
            </c:extLst>
          </c:dPt>
          <c:dLbls>
            <c:dLbl>
              <c:idx val="0"/>
              <c:layout>
                <c:manualLayout>
                  <c:x val="0.12707297283124985"/>
                  <c:y val="-0.10352200258545986"/>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1-A913-473B-991E-DC8A24BBFAB1}"/>
                </c:ext>
              </c:extLst>
            </c:dLbl>
            <c:dLbl>
              <c:idx val="1"/>
              <c:layout>
                <c:manualLayout>
                  <c:x val="0.13177937923240735"/>
                  <c:y val="-9.2991617208428259E-2"/>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3-A913-473B-991E-DC8A24BBFAB1}"/>
                </c:ext>
              </c:extLst>
            </c:dLbl>
            <c:dLbl>
              <c:idx val="2"/>
              <c:layout>
                <c:manualLayout>
                  <c:x val="-2.269136405924958E-2"/>
                  <c:y val="9.4085183982450124E-2"/>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Poppins SemiBold" pitchFamily="2" charset="77"/>
                      <a:ea typeface="+mn-ea"/>
                      <a:cs typeface="Poppins SemiBold" pitchFamily="2" charset="77"/>
                    </a:defRPr>
                  </a:pPr>
                  <a:endParaRPr lang="en-US"/>
                </a:p>
              </c:txPr>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5-A913-473B-991E-DC8A24BBFAB1}"/>
                </c:ext>
              </c:extLst>
            </c:dLbl>
            <c:dLbl>
              <c:idx val="3"/>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Poppins SemiBold" pitchFamily="2" charset="77"/>
                      <a:ea typeface="+mn-ea"/>
                      <a:cs typeface="Poppins SemiBold" pitchFamily="2" charset="77"/>
                    </a:defRPr>
                  </a:pPr>
                  <a:endParaRPr lang="en-US"/>
                </a:p>
              </c:txPr>
              <c:showLegendKey val="0"/>
              <c:showVal val="1"/>
              <c:showCatName val="1"/>
              <c:showSerName val="0"/>
              <c:showPercent val="0"/>
              <c:showBubbleSize val="0"/>
              <c:extLst>
                <c:ext xmlns:c16="http://schemas.microsoft.com/office/drawing/2014/chart" uri="{C3380CC4-5D6E-409C-BE32-E72D297353CC}">
                  <c16:uniqueId val="{00000007-A913-473B-991E-DC8A24BBFAB1}"/>
                </c:ext>
              </c:extLst>
            </c:dLbl>
            <c:dLbl>
              <c:idx val="4"/>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Poppins SemiBold" pitchFamily="2" charset="77"/>
                      <a:ea typeface="+mn-ea"/>
                      <a:cs typeface="Poppins SemiBold" pitchFamily="2" charset="77"/>
                    </a:defRPr>
                  </a:pPr>
                  <a:endParaRPr lang="en-US"/>
                </a:p>
              </c:txPr>
              <c:showLegendKey val="0"/>
              <c:showVal val="1"/>
              <c:showCatName val="1"/>
              <c:showSerName val="0"/>
              <c:showPercent val="0"/>
              <c:showBubbleSize val="0"/>
              <c:extLst>
                <c:ext xmlns:c16="http://schemas.microsoft.com/office/drawing/2014/chart" uri="{C3380CC4-5D6E-409C-BE32-E72D297353CC}">
                  <c16:uniqueId val="{00000009-A913-473B-991E-DC8A24BBFAB1}"/>
                </c:ext>
              </c:extLst>
            </c:dLbl>
            <c:dLbl>
              <c:idx val="5"/>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Poppins SemiBold" pitchFamily="2" charset="77"/>
                      <a:ea typeface="+mn-ea"/>
                      <a:cs typeface="Poppins SemiBold" pitchFamily="2" charset="77"/>
                    </a:defRPr>
                  </a:pPr>
                  <a:endParaRPr lang="en-US"/>
                </a:p>
              </c:txPr>
              <c:showLegendKey val="0"/>
              <c:showVal val="1"/>
              <c:showCatName val="1"/>
              <c:showSerName val="0"/>
              <c:showPercent val="0"/>
              <c:showBubbleSize val="0"/>
              <c:extLst>
                <c:ext xmlns:c16="http://schemas.microsoft.com/office/drawing/2014/chart" uri="{C3380CC4-5D6E-409C-BE32-E72D297353CC}">
                  <c16:uniqueId val="{0000000B-A913-473B-991E-DC8A24BBFAB1}"/>
                </c:ext>
              </c:extLst>
            </c:dLbl>
            <c:dLbl>
              <c:idx val="6"/>
              <c:layout>
                <c:manualLayout>
                  <c:x val="-3.6083869644401349E-2"/>
                  <c:y val="-1.360661397385764E-2"/>
                </c:manualLayout>
              </c:layout>
              <c:spPr>
                <a:noFill/>
                <a:ln>
                  <a:noFill/>
                </a:ln>
                <a:effectLst/>
              </c:spPr>
              <c:txPr>
                <a:bodyPr rot="1620000" spcFirstLastPara="1" vertOverflow="ellipsis" wrap="square" lIns="38100" tIns="19050" rIns="38100" bIns="19050" anchor="ctr" anchorCtr="1">
                  <a:spAutoFit/>
                </a:bodyPr>
                <a:lstStyle/>
                <a:p>
                  <a:pPr>
                    <a:defRPr sz="1000" b="1" i="0" u="none" strike="noStrike" kern="1200" baseline="0">
                      <a:solidFill>
                        <a:schemeClr val="bg1"/>
                      </a:solidFill>
                      <a:latin typeface="Poppins SemiBold" pitchFamily="2" charset="77"/>
                      <a:ea typeface="+mn-ea"/>
                      <a:cs typeface="Poppins SemiBold" pitchFamily="2" charset="77"/>
                    </a:defRPr>
                  </a:pPr>
                  <a:endParaRPr lang="en-US"/>
                </a:p>
              </c:txPr>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D-A913-473B-991E-DC8A24BBFAB1}"/>
                </c:ext>
              </c:extLst>
            </c:dLbl>
            <c:dLbl>
              <c:idx val="7"/>
              <c:layout>
                <c:manualLayout>
                  <c:x val="-1.8099004632104475E-2"/>
                  <c:y val="-4.3828889566596828E-2"/>
                </c:manualLayout>
              </c:layout>
              <c:tx>
                <c:rich>
                  <a:bodyPr rot="0" spcFirstLastPara="1" vertOverflow="ellipsis" vert="horz" wrap="square" lIns="38100" tIns="19050" rIns="38100" bIns="19050" anchor="ctr" anchorCtr="1">
                    <a:noAutofit/>
                  </a:bodyPr>
                  <a:lstStyle/>
                  <a:p>
                    <a:pPr>
                      <a:defRPr sz="1000" b="1" i="0" u="none" strike="noStrike" kern="1200" baseline="0">
                        <a:solidFill>
                          <a:schemeClr val="bg1"/>
                        </a:solidFill>
                        <a:latin typeface="Poppins SemiBold" pitchFamily="2" charset="77"/>
                        <a:ea typeface="+mn-ea"/>
                        <a:cs typeface="Poppins SemiBold" pitchFamily="2" charset="77"/>
                      </a:defRPr>
                    </a:pPr>
                    <a:fld id="{FD44BA94-EA80-48CC-8BF7-B97A12B7E9EC}" type="CATEGORYNAME">
                      <a:rPr lang="en-US" smtClean="0">
                        <a:solidFill>
                          <a:schemeClr val="bg1"/>
                        </a:solidFill>
                      </a:rPr>
                      <a:pPr>
                        <a:defRPr sz="1000" b="1">
                          <a:solidFill>
                            <a:schemeClr val="bg1"/>
                          </a:solidFill>
                          <a:latin typeface="Poppins SemiBold" pitchFamily="2" charset="77"/>
                          <a:cs typeface="Poppins SemiBold" pitchFamily="2" charset="77"/>
                        </a:defRPr>
                      </a:pPr>
                      <a:t>[CATEGORY NAME]</a:t>
                    </a:fld>
                    <a:endParaRPr lang="en-US" baseline="0">
                      <a:solidFill>
                        <a:schemeClr val="bg1"/>
                      </a:solidFill>
                    </a:endParaRPr>
                  </a:p>
                  <a:p>
                    <a:pPr>
                      <a:defRPr sz="1000" b="1">
                        <a:solidFill>
                          <a:schemeClr val="bg1"/>
                        </a:solidFill>
                        <a:latin typeface="Poppins SemiBold" pitchFamily="2" charset="77"/>
                        <a:cs typeface="Poppins SemiBold" pitchFamily="2" charset="77"/>
                      </a:defRPr>
                    </a:pPr>
                    <a:fld id="{02DDC5ED-2583-47DF-AF7F-E24C79880F4B}" type="VALUE">
                      <a:rPr lang="en-US" baseline="0" smtClean="0">
                        <a:solidFill>
                          <a:schemeClr val="bg1"/>
                        </a:solidFill>
                      </a:rPr>
                      <a:pPr>
                        <a:defRPr sz="1000" b="1">
                          <a:solidFill>
                            <a:schemeClr val="bg1"/>
                          </a:solidFill>
                          <a:latin typeface="Poppins SemiBold" pitchFamily="2" charset="77"/>
                          <a:cs typeface="Poppins SemiBold" pitchFamily="2" charset="77"/>
                        </a:defRPr>
                      </a:pPr>
                      <a:t>[VALUE]</a:t>
                    </a:fld>
                    <a:endParaRPr lang="en-US"/>
                  </a:p>
                </c:rich>
              </c:tx>
              <c:spPr>
                <a:noFill/>
                <a:ln>
                  <a:noFill/>
                </a:ln>
                <a:effectLst/>
              </c:spPr>
              <c:txPr>
                <a:bodyPr rot="0" spcFirstLastPara="1" vertOverflow="ellipsis" vert="horz" wrap="square" lIns="38100" tIns="19050" rIns="38100" bIns="19050" anchor="ctr" anchorCtr="1">
                  <a:noAutofit/>
                </a:bodyPr>
                <a:lstStyle/>
                <a:p>
                  <a:pPr>
                    <a:defRPr sz="1000" b="1" i="0" u="none" strike="noStrike" kern="1200" baseline="0">
                      <a:solidFill>
                        <a:schemeClr val="bg1"/>
                      </a:solidFill>
                      <a:latin typeface="Poppins SemiBold" pitchFamily="2" charset="77"/>
                      <a:ea typeface="+mn-ea"/>
                      <a:cs typeface="Poppins SemiBold" pitchFamily="2" charset="77"/>
                    </a:defRPr>
                  </a:pPr>
                  <a:endParaRPr lang="en-US"/>
                </a:p>
              </c:txPr>
              <c:showLegendKey val="0"/>
              <c:showVal val="1"/>
              <c:showCatName val="1"/>
              <c:showSerName val="0"/>
              <c:showPercent val="0"/>
              <c:showBubbleSize val="0"/>
              <c:extLst>
                <c:ext xmlns:c15="http://schemas.microsoft.com/office/drawing/2012/chart" uri="{CE6537A1-D6FC-4f65-9D91-7224C49458BB}">
                  <c15:layout>
                    <c:manualLayout>
                      <c:w val="6.793697640070713E-2"/>
                      <c:h val="0.1046155693594818"/>
                    </c:manualLayout>
                  </c15:layout>
                  <c15:dlblFieldTable/>
                  <c15:showDataLabelsRange val="0"/>
                </c:ext>
                <c:ext xmlns:c16="http://schemas.microsoft.com/office/drawing/2014/chart" uri="{C3380CC4-5D6E-409C-BE32-E72D297353CC}">
                  <c16:uniqueId val="{0000000F-A913-473B-991E-DC8A24BBFAB1}"/>
                </c:ext>
              </c:extLst>
            </c:dLbl>
            <c:dLbl>
              <c:idx val="8"/>
              <c:layout>
                <c:manualLayout>
                  <c:x val="-9.3232428474203433E-2"/>
                  <c:y val="-0.12000019037653917"/>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11-A913-473B-991E-DC8A24BBFAB1}"/>
                </c:ext>
              </c:extLst>
            </c:dLbl>
            <c:dLbl>
              <c:idx val="9"/>
              <c:layout>
                <c:manualLayout>
                  <c:x val="2.437714695049871E-2"/>
                  <c:y val="-0.14211919841225967"/>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13-A913-473B-991E-DC8A24BBFAB1}"/>
                </c:ext>
              </c:extLst>
            </c:dLbl>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solidFill>
                    <a:latin typeface="Poppins SemiBold" pitchFamily="2" charset="77"/>
                    <a:ea typeface="+mn-ea"/>
                    <a:cs typeface="Poppins SemiBold" pitchFamily="2" charset="77"/>
                  </a:defRPr>
                </a:pPr>
                <a:endParaRPr lang="en-US"/>
              </a:p>
            </c:txPr>
            <c:showLegendKey val="0"/>
            <c:showVal val="1"/>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'Media Mix Chart'!$B$4:$B$13</c:f>
              <c:strCache>
                <c:ptCount val="10"/>
                <c:pt idx="0">
                  <c:v>Research</c:v>
                </c:pt>
                <c:pt idx="1">
                  <c:v>Alignment on Research</c:v>
                </c:pt>
                <c:pt idx="2">
                  <c:v>Concepting</c:v>
                </c:pt>
                <c:pt idx="3">
                  <c:v>Alignment on Concepting</c:v>
                </c:pt>
                <c:pt idx="4">
                  <c:v>Briefing</c:v>
                </c:pt>
                <c:pt idx="5">
                  <c:v>Alignment on Briefing</c:v>
                </c:pt>
                <c:pt idx="6">
                  <c:v>Internally Approved Design Delivery</c:v>
                </c:pt>
                <c:pt idx="7">
                  <c:v>Alignment on Design + Revisions</c:v>
                </c:pt>
                <c:pt idx="8">
                  <c:v>Compliance Alignment</c:v>
                </c:pt>
                <c:pt idx="9">
                  <c:v>Development</c:v>
                </c:pt>
              </c:strCache>
            </c:strRef>
          </c:cat>
          <c:val>
            <c:numRef>
              <c:f>'Media Mix Chart'!$D$4:$D$13</c:f>
              <c:numCache>
                <c:formatCode>0%</c:formatCode>
                <c:ptCount val="10"/>
                <c:pt idx="0">
                  <c:v>2.3809523809523808E-2</c:v>
                </c:pt>
                <c:pt idx="1">
                  <c:v>2.3809523809523808E-2</c:v>
                </c:pt>
                <c:pt idx="2">
                  <c:v>2.3809523809523808E-2</c:v>
                </c:pt>
                <c:pt idx="3">
                  <c:v>3.5714285714285712E-2</c:v>
                </c:pt>
                <c:pt idx="4">
                  <c:v>3.5714285714285712E-2</c:v>
                </c:pt>
                <c:pt idx="5">
                  <c:v>1.1904761904761904E-2</c:v>
                </c:pt>
                <c:pt idx="6">
                  <c:v>0.19047619047619047</c:v>
                </c:pt>
                <c:pt idx="7">
                  <c:v>0.2857142857142857</c:v>
                </c:pt>
                <c:pt idx="8">
                  <c:v>7.1428571428571425E-2</c:v>
                </c:pt>
                <c:pt idx="9">
                  <c:v>9.5238095238095233E-2</c:v>
                </c:pt>
              </c:numCache>
            </c:numRef>
          </c:val>
          <c:extLst>
            <c:ext xmlns:c16="http://schemas.microsoft.com/office/drawing/2014/chart" uri="{C3380CC4-5D6E-409C-BE32-E72D297353CC}">
              <c16:uniqueId val="{00000014-A913-473B-991E-DC8A24BBFAB1}"/>
            </c:ext>
          </c:extLst>
        </c:ser>
        <c:dLbls>
          <c:showLegendKey val="0"/>
          <c:showVal val="1"/>
          <c:showCatName val="0"/>
          <c:showSerName val="0"/>
          <c:showPercent val="0"/>
          <c:showBubbleSize val="0"/>
          <c:showLeaderLines val="1"/>
        </c:dLbls>
        <c:firstSliceAng val="0"/>
        <c:holeSize val="5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userShapes r:id="rId4"/>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8234619151868939"/>
          <c:y val="2.8901859072259428E-3"/>
          <c:w val="0.42226133013195583"/>
          <c:h val="0.56127683406759987"/>
        </c:manualLayout>
      </c:layout>
      <c:doughnutChart>
        <c:varyColors val="1"/>
        <c:ser>
          <c:idx val="0"/>
          <c:order val="0"/>
          <c:dPt>
            <c:idx val="0"/>
            <c:bubble3D val="0"/>
            <c:spPr>
              <a:solidFill>
                <a:schemeClr val="accent2"/>
              </a:solidFill>
              <a:ln w="19050">
                <a:solidFill>
                  <a:schemeClr val="lt1"/>
                </a:solidFill>
              </a:ln>
              <a:effectLst/>
            </c:spPr>
            <c:extLst>
              <c:ext xmlns:c16="http://schemas.microsoft.com/office/drawing/2014/chart" uri="{C3380CC4-5D6E-409C-BE32-E72D297353CC}">
                <c16:uniqueId val="{00000001-5AE1-41F8-A11E-CF0AE606C9AC}"/>
              </c:ext>
            </c:extLst>
          </c:dPt>
          <c:dPt>
            <c:idx val="1"/>
            <c:bubble3D val="0"/>
            <c:spPr>
              <a:solidFill>
                <a:srgbClr val="0070C0"/>
              </a:solidFill>
              <a:ln w="19050">
                <a:solidFill>
                  <a:schemeClr val="lt1"/>
                </a:solidFill>
              </a:ln>
              <a:effectLst/>
            </c:spPr>
            <c:extLst>
              <c:ext xmlns:c16="http://schemas.microsoft.com/office/drawing/2014/chart" uri="{C3380CC4-5D6E-409C-BE32-E72D297353CC}">
                <c16:uniqueId val="{00000003-5AE1-41F8-A11E-CF0AE606C9AC}"/>
              </c:ext>
            </c:extLst>
          </c:dPt>
          <c:dPt>
            <c:idx val="2"/>
            <c:bubble3D val="0"/>
            <c:spPr>
              <a:solidFill>
                <a:schemeClr val="accent2"/>
              </a:solidFill>
              <a:ln w="19050">
                <a:solidFill>
                  <a:schemeClr val="lt1"/>
                </a:solidFill>
              </a:ln>
              <a:effectLst/>
            </c:spPr>
            <c:extLst>
              <c:ext xmlns:c16="http://schemas.microsoft.com/office/drawing/2014/chart" uri="{C3380CC4-5D6E-409C-BE32-E72D297353CC}">
                <c16:uniqueId val="{00000005-5AE1-41F8-A11E-CF0AE606C9AC}"/>
              </c:ext>
            </c:extLst>
          </c:dPt>
          <c:dPt>
            <c:idx val="3"/>
            <c:bubble3D val="0"/>
            <c:spPr>
              <a:solidFill>
                <a:schemeClr val="accent1"/>
              </a:solidFill>
              <a:ln w="19050">
                <a:solidFill>
                  <a:schemeClr val="lt1"/>
                </a:solidFill>
              </a:ln>
              <a:effectLst/>
            </c:spPr>
            <c:extLst>
              <c:ext xmlns:c16="http://schemas.microsoft.com/office/drawing/2014/chart" uri="{C3380CC4-5D6E-409C-BE32-E72D297353CC}">
                <c16:uniqueId val="{00000007-5AE1-41F8-A11E-CF0AE606C9AC}"/>
              </c:ext>
            </c:extLst>
          </c:dPt>
          <c:dPt>
            <c:idx val="4"/>
            <c:bubble3D val="0"/>
            <c:spPr>
              <a:solidFill>
                <a:schemeClr val="accent2"/>
              </a:solidFill>
              <a:ln w="19050">
                <a:solidFill>
                  <a:schemeClr val="lt1"/>
                </a:solidFill>
              </a:ln>
              <a:effectLst/>
            </c:spPr>
            <c:extLst>
              <c:ext xmlns:c16="http://schemas.microsoft.com/office/drawing/2014/chart" uri="{C3380CC4-5D6E-409C-BE32-E72D297353CC}">
                <c16:uniqueId val="{00000009-5AE1-41F8-A11E-CF0AE606C9AC}"/>
              </c:ext>
            </c:extLst>
          </c:dPt>
          <c:dPt>
            <c:idx val="5"/>
            <c:bubble3D val="0"/>
            <c:spPr>
              <a:solidFill>
                <a:schemeClr val="accent1"/>
              </a:solidFill>
              <a:ln w="19050">
                <a:solidFill>
                  <a:schemeClr val="lt1"/>
                </a:solidFill>
              </a:ln>
              <a:effectLst/>
            </c:spPr>
            <c:extLst>
              <c:ext xmlns:c16="http://schemas.microsoft.com/office/drawing/2014/chart" uri="{C3380CC4-5D6E-409C-BE32-E72D297353CC}">
                <c16:uniqueId val="{0000000B-5AE1-41F8-A11E-CF0AE606C9AC}"/>
              </c:ext>
            </c:extLst>
          </c:dPt>
          <c:dPt>
            <c:idx val="6"/>
            <c:bubble3D val="0"/>
            <c:spPr>
              <a:solidFill>
                <a:schemeClr val="accent2"/>
              </a:solidFill>
              <a:ln w="19050">
                <a:solidFill>
                  <a:schemeClr val="lt1"/>
                </a:solidFill>
              </a:ln>
              <a:effectLst/>
            </c:spPr>
            <c:extLst>
              <c:ext xmlns:c16="http://schemas.microsoft.com/office/drawing/2014/chart" uri="{C3380CC4-5D6E-409C-BE32-E72D297353CC}">
                <c16:uniqueId val="{0000000D-5AE1-41F8-A11E-CF0AE606C9AC}"/>
              </c:ext>
            </c:extLst>
          </c:dPt>
          <c:dPt>
            <c:idx val="7"/>
            <c:bubble3D val="0"/>
            <c:spPr>
              <a:solidFill>
                <a:schemeClr val="accent1"/>
              </a:solidFill>
              <a:ln w="19050">
                <a:solidFill>
                  <a:schemeClr val="lt1"/>
                </a:solidFill>
              </a:ln>
              <a:effectLst/>
            </c:spPr>
            <c:extLst>
              <c:ext xmlns:c16="http://schemas.microsoft.com/office/drawing/2014/chart" uri="{C3380CC4-5D6E-409C-BE32-E72D297353CC}">
                <c16:uniqueId val="{0000000F-5AE1-41F8-A11E-CF0AE606C9AC}"/>
              </c:ext>
            </c:extLst>
          </c:dPt>
          <c:dPt>
            <c:idx val="8"/>
            <c:bubble3D val="0"/>
            <c:spPr>
              <a:solidFill>
                <a:srgbClr val="0070C0"/>
              </a:solidFill>
              <a:ln w="19050">
                <a:solidFill>
                  <a:schemeClr val="lt1"/>
                </a:solidFill>
              </a:ln>
              <a:effectLst/>
            </c:spPr>
            <c:extLst>
              <c:ext xmlns:c16="http://schemas.microsoft.com/office/drawing/2014/chart" uri="{C3380CC4-5D6E-409C-BE32-E72D297353CC}">
                <c16:uniqueId val="{00000011-5AE1-41F8-A11E-CF0AE606C9AC}"/>
              </c:ext>
            </c:extLst>
          </c:dPt>
          <c:dPt>
            <c:idx val="9"/>
            <c:bubble3D val="0"/>
            <c:spPr>
              <a:solidFill>
                <a:schemeClr val="accent2"/>
              </a:solidFill>
              <a:ln w="19050">
                <a:solidFill>
                  <a:schemeClr val="lt1"/>
                </a:solidFill>
              </a:ln>
              <a:effectLst/>
            </c:spPr>
            <c:extLst>
              <c:ext xmlns:c16="http://schemas.microsoft.com/office/drawing/2014/chart" uri="{C3380CC4-5D6E-409C-BE32-E72D297353CC}">
                <c16:uniqueId val="{00000013-5AE1-41F8-A11E-CF0AE606C9AC}"/>
              </c:ext>
            </c:extLst>
          </c:dPt>
          <c:dPt>
            <c:idx val="10"/>
            <c:bubble3D val="0"/>
            <c:spPr>
              <a:solidFill>
                <a:schemeClr val="accent1"/>
              </a:solidFill>
              <a:ln w="19050">
                <a:solidFill>
                  <a:schemeClr val="lt1"/>
                </a:solidFill>
              </a:ln>
              <a:effectLst/>
            </c:spPr>
            <c:extLst>
              <c:ext xmlns:c16="http://schemas.microsoft.com/office/drawing/2014/chart" uri="{C3380CC4-5D6E-409C-BE32-E72D297353CC}">
                <c16:uniqueId val="{00000015-5AE1-41F8-A11E-CF0AE606C9AC}"/>
              </c:ext>
            </c:extLst>
          </c:dPt>
          <c:dPt>
            <c:idx val="11"/>
            <c:bubble3D val="0"/>
            <c:spPr>
              <a:solidFill>
                <a:schemeClr val="accent2"/>
              </a:solidFill>
              <a:ln w="19050">
                <a:solidFill>
                  <a:schemeClr val="lt1"/>
                </a:solidFill>
              </a:ln>
              <a:effectLst/>
            </c:spPr>
            <c:extLst>
              <c:ext xmlns:c16="http://schemas.microsoft.com/office/drawing/2014/chart" uri="{C3380CC4-5D6E-409C-BE32-E72D297353CC}">
                <c16:uniqueId val="{00000017-5AE1-41F8-A11E-CF0AE606C9AC}"/>
              </c:ext>
            </c:extLst>
          </c:dPt>
          <c:dPt>
            <c:idx val="12"/>
            <c:bubble3D val="0"/>
            <c:spPr>
              <a:solidFill>
                <a:schemeClr val="accent2"/>
              </a:solidFill>
              <a:ln w="19050">
                <a:solidFill>
                  <a:schemeClr val="lt1"/>
                </a:solidFill>
              </a:ln>
              <a:effectLst/>
            </c:spPr>
            <c:extLst>
              <c:ext xmlns:c16="http://schemas.microsoft.com/office/drawing/2014/chart" uri="{C3380CC4-5D6E-409C-BE32-E72D297353CC}">
                <c16:uniqueId val="{00000019-5AE1-41F8-A11E-CF0AE606C9AC}"/>
              </c:ext>
            </c:extLst>
          </c:dPt>
          <c:dPt>
            <c:idx val="13"/>
            <c:bubble3D val="0"/>
            <c:spPr>
              <a:solidFill>
                <a:schemeClr val="accent2"/>
              </a:solidFill>
              <a:ln w="19050">
                <a:solidFill>
                  <a:schemeClr val="lt1"/>
                </a:solidFill>
              </a:ln>
              <a:effectLst/>
            </c:spPr>
            <c:extLst>
              <c:ext xmlns:c16="http://schemas.microsoft.com/office/drawing/2014/chart" uri="{C3380CC4-5D6E-409C-BE32-E72D297353CC}">
                <c16:uniqueId val="{0000001B-5AE1-41F8-A11E-CF0AE606C9AC}"/>
              </c:ext>
            </c:extLst>
          </c:dPt>
          <c:dLbls>
            <c:dLbl>
              <c:idx val="0"/>
              <c:delete val="1"/>
              <c:extLst>
                <c:ext xmlns:c15="http://schemas.microsoft.com/office/drawing/2012/chart" uri="{CE6537A1-D6FC-4f65-9D91-7224C49458BB}"/>
                <c:ext xmlns:c16="http://schemas.microsoft.com/office/drawing/2014/chart" uri="{C3380CC4-5D6E-409C-BE32-E72D297353CC}">
                  <c16:uniqueId val="{00000001-5AE1-41F8-A11E-CF0AE606C9AC}"/>
                </c:ext>
              </c:extLst>
            </c:dLbl>
            <c:dLbl>
              <c:idx val="1"/>
              <c:delete val="1"/>
              <c:extLst>
                <c:ext xmlns:c15="http://schemas.microsoft.com/office/drawing/2012/chart" uri="{CE6537A1-D6FC-4f65-9D91-7224C49458BB}"/>
                <c:ext xmlns:c16="http://schemas.microsoft.com/office/drawing/2014/chart" uri="{C3380CC4-5D6E-409C-BE32-E72D297353CC}">
                  <c16:uniqueId val="{00000003-5AE1-41F8-A11E-CF0AE606C9AC}"/>
                </c:ext>
              </c:extLst>
            </c:dLbl>
            <c:dLbl>
              <c:idx val="2"/>
              <c:delete val="1"/>
              <c:extLst>
                <c:ext xmlns:c15="http://schemas.microsoft.com/office/drawing/2012/chart" uri="{CE6537A1-D6FC-4f65-9D91-7224C49458BB}"/>
                <c:ext xmlns:c16="http://schemas.microsoft.com/office/drawing/2014/chart" uri="{C3380CC4-5D6E-409C-BE32-E72D297353CC}">
                  <c16:uniqueId val="{00000005-5AE1-41F8-A11E-CF0AE606C9AC}"/>
                </c:ext>
              </c:extLst>
            </c:dLbl>
            <c:dLbl>
              <c:idx val="5"/>
              <c:delete val="1"/>
              <c:extLst>
                <c:ext xmlns:c15="http://schemas.microsoft.com/office/drawing/2012/chart" uri="{CE6537A1-D6FC-4f65-9D91-7224C49458BB}"/>
                <c:ext xmlns:c16="http://schemas.microsoft.com/office/drawing/2014/chart" uri="{C3380CC4-5D6E-409C-BE32-E72D297353CC}">
                  <c16:uniqueId val="{0000000B-5AE1-41F8-A11E-CF0AE606C9AC}"/>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'[Chart in Microsoft PowerPoint]Media Mix Chart'!$B$4:$B$17</c:f>
              <c:strCache>
                <c:ptCount val="14"/>
                <c:pt idx="0">
                  <c:v>Research</c:v>
                </c:pt>
                <c:pt idx="1">
                  <c:v>Alignment on Research</c:v>
                </c:pt>
                <c:pt idx="2">
                  <c:v>Concepting</c:v>
                </c:pt>
                <c:pt idx="3">
                  <c:v>Alignment on Concepting</c:v>
                </c:pt>
                <c:pt idx="4">
                  <c:v>Briefing</c:v>
                </c:pt>
                <c:pt idx="5">
                  <c:v>Alignment on Briefing</c:v>
                </c:pt>
                <c:pt idx="6">
                  <c:v>Internally Approved Design Delivery</c:v>
                </c:pt>
                <c:pt idx="7">
                  <c:v>Alignment on Design + Revisions</c:v>
                </c:pt>
                <c:pt idx="8">
                  <c:v>Compliance Alignment</c:v>
                </c:pt>
                <c:pt idx="9">
                  <c:v>Development</c:v>
                </c:pt>
                <c:pt idx="10">
                  <c:v>Development Alignmnet</c:v>
                </c:pt>
                <c:pt idx="11">
                  <c:v>Test Launch + Monitoring</c:v>
                </c:pt>
                <c:pt idx="12">
                  <c:v>Analysis</c:v>
                </c:pt>
                <c:pt idx="13">
                  <c:v>Maintaining Winning Experiences</c:v>
                </c:pt>
              </c:strCache>
            </c:strRef>
          </c:cat>
          <c:val>
            <c:numRef>
              <c:f>'[Chart in Microsoft PowerPoint]Media Mix Chart'!$D$4:$D$17</c:f>
              <c:numCache>
                <c:formatCode>0%</c:formatCode>
                <c:ptCount val="14"/>
                <c:pt idx="0">
                  <c:v>2.3809523809523808E-2</c:v>
                </c:pt>
                <c:pt idx="1">
                  <c:v>2.3809523809523808E-2</c:v>
                </c:pt>
                <c:pt idx="2">
                  <c:v>2.3809523809523808E-2</c:v>
                </c:pt>
                <c:pt idx="3">
                  <c:v>3.5714285714285712E-2</c:v>
                </c:pt>
                <c:pt idx="4">
                  <c:v>3.5714285714285712E-2</c:v>
                </c:pt>
                <c:pt idx="5">
                  <c:v>1.1904761904761904E-2</c:v>
                </c:pt>
                <c:pt idx="6">
                  <c:v>0.19047619047619047</c:v>
                </c:pt>
                <c:pt idx="7">
                  <c:v>0.2857142857142857</c:v>
                </c:pt>
                <c:pt idx="8">
                  <c:v>7.1428571428571425E-2</c:v>
                </c:pt>
                <c:pt idx="9">
                  <c:v>9.5238095238095233E-2</c:v>
                </c:pt>
                <c:pt idx="10">
                  <c:v>4.7619047619047616E-2</c:v>
                </c:pt>
                <c:pt idx="11">
                  <c:v>3.5714285714285712E-2</c:v>
                </c:pt>
                <c:pt idx="12">
                  <c:v>5.9523809523809521E-2</c:v>
                </c:pt>
                <c:pt idx="13">
                  <c:v>5.9523809523809521E-2</c:v>
                </c:pt>
              </c:numCache>
            </c:numRef>
          </c:val>
          <c:extLst>
            <c:ext xmlns:c16="http://schemas.microsoft.com/office/drawing/2014/chart" uri="{C3380CC4-5D6E-409C-BE32-E72D297353CC}">
              <c16:uniqueId val="{0000001C-5AE1-41F8-A11E-CF0AE606C9AC}"/>
            </c:ext>
          </c:extLst>
        </c:ser>
        <c:dLbls>
          <c:showLegendKey val="0"/>
          <c:showVal val="1"/>
          <c:showCatName val="0"/>
          <c:showSerName val="0"/>
          <c:showPercent val="0"/>
          <c:showBubbleSize val="0"/>
          <c:showLeaderLines val="1"/>
        </c:dLbls>
        <c:firstSliceAng val="0"/>
        <c:holeSize val="50"/>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dPt>
            <c:idx val="0"/>
            <c:bubble3D val="0"/>
            <c:spPr>
              <a:solidFill>
                <a:schemeClr val="accent2"/>
              </a:solidFill>
              <a:ln w="19050">
                <a:solidFill>
                  <a:schemeClr val="lt1"/>
                </a:solidFill>
              </a:ln>
              <a:effectLst/>
            </c:spPr>
            <c:extLst>
              <c:ext xmlns:c16="http://schemas.microsoft.com/office/drawing/2014/chart" uri="{C3380CC4-5D6E-409C-BE32-E72D297353CC}">
                <c16:uniqueId val="{00000001-2445-4A5F-B145-AD214FCCCA12}"/>
              </c:ext>
            </c:extLst>
          </c:dPt>
          <c:dPt>
            <c:idx val="1"/>
            <c:bubble3D val="0"/>
            <c:spPr>
              <a:solidFill>
                <a:schemeClr val="accent1"/>
              </a:solidFill>
              <a:ln w="19050">
                <a:solidFill>
                  <a:schemeClr val="lt1"/>
                </a:solidFill>
              </a:ln>
              <a:effectLst/>
            </c:spPr>
            <c:extLst>
              <c:ext xmlns:c16="http://schemas.microsoft.com/office/drawing/2014/chart" uri="{C3380CC4-5D6E-409C-BE32-E72D297353CC}">
                <c16:uniqueId val="{00000003-2445-4A5F-B145-AD214FCCCA12}"/>
              </c:ext>
            </c:extLst>
          </c:dPt>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'[Chart in Microsoft PowerPoint]Media Mix Chart'!$B$24:$B$25</c:f>
              <c:strCache>
                <c:ptCount val="2"/>
                <c:pt idx="0">
                  <c:v>Execution Steps</c:v>
                </c:pt>
                <c:pt idx="1">
                  <c:v>Alignment Steps</c:v>
                </c:pt>
              </c:strCache>
            </c:strRef>
          </c:cat>
          <c:val>
            <c:numRef>
              <c:f>'[Chart in Microsoft PowerPoint]Media Mix Chart'!$D$24:$D$25</c:f>
              <c:numCache>
                <c:formatCode>0%</c:formatCode>
                <c:ptCount val="2"/>
                <c:pt idx="0">
                  <c:v>0.47619047619047616</c:v>
                </c:pt>
                <c:pt idx="1">
                  <c:v>0.52380952380952384</c:v>
                </c:pt>
              </c:numCache>
            </c:numRef>
          </c:val>
          <c:extLst>
            <c:ext xmlns:c16="http://schemas.microsoft.com/office/drawing/2014/chart" uri="{C3380CC4-5D6E-409C-BE32-E72D297353CC}">
              <c16:uniqueId val="{00000004-2445-4A5F-B145-AD214FCCCA12}"/>
            </c:ext>
          </c:extLst>
        </c:ser>
        <c:dLbls>
          <c:showLegendKey val="0"/>
          <c:showVal val="1"/>
          <c:showCatName val="0"/>
          <c:showSerName val="0"/>
          <c:showPercent val="0"/>
          <c:showBubbleSize val="0"/>
          <c:showLeaderLines val="1"/>
        </c:dLbls>
        <c:firstSliceAng val="0"/>
        <c:holeSize val="50"/>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spPr>
            <a:solidFill>
              <a:schemeClr val="accent2"/>
            </a:solidFill>
          </c:spPr>
          <c:dPt>
            <c:idx val="0"/>
            <c:bubble3D val="0"/>
            <c:spPr>
              <a:solidFill>
                <a:schemeClr val="accent2"/>
              </a:solidFill>
              <a:ln w="19050">
                <a:solidFill>
                  <a:schemeClr val="lt1"/>
                </a:solidFill>
              </a:ln>
              <a:effectLst/>
            </c:spPr>
            <c:extLst>
              <c:ext xmlns:c16="http://schemas.microsoft.com/office/drawing/2014/chart" uri="{C3380CC4-5D6E-409C-BE32-E72D297353CC}">
                <c16:uniqueId val="{00000001-AB4B-4146-8276-11AA1F81A7C8}"/>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AB4B-4146-8276-11AA1F81A7C8}"/>
              </c:ext>
            </c:extLst>
          </c:dPt>
          <c:dPt>
            <c:idx val="2"/>
            <c:bubble3D val="0"/>
            <c:spPr>
              <a:solidFill>
                <a:schemeClr val="accent2"/>
              </a:solidFill>
              <a:ln w="19050">
                <a:solidFill>
                  <a:schemeClr val="lt1"/>
                </a:solidFill>
              </a:ln>
              <a:effectLst/>
            </c:spPr>
            <c:extLst>
              <c:ext xmlns:c16="http://schemas.microsoft.com/office/drawing/2014/chart" uri="{C3380CC4-5D6E-409C-BE32-E72D297353CC}">
                <c16:uniqueId val="{00000005-AB4B-4146-8276-11AA1F81A7C8}"/>
              </c:ext>
            </c:extLst>
          </c:dPt>
          <c:dPt>
            <c:idx val="3"/>
            <c:bubble3D val="0"/>
            <c:spPr>
              <a:solidFill>
                <a:schemeClr val="accent2"/>
              </a:solidFill>
              <a:ln w="19050">
                <a:solidFill>
                  <a:schemeClr val="lt1"/>
                </a:solidFill>
              </a:ln>
              <a:effectLst/>
            </c:spPr>
            <c:extLst>
              <c:ext xmlns:c16="http://schemas.microsoft.com/office/drawing/2014/chart" uri="{C3380CC4-5D6E-409C-BE32-E72D297353CC}">
                <c16:uniqueId val="{00000007-AB4B-4146-8276-11AA1F81A7C8}"/>
              </c:ext>
            </c:extLst>
          </c:dPt>
          <c:dPt>
            <c:idx val="4"/>
            <c:bubble3D val="0"/>
            <c:spPr>
              <a:solidFill>
                <a:schemeClr val="accent1"/>
              </a:solidFill>
              <a:ln w="19050">
                <a:solidFill>
                  <a:schemeClr val="lt1"/>
                </a:solidFill>
              </a:ln>
              <a:effectLst/>
            </c:spPr>
            <c:extLst>
              <c:ext xmlns:c16="http://schemas.microsoft.com/office/drawing/2014/chart" uri="{C3380CC4-5D6E-409C-BE32-E72D297353CC}">
                <c16:uniqueId val="{00000009-AB4B-4146-8276-11AA1F81A7C8}"/>
              </c:ext>
            </c:extLst>
          </c:dPt>
          <c:dPt>
            <c:idx val="5"/>
            <c:bubble3D val="0"/>
            <c:spPr>
              <a:solidFill>
                <a:schemeClr val="accent2"/>
              </a:solidFill>
              <a:ln w="19050">
                <a:solidFill>
                  <a:schemeClr val="lt1"/>
                </a:solidFill>
              </a:ln>
              <a:effectLst/>
            </c:spPr>
            <c:extLst>
              <c:ext xmlns:c16="http://schemas.microsoft.com/office/drawing/2014/chart" uri="{C3380CC4-5D6E-409C-BE32-E72D297353CC}">
                <c16:uniqueId val="{0000000B-AB4B-4146-8276-11AA1F81A7C8}"/>
              </c:ext>
            </c:extLst>
          </c:dPt>
          <c:dPt>
            <c:idx val="6"/>
            <c:bubble3D val="0"/>
            <c:spPr>
              <a:solidFill>
                <a:schemeClr val="accent2"/>
              </a:solidFill>
              <a:ln w="19050">
                <a:solidFill>
                  <a:schemeClr val="lt1"/>
                </a:solidFill>
              </a:ln>
              <a:effectLst/>
            </c:spPr>
            <c:extLst>
              <c:ext xmlns:c16="http://schemas.microsoft.com/office/drawing/2014/chart" uri="{C3380CC4-5D6E-409C-BE32-E72D297353CC}">
                <c16:uniqueId val="{0000000D-AB4B-4146-8276-11AA1F81A7C8}"/>
              </c:ext>
            </c:extLst>
          </c:dPt>
          <c:dPt>
            <c:idx val="7"/>
            <c:bubble3D val="0"/>
            <c:spPr>
              <a:solidFill>
                <a:schemeClr val="accent2"/>
              </a:solidFill>
              <a:ln w="19050">
                <a:solidFill>
                  <a:schemeClr val="lt1"/>
                </a:solidFill>
              </a:ln>
              <a:effectLst/>
            </c:spPr>
            <c:extLst>
              <c:ext xmlns:c16="http://schemas.microsoft.com/office/drawing/2014/chart" uri="{C3380CC4-5D6E-409C-BE32-E72D297353CC}">
                <c16:uniqueId val="{0000000F-AB4B-4146-8276-11AA1F81A7C8}"/>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'[Chart in Microsoft PowerPoint]Media Mix Chart'!$B$45:$B$52</c:f>
              <c:strCache>
                <c:ptCount val="8"/>
                <c:pt idx="0">
                  <c:v>Concepting</c:v>
                </c:pt>
                <c:pt idx="1">
                  <c:v>Briefing - Simplified</c:v>
                </c:pt>
                <c:pt idx="2">
                  <c:v>Creative Input</c:v>
                </c:pt>
                <c:pt idx="3">
                  <c:v>WYSIWIG Development</c:v>
                </c:pt>
                <c:pt idx="4">
                  <c:v>QA Link Alignmnet</c:v>
                </c:pt>
                <c:pt idx="5">
                  <c:v>Test Launch + Monitoring</c:v>
                </c:pt>
                <c:pt idx="6">
                  <c:v>Analysis</c:v>
                </c:pt>
                <c:pt idx="7">
                  <c:v>Maintaining Winning Experiences</c:v>
                </c:pt>
              </c:strCache>
            </c:strRef>
          </c:cat>
          <c:val>
            <c:numRef>
              <c:f>'[Chart in Microsoft PowerPoint]Media Mix Chart'!$D$45:$D$52</c:f>
              <c:numCache>
                <c:formatCode>0%</c:formatCode>
                <c:ptCount val="8"/>
                <c:pt idx="0">
                  <c:v>5.4054054054054057E-2</c:v>
                </c:pt>
                <c:pt idx="1">
                  <c:v>5.4054054054054057E-2</c:v>
                </c:pt>
                <c:pt idx="2">
                  <c:v>0.21621621621621623</c:v>
                </c:pt>
                <c:pt idx="3">
                  <c:v>0.21621621621621623</c:v>
                </c:pt>
                <c:pt idx="4">
                  <c:v>0.10810810810810811</c:v>
                </c:pt>
                <c:pt idx="5">
                  <c:v>8.1081081081081086E-2</c:v>
                </c:pt>
                <c:pt idx="6">
                  <c:v>0.13513513513513514</c:v>
                </c:pt>
                <c:pt idx="7">
                  <c:v>0.13513513513513514</c:v>
                </c:pt>
              </c:numCache>
            </c:numRef>
          </c:val>
          <c:extLst>
            <c:ext xmlns:c16="http://schemas.microsoft.com/office/drawing/2014/chart" uri="{C3380CC4-5D6E-409C-BE32-E72D297353CC}">
              <c16:uniqueId val="{00000010-AB4B-4146-8276-11AA1F81A7C8}"/>
            </c:ext>
          </c:extLst>
        </c:ser>
        <c:dLbls>
          <c:showLegendKey val="0"/>
          <c:showVal val="0"/>
          <c:showCatName val="0"/>
          <c:showSerName val="0"/>
          <c:showPercent val="0"/>
          <c:showBubbleSize val="0"/>
          <c:showLeaderLines val="1"/>
        </c:dLbls>
        <c:firstSliceAng val="0"/>
        <c:holeSize val="50"/>
      </c:doughnutChart>
      <c:spPr>
        <a:noFill/>
        <a:ln w="25400">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0988675220378329"/>
          <c:y val="3.8946277338248479E-2"/>
          <c:w val="0.79676924846545572"/>
          <c:h val="0.96105372266175149"/>
        </c:manualLayout>
      </c:layout>
      <c:doughnutChart>
        <c:varyColors val="1"/>
        <c:ser>
          <c:idx val="0"/>
          <c:order val="0"/>
          <c:dPt>
            <c:idx val="0"/>
            <c:bubble3D val="0"/>
            <c:spPr>
              <a:solidFill>
                <a:schemeClr val="accent1"/>
              </a:solidFill>
              <a:ln w="19050">
                <a:solidFill>
                  <a:schemeClr val="lt1"/>
                </a:solidFill>
              </a:ln>
              <a:effectLst/>
            </c:spPr>
            <c:extLst>
              <c:ext xmlns:c16="http://schemas.microsoft.com/office/drawing/2014/chart" uri="{C3380CC4-5D6E-409C-BE32-E72D297353CC}">
                <c16:uniqueId val="{00000001-A913-473B-991E-DC8A24BBFAB1}"/>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A913-473B-991E-DC8A24BBFAB1}"/>
              </c:ext>
            </c:extLst>
          </c:dPt>
          <c:dPt>
            <c:idx val="2"/>
            <c:bubble3D val="0"/>
            <c:spPr>
              <a:solidFill>
                <a:schemeClr val="bg2">
                  <a:lumMod val="75000"/>
                </a:schemeClr>
              </a:solidFill>
              <a:ln w="19050">
                <a:solidFill>
                  <a:schemeClr val="lt1"/>
                </a:solidFill>
              </a:ln>
              <a:effectLst/>
            </c:spPr>
            <c:extLst>
              <c:ext xmlns:c16="http://schemas.microsoft.com/office/drawing/2014/chart" uri="{C3380CC4-5D6E-409C-BE32-E72D297353CC}">
                <c16:uniqueId val="{00000005-A913-473B-991E-DC8A24BBFAB1}"/>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A913-473B-991E-DC8A24BBFAB1}"/>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A913-473B-991E-DC8A24BBFAB1}"/>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B-A913-473B-991E-DC8A24BBFAB1}"/>
              </c:ext>
            </c:extLst>
          </c:dPt>
          <c:dPt>
            <c:idx val="6"/>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0D-A913-473B-991E-DC8A24BBFAB1}"/>
              </c:ext>
            </c:extLst>
          </c:dPt>
          <c:dPt>
            <c:idx val="7"/>
            <c:bubble3D val="0"/>
            <c:spPr>
              <a:solidFill>
                <a:schemeClr val="accent2">
                  <a:lumMod val="60000"/>
                </a:schemeClr>
              </a:solidFill>
              <a:ln w="19050">
                <a:solidFill>
                  <a:schemeClr val="lt1"/>
                </a:solidFill>
              </a:ln>
              <a:effectLst/>
            </c:spPr>
            <c:extLst>
              <c:ext xmlns:c16="http://schemas.microsoft.com/office/drawing/2014/chart" uri="{C3380CC4-5D6E-409C-BE32-E72D297353CC}">
                <c16:uniqueId val="{0000000F-A913-473B-991E-DC8A24BBFAB1}"/>
              </c:ext>
            </c:extLst>
          </c:dPt>
          <c:dPt>
            <c:idx val="8"/>
            <c:bubble3D val="0"/>
            <c:spPr>
              <a:solidFill>
                <a:schemeClr val="accent3">
                  <a:lumMod val="60000"/>
                </a:schemeClr>
              </a:solidFill>
              <a:ln w="19050">
                <a:solidFill>
                  <a:schemeClr val="lt1"/>
                </a:solidFill>
              </a:ln>
              <a:effectLst/>
            </c:spPr>
            <c:extLst>
              <c:ext xmlns:c16="http://schemas.microsoft.com/office/drawing/2014/chart" uri="{C3380CC4-5D6E-409C-BE32-E72D297353CC}">
                <c16:uniqueId val="{00000011-A913-473B-991E-DC8A24BBFAB1}"/>
              </c:ext>
            </c:extLst>
          </c:dPt>
          <c:dPt>
            <c:idx val="9"/>
            <c:bubble3D val="0"/>
            <c:spPr>
              <a:solidFill>
                <a:schemeClr val="accent4">
                  <a:lumMod val="60000"/>
                </a:schemeClr>
              </a:solidFill>
              <a:ln w="19050">
                <a:solidFill>
                  <a:schemeClr val="lt1"/>
                </a:solidFill>
              </a:ln>
              <a:effectLst/>
            </c:spPr>
            <c:extLst>
              <c:ext xmlns:c16="http://schemas.microsoft.com/office/drawing/2014/chart" uri="{C3380CC4-5D6E-409C-BE32-E72D297353CC}">
                <c16:uniqueId val="{00000013-A913-473B-991E-DC8A24BBFAB1}"/>
              </c:ext>
            </c:extLst>
          </c:dPt>
          <c:dLbls>
            <c:dLbl>
              <c:idx val="0"/>
              <c:layout>
                <c:manualLayout>
                  <c:x val="0.12707297283124985"/>
                  <c:y val="-0.10352200258545986"/>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1-A913-473B-991E-DC8A24BBFAB1}"/>
                </c:ext>
              </c:extLst>
            </c:dLbl>
            <c:dLbl>
              <c:idx val="1"/>
              <c:layout>
                <c:manualLayout>
                  <c:x val="0.13177937923240735"/>
                  <c:y val="-9.2991617208428259E-2"/>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3-A913-473B-991E-DC8A24BBFAB1}"/>
                </c:ext>
              </c:extLst>
            </c:dLbl>
            <c:dLbl>
              <c:idx val="2"/>
              <c:layout>
                <c:manualLayout>
                  <c:x val="-2.269136405924958E-2"/>
                  <c:y val="9.4085183982450124E-2"/>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Poppins SemiBold" pitchFamily="2" charset="77"/>
                      <a:ea typeface="+mn-ea"/>
                      <a:cs typeface="Poppins SemiBold" pitchFamily="2" charset="77"/>
                    </a:defRPr>
                  </a:pPr>
                  <a:endParaRPr lang="en-US"/>
                </a:p>
              </c:txPr>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5-A913-473B-991E-DC8A24BBFAB1}"/>
                </c:ext>
              </c:extLst>
            </c:dLbl>
            <c:dLbl>
              <c:idx val="3"/>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Poppins SemiBold" pitchFamily="2" charset="77"/>
                      <a:ea typeface="+mn-ea"/>
                      <a:cs typeface="Poppins SemiBold" pitchFamily="2" charset="77"/>
                    </a:defRPr>
                  </a:pPr>
                  <a:endParaRPr lang="en-US"/>
                </a:p>
              </c:txPr>
              <c:showLegendKey val="0"/>
              <c:showVal val="1"/>
              <c:showCatName val="1"/>
              <c:showSerName val="0"/>
              <c:showPercent val="0"/>
              <c:showBubbleSize val="0"/>
              <c:extLst>
                <c:ext xmlns:c16="http://schemas.microsoft.com/office/drawing/2014/chart" uri="{C3380CC4-5D6E-409C-BE32-E72D297353CC}">
                  <c16:uniqueId val="{00000007-A913-473B-991E-DC8A24BBFAB1}"/>
                </c:ext>
              </c:extLst>
            </c:dLbl>
            <c:dLbl>
              <c:idx val="4"/>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Poppins SemiBold" pitchFamily="2" charset="77"/>
                      <a:ea typeface="+mn-ea"/>
                      <a:cs typeface="Poppins SemiBold" pitchFamily="2" charset="77"/>
                    </a:defRPr>
                  </a:pPr>
                  <a:endParaRPr lang="en-US"/>
                </a:p>
              </c:txPr>
              <c:showLegendKey val="0"/>
              <c:showVal val="1"/>
              <c:showCatName val="1"/>
              <c:showSerName val="0"/>
              <c:showPercent val="0"/>
              <c:showBubbleSize val="0"/>
              <c:extLst>
                <c:ext xmlns:c16="http://schemas.microsoft.com/office/drawing/2014/chart" uri="{C3380CC4-5D6E-409C-BE32-E72D297353CC}">
                  <c16:uniqueId val="{00000009-A913-473B-991E-DC8A24BBFAB1}"/>
                </c:ext>
              </c:extLst>
            </c:dLbl>
            <c:dLbl>
              <c:idx val="5"/>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Poppins SemiBold" pitchFamily="2" charset="77"/>
                      <a:ea typeface="+mn-ea"/>
                      <a:cs typeface="Poppins SemiBold" pitchFamily="2" charset="77"/>
                    </a:defRPr>
                  </a:pPr>
                  <a:endParaRPr lang="en-US"/>
                </a:p>
              </c:txPr>
              <c:showLegendKey val="0"/>
              <c:showVal val="1"/>
              <c:showCatName val="1"/>
              <c:showSerName val="0"/>
              <c:showPercent val="0"/>
              <c:showBubbleSize val="0"/>
              <c:extLst>
                <c:ext xmlns:c16="http://schemas.microsoft.com/office/drawing/2014/chart" uri="{C3380CC4-5D6E-409C-BE32-E72D297353CC}">
                  <c16:uniqueId val="{0000000B-A913-473B-991E-DC8A24BBFAB1}"/>
                </c:ext>
              </c:extLst>
            </c:dLbl>
            <c:dLbl>
              <c:idx val="6"/>
              <c:layout>
                <c:manualLayout>
                  <c:x val="-3.6083869644401349E-2"/>
                  <c:y val="-1.360661397385764E-2"/>
                </c:manualLayout>
              </c:layout>
              <c:spPr>
                <a:noFill/>
                <a:ln>
                  <a:noFill/>
                </a:ln>
                <a:effectLst/>
              </c:spPr>
              <c:txPr>
                <a:bodyPr rot="1620000" spcFirstLastPara="1" vertOverflow="ellipsis" wrap="square" lIns="38100" tIns="19050" rIns="38100" bIns="19050" anchor="ctr" anchorCtr="1">
                  <a:spAutoFit/>
                </a:bodyPr>
                <a:lstStyle/>
                <a:p>
                  <a:pPr>
                    <a:defRPr sz="1000" b="1" i="0" u="none" strike="noStrike" kern="1200" baseline="0">
                      <a:solidFill>
                        <a:schemeClr val="bg1"/>
                      </a:solidFill>
                      <a:latin typeface="Poppins SemiBold" pitchFamily="2" charset="77"/>
                      <a:ea typeface="+mn-ea"/>
                      <a:cs typeface="Poppins SemiBold" pitchFamily="2" charset="77"/>
                    </a:defRPr>
                  </a:pPr>
                  <a:endParaRPr lang="en-US"/>
                </a:p>
              </c:txPr>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D-A913-473B-991E-DC8A24BBFAB1}"/>
                </c:ext>
              </c:extLst>
            </c:dLbl>
            <c:dLbl>
              <c:idx val="7"/>
              <c:layout>
                <c:manualLayout>
                  <c:x val="-1.8099004632104475E-2"/>
                  <c:y val="-4.3828889566596828E-2"/>
                </c:manualLayout>
              </c:layout>
              <c:tx>
                <c:rich>
                  <a:bodyPr rot="0" spcFirstLastPara="1" vertOverflow="ellipsis" vert="horz" wrap="square" lIns="38100" tIns="19050" rIns="38100" bIns="19050" anchor="ctr" anchorCtr="1">
                    <a:noAutofit/>
                  </a:bodyPr>
                  <a:lstStyle/>
                  <a:p>
                    <a:pPr>
                      <a:defRPr sz="1000" b="1" i="0" u="none" strike="noStrike" kern="1200" baseline="0">
                        <a:solidFill>
                          <a:schemeClr val="bg1"/>
                        </a:solidFill>
                        <a:latin typeface="Poppins SemiBold" pitchFamily="2" charset="77"/>
                        <a:ea typeface="+mn-ea"/>
                        <a:cs typeface="Poppins SemiBold" pitchFamily="2" charset="77"/>
                      </a:defRPr>
                    </a:pPr>
                    <a:fld id="{FD44BA94-EA80-48CC-8BF7-B97A12B7E9EC}" type="CATEGORYNAME">
                      <a:rPr lang="en-US" smtClean="0">
                        <a:solidFill>
                          <a:schemeClr val="bg1"/>
                        </a:solidFill>
                      </a:rPr>
                      <a:pPr>
                        <a:defRPr sz="1000" b="1">
                          <a:solidFill>
                            <a:schemeClr val="bg1"/>
                          </a:solidFill>
                          <a:latin typeface="Poppins SemiBold" pitchFamily="2" charset="77"/>
                          <a:cs typeface="Poppins SemiBold" pitchFamily="2" charset="77"/>
                        </a:defRPr>
                      </a:pPr>
                      <a:t>[CATEGORY NAME]</a:t>
                    </a:fld>
                    <a:endParaRPr lang="en-US" baseline="0">
                      <a:solidFill>
                        <a:schemeClr val="bg1"/>
                      </a:solidFill>
                    </a:endParaRPr>
                  </a:p>
                  <a:p>
                    <a:pPr>
                      <a:defRPr sz="1000" b="1">
                        <a:solidFill>
                          <a:schemeClr val="bg1"/>
                        </a:solidFill>
                        <a:latin typeface="Poppins SemiBold" pitchFamily="2" charset="77"/>
                        <a:cs typeface="Poppins SemiBold" pitchFamily="2" charset="77"/>
                      </a:defRPr>
                    </a:pPr>
                    <a:fld id="{02DDC5ED-2583-47DF-AF7F-E24C79880F4B}" type="VALUE">
                      <a:rPr lang="en-US" baseline="0" smtClean="0">
                        <a:solidFill>
                          <a:schemeClr val="bg1"/>
                        </a:solidFill>
                      </a:rPr>
                      <a:pPr>
                        <a:defRPr sz="1000" b="1">
                          <a:solidFill>
                            <a:schemeClr val="bg1"/>
                          </a:solidFill>
                          <a:latin typeface="Poppins SemiBold" pitchFamily="2" charset="77"/>
                          <a:cs typeface="Poppins SemiBold" pitchFamily="2" charset="77"/>
                        </a:defRPr>
                      </a:pPr>
                      <a:t>[VALUE]</a:t>
                    </a:fld>
                    <a:endParaRPr lang="en-US"/>
                  </a:p>
                </c:rich>
              </c:tx>
              <c:spPr>
                <a:noFill/>
                <a:ln>
                  <a:noFill/>
                </a:ln>
                <a:effectLst/>
              </c:spPr>
              <c:txPr>
                <a:bodyPr rot="0" spcFirstLastPara="1" vertOverflow="ellipsis" vert="horz" wrap="square" lIns="38100" tIns="19050" rIns="38100" bIns="19050" anchor="ctr" anchorCtr="1">
                  <a:noAutofit/>
                </a:bodyPr>
                <a:lstStyle/>
                <a:p>
                  <a:pPr>
                    <a:defRPr sz="1000" b="1" i="0" u="none" strike="noStrike" kern="1200" baseline="0">
                      <a:solidFill>
                        <a:schemeClr val="bg1"/>
                      </a:solidFill>
                      <a:latin typeface="Poppins SemiBold" pitchFamily="2" charset="77"/>
                      <a:ea typeface="+mn-ea"/>
                      <a:cs typeface="Poppins SemiBold" pitchFamily="2" charset="77"/>
                    </a:defRPr>
                  </a:pPr>
                  <a:endParaRPr lang="en-US"/>
                </a:p>
              </c:txPr>
              <c:showLegendKey val="0"/>
              <c:showVal val="1"/>
              <c:showCatName val="1"/>
              <c:showSerName val="0"/>
              <c:showPercent val="0"/>
              <c:showBubbleSize val="0"/>
              <c:extLst>
                <c:ext xmlns:c15="http://schemas.microsoft.com/office/drawing/2012/chart" uri="{CE6537A1-D6FC-4f65-9D91-7224C49458BB}">
                  <c15:layout>
                    <c:manualLayout>
                      <c:w val="6.793697640070713E-2"/>
                      <c:h val="0.1046155693594818"/>
                    </c:manualLayout>
                  </c15:layout>
                  <c15:dlblFieldTable/>
                  <c15:showDataLabelsRange val="0"/>
                </c:ext>
                <c:ext xmlns:c16="http://schemas.microsoft.com/office/drawing/2014/chart" uri="{C3380CC4-5D6E-409C-BE32-E72D297353CC}">
                  <c16:uniqueId val="{0000000F-A913-473B-991E-DC8A24BBFAB1}"/>
                </c:ext>
              </c:extLst>
            </c:dLbl>
            <c:dLbl>
              <c:idx val="8"/>
              <c:layout>
                <c:manualLayout>
                  <c:x val="-9.3232428474203433E-2"/>
                  <c:y val="-0.12000019037653917"/>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11-A913-473B-991E-DC8A24BBFAB1}"/>
                </c:ext>
              </c:extLst>
            </c:dLbl>
            <c:dLbl>
              <c:idx val="9"/>
              <c:layout>
                <c:manualLayout>
                  <c:x val="2.437714695049871E-2"/>
                  <c:y val="-0.14211919841225967"/>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13-A913-473B-991E-DC8A24BBFAB1}"/>
                </c:ext>
              </c:extLst>
            </c:dLbl>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solidFill>
                    <a:latin typeface="Poppins SemiBold" pitchFamily="2" charset="77"/>
                    <a:ea typeface="+mn-ea"/>
                    <a:cs typeface="Poppins SemiBold" pitchFamily="2" charset="77"/>
                  </a:defRPr>
                </a:pPr>
                <a:endParaRPr lang="en-US"/>
              </a:p>
            </c:txPr>
            <c:showLegendKey val="0"/>
            <c:showVal val="1"/>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'Media Mix Chart'!$B$4:$B$13</c:f>
              <c:strCache>
                <c:ptCount val="10"/>
                <c:pt idx="0">
                  <c:v>Research</c:v>
                </c:pt>
                <c:pt idx="1">
                  <c:v>Alignment on Research</c:v>
                </c:pt>
                <c:pt idx="2">
                  <c:v>Concepting</c:v>
                </c:pt>
                <c:pt idx="3">
                  <c:v>Alignment on Concepting</c:v>
                </c:pt>
                <c:pt idx="4">
                  <c:v>Briefing</c:v>
                </c:pt>
                <c:pt idx="5">
                  <c:v>Alignment on Briefing</c:v>
                </c:pt>
                <c:pt idx="6">
                  <c:v>Internally Approved Design Delivery</c:v>
                </c:pt>
                <c:pt idx="7">
                  <c:v>Alignment on Design + Revisions</c:v>
                </c:pt>
                <c:pt idx="8">
                  <c:v>Compliance Alignment</c:v>
                </c:pt>
                <c:pt idx="9">
                  <c:v>Development</c:v>
                </c:pt>
              </c:strCache>
            </c:strRef>
          </c:cat>
          <c:val>
            <c:numRef>
              <c:f>'Media Mix Chart'!$D$4:$D$13</c:f>
              <c:numCache>
                <c:formatCode>0%</c:formatCode>
                <c:ptCount val="10"/>
                <c:pt idx="0">
                  <c:v>2.3809523809523808E-2</c:v>
                </c:pt>
                <c:pt idx="1">
                  <c:v>2.3809523809523808E-2</c:v>
                </c:pt>
                <c:pt idx="2">
                  <c:v>2.3809523809523808E-2</c:v>
                </c:pt>
                <c:pt idx="3">
                  <c:v>3.5714285714285712E-2</c:v>
                </c:pt>
                <c:pt idx="4">
                  <c:v>3.5714285714285712E-2</c:v>
                </c:pt>
                <c:pt idx="5">
                  <c:v>1.1904761904761904E-2</c:v>
                </c:pt>
                <c:pt idx="6">
                  <c:v>0.19047619047619047</c:v>
                </c:pt>
                <c:pt idx="7">
                  <c:v>0.2857142857142857</c:v>
                </c:pt>
                <c:pt idx="8">
                  <c:v>7.1428571428571425E-2</c:v>
                </c:pt>
                <c:pt idx="9">
                  <c:v>9.5238095238095233E-2</c:v>
                </c:pt>
              </c:numCache>
            </c:numRef>
          </c:val>
          <c:extLst>
            <c:ext xmlns:c16="http://schemas.microsoft.com/office/drawing/2014/chart" uri="{C3380CC4-5D6E-409C-BE32-E72D297353CC}">
              <c16:uniqueId val="{00000014-A913-473B-991E-DC8A24BBFAB1}"/>
            </c:ext>
          </c:extLst>
        </c:ser>
        <c:dLbls>
          <c:showLegendKey val="0"/>
          <c:showVal val="1"/>
          <c:showCatName val="0"/>
          <c:showSerName val="0"/>
          <c:showPercent val="0"/>
          <c:showBubbleSize val="0"/>
          <c:showLeaderLines val="1"/>
        </c:dLbls>
        <c:firstSliceAng val="0"/>
        <c:holeSize val="5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dPt>
            <c:idx val="0"/>
            <c:bubble3D val="0"/>
            <c:spPr>
              <a:solidFill>
                <a:schemeClr val="accent1"/>
              </a:solidFill>
              <a:ln w="19050">
                <a:solidFill>
                  <a:schemeClr val="lt1"/>
                </a:solidFill>
              </a:ln>
              <a:effectLst/>
            </c:spPr>
            <c:extLst>
              <c:ext xmlns:c16="http://schemas.microsoft.com/office/drawing/2014/chart" uri="{C3380CC4-5D6E-409C-BE32-E72D297353CC}">
                <c16:uniqueId val="{00000001-E5CB-4754-A548-D00B2253B007}"/>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E5CB-4754-A548-D00B2253B007}"/>
              </c:ext>
            </c:extLst>
          </c:dPt>
          <c:dLbls>
            <c:dLbl>
              <c:idx val="0"/>
              <c:tx>
                <c:rich>
                  <a:bodyPr/>
                  <a:lstStyle/>
                  <a:p>
                    <a:r>
                      <a:rPr lang="en-US"/>
                      <a:t>11%</a:t>
                    </a:r>
                    <a:endParaRPr lang="en-US" dirty="0"/>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E5CB-4754-A548-D00B2253B007}"/>
                </c:ext>
              </c:extLst>
            </c:dLbl>
            <c:dLbl>
              <c:idx val="1"/>
              <c:tx>
                <c:rich>
                  <a:bodyPr/>
                  <a:lstStyle/>
                  <a:p>
                    <a:r>
                      <a:rPr lang="en-US"/>
                      <a:t>89%</a:t>
                    </a:r>
                    <a:endParaRPr lang="en-US" dirty="0"/>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E5CB-4754-A548-D00B2253B007}"/>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'[Chart in Microsoft PowerPoint]Media Mix Chart'!$B$60:$B$61</c:f>
              <c:strCache>
                <c:ptCount val="2"/>
                <c:pt idx="0">
                  <c:v>Alignment Steps</c:v>
                </c:pt>
                <c:pt idx="1">
                  <c:v>Execution  Steps</c:v>
                </c:pt>
              </c:strCache>
            </c:strRef>
          </c:cat>
          <c:val>
            <c:numRef>
              <c:f>'[Chart in Microsoft PowerPoint]Media Mix Chart'!$D$60:$D$61</c:f>
              <c:numCache>
                <c:formatCode>0%</c:formatCode>
                <c:ptCount val="2"/>
                <c:pt idx="0">
                  <c:v>8.3333333333333329E-2</c:v>
                </c:pt>
                <c:pt idx="1">
                  <c:v>0.91666666666666663</c:v>
                </c:pt>
              </c:numCache>
            </c:numRef>
          </c:val>
          <c:extLst>
            <c:ext xmlns:c16="http://schemas.microsoft.com/office/drawing/2014/chart" uri="{C3380CC4-5D6E-409C-BE32-E72D297353CC}">
              <c16:uniqueId val="{00000004-E5CB-4754-A548-D00B2253B007}"/>
            </c:ext>
          </c:extLst>
        </c:ser>
        <c:dLbls>
          <c:showLegendKey val="0"/>
          <c:showVal val="0"/>
          <c:showCatName val="0"/>
          <c:showSerName val="0"/>
          <c:showPercent val="0"/>
          <c:showBubbleSize val="0"/>
          <c:showLeaderLines val="1"/>
        </c:dLbls>
        <c:firstSliceAng val="0"/>
        <c:holeSize val="50"/>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rgbClr val="002060"/>
                </a:solidFill>
                <a:latin typeface="+mn-lt"/>
                <a:ea typeface="+mn-ea"/>
                <a:cs typeface="+mn-cs"/>
              </a:defRPr>
            </a:pPr>
            <a:r>
              <a:rPr lang="en-US" sz="1400">
                <a:solidFill>
                  <a:srgbClr val="002060"/>
                </a:solidFill>
              </a:rPr>
              <a:t>Aero + BB 12-Month</a:t>
            </a:r>
            <a:r>
              <a:rPr lang="en-US" sz="1400" baseline="0">
                <a:solidFill>
                  <a:srgbClr val="002060"/>
                </a:solidFill>
              </a:rPr>
              <a:t> Incremental</a:t>
            </a:r>
            <a:r>
              <a:rPr lang="en-US" sz="1400">
                <a:solidFill>
                  <a:srgbClr val="002060"/>
                </a:solidFill>
              </a:rPr>
              <a:t> Revenue Earned With &amp; Without Optimization Testing</a:t>
            </a:r>
          </a:p>
        </c:rich>
      </c:tx>
      <c:overlay val="0"/>
      <c:spPr>
        <a:noFill/>
        <a:ln>
          <a:noFill/>
        </a:ln>
        <a:effectLst/>
      </c:spPr>
      <c:txPr>
        <a:bodyPr rot="0" spcFirstLastPara="1" vertOverflow="ellipsis" vert="horz" wrap="square" anchor="ctr" anchorCtr="1"/>
        <a:lstStyle/>
        <a:p>
          <a:pPr>
            <a:defRPr sz="1400" b="0" i="0" u="none" strike="noStrike" kern="1200" spc="0" baseline="0">
              <a:solidFill>
                <a:srgbClr val="002060"/>
              </a:solidFill>
              <a:latin typeface="+mn-lt"/>
              <a:ea typeface="+mn-ea"/>
              <a:cs typeface="+mn-cs"/>
            </a:defRPr>
          </a:pPr>
          <a:endParaRPr lang="en-US"/>
        </a:p>
      </c:txPr>
    </c:title>
    <c:autoTitleDeleted val="0"/>
    <c:plotArea>
      <c:layout/>
      <c:barChart>
        <c:barDir val="col"/>
        <c:grouping val="clustered"/>
        <c:varyColors val="0"/>
        <c:ser>
          <c:idx val="0"/>
          <c:order val="0"/>
          <c:tx>
            <c:strRef>
              <c:f>Sheet1!$G$1</c:f>
              <c:strCache>
                <c:ptCount val="1"/>
                <c:pt idx="0">
                  <c:v>Aero/BB LTV Rev Without CRO</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rgbClr val="002060"/>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c:f>
              <c:numCache>
                <c:formatCode>General</c:formatCode>
                <c:ptCount val="1"/>
              </c:numCache>
            </c:numRef>
          </c:cat>
          <c:val>
            <c:numRef>
              <c:f>Sheet1!$G$2</c:f>
              <c:numCache>
                <c:formatCode>"$"#,##0_);[Red]\("$"#,##0\)</c:formatCode>
                <c:ptCount val="1"/>
                <c:pt idx="0">
                  <c:v>286126816.69180572</c:v>
                </c:pt>
              </c:numCache>
            </c:numRef>
          </c:val>
          <c:extLst>
            <c:ext xmlns:c16="http://schemas.microsoft.com/office/drawing/2014/chart" uri="{C3380CC4-5D6E-409C-BE32-E72D297353CC}">
              <c16:uniqueId val="{00000000-4FF7-4E40-8592-06662C190F03}"/>
            </c:ext>
          </c:extLst>
        </c:ser>
        <c:ser>
          <c:idx val="1"/>
          <c:order val="1"/>
          <c:tx>
            <c:strRef>
              <c:f>Sheet1!$H$1</c:f>
              <c:strCache>
                <c:ptCount val="1"/>
                <c:pt idx="0">
                  <c:v>Aero/BB LTV Rev With CRO</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rgbClr val="002060"/>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c:f>
              <c:numCache>
                <c:formatCode>General</c:formatCode>
                <c:ptCount val="1"/>
              </c:numCache>
            </c:numRef>
          </c:cat>
          <c:val>
            <c:numRef>
              <c:f>Sheet1!$H$2</c:f>
              <c:numCache>
                <c:formatCode>"$"#,##0_);[Red]\("$"#,##0\)</c:formatCode>
                <c:ptCount val="1"/>
                <c:pt idx="0">
                  <c:v>287736486.5</c:v>
                </c:pt>
              </c:numCache>
            </c:numRef>
          </c:val>
          <c:extLst>
            <c:ext xmlns:c16="http://schemas.microsoft.com/office/drawing/2014/chart" uri="{C3380CC4-5D6E-409C-BE32-E72D297353CC}">
              <c16:uniqueId val="{00000001-4FF7-4E40-8592-06662C190F03}"/>
            </c:ext>
          </c:extLst>
        </c:ser>
        <c:dLbls>
          <c:dLblPos val="outEnd"/>
          <c:showLegendKey val="0"/>
          <c:showVal val="1"/>
          <c:showCatName val="0"/>
          <c:showSerName val="0"/>
          <c:showPercent val="0"/>
          <c:showBubbleSize val="0"/>
        </c:dLbls>
        <c:gapWidth val="219"/>
        <c:overlap val="-27"/>
        <c:axId val="1669676672"/>
        <c:axId val="1669691072"/>
      </c:barChart>
      <c:catAx>
        <c:axId val="16696766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669691072"/>
        <c:crosses val="autoZero"/>
        <c:auto val="1"/>
        <c:lblAlgn val="ctr"/>
        <c:lblOffset val="100"/>
        <c:noMultiLvlLbl val="0"/>
      </c:catAx>
      <c:valAx>
        <c:axId val="1669691072"/>
        <c:scaling>
          <c:orientation val="minMax"/>
        </c:scaling>
        <c:delete val="0"/>
        <c:axPos val="l"/>
        <c:majorGridlines>
          <c:spPr>
            <a:ln w="9525" cap="flat" cmpd="sng" algn="ctr">
              <a:solidFill>
                <a:schemeClr val="tx1">
                  <a:lumMod val="15000"/>
                  <a:lumOff val="85000"/>
                </a:schemeClr>
              </a:solidFill>
              <a:round/>
            </a:ln>
            <a:effectLst/>
          </c:spPr>
        </c:majorGridlines>
        <c:numFmt formatCode="&quot;$&quot;#,##0_);[Red]\(&quot;$&quot;#,##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rgbClr val="002060"/>
                </a:solidFill>
                <a:latin typeface="+mn-lt"/>
                <a:ea typeface="+mn-ea"/>
                <a:cs typeface="+mn-cs"/>
              </a:defRPr>
            </a:pPr>
            <a:endParaRPr lang="en-US"/>
          </a:p>
        </c:txPr>
        <c:crossAx val="1669676672"/>
        <c:crosses val="autoZero"/>
        <c:crossBetween val="between"/>
      </c:valAx>
      <c:spPr>
        <a:noFill/>
        <a:ln>
          <a:noFill/>
        </a:ln>
        <a:effectLst/>
      </c:spPr>
    </c:plotArea>
    <c:legend>
      <c:legendPos val="b"/>
      <c:legendEntry>
        <c:idx val="0"/>
        <c:txPr>
          <a:bodyPr rot="0" spcFirstLastPara="1" vertOverflow="ellipsis" vert="horz" wrap="square" anchor="ctr" anchorCtr="1"/>
          <a:lstStyle/>
          <a:p>
            <a:pPr>
              <a:defRPr sz="1197" b="0" i="0" u="none" strike="noStrike" kern="1200" baseline="0">
                <a:solidFill>
                  <a:srgbClr val="002060"/>
                </a:solidFill>
                <a:latin typeface="+mn-lt"/>
                <a:ea typeface="+mn-ea"/>
                <a:cs typeface="+mn-cs"/>
              </a:defRPr>
            </a:pPr>
            <a:endParaRPr lang="en-US"/>
          </a:p>
        </c:txPr>
      </c:legendEntry>
      <c:legendEntry>
        <c:idx val="1"/>
        <c:txPr>
          <a:bodyPr rot="0" spcFirstLastPara="1" vertOverflow="ellipsis" vert="horz" wrap="square" anchor="ctr" anchorCtr="1"/>
          <a:lstStyle/>
          <a:p>
            <a:pPr>
              <a:defRPr sz="1197" b="0" i="0" u="none" strike="noStrike" kern="1200" baseline="0">
                <a:solidFill>
                  <a:schemeClr val="accent2"/>
                </a:solidFill>
                <a:latin typeface="+mn-lt"/>
                <a:ea typeface="+mn-ea"/>
                <a:cs typeface="+mn-cs"/>
              </a:defRPr>
            </a:pPr>
            <a:endParaRPr lang="en-US"/>
          </a:p>
        </c:txPr>
      </c:legendEntry>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0988675220378329"/>
          <c:y val="3.8946277338248479E-2"/>
          <c:w val="0.79676924846545572"/>
          <c:h val="0.96105372266175149"/>
        </c:manualLayout>
      </c:layout>
      <c:doughnutChart>
        <c:varyColors val="1"/>
        <c:ser>
          <c:idx val="0"/>
          <c:order val="0"/>
          <c:dPt>
            <c:idx val="0"/>
            <c:bubble3D val="0"/>
            <c:spPr>
              <a:solidFill>
                <a:schemeClr val="accent1"/>
              </a:solidFill>
              <a:ln w="19050">
                <a:solidFill>
                  <a:schemeClr val="lt1"/>
                </a:solidFill>
              </a:ln>
              <a:effectLst/>
            </c:spPr>
            <c:extLst>
              <c:ext xmlns:c16="http://schemas.microsoft.com/office/drawing/2014/chart" uri="{C3380CC4-5D6E-409C-BE32-E72D297353CC}">
                <c16:uniqueId val="{00000001-66C8-8A46-A597-6A15FE693387}"/>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66C8-8A46-A597-6A15FE693387}"/>
              </c:ext>
            </c:extLst>
          </c:dPt>
          <c:dPt>
            <c:idx val="2"/>
            <c:bubble3D val="0"/>
            <c:spPr>
              <a:solidFill>
                <a:schemeClr val="bg2">
                  <a:lumMod val="75000"/>
                </a:schemeClr>
              </a:solidFill>
              <a:ln w="19050">
                <a:solidFill>
                  <a:schemeClr val="lt1"/>
                </a:solidFill>
              </a:ln>
              <a:effectLst/>
            </c:spPr>
            <c:extLst>
              <c:ext xmlns:c16="http://schemas.microsoft.com/office/drawing/2014/chart" uri="{C3380CC4-5D6E-409C-BE32-E72D297353CC}">
                <c16:uniqueId val="{00000005-66C8-8A46-A597-6A15FE693387}"/>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66C8-8A46-A597-6A15FE693387}"/>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66C8-8A46-A597-6A15FE693387}"/>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B-66C8-8A46-A597-6A15FE693387}"/>
              </c:ext>
            </c:extLst>
          </c:dPt>
          <c:dPt>
            <c:idx val="6"/>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0D-66C8-8A46-A597-6A15FE693387}"/>
              </c:ext>
            </c:extLst>
          </c:dPt>
          <c:dPt>
            <c:idx val="7"/>
            <c:bubble3D val="0"/>
            <c:spPr>
              <a:solidFill>
                <a:schemeClr val="accent2">
                  <a:lumMod val="60000"/>
                </a:schemeClr>
              </a:solidFill>
              <a:ln w="19050">
                <a:solidFill>
                  <a:schemeClr val="lt1"/>
                </a:solidFill>
              </a:ln>
              <a:effectLst/>
            </c:spPr>
            <c:extLst>
              <c:ext xmlns:c16="http://schemas.microsoft.com/office/drawing/2014/chart" uri="{C3380CC4-5D6E-409C-BE32-E72D297353CC}">
                <c16:uniqueId val="{0000000F-66C8-8A46-A597-6A15FE693387}"/>
              </c:ext>
            </c:extLst>
          </c:dPt>
          <c:dPt>
            <c:idx val="8"/>
            <c:bubble3D val="0"/>
            <c:spPr>
              <a:solidFill>
                <a:schemeClr val="accent3">
                  <a:lumMod val="60000"/>
                </a:schemeClr>
              </a:solidFill>
              <a:ln w="19050">
                <a:solidFill>
                  <a:schemeClr val="lt1"/>
                </a:solidFill>
              </a:ln>
              <a:effectLst/>
            </c:spPr>
            <c:extLst>
              <c:ext xmlns:c16="http://schemas.microsoft.com/office/drawing/2014/chart" uri="{C3380CC4-5D6E-409C-BE32-E72D297353CC}">
                <c16:uniqueId val="{00000011-66C8-8A46-A597-6A15FE693387}"/>
              </c:ext>
            </c:extLst>
          </c:dPt>
          <c:dPt>
            <c:idx val="9"/>
            <c:bubble3D val="0"/>
            <c:spPr>
              <a:solidFill>
                <a:schemeClr val="accent4">
                  <a:lumMod val="60000"/>
                </a:schemeClr>
              </a:solidFill>
              <a:ln w="19050">
                <a:solidFill>
                  <a:schemeClr val="lt1"/>
                </a:solidFill>
              </a:ln>
              <a:effectLst/>
            </c:spPr>
            <c:extLst>
              <c:ext xmlns:c16="http://schemas.microsoft.com/office/drawing/2014/chart" uri="{C3380CC4-5D6E-409C-BE32-E72D297353CC}">
                <c16:uniqueId val="{00000013-66C8-8A46-A597-6A15FE693387}"/>
              </c:ext>
            </c:extLst>
          </c:dPt>
          <c:dLbls>
            <c:dLbl>
              <c:idx val="0"/>
              <c:layout>
                <c:manualLayout>
                  <c:x val="0.12707297283124985"/>
                  <c:y val="-0.10352200258545986"/>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1-66C8-8A46-A597-6A15FE693387}"/>
                </c:ext>
              </c:extLst>
            </c:dLbl>
            <c:dLbl>
              <c:idx val="1"/>
              <c:layout>
                <c:manualLayout>
                  <c:x val="0.13177937923240735"/>
                  <c:y val="-9.2991617208428259E-2"/>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3-66C8-8A46-A597-6A15FE693387}"/>
                </c:ext>
              </c:extLst>
            </c:dLbl>
            <c:dLbl>
              <c:idx val="2"/>
              <c:layout>
                <c:manualLayout>
                  <c:x val="-2.269136405924958E-2"/>
                  <c:y val="9.4085183982450124E-2"/>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Poppins SemiBold" pitchFamily="2" charset="77"/>
                      <a:ea typeface="+mn-ea"/>
                      <a:cs typeface="Poppins SemiBold" pitchFamily="2" charset="77"/>
                    </a:defRPr>
                  </a:pPr>
                  <a:endParaRPr lang="en-US"/>
                </a:p>
              </c:txPr>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5-66C8-8A46-A597-6A15FE693387}"/>
                </c:ext>
              </c:extLst>
            </c:dLbl>
            <c:dLbl>
              <c:idx val="3"/>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Poppins SemiBold" pitchFamily="2" charset="77"/>
                      <a:ea typeface="+mn-ea"/>
                      <a:cs typeface="Poppins SemiBold" pitchFamily="2" charset="77"/>
                    </a:defRPr>
                  </a:pPr>
                  <a:endParaRPr lang="en-US"/>
                </a:p>
              </c:txPr>
              <c:showLegendKey val="0"/>
              <c:showVal val="1"/>
              <c:showCatName val="1"/>
              <c:showSerName val="0"/>
              <c:showPercent val="0"/>
              <c:showBubbleSize val="0"/>
              <c:extLst>
                <c:ext xmlns:c16="http://schemas.microsoft.com/office/drawing/2014/chart" uri="{C3380CC4-5D6E-409C-BE32-E72D297353CC}">
                  <c16:uniqueId val="{00000007-66C8-8A46-A597-6A15FE693387}"/>
                </c:ext>
              </c:extLst>
            </c:dLbl>
            <c:dLbl>
              <c:idx val="4"/>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Poppins SemiBold" pitchFamily="2" charset="77"/>
                      <a:ea typeface="+mn-ea"/>
                      <a:cs typeface="Poppins SemiBold" pitchFamily="2" charset="77"/>
                    </a:defRPr>
                  </a:pPr>
                  <a:endParaRPr lang="en-US"/>
                </a:p>
              </c:txPr>
              <c:showLegendKey val="0"/>
              <c:showVal val="1"/>
              <c:showCatName val="1"/>
              <c:showSerName val="0"/>
              <c:showPercent val="0"/>
              <c:showBubbleSize val="0"/>
              <c:extLst>
                <c:ext xmlns:c16="http://schemas.microsoft.com/office/drawing/2014/chart" uri="{C3380CC4-5D6E-409C-BE32-E72D297353CC}">
                  <c16:uniqueId val="{00000009-66C8-8A46-A597-6A15FE693387}"/>
                </c:ext>
              </c:extLst>
            </c:dLbl>
            <c:dLbl>
              <c:idx val="5"/>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Poppins SemiBold" pitchFamily="2" charset="77"/>
                      <a:ea typeface="+mn-ea"/>
                      <a:cs typeface="Poppins SemiBold" pitchFamily="2" charset="77"/>
                    </a:defRPr>
                  </a:pPr>
                  <a:endParaRPr lang="en-US"/>
                </a:p>
              </c:txPr>
              <c:showLegendKey val="0"/>
              <c:showVal val="1"/>
              <c:showCatName val="1"/>
              <c:showSerName val="0"/>
              <c:showPercent val="0"/>
              <c:showBubbleSize val="0"/>
              <c:extLst>
                <c:ext xmlns:c16="http://schemas.microsoft.com/office/drawing/2014/chart" uri="{C3380CC4-5D6E-409C-BE32-E72D297353CC}">
                  <c16:uniqueId val="{0000000B-66C8-8A46-A597-6A15FE693387}"/>
                </c:ext>
              </c:extLst>
            </c:dLbl>
            <c:dLbl>
              <c:idx val="6"/>
              <c:layout>
                <c:manualLayout>
                  <c:x val="-3.6083869644401349E-2"/>
                  <c:y val="-1.360661397385764E-2"/>
                </c:manualLayout>
              </c:layout>
              <c:spPr>
                <a:noFill/>
                <a:ln>
                  <a:noFill/>
                </a:ln>
                <a:effectLst/>
              </c:spPr>
              <c:txPr>
                <a:bodyPr rot="1620000" spcFirstLastPara="1" vertOverflow="ellipsis" wrap="square" lIns="38100" tIns="19050" rIns="38100" bIns="19050" anchor="ctr" anchorCtr="1">
                  <a:spAutoFit/>
                </a:bodyPr>
                <a:lstStyle/>
                <a:p>
                  <a:pPr>
                    <a:defRPr sz="1000" b="1" i="0" u="none" strike="noStrike" kern="1200" baseline="0">
                      <a:solidFill>
                        <a:schemeClr val="bg1"/>
                      </a:solidFill>
                      <a:latin typeface="Poppins SemiBold" pitchFamily="2" charset="77"/>
                      <a:ea typeface="+mn-ea"/>
                      <a:cs typeface="Poppins SemiBold" pitchFamily="2" charset="77"/>
                    </a:defRPr>
                  </a:pPr>
                  <a:endParaRPr lang="en-US"/>
                </a:p>
              </c:txPr>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D-66C8-8A46-A597-6A15FE693387}"/>
                </c:ext>
              </c:extLst>
            </c:dLbl>
            <c:dLbl>
              <c:idx val="7"/>
              <c:layout>
                <c:manualLayout>
                  <c:x val="-1.8099004632104475E-2"/>
                  <c:y val="-4.3828889566596828E-2"/>
                </c:manualLayout>
              </c:layout>
              <c:tx>
                <c:rich>
                  <a:bodyPr rot="0" spcFirstLastPara="1" vertOverflow="ellipsis" vert="horz" wrap="square" lIns="38100" tIns="19050" rIns="38100" bIns="19050" anchor="ctr" anchorCtr="1">
                    <a:noAutofit/>
                  </a:bodyPr>
                  <a:lstStyle/>
                  <a:p>
                    <a:pPr>
                      <a:defRPr sz="1000" b="1" i="0" u="none" strike="noStrike" kern="1200" baseline="0">
                        <a:solidFill>
                          <a:schemeClr val="bg1"/>
                        </a:solidFill>
                        <a:latin typeface="Poppins SemiBold" pitchFamily="2" charset="77"/>
                        <a:ea typeface="+mn-ea"/>
                        <a:cs typeface="Poppins SemiBold" pitchFamily="2" charset="77"/>
                      </a:defRPr>
                    </a:pPr>
                    <a:fld id="{FD44BA94-EA80-48CC-8BF7-B97A12B7E9EC}" type="CATEGORYNAME">
                      <a:rPr lang="en-US" smtClean="0">
                        <a:solidFill>
                          <a:schemeClr val="bg1"/>
                        </a:solidFill>
                      </a:rPr>
                      <a:pPr>
                        <a:defRPr sz="1000" b="1">
                          <a:solidFill>
                            <a:schemeClr val="bg1"/>
                          </a:solidFill>
                          <a:latin typeface="Poppins SemiBold" pitchFamily="2" charset="77"/>
                          <a:cs typeface="Poppins SemiBold" pitchFamily="2" charset="77"/>
                        </a:defRPr>
                      </a:pPr>
                      <a:t>[CATEGORY NAME]</a:t>
                    </a:fld>
                    <a:endParaRPr lang="en-US" baseline="0">
                      <a:solidFill>
                        <a:schemeClr val="bg1"/>
                      </a:solidFill>
                    </a:endParaRPr>
                  </a:p>
                  <a:p>
                    <a:pPr>
                      <a:defRPr sz="1000" b="1">
                        <a:solidFill>
                          <a:schemeClr val="bg1"/>
                        </a:solidFill>
                        <a:latin typeface="Poppins SemiBold" pitchFamily="2" charset="77"/>
                        <a:cs typeface="Poppins SemiBold" pitchFamily="2" charset="77"/>
                      </a:defRPr>
                    </a:pPr>
                    <a:fld id="{02DDC5ED-2583-47DF-AF7F-E24C79880F4B}" type="VALUE">
                      <a:rPr lang="en-US" baseline="0" smtClean="0">
                        <a:solidFill>
                          <a:schemeClr val="bg1"/>
                        </a:solidFill>
                      </a:rPr>
                      <a:pPr>
                        <a:defRPr sz="1000" b="1">
                          <a:solidFill>
                            <a:schemeClr val="bg1"/>
                          </a:solidFill>
                          <a:latin typeface="Poppins SemiBold" pitchFamily="2" charset="77"/>
                          <a:cs typeface="Poppins SemiBold" pitchFamily="2" charset="77"/>
                        </a:defRPr>
                      </a:pPr>
                      <a:t>[VALUE]</a:t>
                    </a:fld>
                    <a:endParaRPr lang="en-US"/>
                  </a:p>
                </c:rich>
              </c:tx>
              <c:spPr>
                <a:noFill/>
                <a:ln>
                  <a:noFill/>
                </a:ln>
                <a:effectLst/>
              </c:spPr>
              <c:txPr>
                <a:bodyPr rot="0" spcFirstLastPara="1" vertOverflow="ellipsis" vert="horz" wrap="square" lIns="38100" tIns="19050" rIns="38100" bIns="19050" anchor="ctr" anchorCtr="1">
                  <a:noAutofit/>
                </a:bodyPr>
                <a:lstStyle/>
                <a:p>
                  <a:pPr>
                    <a:defRPr sz="1000" b="1" i="0" u="none" strike="noStrike" kern="1200" baseline="0">
                      <a:solidFill>
                        <a:schemeClr val="bg1"/>
                      </a:solidFill>
                      <a:latin typeface="Poppins SemiBold" pitchFamily="2" charset="77"/>
                      <a:ea typeface="+mn-ea"/>
                      <a:cs typeface="Poppins SemiBold" pitchFamily="2" charset="77"/>
                    </a:defRPr>
                  </a:pPr>
                  <a:endParaRPr lang="en-US"/>
                </a:p>
              </c:txPr>
              <c:showLegendKey val="0"/>
              <c:showVal val="1"/>
              <c:showCatName val="1"/>
              <c:showSerName val="0"/>
              <c:showPercent val="0"/>
              <c:showBubbleSize val="0"/>
              <c:extLst>
                <c:ext xmlns:c15="http://schemas.microsoft.com/office/drawing/2012/chart" uri="{CE6537A1-D6FC-4f65-9D91-7224C49458BB}">
                  <c15:layout>
                    <c:manualLayout>
                      <c:w val="6.793697640070713E-2"/>
                      <c:h val="0.1046155693594818"/>
                    </c:manualLayout>
                  </c15:layout>
                  <c15:dlblFieldTable/>
                  <c15:showDataLabelsRange val="0"/>
                </c:ext>
                <c:ext xmlns:c16="http://schemas.microsoft.com/office/drawing/2014/chart" uri="{C3380CC4-5D6E-409C-BE32-E72D297353CC}">
                  <c16:uniqueId val="{0000000F-66C8-8A46-A597-6A15FE693387}"/>
                </c:ext>
              </c:extLst>
            </c:dLbl>
            <c:dLbl>
              <c:idx val="8"/>
              <c:layout>
                <c:manualLayout>
                  <c:x val="-9.3232428474203433E-2"/>
                  <c:y val="-0.12000019037653917"/>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11-66C8-8A46-A597-6A15FE693387}"/>
                </c:ext>
              </c:extLst>
            </c:dLbl>
            <c:dLbl>
              <c:idx val="9"/>
              <c:layout>
                <c:manualLayout>
                  <c:x val="2.437714695049871E-2"/>
                  <c:y val="-0.14211919841225967"/>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13-66C8-8A46-A597-6A15FE693387}"/>
                </c:ext>
              </c:extLst>
            </c:dLbl>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solidFill>
                    <a:latin typeface="Poppins SemiBold" pitchFamily="2" charset="77"/>
                    <a:ea typeface="+mn-ea"/>
                    <a:cs typeface="Poppins SemiBold" pitchFamily="2" charset="77"/>
                  </a:defRPr>
                </a:pPr>
                <a:endParaRPr lang="en-US"/>
              </a:p>
            </c:txPr>
            <c:showLegendKey val="0"/>
            <c:showVal val="1"/>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'Media Mix Chart'!$B$4:$B$13</c:f>
              <c:strCache>
                <c:ptCount val="10"/>
                <c:pt idx="0">
                  <c:v>TV</c:v>
                </c:pt>
                <c:pt idx="1">
                  <c:v>CTV</c:v>
                </c:pt>
                <c:pt idx="2">
                  <c:v>MVPDs</c:v>
                </c:pt>
                <c:pt idx="3">
                  <c:v>Audio</c:v>
                </c:pt>
                <c:pt idx="4">
                  <c:v>Programmatic</c:v>
                </c:pt>
                <c:pt idx="5">
                  <c:v>Social</c:v>
                </c:pt>
                <c:pt idx="6">
                  <c:v>Digital</c:v>
                </c:pt>
                <c:pt idx="7">
                  <c:v>OOH </c:v>
                </c:pt>
                <c:pt idx="8">
                  <c:v>Search</c:v>
                </c:pt>
                <c:pt idx="9">
                  <c:v>Opportunitstic Fund</c:v>
                </c:pt>
              </c:strCache>
            </c:strRef>
          </c:cat>
          <c:val>
            <c:numRef>
              <c:f>'Media Mix Chart'!$D$4:$D$13</c:f>
              <c:numCache>
                <c:formatCode>0%</c:formatCode>
                <c:ptCount val="10"/>
                <c:pt idx="0">
                  <c:v>0.125</c:v>
                </c:pt>
                <c:pt idx="1">
                  <c:v>6.8750000000000006E-2</c:v>
                </c:pt>
                <c:pt idx="2">
                  <c:v>0.20958333333333334</c:v>
                </c:pt>
                <c:pt idx="3">
                  <c:v>2.0833333333333332E-2</c:v>
                </c:pt>
                <c:pt idx="4">
                  <c:v>0.20916666666666667</c:v>
                </c:pt>
                <c:pt idx="5">
                  <c:v>0.15</c:v>
                </c:pt>
                <c:pt idx="6">
                  <c:v>8.3333333333333329E-2</c:v>
                </c:pt>
                <c:pt idx="7">
                  <c:v>6.25E-2</c:v>
                </c:pt>
                <c:pt idx="8">
                  <c:v>2.9166666666666667E-2</c:v>
                </c:pt>
                <c:pt idx="9">
                  <c:v>4.1666666666666664E-2</c:v>
                </c:pt>
              </c:numCache>
            </c:numRef>
          </c:val>
          <c:extLst>
            <c:ext xmlns:c16="http://schemas.microsoft.com/office/drawing/2014/chart" uri="{C3380CC4-5D6E-409C-BE32-E72D297353CC}">
              <c16:uniqueId val="{00000014-66C8-8A46-A597-6A15FE693387}"/>
            </c:ext>
          </c:extLst>
        </c:ser>
        <c:dLbls>
          <c:showLegendKey val="0"/>
          <c:showVal val="1"/>
          <c:showCatName val="0"/>
          <c:showSerName val="0"/>
          <c:showPercent val="0"/>
          <c:showBubbleSize val="0"/>
          <c:showLeaderLines val="1"/>
        </c:dLbls>
        <c:firstSliceAng val="0"/>
        <c:holeSize val="5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0.35815</cdr:x>
      <cdr:y>0.7772</cdr:y>
    </cdr:from>
    <cdr:to>
      <cdr:x>0.54317</cdr:x>
      <cdr:y>1</cdr:y>
    </cdr:to>
    <cdr:sp macro="" textlink="">
      <cdr:nvSpPr>
        <cdr:cNvPr id="2" name="TextBox 1">
          <a:extLst xmlns:a="http://schemas.openxmlformats.org/drawingml/2006/main">
            <a:ext uri="{FF2B5EF4-FFF2-40B4-BE49-F238E27FC236}">
              <a16:creationId xmlns:a16="http://schemas.microsoft.com/office/drawing/2014/main" id="{225E72F1-32D8-6589-B1CE-6AE49318D3F3}"/>
            </a:ext>
          </a:extLst>
        </cdr:cNvPr>
        <cdr:cNvSpPr txBox="1"/>
      </cdr:nvSpPr>
      <cdr:spPr>
        <a:xfrm xmlns:a="http://schemas.openxmlformats.org/drawingml/2006/main">
          <a:off x="1769993" y="3189768"/>
          <a:ext cx="914400" cy="9144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1100" kern="1200" dirty="0"/>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217712-D1C1-9043-A8A5-33738E201C1C}" type="datetimeFigureOut">
              <a:rPr lang="en-US" smtClean="0"/>
              <a:t>7/26/2026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F65DFE-2416-5948-B26E-1F80DB22C186}" type="slidenum">
              <a:rPr lang="en-US" smtClean="0"/>
              <a:t>‹#›</a:t>
            </a:fld>
            <a:endParaRPr lang="en-US"/>
          </a:p>
        </p:txBody>
      </p:sp>
    </p:spTree>
    <p:extLst>
      <p:ext uri="{BB962C8B-B14F-4D97-AF65-F5344CB8AC3E}">
        <p14:creationId xmlns:p14="http://schemas.microsoft.com/office/powerpoint/2010/main" val="2619898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59E9388-1C4D-4265-9FCE-9CDA698DEC9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467185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533EE-DFCB-A1F2-0055-1C81A42306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0745AF-1074-1335-B939-0CF3307A63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8AAAAA-C8C5-2ABF-A3C1-109A65A45D7A}"/>
              </a:ext>
            </a:extLst>
          </p:cNvPr>
          <p:cNvSpPr>
            <a:spLocks noGrp="1"/>
          </p:cNvSpPr>
          <p:nvPr>
            <p:ph type="body" idx="1"/>
          </p:nvPr>
        </p:nvSpPr>
        <p:spPr/>
        <p:txBody>
          <a:bodyPr/>
          <a:lstStyle/>
          <a:p>
            <a:r>
              <a:rPr lang="en-US" dirty="0"/>
              <a:t>And here’s a bit more on why we don’t do just high LOE tests</a:t>
            </a:r>
          </a:p>
          <a:p>
            <a:endParaRPr lang="en-US" dirty="0"/>
          </a:p>
          <a:p>
            <a:r>
              <a:rPr lang="en-US" dirty="0"/>
              <a:t>Because these kinds of tests are often more time consuming, we can run fewer of them … I know you know that … </a:t>
            </a:r>
          </a:p>
          <a:p>
            <a:endParaRPr lang="en-US" dirty="0"/>
          </a:p>
          <a:p>
            <a:r>
              <a:rPr lang="en-US" dirty="0"/>
              <a:t>But lack of tests has multiple downsides: </a:t>
            </a:r>
          </a:p>
          <a:p>
            <a:pPr marL="228600" indent="-228600">
              <a:buAutoNum type="arabicPeriod"/>
            </a:pPr>
            <a:r>
              <a:rPr lang="en-US" dirty="0"/>
              <a:t>It prevents a wholistic approach as we can only optimize in a few locations </a:t>
            </a:r>
          </a:p>
          <a:p>
            <a:pPr marL="228600" indent="-228600">
              <a:buAutoNum type="arabicPeriod"/>
            </a:pPr>
            <a:r>
              <a:rPr lang="en-US" dirty="0"/>
              <a:t>It creates ROI risk as a few bad tests in a row can ruin program metrics for the whole year</a:t>
            </a:r>
          </a:p>
          <a:p>
            <a:pPr marL="228600" indent="-228600">
              <a:buAutoNum type="arabicPeriod"/>
            </a:pPr>
            <a:r>
              <a:rPr lang="en-US" dirty="0"/>
              <a:t>It can even reduce impact potential </a:t>
            </a:r>
          </a:p>
          <a:p>
            <a:pPr marL="685800" lvl="1" indent="-228600">
              <a:buAutoNum type="arabicPeriod"/>
            </a:pPr>
            <a:r>
              <a:rPr lang="en-US" dirty="0"/>
              <a:t>While these large tests are individually higher lift most of the time, small and medium tests can make up for those deltas in the aggregate</a:t>
            </a:r>
          </a:p>
          <a:p>
            <a:pPr marL="685800" lvl="1" indent="-228600">
              <a:buAutoNum type="arabicPeriod"/>
            </a:pPr>
            <a:r>
              <a:rPr lang="en-US" dirty="0"/>
              <a:t>Big bets are often used to create new optimization paths – adding a substantially new element to the site – for us to then play with a bunch of small to medium changes that are also important </a:t>
            </a:r>
          </a:p>
          <a:p>
            <a:pPr marL="685800" lvl="1" indent="-228600">
              <a:buAutoNum type="arabicPeriod"/>
            </a:pPr>
            <a:endParaRPr lang="en-US" dirty="0"/>
          </a:p>
          <a:p>
            <a:pPr marL="0" lvl="0" indent="0">
              <a:buNone/>
            </a:pPr>
            <a:r>
              <a:rPr lang="en-US" dirty="0"/>
              <a:t>Now, I know you said this risk might not be unappealing to you .. That you might be comfortable with failing – and I guess my question to you is what kind of failures are you comfortable with? Are there program metrics we have to maintain? If yes, what levels do they have to be maintained?</a:t>
            </a:r>
          </a:p>
        </p:txBody>
      </p:sp>
      <p:sp>
        <p:nvSpPr>
          <p:cNvPr id="4" name="Slide Number Placeholder 3">
            <a:extLst>
              <a:ext uri="{FF2B5EF4-FFF2-40B4-BE49-F238E27FC236}">
                <a16:creationId xmlns:a16="http://schemas.microsoft.com/office/drawing/2014/main" id="{C62C196D-648A-DC49-A879-216B0207D1BC}"/>
              </a:ext>
            </a:extLst>
          </p:cNvPr>
          <p:cNvSpPr>
            <a:spLocks noGrp="1"/>
          </p:cNvSpPr>
          <p:nvPr>
            <p:ph type="sldNum" sz="quarter" idx="5"/>
          </p:nvPr>
        </p:nvSpPr>
        <p:spPr/>
        <p:txBody>
          <a:bodyPr/>
          <a:lstStyle/>
          <a:p>
            <a:fld id="{2403153F-EED8-4EF8-8765-69AE335376AF}" type="slidenum">
              <a:rPr lang="en-US" smtClean="0"/>
              <a:t>4</a:t>
            </a:fld>
            <a:endParaRPr lang="en-US"/>
          </a:p>
        </p:txBody>
      </p:sp>
    </p:spTree>
    <p:extLst>
      <p:ext uri="{BB962C8B-B14F-4D97-AF65-F5344CB8AC3E}">
        <p14:creationId xmlns:p14="http://schemas.microsoft.com/office/powerpoint/2010/main" val="10536111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9F65DFE-2416-5948-B26E-1F80DB22C186}" type="slidenum">
              <a:rPr lang="en-US" smtClean="0"/>
              <a:t>8</a:t>
            </a:fld>
            <a:endParaRPr lang="en-US"/>
          </a:p>
        </p:txBody>
      </p:sp>
    </p:spTree>
    <p:extLst>
      <p:ext uri="{BB962C8B-B14F-4D97-AF65-F5344CB8AC3E}">
        <p14:creationId xmlns:p14="http://schemas.microsoft.com/office/powerpoint/2010/main" val="31443380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A881B77-EAA7-4FAB-B3FE-B3C2FC90C318}" type="slidenum">
              <a:rPr lang="en-US" smtClean="0"/>
              <a:t>9</a:t>
            </a:fld>
            <a:endParaRPr lang="en-US"/>
          </a:p>
        </p:txBody>
      </p:sp>
    </p:spTree>
    <p:extLst>
      <p:ext uri="{BB962C8B-B14F-4D97-AF65-F5344CB8AC3E}">
        <p14:creationId xmlns:p14="http://schemas.microsoft.com/office/powerpoint/2010/main" val="34977632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F9A1D0-098A-7B07-4E2A-FAD9D31866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6D0E68-18EA-BB3B-9578-C3050292DC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67102A-4283-DEF3-5DFC-E87AC3360DF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24ADC53-DBE6-1287-EAE7-049AD36AD62A}"/>
              </a:ext>
            </a:extLst>
          </p:cNvPr>
          <p:cNvSpPr>
            <a:spLocks noGrp="1"/>
          </p:cNvSpPr>
          <p:nvPr>
            <p:ph type="sldNum" sz="quarter" idx="5"/>
          </p:nvPr>
        </p:nvSpPr>
        <p:spPr/>
        <p:txBody>
          <a:bodyPr/>
          <a:lstStyle/>
          <a:p>
            <a:fld id="{6A881B77-EAA7-4FAB-B3FE-B3C2FC90C318}" type="slidenum">
              <a:rPr lang="en-US" smtClean="0"/>
              <a:t>10</a:t>
            </a:fld>
            <a:endParaRPr lang="en-US"/>
          </a:p>
        </p:txBody>
      </p:sp>
    </p:spTree>
    <p:extLst>
      <p:ext uri="{BB962C8B-B14F-4D97-AF65-F5344CB8AC3E}">
        <p14:creationId xmlns:p14="http://schemas.microsoft.com/office/powerpoint/2010/main" val="22131603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AE548-3D0D-D15B-DC0D-DF15B21415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B679D1-F399-BC8C-4F04-56822F8C20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DD9A2C-71E6-DF6D-1A0B-437B249BCD52}"/>
              </a:ext>
            </a:extLst>
          </p:cNvPr>
          <p:cNvSpPr>
            <a:spLocks noGrp="1"/>
          </p:cNvSpPr>
          <p:nvPr>
            <p:ph type="body" idx="1"/>
          </p:nvPr>
        </p:nvSpPr>
        <p:spPr/>
        <p:txBody>
          <a:bodyPr/>
          <a:lstStyle/>
          <a:p>
            <a:r>
              <a:rPr lang="en-US"/>
              <a:t>Andrew</a:t>
            </a:r>
          </a:p>
        </p:txBody>
      </p:sp>
      <p:sp>
        <p:nvSpPr>
          <p:cNvPr id="4" name="Slide Number Placeholder 3">
            <a:extLst>
              <a:ext uri="{FF2B5EF4-FFF2-40B4-BE49-F238E27FC236}">
                <a16:creationId xmlns:a16="http://schemas.microsoft.com/office/drawing/2014/main" id="{6DF47592-AAD2-DF47-8A13-88B3EB0CC7C8}"/>
              </a:ext>
            </a:extLst>
          </p:cNvPr>
          <p:cNvSpPr>
            <a:spLocks noGrp="1"/>
          </p:cNvSpPr>
          <p:nvPr>
            <p:ph type="sldNum" sz="quarter" idx="5"/>
          </p:nvPr>
        </p:nvSpPr>
        <p:spPr/>
        <p:txBody>
          <a:bodyPr/>
          <a:lstStyle/>
          <a:p>
            <a:pPr marL="0" marR="0" lvl="0" indent="0" algn="r" defTabSz="932309" rtl="0" eaLnBrk="1" fontAlgn="auto" latinLnBrk="0" hangingPunct="1">
              <a:lnSpc>
                <a:spcPct val="100000"/>
              </a:lnSpc>
              <a:spcBef>
                <a:spcPts val="0"/>
              </a:spcBef>
              <a:spcAft>
                <a:spcPts val="0"/>
              </a:spcAft>
              <a:buClrTx/>
              <a:buSzTx/>
              <a:buFontTx/>
              <a:buNone/>
              <a:tabLst/>
              <a:defRPr/>
            </a:pPr>
            <a:fld id="{26095562-CE4F-284A-A189-43C7B1EC1394}"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32309"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482333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103E3-6FB4-DB97-0E66-3FC4DCAE89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313F30-79C5-B29F-7C97-7E837A1D10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855FF8-D669-DC7C-9638-C216C3C40870}"/>
              </a:ext>
            </a:extLst>
          </p:cNvPr>
          <p:cNvSpPr>
            <a:spLocks noGrp="1"/>
          </p:cNvSpPr>
          <p:nvPr>
            <p:ph type="body" idx="1"/>
          </p:nvPr>
        </p:nvSpPr>
        <p:spPr/>
        <p:txBody>
          <a:bodyPr/>
          <a:lstStyle/>
          <a:p>
            <a:r>
              <a:rPr lang="en-US"/>
              <a:t>Andrew</a:t>
            </a:r>
          </a:p>
        </p:txBody>
      </p:sp>
    </p:spTree>
    <p:extLst>
      <p:ext uri="{BB962C8B-B14F-4D97-AF65-F5344CB8AC3E}">
        <p14:creationId xmlns:p14="http://schemas.microsoft.com/office/powerpoint/2010/main" val="40475578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B0A936-AB81-189A-5330-4BFF382FCC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7AD54C-74B3-9850-059D-777F9FE07C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74FB13-8C01-E659-77C4-717409123C4F}"/>
              </a:ext>
            </a:extLst>
          </p:cNvPr>
          <p:cNvSpPr>
            <a:spLocks noGrp="1"/>
          </p:cNvSpPr>
          <p:nvPr>
            <p:ph type="body" idx="1"/>
          </p:nvPr>
        </p:nvSpPr>
        <p:spPr/>
        <p:txBody>
          <a:bodyPr/>
          <a:lstStyle/>
          <a:p>
            <a:r>
              <a:rPr lang="en-US"/>
              <a:t>Andrew</a:t>
            </a:r>
          </a:p>
        </p:txBody>
      </p:sp>
    </p:spTree>
    <p:extLst>
      <p:ext uri="{BB962C8B-B14F-4D97-AF65-F5344CB8AC3E}">
        <p14:creationId xmlns:p14="http://schemas.microsoft.com/office/powerpoint/2010/main" val="15599283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513A4E-B8CC-E6C1-ADC2-FC641DB3EB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76A8B4-A54E-A8CF-2D33-0C35778DEF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C51529-33D0-58AF-21B7-180F6730F3DC}"/>
              </a:ext>
            </a:extLst>
          </p:cNvPr>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b="1"/>
              <a:t>Andrew</a:t>
            </a:r>
          </a:p>
          <a:p>
            <a:endParaRPr lang="en-US"/>
          </a:p>
        </p:txBody>
      </p:sp>
      <p:sp>
        <p:nvSpPr>
          <p:cNvPr id="4" name="Slide Number Placeholder 3">
            <a:extLst>
              <a:ext uri="{FF2B5EF4-FFF2-40B4-BE49-F238E27FC236}">
                <a16:creationId xmlns:a16="http://schemas.microsoft.com/office/drawing/2014/main" id="{558FD8DE-7C38-921F-8B4B-30BFC873FC0D}"/>
              </a:ext>
            </a:extLst>
          </p:cNvPr>
          <p:cNvSpPr>
            <a:spLocks noGrp="1"/>
          </p:cNvSpPr>
          <p:nvPr>
            <p:ph type="sldNum" sz="quarter" idx="5"/>
          </p:nvPr>
        </p:nvSpPr>
        <p:spPr/>
        <p:txBody>
          <a:bodyPr/>
          <a:lstStyle/>
          <a:p>
            <a:fld id="{79E8C9DC-3570-B044-85FD-E1991A5346D2}" type="slidenum">
              <a:rPr lang="en-US" smtClean="0"/>
              <a:t>20</a:t>
            </a:fld>
            <a:endParaRPr lang="en-US"/>
          </a:p>
        </p:txBody>
      </p:sp>
    </p:spTree>
    <p:extLst>
      <p:ext uri="{BB962C8B-B14F-4D97-AF65-F5344CB8AC3E}">
        <p14:creationId xmlns:p14="http://schemas.microsoft.com/office/powerpoint/2010/main" val="22004321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cs typeface="Calibri"/>
            </a:endParaRP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CF02EC4-63E2-445A-AF56-AEA5416DE1A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148284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rgbClr val="242424"/>
                </a:solidFill>
                <a:latin typeface="Segoe UI" panose="020B0502040204020203" pitchFamily="34" charset="0"/>
              </a:rPr>
              <a:t>Speaker: A.J. </a:t>
            </a:r>
            <a:endParaRPr lang="en-US"/>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5A7FA3-66D2-2646-AAB9-869944834C9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056577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cs typeface="Calibri"/>
            </a:endParaRP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CF02EC4-63E2-445A-AF56-AEA5416DE1A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78955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cs typeface="Calibri"/>
            </a:endParaRP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CF02EC4-63E2-445A-AF56-AEA5416DE1A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169220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cs typeface="Calibri"/>
            </a:endParaRP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CF02EC4-63E2-445A-AF56-AEA5416DE1A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320975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cs typeface="Calibri"/>
            </a:endParaRP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CF02EC4-63E2-445A-AF56-AEA5416DE1A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230101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cs typeface="Calibri"/>
            </a:endParaRP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CF02EC4-63E2-445A-AF56-AEA5416DE1A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991352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cs typeface="Calibri"/>
            </a:endParaRP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CF02EC4-63E2-445A-AF56-AEA5416DE1A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949160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cs typeface="Calibri"/>
            </a:endParaRP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CF02EC4-63E2-445A-AF56-AEA5416DE1A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8001120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cs typeface="Calibri"/>
            </a:endParaRP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CF02EC4-63E2-445A-AF56-AEA5416DE1A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159542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51DE55-1D6E-EB6A-9668-D09D8376C5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3D8121-9B31-B2AE-B254-EB125B571B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3C925F-F859-5845-36F1-D1E177FDC9D3}"/>
              </a:ext>
            </a:extLst>
          </p:cNvPr>
          <p:cNvSpPr>
            <a:spLocks noGrp="1"/>
          </p:cNvSpPr>
          <p:nvPr>
            <p:ph type="body" idx="1"/>
          </p:nvPr>
        </p:nvSpPr>
        <p:spPr/>
        <p:txBody>
          <a:bodyPr/>
          <a:lstStyle/>
          <a:p>
            <a:endParaRPr lang="en-US">
              <a:cs typeface="Calibri"/>
            </a:endParaRPr>
          </a:p>
        </p:txBody>
      </p:sp>
      <p:sp>
        <p:nvSpPr>
          <p:cNvPr id="4" name="Slide Number Placeholder 3">
            <a:extLst>
              <a:ext uri="{FF2B5EF4-FFF2-40B4-BE49-F238E27FC236}">
                <a16:creationId xmlns:a16="http://schemas.microsoft.com/office/drawing/2014/main" id="{1DF7344C-9C42-616C-6037-B963B7CA83C4}"/>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CF02EC4-63E2-445A-AF56-AEA5416DE1A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6329656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39E90-5A2A-1F0C-25AC-C57B004B93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C46285-0F57-9435-2279-06B3450BF6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AC758E-4B1B-83ED-9D17-651BFDBC1514}"/>
              </a:ext>
            </a:extLst>
          </p:cNvPr>
          <p:cNvSpPr>
            <a:spLocks noGrp="1"/>
          </p:cNvSpPr>
          <p:nvPr>
            <p:ph type="body" idx="1"/>
          </p:nvPr>
        </p:nvSpPr>
        <p:spPr/>
        <p:txBody>
          <a:bodyPr/>
          <a:lstStyle/>
          <a:p>
            <a:endParaRPr lang="en-US">
              <a:cs typeface="Calibri"/>
            </a:endParaRPr>
          </a:p>
        </p:txBody>
      </p:sp>
      <p:sp>
        <p:nvSpPr>
          <p:cNvPr id="4" name="Slide Number Placeholder 3">
            <a:extLst>
              <a:ext uri="{FF2B5EF4-FFF2-40B4-BE49-F238E27FC236}">
                <a16:creationId xmlns:a16="http://schemas.microsoft.com/office/drawing/2014/main" id="{AC47F080-81D8-6C3B-3353-9AC5EF0562C8}"/>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CF02EC4-63E2-445A-AF56-AEA5416DE1A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9628365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cs typeface="Calibri"/>
            </a:endParaRP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CF02EC4-63E2-445A-AF56-AEA5416DE1A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1482849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When you think of data, you might think of something like this … or even worse, this</a:t>
            </a:r>
          </a:p>
          <a:p>
            <a:endParaRPr lang="en-US">
              <a:cs typeface="Calibri"/>
            </a:endParaRPr>
          </a:p>
          <a:p>
            <a:r>
              <a:rPr lang="en-US">
                <a:cs typeface="Calibri"/>
              </a:rPr>
              <a:t>But the way CRO does data avoids confusion. Its purpose is founded in process and intended to contribute to specific goals </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CF02EC4-63E2-445A-AF56-AEA5416DE1A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8764324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65B9A-C6A0-7AC0-B8A3-9D2041AD11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9D599F-F3C7-D579-D351-8E1ED83AB9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944DE2-1D9A-89F0-29B0-F0493D17CADF}"/>
              </a:ext>
            </a:extLst>
          </p:cNvPr>
          <p:cNvSpPr>
            <a:spLocks noGrp="1"/>
          </p:cNvSpPr>
          <p:nvPr>
            <p:ph type="body" idx="1"/>
          </p:nvPr>
        </p:nvSpPr>
        <p:spPr/>
        <p:txBody>
          <a:bodyPr/>
          <a:lstStyle/>
          <a:p>
            <a:r>
              <a:rPr lang="en-US">
                <a:cs typeface="Calibri"/>
              </a:rPr>
              <a:t>In planning, data is used for opportunity identification and validation of impactfulness</a:t>
            </a:r>
          </a:p>
        </p:txBody>
      </p:sp>
      <p:sp>
        <p:nvSpPr>
          <p:cNvPr id="4" name="Slide Number Placeholder 3">
            <a:extLst>
              <a:ext uri="{FF2B5EF4-FFF2-40B4-BE49-F238E27FC236}">
                <a16:creationId xmlns:a16="http://schemas.microsoft.com/office/drawing/2014/main" id="{CFA42F32-1310-EF69-B957-9C9DF0582CAE}"/>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CF02EC4-63E2-445A-AF56-AEA5416DE1A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2643057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041003-DC47-10F0-70C0-10E6FF584A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4EA2C4-8453-037C-393C-EC4734064A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5A6E58-132C-B07C-36F2-44C0F7966536}"/>
              </a:ext>
            </a:extLst>
          </p:cNvPr>
          <p:cNvSpPr>
            <a:spLocks noGrp="1"/>
          </p:cNvSpPr>
          <p:nvPr>
            <p:ph type="body" idx="1"/>
          </p:nvPr>
        </p:nvSpPr>
        <p:spPr/>
        <p:txBody>
          <a:bodyPr/>
          <a:lstStyle/>
          <a:p>
            <a:r>
              <a:rPr lang="en-US">
                <a:cs typeface="Calibri"/>
              </a:rPr>
              <a:t>In design, data informs desirable elements, link destinations, product priorities, and more!</a:t>
            </a:r>
          </a:p>
        </p:txBody>
      </p:sp>
      <p:sp>
        <p:nvSpPr>
          <p:cNvPr id="4" name="Slide Number Placeholder 3">
            <a:extLst>
              <a:ext uri="{FF2B5EF4-FFF2-40B4-BE49-F238E27FC236}">
                <a16:creationId xmlns:a16="http://schemas.microsoft.com/office/drawing/2014/main" id="{E311BB7A-9594-5E58-6E1E-90C6150988B7}"/>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CF02EC4-63E2-445A-AF56-AEA5416DE1A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1290900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826E08-94B3-E521-7E8A-71E12D7385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00DAD7-437B-05DE-A19B-2914C01121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2CFF91-7CE7-9530-09D0-A2B368299A5B}"/>
              </a:ext>
            </a:extLst>
          </p:cNvPr>
          <p:cNvSpPr>
            <a:spLocks noGrp="1"/>
          </p:cNvSpPr>
          <p:nvPr>
            <p:ph type="body" idx="1"/>
          </p:nvPr>
        </p:nvSpPr>
        <p:spPr/>
        <p:txBody>
          <a:bodyPr/>
          <a:lstStyle/>
          <a:p>
            <a:r>
              <a:rPr lang="en-US">
                <a:cs typeface="Calibri"/>
              </a:rPr>
              <a:t>And lastly, learnings are derived entirely from data, which helps us decide whether or not to maintain a tested experience on the site and informs future concepts, expanded implementations, and strategic decisions</a:t>
            </a:r>
          </a:p>
        </p:txBody>
      </p:sp>
      <p:sp>
        <p:nvSpPr>
          <p:cNvPr id="4" name="Slide Number Placeholder 3">
            <a:extLst>
              <a:ext uri="{FF2B5EF4-FFF2-40B4-BE49-F238E27FC236}">
                <a16:creationId xmlns:a16="http://schemas.microsoft.com/office/drawing/2014/main" id="{5285416C-0285-019B-F3B7-37BF152AAE2D}"/>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CF02EC4-63E2-445A-AF56-AEA5416DE1A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5181505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cs typeface="Calibri"/>
            </a:endParaRP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CF02EC4-63E2-445A-AF56-AEA5416DE1A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3613093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E16511-F71C-DD70-005B-F5B2CC8B16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3E320C-795C-5094-9433-CE0CFB2763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C25EE7-689D-2442-DFF0-7A2594068346}"/>
              </a:ext>
            </a:extLst>
          </p:cNvPr>
          <p:cNvSpPr>
            <a:spLocks noGrp="1"/>
          </p:cNvSpPr>
          <p:nvPr>
            <p:ph type="body" idx="1"/>
          </p:nvPr>
        </p:nvSpPr>
        <p:spPr/>
        <p:txBody>
          <a:bodyPr/>
          <a:lstStyle/>
          <a:p>
            <a:endParaRPr lang="en-US">
              <a:cs typeface="Calibri"/>
            </a:endParaRPr>
          </a:p>
        </p:txBody>
      </p:sp>
      <p:sp>
        <p:nvSpPr>
          <p:cNvPr id="4" name="Slide Number Placeholder 3">
            <a:extLst>
              <a:ext uri="{FF2B5EF4-FFF2-40B4-BE49-F238E27FC236}">
                <a16:creationId xmlns:a16="http://schemas.microsoft.com/office/drawing/2014/main" id="{2CD5303D-FC3E-4E1B-F61D-088FBD0CD0A5}"/>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CF02EC4-63E2-445A-AF56-AEA5416DE1A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076340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23FEF-0E17-FC57-0247-1BE9FCCDAC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81353B-4D3D-7DE2-41D6-12D692938B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F46F01-3DAD-8F47-E3E3-9ED37309CBD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rgbClr val="242424"/>
                </a:solidFill>
                <a:latin typeface="Segoe UI" panose="020B0502040204020203" pitchFamily="34" charset="0"/>
              </a:rPr>
              <a:t>Speaker: A.J. </a:t>
            </a:r>
            <a:endParaRPr lang="en-US"/>
          </a:p>
          <a:p>
            <a:endParaRPr lang="en-US"/>
          </a:p>
        </p:txBody>
      </p:sp>
      <p:sp>
        <p:nvSpPr>
          <p:cNvPr id="4" name="Slide Number Placeholder 3">
            <a:extLst>
              <a:ext uri="{FF2B5EF4-FFF2-40B4-BE49-F238E27FC236}">
                <a16:creationId xmlns:a16="http://schemas.microsoft.com/office/drawing/2014/main" id="{D6BBBE6C-FF0B-1D56-95B7-1EB52704854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5A7FA3-66D2-2646-AAB9-869944834C9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4143019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9E77DD-C22B-69B0-71CC-14B60A2C0C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4108B2-19E2-BA62-B6BB-1ACB60A659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860710-EA84-309D-2595-66EB3A86C21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E71152B-3FCB-6E47-C7EB-21DCCE940EBF}"/>
              </a:ext>
            </a:extLst>
          </p:cNvPr>
          <p:cNvSpPr>
            <a:spLocks noGrp="1"/>
          </p:cNvSpPr>
          <p:nvPr>
            <p:ph type="sldNum" sz="quarter" idx="5"/>
          </p:nvPr>
        </p:nvSpPr>
        <p:spPr/>
        <p:txBody>
          <a:bodyPr/>
          <a:lstStyle/>
          <a:p>
            <a:fld id="{6A881B77-EAA7-4FAB-B3FE-B3C2FC90C318}" type="slidenum">
              <a:rPr lang="en-US" smtClean="0"/>
              <a:t>41</a:t>
            </a:fld>
            <a:endParaRPr lang="en-US"/>
          </a:p>
        </p:txBody>
      </p:sp>
    </p:spTree>
    <p:extLst>
      <p:ext uri="{BB962C8B-B14F-4D97-AF65-F5344CB8AC3E}">
        <p14:creationId xmlns:p14="http://schemas.microsoft.com/office/powerpoint/2010/main" val="59139929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A881B77-EAA7-4FAB-B3FE-B3C2FC90C318}" type="slidenum">
              <a:rPr lang="en-US" smtClean="0"/>
              <a:t>42</a:t>
            </a:fld>
            <a:endParaRPr lang="en-US"/>
          </a:p>
        </p:txBody>
      </p:sp>
    </p:spTree>
    <p:extLst>
      <p:ext uri="{BB962C8B-B14F-4D97-AF65-F5344CB8AC3E}">
        <p14:creationId xmlns:p14="http://schemas.microsoft.com/office/powerpoint/2010/main" val="371964367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A881B77-EAA7-4FAB-B3FE-B3C2FC90C318}" type="slidenum">
              <a:rPr lang="en-US" smtClean="0"/>
              <a:t>43</a:t>
            </a:fld>
            <a:endParaRPr lang="en-US"/>
          </a:p>
        </p:txBody>
      </p:sp>
    </p:spTree>
    <p:extLst>
      <p:ext uri="{BB962C8B-B14F-4D97-AF65-F5344CB8AC3E}">
        <p14:creationId xmlns:p14="http://schemas.microsoft.com/office/powerpoint/2010/main" val="223414648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p:bg>
      <p:bgPr>
        <a:solidFill>
          <a:schemeClr val="tx2"/>
        </a:solidFill>
        <a:effectLst/>
      </p:bgPr>
    </p:bg>
    <p:spTree>
      <p:nvGrpSpPr>
        <p:cNvPr id="1" name=""/>
        <p:cNvGrpSpPr/>
        <p:nvPr/>
      </p:nvGrpSpPr>
      <p:grpSpPr>
        <a:xfrm>
          <a:off x="0" y="0"/>
          <a:ext cx="0" cy="0"/>
          <a:chOff x="0" y="0"/>
          <a:chExt cx="0" cy="0"/>
        </a:xfrm>
      </p:grpSpPr>
      <p:sp>
        <p:nvSpPr>
          <p:cNvPr id="2" name="Rectangle: Rounded Corners 4">
            <a:extLst>
              <a:ext uri="{FF2B5EF4-FFF2-40B4-BE49-F238E27FC236}">
                <a16:creationId xmlns:a16="http://schemas.microsoft.com/office/drawing/2014/main" id="{246C5C55-C1FC-0DE2-E212-ADA0B0B06EEE}"/>
              </a:ext>
            </a:extLst>
          </p:cNvPr>
          <p:cNvSpPr/>
          <p:nvPr userDrawn="1"/>
        </p:nvSpPr>
        <p:spPr>
          <a:xfrm>
            <a:off x="794658" y="673102"/>
            <a:ext cx="10602687" cy="5511799"/>
          </a:xfrm>
          <a:prstGeom prst="roundRect">
            <a:avLst>
              <a:gd name="adj" fmla="val 4617"/>
            </a:avLst>
          </a:prstGeom>
          <a:noFill/>
          <a:ln w="25400">
            <a:solidFill>
              <a:schemeClr val="bg1"/>
            </a:solidFill>
          </a:ln>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377" rtl="0" eaLnBrk="1" fontAlgn="auto" latinLnBrk="0" hangingPunct="1">
              <a:lnSpc>
                <a:spcPct val="125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Poppins SemiBold" pitchFamily="2" charset="77"/>
                <a:ea typeface="+mn-ea"/>
                <a:cs typeface="+mn-cs"/>
              </a:rPr>
              <a:t> </a:t>
            </a:r>
          </a:p>
        </p:txBody>
      </p:sp>
      <p:sp>
        <p:nvSpPr>
          <p:cNvPr id="4" name="Rectangle 3">
            <a:extLst>
              <a:ext uri="{FF2B5EF4-FFF2-40B4-BE49-F238E27FC236}">
                <a16:creationId xmlns:a16="http://schemas.microsoft.com/office/drawing/2014/main" id="{C7EA668C-0B6B-A302-511D-67E3697B45FE}"/>
              </a:ext>
            </a:extLst>
          </p:cNvPr>
          <p:cNvSpPr/>
          <p:nvPr userDrawn="1"/>
        </p:nvSpPr>
        <p:spPr>
          <a:xfrm>
            <a:off x="4655890" y="5904074"/>
            <a:ext cx="2852257" cy="561652"/>
          </a:xfrm>
          <a:prstGeom prst="rect">
            <a:avLst/>
          </a:prstGeom>
          <a:gradFill>
            <a:gsLst>
              <a:gs pos="75000">
                <a:srgbClr val="040E32"/>
              </a:gs>
              <a:gs pos="25000">
                <a:srgbClr val="040E32"/>
              </a:gs>
              <a:gs pos="0">
                <a:schemeClr val="tx2">
                  <a:alpha val="0"/>
                </a:schemeClr>
              </a:gs>
              <a:gs pos="100000">
                <a:schemeClr val="tx2">
                  <a:alpha val="0"/>
                </a:schemeClr>
              </a:gs>
            </a:gsLst>
            <a:lin ang="0" scaled="0"/>
          </a:gra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US" sz="1400" err="1"/>
          </a:p>
        </p:txBody>
      </p:sp>
      <p:pic>
        <p:nvPicPr>
          <p:cNvPr id="8" name="Picture 7" descr="A black and white logo&#10;&#10;AI-generated content may be incorrect.">
            <a:extLst>
              <a:ext uri="{FF2B5EF4-FFF2-40B4-BE49-F238E27FC236}">
                <a16:creationId xmlns:a16="http://schemas.microsoft.com/office/drawing/2014/main" id="{86B327DA-FE2C-77AE-6693-73A7C7B3423E}"/>
              </a:ext>
            </a:extLst>
          </p:cNvPr>
          <p:cNvPicPr>
            <a:picLocks noChangeAspect="1"/>
          </p:cNvPicPr>
          <p:nvPr userDrawn="1"/>
        </p:nvPicPr>
        <p:blipFill>
          <a:blip r:embed="rId2"/>
          <a:stretch>
            <a:fillRect/>
          </a:stretch>
        </p:blipFill>
        <p:spPr>
          <a:xfrm>
            <a:off x="5497497" y="5997238"/>
            <a:ext cx="1197005" cy="375319"/>
          </a:xfrm>
          <a:prstGeom prst="rect">
            <a:avLst/>
          </a:prstGeom>
        </p:spPr>
      </p:pic>
    </p:spTree>
    <p:extLst>
      <p:ext uri="{BB962C8B-B14F-4D97-AF65-F5344CB8AC3E}">
        <p14:creationId xmlns:p14="http://schemas.microsoft.com/office/powerpoint/2010/main" val="25166130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2" name="Title 1"/>
          <p:cNvSpPr>
            <a:spLocks noGrp="1"/>
          </p:cNvSpPr>
          <p:nvPr>
            <p:ph type="title"/>
          </p:nvPr>
        </p:nvSpPr>
        <p:spPr>
          <a:xfrm>
            <a:off x="838200" y="700406"/>
            <a:ext cx="10515600" cy="547842"/>
          </a:xfrm>
        </p:spPr>
        <p:txBody>
          <a:bodyPr/>
          <a:lstStyle>
            <a:lvl1pPr algn="l">
              <a:lnSpc>
                <a:spcPct val="90000"/>
              </a:lnSpc>
              <a:defRPr/>
            </a:lvl1pPr>
          </a:lstStyle>
          <a:p>
            <a:r>
              <a:rPr lang="en-US"/>
              <a:t>Click to edit Master title style</a:t>
            </a:r>
          </a:p>
        </p:txBody>
      </p:sp>
    </p:spTree>
    <p:extLst>
      <p:ext uri="{BB962C8B-B14F-4D97-AF65-F5344CB8AC3E}">
        <p14:creationId xmlns:p14="http://schemas.microsoft.com/office/powerpoint/2010/main" val="20022162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23736001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D75988A-D49E-4ED7-8E09-7163D8B64319}" type="datetimeFigureOut">
              <a:rPr lang="en-US" smtClean="0"/>
              <a:t>7/26/2026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8413BB-4EF1-466A-8A8C-145564296F4C}" type="slidenum">
              <a:rPr lang="en-US" smtClean="0"/>
              <a:t>‹#›</a:t>
            </a:fld>
            <a:endParaRPr lang="en-US"/>
          </a:p>
        </p:txBody>
      </p:sp>
    </p:spTree>
    <p:extLst>
      <p:ext uri="{BB962C8B-B14F-4D97-AF65-F5344CB8AC3E}">
        <p14:creationId xmlns:p14="http://schemas.microsoft.com/office/powerpoint/2010/main" val="21473117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Main Master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811319"/>
            <a:ext cx="10515600" cy="490904"/>
          </a:xfrm>
          <a:prstGeom prst="rect">
            <a:avLst/>
          </a:prstGeom>
        </p:spPr>
        <p:txBody>
          <a:bodyPr>
            <a:spAutoFit/>
          </a:bodyPr>
          <a:lstStyle>
            <a:lvl1pPr>
              <a:defRPr b="1" i="0">
                <a:solidFill>
                  <a:schemeClr val="accent2"/>
                </a:solidFill>
                <a:latin typeface="Poppins SemiBold" pitchFamily="2" charset="77"/>
                <a:cs typeface="Poppins SemiBold" pitchFamily="2" charset="77"/>
              </a:defRPr>
            </a:lvl1pPr>
          </a:lstStyle>
          <a:p>
            <a:r>
              <a:rPr lang="en-US"/>
              <a:t>Click to edit master title style</a:t>
            </a:r>
          </a:p>
        </p:txBody>
      </p:sp>
    </p:spTree>
    <p:extLst>
      <p:ext uri="{BB962C8B-B14F-4D97-AF65-F5344CB8AC3E}">
        <p14:creationId xmlns:p14="http://schemas.microsoft.com/office/powerpoint/2010/main" val="260654684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C0E891-DA4E-4921-BD32-08CC0CD0C0C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8510734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1_Use this templat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659728"/>
            <a:ext cx="10515600" cy="594009"/>
          </a:xfrm>
          <a:prstGeom prst="rect">
            <a:avLst/>
          </a:prstGeom>
        </p:spPr>
        <p:txBody>
          <a:bodyPr tIns="91440" bIns="91440">
            <a:spAutoFit/>
          </a:bodyPr>
          <a:lstStyle>
            <a:lvl1pPr algn="ctr">
              <a:lnSpc>
                <a:spcPct val="95000"/>
              </a:lnSpc>
              <a:defRPr sz="2800" b="1" i="0">
                <a:solidFill>
                  <a:schemeClr val="accent6"/>
                </a:solidFill>
                <a:latin typeface="Poppins SemiBold" pitchFamily="2" charset="77"/>
                <a:cs typeface="Poppins SemiBold" pitchFamily="2" charset="77"/>
              </a:defRPr>
            </a:lvl1pPr>
          </a:lstStyle>
          <a:p>
            <a:r>
              <a:rPr lang="en-US"/>
              <a:t>Click to edit master title style</a:t>
            </a:r>
          </a:p>
        </p:txBody>
      </p:sp>
    </p:spTree>
    <p:extLst>
      <p:ext uri="{BB962C8B-B14F-4D97-AF65-F5344CB8AC3E}">
        <p14:creationId xmlns:p14="http://schemas.microsoft.com/office/powerpoint/2010/main" val="16649096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56DD9A7-557B-1DC7-1DBD-FDC8BCD4D82A}"/>
              </a:ext>
            </a:extLst>
          </p:cNvPr>
          <p:cNvSpPr>
            <a:spLocks noGrp="1"/>
          </p:cNvSpPr>
          <p:nvPr>
            <p:ph type="dt" sz="half" idx="10"/>
          </p:nvPr>
        </p:nvSpPr>
        <p:spPr/>
        <p:txBody>
          <a:bodyPr/>
          <a:lstStyle/>
          <a:p>
            <a:fld id="{087FCFF6-F915-4F97-8572-24450F4F5BCF}" type="datetimeFigureOut">
              <a:rPr lang="en-US" smtClean="0"/>
              <a:t>7/26/2026</a:t>
            </a:fld>
            <a:endParaRPr lang="en-US"/>
          </a:p>
        </p:txBody>
      </p:sp>
      <p:sp>
        <p:nvSpPr>
          <p:cNvPr id="3" name="Footer Placeholder 2">
            <a:extLst>
              <a:ext uri="{FF2B5EF4-FFF2-40B4-BE49-F238E27FC236}">
                <a16:creationId xmlns:a16="http://schemas.microsoft.com/office/drawing/2014/main" id="{4310910E-3277-4D4C-7DB9-14FEC1BB7BD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C7E081A-F669-DE60-35E6-994CE64C955E}"/>
              </a:ext>
            </a:extLst>
          </p:cNvPr>
          <p:cNvSpPr>
            <a:spLocks noGrp="1"/>
          </p:cNvSpPr>
          <p:nvPr>
            <p:ph type="sldNum" sz="quarter" idx="12"/>
          </p:nvPr>
        </p:nvSpPr>
        <p:spPr/>
        <p:txBody>
          <a:bodyPr/>
          <a:lstStyle/>
          <a:p>
            <a:fld id="{140A95B1-0AAD-455A-B2EF-F39F965B3353}" type="slidenum">
              <a:rPr lang="en-US" smtClean="0"/>
              <a:t>‹#›</a:t>
            </a:fld>
            <a:endParaRPr lang="en-US"/>
          </a:p>
        </p:txBody>
      </p:sp>
    </p:spTree>
    <p:extLst>
      <p:ext uri="{BB962C8B-B14F-4D97-AF65-F5344CB8AC3E}">
        <p14:creationId xmlns:p14="http://schemas.microsoft.com/office/powerpoint/2010/main" val="27584957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userDrawn="1">
  <p:cSld name="NM End Slide">
    <p:bg>
      <p:bgPr>
        <a:solidFill>
          <a:srgbClr val="010028"/>
        </a:solidFill>
        <a:effectLst/>
      </p:bgPr>
    </p:bg>
    <p:spTree>
      <p:nvGrpSpPr>
        <p:cNvPr id="1" name=""/>
        <p:cNvGrpSpPr/>
        <p:nvPr/>
      </p:nvGrpSpPr>
      <p:grpSpPr>
        <a:xfrm>
          <a:off x="0" y="0"/>
          <a:ext cx="0" cy="0"/>
          <a:chOff x="0" y="0"/>
          <a:chExt cx="0" cy="0"/>
        </a:xfrm>
      </p:grpSpPr>
      <p:sp>
        <p:nvSpPr>
          <p:cNvPr id="4" name="Title 4">
            <a:extLst>
              <a:ext uri="{FF2B5EF4-FFF2-40B4-BE49-F238E27FC236}">
                <a16:creationId xmlns:a16="http://schemas.microsoft.com/office/drawing/2014/main" id="{8F6D4352-027A-C23C-FF84-706202B591CD}"/>
              </a:ext>
            </a:extLst>
          </p:cNvPr>
          <p:cNvSpPr>
            <a:spLocks noGrp="1"/>
          </p:cNvSpPr>
          <p:nvPr>
            <p:ph type="title"/>
          </p:nvPr>
        </p:nvSpPr>
        <p:spPr>
          <a:xfrm>
            <a:off x="838200" y="3058828"/>
            <a:ext cx="10515600" cy="740344"/>
          </a:xfrm>
          <a:prstGeom prst="rect">
            <a:avLst/>
          </a:prstGeom>
        </p:spPr>
        <p:txBody>
          <a:bodyPr/>
          <a:lstStyle>
            <a:lvl1pPr algn="ctr">
              <a:defRPr baseline="0">
                <a:solidFill>
                  <a:schemeClr val="bg1"/>
                </a:solidFill>
                <a:latin typeface="Poppins SemiBold" pitchFamily="2" charset="77"/>
              </a:defRPr>
            </a:lvl1pPr>
          </a:lstStyle>
          <a:p>
            <a:r>
              <a:rPr lang="en-US"/>
              <a:t>Click to edit Master title style</a:t>
            </a:r>
          </a:p>
        </p:txBody>
      </p:sp>
    </p:spTree>
    <p:extLst>
      <p:ext uri="{BB962C8B-B14F-4D97-AF65-F5344CB8AC3E}">
        <p14:creationId xmlns:p14="http://schemas.microsoft.com/office/powerpoint/2010/main" val="38230999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F678FD-3F92-C545-AAA8-6590D69FB088}"/>
              </a:ext>
            </a:extLst>
          </p:cNvPr>
          <p:cNvSpPr>
            <a:spLocks noGrp="1"/>
          </p:cNvSpPr>
          <p:nvPr>
            <p:ph type="title"/>
          </p:nvPr>
        </p:nvSpPr>
        <p:spPr>
          <a:xfrm>
            <a:off x="838200" y="700406"/>
            <a:ext cx="10515600" cy="547842"/>
          </a:xfrm>
          <a:prstGeom prst="rect">
            <a:avLst/>
          </a:prstGeom>
        </p:spPr>
        <p:txBody>
          <a:bodyPr vert="horz" lIns="91440" tIns="45720" rIns="91440" bIns="45720" rtlCol="0" anchor="t">
            <a:spAutoFit/>
          </a:bodyPr>
          <a:lstStyle/>
          <a:p>
            <a:r>
              <a:rPr lang="en-US"/>
              <a:t>Click to edit Master title style</a:t>
            </a:r>
          </a:p>
        </p:txBody>
      </p:sp>
      <p:sp>
        <p:nvSpPr>
          <p:cNvPr id="3" name="Slide Number Placeholder 5">
            <a:extLst>
              <a:ext uri="{FF2B5EF4-FFF2-40B4-BE49-F238E27FC236}">
                <a16:creationId xmlns:a16="http://schemas.microsoft.com/office/drawing/2014/main" id="{069268E0-CCE8-DE84-BF20-3E05E88BA02C}"/>
              </a:ext>
            </a:extLst>
          </p:cNvPr>
          <p:cNvSpPr txBox="1">
            <a:spLocks/>
          </p:cNvSpPr>
          <p:nvPr userDrawn="1"/>
        </p:nvSpPr>
        <p:spPr>
          <a:xfrm>
            <a:off x="9569450" y="6401398"/>
            <a:ext cx="2478672" cy="365125"/>
          </a:xfrm>
          <a:prstGeom prst="rect">
            <a:avLst/>
          </a:prstGeom>
        </p:spPr>
        <p:txBody>
          <a:bodyPr vert="horz" lIns="91440" tIns="45720" rIns="91440" bIns="45720" rtlCol="0" anchor="ctr"/>
          <a:lstStyle>
            <a:defPPr>
              <a:defRPr lang="en-US"/>
            </a:defPPr>
            <a:lvl1pPr marL="0" algn="l" defTabSz="914400" rtl="0" eaLnBrk="1" latinLnBrk="0" hangingPunct="1">
              <a:defRPr sz="1000" kern="1200">
                <a:solidFill>
                  <a:schemeClr val="tx1">
                    <a:tint val="75000"/>
                  </a:schemeClr>
                </a:solidFill>
                <a:latin typeface="ClanOT-Book" panose="0200050303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700" baseline="0">
                <a:latin typeface="Poppins Light" panose="00000400000000000000" pitchFamily="2" charset="0"/>
                <a:cs typeface="Poppins Light" panose="00000400000000000000" pitchFamily="2" charset="0"/>
                <a:sym typeface="Symbol" panose="05050102010706020507" pitchFamily="18" charset="2"/>
              </a:rPr>
              <a:t>HORIZON COMMERCE      </a:t>
            </a:r>
            <a:fld id="{CF067BAB-ACAF-470B-88DC-99E80D1D4992}" type="slidenum">
              <a:rPr lang="en-US" sz="700" smtClean="0">
                <a:latin typeface="Poppins Light" panose="00000400000000000000" pitchFamily="2" charset="0"/>
                <a:cs typeface="Poppins Light" panose="00000400000000000000" pitchFamily="2"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70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3133631249"/>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1" r:id="rId3"/>
    <p:sldLayoutId id="2147483664" r:id="rId4"/>
    <p:sldLayoutId id="2147483665" r:id="rId5"/>
    <p:sldLayoutId id="2147483666" r:id="rId6"/>
    <p:sldLayoutId id="2147483667" r:id="rId7"/>
    <p:sldLayoutId id="2147483668" r:id="rId8"/>
    <p:sldLayoutId id="2147483669" r:id="rId9"/>
  </p:sldLayoutIdLst>
  <p:hf hdr="0" ftr="0" dt="0"/>
  <p:txStyles>
    <p:titleStyle>
      <a:lvl1pPr algn="l" defTabSz="914377" rtl="0" eaLnBrk="1" latinLnBrk="0" hangingPunct="1">
        <a:lnSpc>
          <a:spcPct val="90000"/>
        </a:lnSpc>
        <a:spcBef>
          <a:spcPct val="0"/>
        </a:spcBef>
        <a:buNone/>
        <a:defRPr sz="3200" b="1" kern="1200">
          <a:solidFill>
            <a:schemeClr val="accent4"/>
          </a:solidFill>
          <a:latin typeface="Poppins" panose="00000500000000000000" pitchFamily="2" charset="0"/>
          <a:ea typeface="+mj-ea"/>
          <a:cs typeface="Poppins" panose="00000500000000000000" pitchFamily="2" charset="0"/>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hyperlink" Target="https://flippingwithkirch.blogspot.com/2012/02/reflection-on-week-4-smooth-sailing.html" TargetMode="External"/></Relationships>
</file>

<file path=ppt/slides/_rels/slide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8" Type="http://schemas.openxmlformats.org/officeDocument/2006/relationships/hyperlink" Target="https://hminc-my.sharepoint.com/:u:/g/personal/joshapiro_night-market_com/ETImccyY695JjF7rn7vzIv0B4tejQ45xSakksP00kOwtnw?e=jXH86w" TargetMode="External"/><Relationship Id="rId3" Type="http://schemas.openxmlformats.org/officeDocument/2006/relationships/hyperlink" Target="https://hminc.sharepoint.com/:p:/s/NightMarketEngagements/ETbdM5kjNytPseEUUD6P1qEBzFmC0l35Iz1kFR5Y8IKRfQ?e=torkuQ" TargetMode="External"/><Relationship Id="rId7" Type="http://schemas.openxmlformats.org/officeDocument/2006/relationships/hyperlink" Target="https://hminc.sharepoint.com/:x:/s/NightMarketEngagements/ES_yoU0SsRlPvNbliWn5jVoBGLyhd8vP82ExFPvxSR56qQ?e=BgEAwJ" TargetMode="External"/><Relationship Id="rId2" Type="http://schemas.openxmlformats.org/officeDocument/2006/relationships/image" Target="../media/image4.png"/><Relationship Id="rId1" Type="http://schemas.openxmlformats.org/officeDocument/2006/relationships/slideLayout" Target="../slideLayouts/slideLayout3.xml"/><Relationship Id="rId6" Type="http://schemas.openxmlformats.org/officeDocument/2006/relationships/hyperlink" Target="https://horizonmedia.atlassian.net/wiki/spaces/NM1/pages/3609100289/Jira+Product+Discovery+-+CRO+Ideation+Cross-Team+Collaboration?atlOrigin=eyJpIjoiYTNlN2Y4NDIzNzI5NGMyYWJhZDhmNWJhMzg0OWE0Y2QiLCJwIjoiYyJ9" TargetMode="External"/><Relationship Id="rId5" Type="http://schemas.openxmlformats.org/officeDocument/2006/relationships/hyperlink" Target="https://hminc.sharepoint.com/:p:/s/NightMarketEngagements/EfZbbI2bB2hDhBckUfXtpI4BuVAi15F5mXGyH7WP6mtKPA?e=DLfDda" TargetMode="External"/><Relationship Id="rId4" Type="http://schemas.openxmlformats.org/officeDocument/2006/relationships/hyperlink" Target="https://hminc.sharepoint.com/:p:/s/NightMarketEngagements/EfULTun65slCvZhg0UzXpL0B6Qed0uv5FGR8UBJBfb2OIg?e=qVgc9N"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hyperlink" Target="https://hminc.sharepoint.com/:p:/s/NightMarketEngagements/EfULTun65slCvZhg0UzXpL0B6Qed0uv5FGR8UBJBfb2OIg?e=qVgc9N" TargetMode="External"/></Relationships>
</file>

<file path=ppt/slides/_rels/slide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chart" Target="../charts/chart5.xml"/><Relationship Id="rId4" Type="http://schemas.openxmlformats.org/officeDocument/2006/relationships/chart" Target="../charts/chart4.xml"/></Relationships>
</file>

<file path=ppt/slides/_rels/slide10.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chart" Target="../charts/chart8.xml"/><Relationship Id="rId4" Type="http://schemas.openxmlformats.org/officeDocument/2006/relationships/chart" Target="../charts/chart7.xml"/></Relationships>
</file>

<file path=ppt/slides/_rels/slide11.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hyperlink" Target="https://www.facingourrisk.org/blog/weighing-the-risks-and-benefits-of-screening-mammography" TargetMode="External"/><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hyperlink" Target="https://hminc.sharepoint.com/:x:/s/HorizonCommerceTeam/ERpRexpZnPpCjD2C3TFenYQBab_ccDWlDeFOmDn5m5MTMA?e=jc0qFO" TargetMode="Externa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hyperlink" Target="https://hminc.sharepoint.com/:p:/s/NightMarketEngagements/EfULTun65slCvZhg0UzXpL0B6Qed0uv5FGR8UBJBfb2OIg?e=qVgc9N" TargetMode="External"/></Relationships>
</file>

<file path=ppt/slides/_rels/slide17.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11.jpeg"/></Relationships>
</file>

<file path=ppt/slides/_rels/slide2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2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13.png"/></Relationships>
</file>

<file path=ppt/slides/_rels/slide2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5.xml"/><Relationship Id="rId1" Type="http://schemas.openxmlformats.org/officeDocument/2006/relationships/slideLayout" Target="../slideLayouts/slideLayout8.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2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17.png"/></Relationships>
</file>

<file path=ppt/slides/_rels/slide2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8.jpeg"/><Relationship Id="rId7" Type="http://schemas.openxmlformats.org/officeDocument/2006/relationships/image" Target="../media/image21.png"/><Relationship Id="rId12"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8.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s>
</file>

<file path=ppt/slides/_rels/slide30.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8.jpeg"/><Relationship Id="rId7" Type="http://schemas.openxmlformats.org/officeDocument/2006/relationships/image" Target="../media/image30.png"/><Relationship Id="rId2" Type="http://schemas.openxmlformats.org/officeDocument/2006/relationships/notesSlide" Target="../notesSlides/notesSlide19.xml"/><Relationship Id="rId1" Type="http://schemas.openxmlformats.org/officeDocument/2006/relationships/slideLayout" Target="../slideLayouts/slideLayout8.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 Id="rId9" Type="http://schemas.openxmlformats.org/officeDocument/2006/relationships/image" Target="../media/image32.png"/></Relationships>
</file>

<file path=ppt/slides/_rels/slide3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0.xml"/><Relationship Id="rId1" Type="http://schemas.openxmlformats.org/officeDocument/2006/relationships/slideLayout" Target="../slideLayouts/slideLayout8.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32.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36.png"/><Relationship Id="rId2" Type="http://schemas.openxmlformats.org/officeDocument/2006/relationships/notesSlide" Target="../notesSlides/notesSlide21.xml"/><Relationship Id="rId1" Type="http://schemas.openxmlformats.org/officeDocument/2006/relationships/slideLayout" Target="../slideLayouts/slideLayout8.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8.jpeg"/></Relationships>
</file>

<file path=ppt/slides/_rels/slide3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3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3.xml"/><Relationship Id="rId1" Type="http://schemas.openxmlformats.org/officeDocument/2006/relationships/slideLayout" Target="../slideLayouts/slideLayout8.xml"/><Relationship Id="rId5" Type="http://schemas.openxmlformats.org/officeDocument/2006/relationships/image" Target="../media/image38.png"/><Relationship Id="rId4" Type="http://schemas.openxmlformats.org/officeDocument/2006/relationships/image" Target="../media/image37.png"/></Relationships>
</file>

<file path=ppt/slides/_rels/slide35.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8.jpeg"/><Relationship Id="rId7" Type="http://schemas.openxmlformats.org/officeDocument/2006/relationships/image" Target="../media/image42.png"/><Relationship Id="rId2" Type="http://schemas.openxmlformats.org/officeDocument/2006/relationships/notesSlide" Target="../notesSlides/notesSlide24.xml"/><Relationship Id="rId1" Type="http://schemas.openxmlformats.org/officeDocument/2006/relationships/slideLayout" Target="../slideLayouts/slideLayout8.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 Id="rId9" Type="http://schemas.openxmlformats.org/officeDocument/2006/relationships/image" Target="../media/image44.png"/></Relationships>
</file>

<file path=ppt/slides/_rels/slide36.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8.jpeg"/><Relationship Id="rId7" Type="http://schemas.openxmlformats.org/officeDocument/2006/relationships/image" Target="../media/image48.png"/><Relationship Id="rId2" Type="http://schemas.openxmlformats.org/officeDocument/2006/relationships/notesSlide" Target="../notesSlides/notesSlide25.xml"/><Relationship Id="rId1" Type="http://schemas.openxmlformats.org/officeDocument/2006/relationships/slideLayout" Target="../slideLayouts/slideLayout8.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37.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8.jpeg"/><Relationship Id="rId7" Type="http://schemas.openxmlformats.org/officeDocument/2006/relationships/image" Target="../media/image53.png"/><Relationship Id="rId2" Type="http://schemas.openxmlformats.org/officeDocument/2006/relationships/notesSlide" Target="../notesSlides/notesSlide26.xml"/><Relationship Id="rId1" Type="http://schemas.openxmlformats.org/officeDocument/2006/relationships/slideLayout" Target="../slideLayouts/slideLayout8.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 Id="rId9" Type="http://schemas.openxmlformats.org/officeDocument/2006/relationships/image" Target="../media/image55.png"/></Relationships>
</file>

<file path=ppt/slides/_rels/slide38.xml.rels><?xml version="1.0" encoding="UTF-8" standalone="yes"?>
<Relationships xmlns="http://schemas.openxmlformats.org/package/2006/relationships"><Relationship Id="rId8" Type="http://schemas.openxmlformats.org/officeDocument/2006/relationships/hyperlink" Target="https://horizonmedia.atlassian.net/wiki/spaces/NI/pages/3010232345/Current+Target+Dev+Pipeline" TargetMode="External"/><Relationship Id="rId3" Type="http://schemas.openxmlformats.org/officeDocument/2006/relationships/image" Target="../media/image8.jpeg"/><Relationship Id="rId7" Type="http://schemas.openxmlformats.org/officeDocument/2006/relationships/hyperlink" Target="https://horizonmedia.atlassian.net/wiki/spaces/NI/pages/2880798787/UHOne+CRO+Program" TargetMode="External"/><Relationship Id="rId2" Type="http://schemas.openxmlformats.org/officeDocument/2006/relationships/notesSlide" Target="../notesSlides/notesSlide27.xml"/><Relationship Id="rId1" Type="http://schemas.openxmlformats.org/officeDocument/2006/relationships/slideLayout" Target="../slideLayouts/slideLayout8.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 Id="rId9" Type="http://schemas.openxmlformats.org/officeDocument/2006/relationships/hyperlink" Target="https://horizonmedia.atlassian.net/wiki/spaces/NI/pages/3102113803/Test+Results" TargetMode="External"/></Relationships>
</file>

<file path=ppt/slides/_rels/slide3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8.xml"/><Relationship Id="rId1" Type="http://schemas.openxmlformats.org/officeDocument/2006/relationships/slideLayout" Target="../slideLayouts/slideLayout8.xml"/><Relationship Id="rId6" Type="http://schemas.openxmlformats.org/officeDocument/2006/relationships/hyperlink" Target="https://horizonmedia.atlassian.net/wiki/spaces/NI/pages/3102113803/Test+Results" TargetMode="External"/><Relationship Id="rId5" Type="http://schemas.openxmlformats.org/officeDocument/2006/relationships/image" Target="../media/image59.png"/><Relationship Id="rId4" Type="http://schemas.openxmlformats.org/officeDocument/2006/relationships/image" Target="../media/image58.png"/></Relationships>
</file>

<file path=ppt/slides/_rels/slide4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9.xml"/><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31.xml"/><Relationship Id="rId1" Type="http://schemas.openxmlformats.org/officeDocument/2006/relationships/slideLayout" Target="../slideLayouts/slideLayout3.xml"/><Relationship Id="rId4" Type="http://schemas.openxmlformats.org/officeDocument/2006/relationships/image" Target="../media/image61.png"/></Relationships>
</file>

<file path=ppt/slides/_rels/slide43.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29D4728B-3F1C-0552-D900-DBD16F9B64BA}"/>
            </a:ext>
          </a:extLst>
        </p:cNvPr>
        <p:cNvGrpSpPr/>
        <p:nvPr/>
      </p:nvGrpSpPr>
      <p:grpSpPr>
        <a:xfrm>
          <a:off x="0" y="0"/>
          <a:ext cx="0" cy="0"/>
          <a:chOff x="0" y="0"/>
          <a:chExt cx="0" cy="0"/>
        </a:xfrm>
      </p:grpSpPr>
      <p:sp>
        <p:nvSpPr>
          <p:cNvPr id="16" name="Rectangle 15">
            <a:extLst>
              <a:ext uri="{FF2B5EF4-FFF2-40B4-BE49-F238E27FC236}">
                <a16:creationId xmlns:a16="http://schemas.microsoft.com/office/drawing/2014/main" id="{E9506320-2497-7C4F-6B74-36C5789BDB4D}"/>
              </a:ext>
            </a:extLst>
          </p:cNvPr>
          <p:cNvSpPr/>
          <p:nvPr/>
        </p:nvSpPr>
        <p:spPr>
          <a:xfrm>
            <a:off x="0" y="0"/>
            <a:ext cx="12192000" cy="6858000"/>
          </a:xfrm>
          <a:prstGeom prst="rect">
            <a:avLst/>
          </a:prstGeom>
          <a:gradFill flip="none" rotWithShape="1">
            <a:gsLst>
              <a:gs pos="84000">
                <a:schemeClr val="tx2">
                  <a:alpha val="0"/>
                </a:schemeClr>
              </a:gs>
              <a:gs pos="0">
                <a:schemeClr val="tx2"/>
              </a:gs>
            </a:gsLst>
            <a:lin ang="0" scaled="1"/>
            <a:tileRect/>
          </a:gra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US" err="1"/>
          </a:p>
        </p:txBody>
      </p:sp>
      <p:sp>
        <p:nvSpPr>
          <p:cNvPr id="8" name="TextBox 7">
            <a:extLst>
              <a:ext uri="{FF2B5EF4-FFF2-40B4-BE49-F238E27FC236}">
                <a16:creationId xmlns:a16="http://schemas.microsoft.com/office/drawing/2014/main" id="{39BD8424-09B6-B71B-943D-3674EECB55F6}"/>
              </a:ext>
            </a:extLst>
          </p:cNvPr>
          <p:cNvSpPr txBox="1"/>
          <p:nvPr/>
        </p:nvSpPr>
        <p:spPr>
          <a:xfrm>
            <a:off x="838200" y="2987020"/>
            <a:ext cx="10515600" cy="2410916"/>
          </a:xfrm>
          <a:prstGeom prst="rect">
            <a:avLst/>
          </a:prstGeom>
        </p:spPr>
        <p:txBody>
          <a:bodyPr vert="horz" wrap="square" lIns="91440" tIns="91440" rIns="91440" bIns="91440" rtlCol="0" anchor="t">
            <a:spAutoFit/>
          </a:bodyPr>
          <a:lstStyle/>
          <a:p>
            <a:pPr>
              <a:lnSpc>
                <a:spcPct val="90000"/>
              </a:lnSpc>
            </a:pPr>
            <a:r>
              <a:rPr lang="en-US" sz="8000" b="1" dirty="0">
                <a:solidFill>
                  <a:schemeClr val="bg1"/>
                </a:solidFill>
                <a:latin typeface="Poppins" pitchFamily="2" charset="77"/>
                <a:cs typeface="Poppins" pitchFamily="2" charset="77"/>
              </a:rPr>
              <a:t>Horizon Commerce Flash Process</a:t>
            </a:r>
          </a:p>
        </p:txBody>
      </p:sp>
      <p:sp>
        <p:nvSpPr>
          <p:cNvPr id="15" name="TextBox 14">
            <a:extLst>
              <a:ext uri="{FF2B5EF4-FFF2-40B4-BE49-F238E27FC236}">
                <a16:creationId xmlns:a16="http://schemas.microsoft.com/office/drawing/2014/main" id="{7663F7C9-EEF1-6488-6A18-F080CC5D2C74}"/>
              </a:ext>
            </a:extLst>
          </p:cNvPr>
          <p:cNvSpPr txBox="1"/>
          <p:nvPr/>
        </p:nvSpPr>
        <p:spPr>
          <a:xfrm>
            <a:off x="838200" y="5418455"/>
            <a:ext cx="10515600" cy="440890"/>
          </a:xfrm>
          <a:prstGeom prst="rect">
            <a:avLst/>
          </a:prstGeom>
        </p:spPr>
        <p:txBody>
          <a:bodyPr vert="horz" wrap="square" lIns="91440" tIns="91440" rIns="91440" bIns="91440" rtlCol="0" anchor="t">
            <a:spAutoFit/>
          </a:bodyPr>
          <a:lstStyle/>
          <a:p>
            <a:pPr>
              <a:lnSpc>
                <a:spcPct val="90000"/>
              </a:lnSpc>
            </a:pPr>
            <a:r>
              <a:rPr lang="en-US" dirty="0">
                <a:solidFill>
                  <a:schemeClr val="bg1"/>
                </a:solidFill>
                <a:latin typeface="Poppins" pitchFamily="2" charset="77"/>
                <a:cs typeface="Poppins" pitchFamily="2" charset="77"/>
              </a:rPr>
              <a:t>Month XX, Year</a:t>
            </a:r>
          </a:p>
        </p:txBody>
      </p:sp>
    </p:spTree>
    <p:extLst>
      <p:ext uri="{BB962C8B-B14F-4D97-AF65-F5344CB8AC3E}">
        <p14:creationId xmlns:p14="http://schemas.microsoft.com/office/powerpoint/2010/main" val="17653370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itle 1">
            <a:extLst>
              <a:ext uri="{FF2B5EF4-FFF2-40B4-BE49-F238E27FC236}">
                <a16:creationId xmlns:a16="http://schemas.microsoft.com/office/drawing/2014/main" id="{5811169F-FE8E-4039-0F1D-D02687FA07F5}"/>
              </a:ext>
            </a:extLst>
          </p:cNvPr>
          <p:cNvSpPr txBox="1">
            <a:spLocks/>
          </p:cNvSpPr>
          <p:nvPr/>
        </p:nvSpPr>
        <p:spPr>
          <a:xfrm>
            <a:off x="5753011" y="860132"/>
            <a:ext cx="5707326" cy="1437317"/>
          </a:xfrm>
          <a:prstGeom prst="rect">
            <a:avLst/>
          </a:prstGeom>
        </p:spPr>
        <p:txBody>
          <a:bodyPr wrap="square">
            <a:spAutoFit/>
          </a:bodyPr>
          <a:lstStyle>
            <a:lvl1pPr marL="0" algn="ctr" defTabSz="914400" rtl="0" eaLnBrk="1" latinLnBrk="0" hangingPunct="1">
              <a:lnSpc>
                <a:spcPct val="95000"/>
              </a:lnSpc>
              <a:spcBef>
                <a:spcPct val="0"/>
              </a:spcBef>
              <a:buNone/>
              <a:defRPr lang="en-US" sz="2800" b="1" i="0" kern="1200">
                <a:solidFill>
                  <a:schemeClr val="accent4"/>
                </a:solidFill>
                <a:latin typeface="Poppins" pitchFamily="2" charset="77"/>
                <a:ea typeface="+mj-ea"/>
                <a:cs typeface="Poppins" pitchFamily="2" charset="77"/>
              </a:defRPr>
            </a:lvl1pPr>
          </a:lstStyle>
          <a:p>
            <a:pPr marL="0" marR="0" lvl="0" indent="0" defTabSz="914400" rtl="0" eaLnBrk="1" fontAlgn="auto" latinLnBrk="0" hangingPunct="1">
              <a:lnSpc>
                <a:spcPct val="95000"/>
              </a:lnSpc>
              <a:spcBef>
                <a:spcPct val="0"/>
              </a:spcBef>
              <a:spcAft>
                <a:spcPts val="0"/>
              </a:spcAft>
              <a:buClrTx/>
              <a:buSzTx/>
              <a:buFontTx/>
              <a:buNone/>
              <a:tabLst/>
              <a:defRPr/>
            </a:pPr>
            <a:r>
              <a:rPr lang="en-US" sz="4600" dirty="0">
                <a:solidFill>
                  <a:schemeClr val="accent1"/>
                </a:solidFill>
              </a:rPr>
              <a:t>Today’s Agenda: Smooth Sailing</a:t>
            </a:r>
            <a:endParaRPr kumimoji="0" lang="en-US" sz="4600" b="1" i="0" u="none" strike="noStrike" kern="1200" cap="none" spc="0" normalizeH="0" baseline="0" noProof="0" dirty="0">
              <a:ln>
                <a:noFill/>
              </a:ln>
              <a:solidFill>
                <a:schemeClr val="accent1"/>
              </a:solidFill>
              <a:effectLst/>
              <a:uLnTx/>
              <a:uFillTx/>
              <a:latin typeface="Poppins" pitchFamily="2" charset="77"/>
              <a:ea typeface="+mj-ea"/>
              <a:cs typeface="Poppins" pitchFamily="2" charset="77"/>
            </a:endParaRPr>
          </a:p>
        </p:txBody>
      </p:sp>
      <p:sp>
        <p:nvSpPr>
          <p:cNvPr id="4" name="Title 1">
            <a:extLst>
              <a:ext uri="{FF2B5EF4-FFF2-40B4-BE49-F238E27FC236}">
                <a16:creationId xmlns:a16="http://schemas.microsoft.com/office/drawing/2014/main" id="{AE084BEE-7BD0-21CC-B943-811722B86E0F}"/>
              </a:ext>
            </a:extLst>
          </p:cNvPr>
          <p:cNvSpPr txBox="1">
            <a:spLocks/>
          </p:cNvSpPr>
          <p:nvPr/>
        </p:nvSpPr>
        <p:spPr>
          <a:xfrm>
            <a:off x="6101599" y="2431156"/>
            <a:ext cx="5010150" cy="447815"/>
          </a:xfrm>
          <a:prstGeom prst="rect">
            <a:avLst/>
          </a:prstGeom>
        </p:spPr>
        <p:txBody>
          <a:bodyPr wrap="square">
            <a:spAutoFit/>
          </a:bodyPr>
          <a:lstStyle>
            <a:lvl1pPr marL="0" algn="ctr" defTabSz="914400" rtl="0" eaLnBrk="1" latinLnBrk="0" hangingPunct="1">
              <a:lnSpc>
                <a:spcPct val="95000"/>
              </a:lnSpc>
              <a:spcBef>
                <a:spcPct val="0"/>
              </a:spcBef>
              <a:buNone/>
              <a:defRPr lang="en-US" sz="2800" b="1" i="0" kern="1200">
                <a:solidFill>
                  <a:schemeClr val="accent4"/>
                </a:solidFill>
                <a:latin typeface="Poppins" pitchFamily="2" charset="77"/>
                <a:ea typeface="+mj-ea"/>
                <a:cs typeface="Poppins" pitchFamily="2" charset="77"/>
              </a:defRPr>
            </a:lvl1pPr>
          </a:lstStyle>
          <a:p>
            <a:pPr marL="0" marR="0" lvl="0" indent="0" defTabSz="914400" rtl="0" eaLnBrk="1" fontAlgn="auto" latinLnBrk="0" hangingPunct="1">
              <a:lnSpc>
                <a:spcPct val="95000"/>
              </a:lnSpc>
              <a:spcBef>
                <a:spcPct val="0"/>
              </a:spcBef>
              <a:spcAft>
                <a:spcPts val="0"/>
              </a:spcAft>
              <a:buClrTx/>
              <a:buSzTx/>
              <a:buFontTx/>
              <a:buNone/>
              <a:tabLst/>
              <a:defRPr/>
            </a:pPr>
            <a:r>
              <a:rPr lang="en-US" sz="2400" b="0" dirty="0">
                <a:solidFill>
                  <a:schemeClr val="tx1"/>
                </a:solidFill>
              </a:rPr>
              <a:t>Why test X-small changes</a:t>
            </a:r>
            <a:endParaRPr kumimoji="0" lang="en-US" sz="2400" b="0" u="none" strike="noStrike" kern="1200" cap="none" spc="0" normalizeH="0" baseline="0" noProof="0" dirty="0">
              <a:ln>
                <a:noFill/>
              </a:ln>
              <a:solidFill>
                <a:schemeClr val="tx1"/>
              </a:solidFill>
              <a:effectLst/>
              <a:uLnTx/>
              <a:uFillTx/>
            </a:endParaRPr>
          </a:p>
        </p:txBody>
      </p:sp>
      <p:cxnSp>
        <p:nvCxnSpPr>
          <p:cNvPr id="7" name="Straight Connector 6">
            <a:extLst>
              <a:ext uri="{FF2B5EF4-FFF2-40B4-BE49-F238E27FC236}">
                <a16:creationId xmlns:a16="http://schemas.microsoft.com/office/drawing/2014/main" id="{518D0BB5-5F36-B3DD-192E-026B0310DFE0}"/>
              </a:ext>
            </a:extLst>
          </p:cNvPr>
          <p:cNvCxnSpPr>
            <a:cxnSpLocks/>
          </p:cNvCxnSpPr>
          <p:nvPr/>
        </p:nvCxnSpPr>
        <p:spPr>
          <a:xfrm>
            <a:off x="6410894" y="3101753"/>
            <a:ext cx="4391560" cy="0"/>
          </a:xfrm>
          <a:prstGeom prst="line">
            <a:avLst/>
          </a:prstGeom>
          <a:ln w="19050" cap="rnd">
            <a:solidFill>
              <a:schemeClr val="bg1">
                <a:lumMod val="75000"/>
              </a:schemeClr>
            </a:solidFill>
            <a:prstDash val="sysDot"/>
            <a:round/>
          </a:ln>
        </p:spPr>
        <p:style>
          <a:lnRef idx="1">
            <a:schemeClr val="accent1"/>
          </a:lnRef>
          <a:fillRef idx="0">
            <a:schemeClr val="accent1"/>
          </a:fillRef>
          <a:effectRef idx="0">
            <a:schemeClr val="accent1"/>
          </a:effectRef>
          <a:fontRef idx="minor">
            <a:schemeClr val="tx1"/>
          </a:fontRef>
        </p:style>
      </p:cxnSp>
      <p:sp>
        <p:nvSpPr>
          <p:cNvPr id="8" name="Title 1">
            <a:extLst>
              <a:ext uri="{FF2B5EF4-FFF2-40B4-BE49-F238E27FC236}">
                <a16:creationId xmlns:a16="http://schemas.microsoft.com/office/drawing/2014/main" id="{A0B9E1B1-A33D-8AFD-C736-46AAFA307630}"/>
              </a:ext>
            </a:extLst>
          </p:cNvPr>
          <p:cNvSpPr txBox="1">
            <a:spLocks/>
          </p:cNvSpPr>
          <p:nvPr/>
        </p:nvSpPr>
        <p:spPr>
          <a:xfrm>
            <a:off x="6101599" y="3324535"/>
            <a:ext cx="5010150" cy="447815"/>
          </a:xfrm>
          <a:prstGeom prst="rect">
            <a:avLst/>
          </a:prstGeom>
        </p:spPr>
        <p:txBody>
          <a:bodyPr wrap="square">
            <a:spAutoFit/>
          </a:bodyPr>
          <a:lstStyle>
            <a:lvl1pPr marL="0" algn="ctr" defTabSz="914400" rtl="0" eaLnBrk="1" latinLnBrk="0" hangingPunct="1">
              <a:lnSpc>
                <a:spcPct val="95000"/>
              </a:lnSpc>
              <a:spcBef>
                <a:spcPct val="0"/>
              </a:spcBef>
              <a:buNone/>
              <a:defRPr lang="en-US" sz="2800" b="1" i="0" kern="1200">
                <a:solidFill>
                  <a:schemeClr val="accent4"/>
                </a:solidFill>
                <a:latin typeface="Poppins" pitchFamily="2" charset="77"/>
                <a:ea typeface="+mj-ea"/>
                <a:cs typeface="Poppins" pitchFamily="2" charset="77"/>
              </a:defRPr>
            </a:lvl1pPr>
          </a:lstStyle>
          <a:p>
            <a:pPr marL="0" marR="0" lvl="0" indent="0" defTabSz="914400" rtl="0" eaLnBrk="1" fontAlgn="auto" latinLnBrk="0" hangingPunct="1">
              <a:lnSpc>
                <a:spcPct val="95000"/>
              </a:lnSpc>
              <a:spcBef>
                <a:spcPct val="0"/>
              </a:spcBef>
              <a:spcAft>
                <a:spcPts val="0"/>
              </a:spcAft>
              <a:buClrTx/>
              <a:buSzTx/>
              <a:buFontTx/>
              <a:buNone/>
              <a:tabLst/>
              <a:defRPr/>
            </a:pPr>
            <a:r>
              <a:rPr lang="en-US" sz="2400" b="0" dirty="0">
                <a:solidFill>
                  <a:schemeClr val="tx1"/>
                </a:solidFill>
              </a:rPr>
              <a:t>Maximizing X-small change ROI</a:t>
            </a:r>
            <a:endParaRPr kumimoji="0" lang="en-US" sz="2400" b="0" u="none" strike="noStrike" kern="1200" cap="none" spc="0" normalizeH="0" baseline="0" noProof="0" dirty="0">
              <a:ln>
                <a:noFill/>
              </a:ln>
              <a:solidFill>
                <a:schemeClr val="tx1"/>
              </a:solidFill>
              <a:effectLst/>
              <a:uLnTx/>
              <a:uFillTx/>
            </a:endParaRPr>
          </a:p>
        </p:txBody>
      </p:sp>
      <p:cxnSp>
        <p:nvCxnSpPr>
          <p:cNvPr id="9" name="Straight Connector 8">
            <a:extLst>
              <a:ext uri="{FF2B5EF4-FFF2-40B4-BE49-F238E27FC236}">
                <a16:creationId xmlns:a16="http://schemas.microsoft.com/office/drawing/2014/main" id="{B701EDA9-62EC-563E-8662-633BA4AC67A5}"/>
              </a:ext>
            </a:extLst>
          </p:cNvPr>
          <p:cNvCxnSpPr>
            <a:cxnSpLocks/>
          </p:cNvCxnSpPr>
          <p:nvPr/>
        </p:nvCxnSpPr>
        <p:spPr>
          <a:xfrm>
            <a:off x="6410894" y="3995132"/>
            <a:ext cx="4391560" cy="0"/>
          </a:xfrm>
          <a:prstGeom prst="line">
            <a:avLst/>
          </a:prstGeom>
          <a:ln w="19050" cap="rnd">
            <a:solidFill>
              <a:schemeClr val="bg1">
                <a:lumMod val="75000"/>
              </a:schemeClr>
            </a:solidFill>
            <a:prstDash val="sysDot"/>
            <a:round/>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A66316B9-B190-56B1-614C-FA757D4BDE20}"/>
              </a:ext>
            </a:extLst>
          </p:cNvPr>
          <p:cNvSpPr txBox="1">
            <a:spLocks/>
          </p:cNvSpPr>
          <p:nvPr/>
        </p:nvSpPr>
        <p:spPr>
          <a:xfrm>
            <a:off x="6101599" y="4217914"/>
            <a:ext cx="5010150" cy="794064"/>
          </a:xfrm>
          <a:prstGeom prst="rect">
            <a:avLst/>
          </a:prstGeom>
        </p:spPr>
        <p:txBody>
          <a:bodyPr wrap="square">
            <a:spAutoFit/>
          </a:bodyPr>
          <a:lstStyle>
            <a:lvl1pPr marL="0" algn="ctr" defTabSz="914400" rtl="0" eaLnBrk="1" latinLnBrk="0" hangingPunct="1">
              <a:lnSpc>
                <a:spcPct val="95000"/>
              </a:lnSpc>
              <a:spcBef>
                <a:spcPct val="0"/>
              </a:spcBef>
              <a:buNone/>
              <a:defRPr lang="en-US" sz="2800" b="1" i="0" kern="1200">
                <a:solidFill>
                  <a:schemeClr val="accent4"/>
                </a:solidFill>
                <a:latin typeface="Poppins" pitchFamily="2" charset="77"/>
                <a:ea typeface="+mj-ea"/>
                <a:cs typeface="Poppins" pitchFamily="2" charset="77"/>
              </a:defRPr>
            </a:lvl1pPr>
          </a:lstStyle>
          <a:p>
            <a:pPr marL="0" marR="0" lvl="0" indent="0" defTabSz="914400" rtl="0" eaLnBrk="1" fontAlgn="auto" latinLnBrk="0" hangingPunct="1">
              <a:lnSpc>
                <a:spcPct val="95000"/>
              </a:lnSpc>
              <a:spcBef>
                <a:spcPct val="0"/>
              </a:spcBef>
              <a:spcAft>
                <a:spcPts val="0"/>
              </a:spcAft>
              <a:buClrTx/>
              <a:buSzTx/>
              <a:buFontTx/>
              <a:buNone/>
              <a:tabLst/>
              <a:defRPr/>
            </a:pPr>
            <a:r>
              <a:rPr lang="en-US" sz="2400" b="0" dirty="0">
                <a:solidFill>
                  <a:schemeClr val="tx1"/>
                </a:solidFill>
              </a:rPr>
              <a:t>Detailed Alignment on optimized process</a:t>
            </a:r>
            <a:endParaRPr kumimoji="0" lang="en-US" sz="2400" b="0" u="none" strike="noStrike" kern="1200" cap="none" spc="0" normalizeH="0" baseline="0" noProof="0" dirty="0">
              <a:ln>
                <a:noFill/>
              </a:ln>
              <a:solidFill>
                <a:schemeClr val="tx1"/>
              </a:solidFill>
              <a:effectLst/>
              <a:uLnTx/>
              <a:uFillTx/>
            </a:endParaRPr>
          </a:p>
        </p:txBody>
      </p:sp>
      <p:sp>
        <p:nvSpPr>
          <p:cNvPr id="5" name="Rectangle 4">
            <a:extLst>
              <a:ext uri="{FF2B5EF4-FFF2-40B4-BE49-F238E27FC236}">
                <a16:creationId xmlns:a16="http://schemas.microsoft.com/office/drawing/2014/main" id="{A9538B32-F2DF-6327-5633-7516D5DE24B3}"/>
              </a:ext>
            </a:extLst>
          </p:cNvPr>
          <p:cNvSpPr/>
          <p:nvPr/>
        </p:nvSpPr>
        <p:spPr>
          <a:xfrm>
            <a:off x="-1" y="-1"/>
            <a:ext cx="5700189" cy="6857997"/>
          </a:xfrm>
          <a:prstGeom prst="rect">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r>
              <a:rPr lang="en-US" dirty="0">
                <a:solidFill>
                  <a:schemeClr val="bg1">
                    <a:lumMod val="75000"/>
                  </a:schemeClr>
                </a:solidFill>
              </a:rPr>
              <a:t>IMAGE</a:t>
            </a:r>
          </a:p>
        </p:txBody>
      </p:sp>
      <p:sp>
        <p:nvSpPr>
          <p:cNvPr id="6" name="Rectangle 5">
            <a:extLst>
              <a:ext uri="{FF2B5EF4-FFF2-40B4-BE49-F238E27FC236}">
                <a16:creationId xmlns:a16="http://schemas.microsoft.com/office/drawing/2014/main" id="{18074726-596B-F796-45A6-3BA72FF9C4D3}"/>
              </a:ext>
            </a:extLst>
          </p:cNvPr>
          <p:cNvSpPr/>
          <p:nvPr/>
        </p:nvSpPr>
        <p:spPr>
          <a:xfrm>
            <a:off x="2906486" y="0"/>
            <a:ext cx="2793702" cy="6858000"/>
          </a:xfrm>
          <a:prstGeom prst="rect">
            <a:avLst/>
          </a:prstGeom>
          <a:gradFill>
            <a:gsLst>
              <a:gs pos="0">
                <a:schemeClr val="bg1"/>
              </a:gs>
              <a:gs pos="100000">
                <a:schemeClr val="bg1">
                  <a:alpha val="0"/>
                </a:schemeClr>
              </a:gs>
            </a:gsLst>
            <a:lin ang="10800000" scaled="1"/>
          </a:gra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US" err="1"/>
          </a:p>
        </p:txBody>
      </p:sp>
      <p:pic>
        <p:nvPicPr>
          <p:cNvPr id="3" name="Picture 2" descr="A couple of sailboats on the water&#10;&#10;AI-generated content may be incorrect.">
            <a:extLst>
              <a:ext uri="{FF2B5EF4-FFF2-40B4-BE49-F238E27FC236}">
                <a16:creationId xmlns:a16="http://schemas.microsoft.com/office/drawing/2014/main" id="{34EBB310-98A7-AE62-70A0-8AD82D0AE890}"/>
              </a:ext>
            </a:extLst>
          </p:cNvPr>
          <p:cNvPicPr>
            <a:picLocks noChangeAspect="1"/>
          </p:cNvPicPr>
          <p:nvPr/>
        </p:nvPicPr>
        <p:blipFill>
          <a:blip r:embed="rId3">
            <a:extLst>
              <a:ext uri="{837473B0-CC2E-450A-ABE3-18F120FF3D39}">
                <a1611:picAttrSrcUrl xmlns:a1611="http://schemas.microsoft.com/office/drawing/2016/11/main" r:id="rId4"/>
              </a:ext>
            </a:extLst>
          </a:blip>
          <a:srcRect l="1" r="50130"/>
          <a:stretch>
            <a:fillRect/>
          </a:stretch>
        </p:blipFill>
        <p:spPr>
          <a:xfrm>
            <a:off x="-4980" y="489100"/>
            <a:ext cx="5700189" cy="6000750"/>
          </a:xfrm>
          <a:prstGeom prst="ellipse">
            <a:avLst/>
          </a:prstGeom>
          <a:ln>
            <a:noFill/>
          </a:ln>
          <a:effectLst>
            <a:softEdge rad="112500"/>
          </a:effectLst>
        </p:spPr>
      </p:pic>
    </p:spTree>
    <p:extLst>
      <p:ext uri="{BB962C8B-B14F-4D97-AF65-F5344CB8AC3E}">
        <p14:creationId xmlns:p14="http://schemas.microsoft.com/office/powerpoint/2010/main" val="6142282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7A4F6502-3622-DA56-2ED4-ED5009041C47}"/>
              </a:ext>
            </a:extLst>
          </p:cNvPr>
          <p:cNvSpPr txBox="1"/>
          <p:nvPr/>
        </p:nvSpPr>
        <p:spPr>
          <a:xfrm>
            <a:off x="843490" y="2244349"/>
            <a:ext cx="4556535" cy="2305503"/>
          </a:xfrm>
          <a:prstGeom prst="rect">
            <a:avLst/>
          </a:prstGeom>
          <a:noFill/>
        </p:spPr>
        <p:txBody>
          <a:bodyPr wrap="square" rtlCol="0" anchor="ctr">
            <a:spAutoFit/>
          </a:bodyPr>
          <a:lstStyle/>
          <a:p>
            <a:pPr>
              <a:lnSpc>
                <a:spcPct val="95000"/>
              </a:lnSpc>
              <a:spcBef>
                <a:spcPct val="0"/>
              </a:spcBef>
              <a:defRPr/>
            </a:pPr>
            <a:r>
              <a:rPr lang="en-US" sz="3200" b="1" dirty="0">
                <a:solidFill>
                  <a:schemeClr val="accent1"/>
                </a:solidFill>
                <a:latin typeface="+mj-lt"/>
                <a:ea typeface="+mj-ea"/>
                <a:cs typeface="+mj-cs"/>
              </a:rPr>
              <a:t>Why test X-small changes?</a:t>
            </a:r>
          </a:p>
          <a:p>
            <a:pPr marL="342900" indent="-342900">
              <a:lnSpc>
                <a:spcPct val="112000"/>
              </a:lnSpc>
              <a:spcBef>
                <a:spcPts val="1200"/>
              </a:spcBef>
              <a:buFontTx/>
              <a:buAutoNum type="arabicPeriod"/>
              <a:defRPr/>
            </a:pPr>
            <a:r>
              <a:rPr lang="en-US" sz="1600" dirty="0"/>
              <a:t>Site fine tuning</a:t>
            </a:r>
            <a:endParaRPr lang="en-US" sz="1600" dirty="0">
              <a:latin typeface="+mj-lt"/>
            </a:endParaRPr>
          </a:p>
          <a:p>
            <a:pPr marL="342900" indent="-342900">
              <a:lnSpc>
                <a:spcPct val="112000"/>
              </a:lnSpc>
              <a:spcBef>
                <a:spcPts val="1200"/>
              </a:spcBef>
              <a:buAutoNum type="arabicPeriod"/>
              <a:defRPr/>
            </a:pPr>
            <a:r>
              <a:rPr lang="en-US" sz="1600" dirty="0">
                <a:latin typeface="+mj-lt"/>
              </a:rPr>
              <a:t>Low risk </a:t>
            </a:r>
          </a:p>
          <a:p>
            <a:pPr marL="342900" indent="-342900">
              <a:lnSpc>
                <a:spcPct val="112000"/>
              </a:lnSpc>
              <a:spcBef>
                <a:spcPts val="1200"/>
              </a:spcBef>
              <a:buFontTx/>
              <a:buAutoNum type="arabicPeriod"/>
              <a:defRPr/>
            </a:pPr>
            <a:r>
              <a:rPr lang="en-US" sz="1600" dirty="0"/>
              <a:t>High ROI &amp; high reward in aggregate</a:t>
            </a:r>
          </a:p>
        </p:txBody>
      </p:sp>
      <p:graphicFrame>
        <p:nvGraphicFramePr>
          <p:cNvPr id="3" name="Chart 2">
            <a:extLst>
              <a:ext uri="{FF2B5EF4-FFF2-40B4-BE49-F238E27FC236}">
                <a16:creationId xmlns:a16="http://schemas.microsoft.com/office/drawing/2014/main" id="{5A3A44B2-50DF-A608-40F8-E5483B782310}"/>
              </a:ext>
            </a:extLst>
          </p:cNvPr>
          <p:cNvGraphicFramePr>
            <a:graphicFrameLocks/>
          </p:cNvGraphicFramePr>
          <p:nvPr>
            <p:extLst>
              <p:ext uri="{D42A27DB-BD31-4B8C-83A1-F6EECF244321}">
                <p14:modId xmlns:p14="http://schemas.microsoft.com/office/powerpoint/2010/main" val="1952414086"/>
              </p:ext>
            </p:extLst>
          </p:nvPr>
        </p:nvGraphicFramePr>
        <p:xfrm>
          <a:off x="6795867" y="1726440"/>
          <a:ext cx="4552643" cy="3405117"/>
        </p:xfrm>
        <a:graphic>
          <a:graphicData uri="http://schemas.openxmlformats.org/drawingml/2006/chart">
            <c:chart xmlns:c="http://schemas.openxmlformats.org/drawingml/2006/chart" xmlns:r="http://schemas.openxmlformats.org/officeDocument/2006/relationships" r:id="rId2"/>
          </a:graphicData>
        </a:graphic>
      </p:graphicFrame>
      <p:sp>
        <p:nvSpPr>
          <p:cNvPr id="4" name="Oval 3">
            <a:extLst>
              <a:ext uri="{FF2B5EF4-FFF2-40B4-BE49-F238E27FC236}">
                <a16:creationId xmlns:a16="http://schemas.microsoft.com/office/drawing/2014/main" id="{50329000-2406-B176-6263-7CAFFCF65E1C}"/>
              </a:ext>
            </a:extLst>
          </p:cNvPr>
          <p:cNvSpPr/>
          <p:nvPr/>
        </p:nvSpPr>
        <p:spPr>
          <a:xfrm>
            <a:off x="8829961" y="4254655"/>
            <a:ext cx="177557" cy="174529"/>
          </a:xfrm>
          <a:prstGeom prst="ellipse">
            <a:avLst/>
          </a:prstGeom>
          <a:solidFill>
            <a:srgbClr val="7030A0"/>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US" dirty="0" err="1"/>
          </a:p>
        </p:txBody>
      </p:sp>
      <p:sp>
        <p:nvSpPr>
          <p:cNvPr id="5" name="Oval 4">
            <a:extLst>
              <a:ext uri="{FF2B5EF4-FFF2-40B4-BE49-F238E27FC236}">
                <a16:creationId xmlns:a16="http://schemas.microsoft.com/office/drawing/2014/main" id="{C99A2C58-B159-7AD9-C6AB-C6343AD0FB79}"/>
              </a:ext>
            </a:extLst>
          </p:cNvPr>
          <p:cNvSpPr/>
          <p:nvPr/>
        </p:nvSpPr>
        <p:spPr>
          <a:xfrm>
            <a:off x="8829960" y="3552282"/>
            <a:ext cx="177557" cy="174529"/>
          </a:xfrm>
          <a:prstGeom prst="ellipse">
            <a:avLst/>
          </a:prstGeom>
          <a:solidFill>
            <a:schemeClr val="accent2"/>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US" dirty="0" err="1"/>
          </a:p>
        </p:txBody>
      </p:sp>
    </p:spTree>
    <p:extLst>
      <p:ext uri="{BB962C8B-B14F-4D97-AF65-F5344CB8AC3E}">
        <p14:creationId xmlns:p14="http://schemas.microsoft.com/office/powerpoint/2010/main" val="4213759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2E86F-8303-596A-2EF3-7F282CF29452}"/>
            </a:ext>
          </a:extLst>
        </p:cNvPr>
        <p:cNvGrpSpPr/>
        <p:nvPr/>
      </p:nvGrpSpPr>
      <p:grpSpPr>
        <a:xfrm>
          <a:off x="0" y="0"/>
          <a:ext cx="0" cy="0"/>
          <a:chOff x="0" y="0"/>
          <a:chExt cx="0" cy="0"/>
        </a:xfrm>
      </p:grpSpPr>
      <p:sp>
        <p:nvSpPr>
          <p:cNvPr id="27" name="Rectangle 26">
            <a:extLst>
              <a:ext uri="{FF2B5EF4-FFF2-40B4-BE49-F238E27FC236}">
                <a16:creationId xmlns:a16="http://schemas.microsoft.com/office/drawing/2014/main" id="{D21DD6A8-7EA1-3F08-9B4C-596F6CDAFE57}"/>
              </a:ext>
            </a:extLst>
          </p:cNvPr>
          <p:cNvSpPr/>
          <p:nvPr/>
        </p:nvSpPr>
        <p:spPr>
          <a:xfrm>
            <a:off x="0" y="1447944"/>
            <a:ext cx="3384761" cy="5410056"/>
          </a:xfrm>
          <a:prstGeom prst="rect">
            <a:avLst/>
          </a:prstGeom>
          <a:solidFill>
            <a:schemeClr val="accent1"/>
          </a:solidFill>
          <a:ln>
            <a:noFill/>
          </a:ln>
          <a:effectLst>
            <a:outerShdw blurRad="50800" dist="38100" algn="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ctr"/>
          <a:lstStyle/>
          <a:p>
            <a:pPr algn="ctr"/>
            <a:endParaRPr lang="en-US" err="1">
              <a:latin typeface="+mj-lt"/>
            </a:endParaRPr>
          </a:p>
        </p:txBody>
      </p:sp>
      <p:pic>
        <p:nvPicPr>
          <p:cNvPr id="40" name="Picture 39">
            <a:extLst>
              <a:ext uri="{FF2B5EF4-FFF2-40B4-BE49-F238E27FC236}">
                <a16:creationId xmlns:a16="http://schemas.microsoft.com/office/drawing/2014/main" id="{2768854D-D56F-B1A3-8E1F-A72E364B3E57}"/>
              </a:ext>
            </a:extLst>
          </p:cNvPr>
          <p:cNvPicPr>
            <a:picLocks noChangeAspect="1"/>
          </p:cNvPicPr>
          <p:nvPr/>
        </p:nvPicPr>
        <p:blipFill>
          <a:blip r:embed="rId3"/>
          <a:stretch>
            <a:fillRect/>
          </a:stretch>
        </p:blipFill>
        <p:spPr>
          <a:xfrm>
            <a:off x="10808099" y="6353199"/>
            <a:ext cx="1246369" cy="362001"/>
          </a:xfrm>
          <a:prstGeom prst="rect">
            <a:avLst/>
          </a:prstGeom>
        </p:spPr>
      </p:pic>
      <p:graphicFrame>
        <p:nvGraphicFramePr>
          <p:cNvPr id="2" name="Table 7">
            <a:extLst>
              <a:ext uri="{FF2B5EF4-FFF2-40B4-BE49-F238E27FC236}">
                <a16:creationId xmlns:a16="http://schemas.microsoft.com/office/drawing/2014/main" id="{A198A47A-AC60-5AAD-6B81-4281486C9D01}"/>
              </a:ext>
            </a:extLst>
          </p:cNvPr>
          <p:cNvGraphicFramePr>
            <a:graphicFrameLocks noGrp="1"/>
          </p:cNvGraphicFramePr>
          <p:nvPr/>
        </p:nvGraphicFramePr>
        <p:xfrm>
          <a:off x="4611874" y="1447944"/>
          <a:ext cx="7260936" cy="2192529"/>
        </p:xfrm>
        <a:graphic>
          <a:graphicData uri="http://schemas.openxmlformats.org/drawingml/2006/table">
            <a:tbl>
              <a:tblPr firstRow="1" bandRow="1">
                <a:tableStyleId>{5C22544A-7EE6-4342-B048-85BDC9FD1C3A}</a:tableStyleId>
              </a:tblPr>
              <a:tblGrid>
                <a:gridCol w="605078">
                  <a:extLst>
                    <a:ext uri="{9D8B030D-6E8A-4147-A177-3AD203B41FA5}">
                      <a16:colId xmlns:a16="http://schemas.microsoft.com/office/drawing/2014/main" val="2512130470"/>
                    </a:ext>
                  </a:extLst>
                </a:gridCol>
                <a:gridCol w="605078">
                  <a:extLst>
                    <a:ext uri="{9D8B030D-6E8A-4147-A177-3AD203B41FA5}">
                      <a16:colId xmlns:a16="http://schemas.microsoft.com/office/drawing/2014/main" val="4133395945"/>
                    </a:ext>
                  </a:extLst>
                </a:gridCol>
                <a:gridCol w="605078">
                  <a:extLst>
                    <a:ext uri="{9D8B030D-6E8A-4147-A177-3AD203B41FA5}">
                      <a16:colId xmlns:a16="http://schemas.microsoft.com/office/drawing/2014/main" val="4118028688"/>
                    </a:ext>
                  </a:extLst>
                </a:gridCol>
                <a:gridCol w="605078">
                  <a:extLst>
                    <a:ext uri="{9D8B030D-6E8A-4147-A177-3AD203B41FA5}">
                      <a16:colId xmlns:a16="http://schemas.microsoft.com/office/drawing/2014/main" val="3264559589"/>
                    </a:ext>
                  </a:extLst>
                </a:gridCol>
                <a:gridCol w="605078">
                  <a:extLst>
                    <a:ext uri="{9D8B030D-6E8A-4147-A177-3AD203B41FA5}">
                      <a16:colId xmlns:a16="http://schemas.microsoft.com/office/drawing/2014/main" val="759051057"/>
                    </a:ext>
                  </a:extLst>
                </a:gridCol>
                <a:gridCol w="605078">
                  <a:extLst>
                    <a:ext uri="{9D8B030D-6E8A-4147-A177-3AD203B41FA5}">
                      <a16:colId xmlns:a16="http://schemas.microsoft.com/office/drawing/2014/main" val="3729066656"/>
                    </a:ext>
                  </a:extLst>
                </a:gridCol>
                <a:gridCol w="605078">
                  <a:extLst>
                    <a:ext uri="{9D8B030D-6E8A-4147-A177-3AD203B41FA5}">
                      <a16:colId xmlns:a16="http://schemas.microsoft.com/office/drawing/2014/main" val="2153923829"/>
                    </a:ext>
                  </a:extLst>
                </a:gridCol>
                <a:gridCol w="605078">
                  <a:extLst>
                    <a:ext uri="{9D8B030D-6E8A-4147-A177-3AD203B41FA5}">
                      <a16:colId xmlns:a16="http://schemas.microsoft.com/office/drawing/2014/main" val="697760512"/>
                    </a:ext>
                  </a:extLst>
                </a:gridCol>
                <a:gridCol w="605078">
                  <a:extLst>
                    <a:ext uri="{9D8B030D-6E8A-4147-A177-3AD203B41FA5}">
                      <a16:colId xmlns:a16="http://schemas.microsoft.com/office/drawing/2014/main" val="706740897"/>
                    </a:ext>
                  </a:extLst>
                </a:gridCol>
                <a:gridCol w="605078">
                  <a:extLst>
                    <a:ext uri="{9D8B030D-6E8A-4147-A177-3AD203B41FA5}">
                      <a16:colId xmlns:a16="http://schemas.microsoft.com/office/drawing/2014/main" val="1588501090"/>
                    </a:ext>
                  </a:extLst>
                </a:gridCol>
                <a:gridCol w="605078">
                  <a:extLst>
                    <a:ext uri="{9D8B030D-6E8A-4147-A177-3AD203B41FA5}">
                      <a16:colId xmlns:a16="http://schemas.microsoft.com/office/drawing/2014/main" val="2454760725"/>
                    </a:ext>
                  </a:extLst>
                </a:gridCol>
                <a:gridCol w="605078">
                  <a:extLst>
                    <a:ext uri="{9D8B030D-6E8A-4147-A177-3AD203B41FA5}">
                      <a16:colId xmlns:a16="http://schemas.microsoft.com/office/drawing/2014/main" val="2075737799"/>
                    </a:ext>
                  </a:extLst>
                </a:gridCol>
              </a:tblGrid>
              <a:tr h="395194">
                <a:tc gridSpan="4">
                  <a:txBody>
                    <a:bodyPr/>
                    <a:lstStyle/>
                    <a:p>
                      <a:pPr algn="ctr"/>
                      <a:r>
                        <a:rPr lang="en-US" sz="2400" b="0">
                          <a:solidFill>
                            <a:schemeClr val="tx1"/>
                          </a:solidFill>
                          <a:latin typeface="Georgia" panose="02040502050405020303" pitchFamily="18" charset="0"/>
                        </a:rPr>
                        <a:t>Month 1</a:t>
                      </a:r>
                      <a:endParaRPr lang="en-MY" sz="2400" b="0">
                        <a:solidFill>
                          <a:schemeClr val="tx1"/>
                        </a:solidFill>
                        <a:latin typeface="Georgia" panose="02040502050405020303"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MY" sz="1200" b="0">
                        <a:solidFill>
                          <a:schemeClr val="tx1"/>
                        </a:solidFill>
                      </a:endParaRPr>
                    </a:p>
                  </a:txBody>
                  <a:tcPr marL="0" marR="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MY" sz="1200" b="0">
                        <a:solidFill>
                          <a:schemeClr val="tx1"/>
                        </a:solidFill>
                      </a:endParaRPr>
                    </a:p>
                  </a:txBody>
                  <a:tcPr marL="0" marR="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MY" sz="1200" b="0">
                        <a:solidFill>
                          <a:schemeClr val="tx1"/>
                        </a:solidFill>
                      </a:endParaRPr>
                    </a:p>
                  </a:txBody>
                  <a:tcPr marL="0" marR="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a:r>
                        <a:rPr lang="en-US" sz="2400" b="0" kern="1200">
                          <a:solidFill>
                            <a:schemeClr val="tx1"/>
                          </a:solidFill>
                          <a:latin typeface="Georgia" panose="02040502050405020303" pitchFamily="18" charset="0"/>
                          <a:ea typeface="+mn-ea"/>
                          <a:cs typeface="+mn-cs"/>
                        </a:rPr>
                        <a:t>Month 2</a:t>
                      </a:r>
                      <a:endParaRPr lang="en-MY" sz="2400" b="0">
                        <a:solidFill>
                          <a:schemeClr val="tx1"/>
                        </a:solidFill>
                        <a:latin typeface="Georgia" panose="02040502050405020303"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MY" sz="1200" b="0">
                        <a:solidFill>
                          <a:schemeClr val="tx1"/>
                        </a:solidFill>
                      </a:endParaRPr>
                    </a:p>
                  </a:txBody>
                  <a:tcPr marL="0" marR="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MY" sz="1200" b="0">
                        <a:solidFill>
                          <a:schemeClr val="tx1"/>
                        </a:solidFill>
                      </a:endParaRPr>
                    </a:p>
                  </a:txBody>
                  <a:tcPr marL="0" marR="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MY" sz="1200" b="0">
                        <a:solidFill>
                          <a:schemeClr val="tx1"/>
                        </a:solidFill>
                      </a:endParaRPr>
                    </a:p>
                  </a:txBody>
                  <a:tcPr marL="0" marR="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a:r>
                        <a:rPr lang="en-US" sz="2400" b="0" kern="1200">
                          <a:solidFill>
                            <a:schemeClr val="tx1"/>
                          </a:solidFill>
                          <a:latin typeface="Georgia" panose="02040502050405020303" pitchFamily="18" charset="0"/>
                          <a:ea typeface="+mn-ea"/>
                          <a:cs typeface="+mn-cs"/>
                        </a:rPr>
                        <a:t>Month 3</a:t>
                      </a:r>
                      <a:endParaRPr lang="en-MY" sz="2400" b="0">
                        <a:solidFill>
                          <a:schemeClr val="tx1"/>
                        </a:solidFill>
                        <a:latin typeface="Georgia" panose="02040502050405020303"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MY" sz="1200" b="0">
                        <a:solidFill>
                          <a:schemeClr val="tx1"/>
                        </a:solidFill>
                      </a:endParaRPr>
                    </a:p>
                  </a:txBody>
                  <a:tcPr marL="0" marR="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MY" sz="1200" b="0">
                        <a:solidFill>
                          <a:schemeClr val="tx1"/>
                        </a:solidFill>
                      </a:endParaRPr>
                    </a:p>
                  </a:txBody>
                  <a:tcPr marL="0" marR="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MY" sz="1200" b="0">
                        <a:solidFill>
                          <a:schemeClr val="tx1"/>
                        </a:solidFill>
                      </a:endParaRPr>
                    </a:p>
                  </a:txBody>
                  <a:tcPr marL="0" marR="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26821813"/>
                  </a:ext>
                </a:extLst>
              </a:tr>
              <a:tr h="359467">
                <a:tc>
                  <a:txBody>
                    <a:bodyPr/>
                    <a:lstStyle/>
                    <a:p>
                      <a:pPr algn="ctr"/>
                      <a:r>
                        <a:rPr lang="en-US" sz="1050">
                          <a:solidFill>
                            <a:schemeClr val="tx1"/>
                          </a:solidFill>
                          <a:latin typeface="+mj-lt"/>
                        </a:rPr>
                        <a:t>WK1</a:t>
                      </a:r>
                      <a:endParaRPr lang="en-MY" sz="1050">
                        <a:solidFill>
                          <a:schemeClr val="tx1"/>
                        </a:solidFill>
                        <a:latin typeface="+mj-lt"/>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050">
                          <a:solidFill>
                            <a:schemeClr val="tx1"/>
                          </a:solidFill>
                          <a:latin typeface="+mj-lt"/>
                        </a:rPr>
                        <a:t>WK2</a:t>
                      </a:r>
                      <a:endParaRPr lang="en-MY" sz="1050">
                        <a:solidFill>
                          <a:schemeClr val="tx1"/>
                        </a:solidFill>
                        <a:latin typeface="+mj-lt"/>
                      </a:endParaRPr>
                    </a:p>
                  </a:txBody>
                  <a:tcPr marL="0" marR="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050">
                          <a:solidFill>
                            <a:schemeClr val="tx1"/>
                          </a:solidFill>
                          <a:latin typeface="+mj-lt"/>
                        </a:rPr>
                        <a:t>WK3</a:t>
                      </a:r>
                      <a:endParaRPr lang="en-MY" sz="1050">
                        <a:solidFill>
                          <a:schemeClr val="tx1"/>
                        </a:solidFill>
                        <a:latin typeface="+mj-lt"/>
                      </a:endParaRPr>
                    </a:p>
                  </a:txBody>
                  <a:tcPr marL="0" marR="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050">
                          <a:solidFill>
                            <a:schemeClr val="tx1"/>
                          </a:solidFill>
                          <a:latin typeface="+mj-lt"/>
                        </a:rPr>
                        <a:t>WK4/5</a:t>
                      </a:r>
                      <a:endParaRPr lang="en-MY" sz="1050">
                        <a:solidFill>
                          <a:schemeClr val="tx1"/>
                        </a:solidFill>
                        <a:latin typeface="+mj-lt"/>
                      </a:endParaRPr>
                    </a:p>
                  </a:txBody>
                  <a:tcPr marL="0" marR="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050">
                          <a:solidFill>
                            <a:schemeClr val="tx1"/>
                          </a:solidFill>
                          <a:latin typeface="+mj-lt"/>
                        </a:rPr>
                        <a:t>WK1</a:t>
                      </a:r>
                      <a:endParaRPr lang="en-MY" sz="1050">
                        <a:solidFill>
                          <a:schemeClr val="tx1"/>
                        </a:solidFill>
                        <a:latin typeface="+mj-lt"/>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050">
                          <a:solidFill>
                            <a:schemeClr val="tx1"/>
                          </a:solidFill>
                          <a:latin typeface="+mj-lt"/>
                        </a:rPr>
                        <a:t>WK2</a:t>
                      </a:r>
                      <a:endParaRPr lang="en-MY" sz="1050">
                        <a:solidFill>
                          <a:schemeClr val="tx1"/>
                        </a:solidFill>
                        <a:latin typeface="+mj-lt"/>
                      </a:endParaRPr>
                    </a:p>
                  </a:txBody>
                  <a:tcPr marL="0" marR="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050">
                          <a:solidFill>
                            <a:schemeClr val="tx1"/>
                          </a:solidFill>
                          <a:latin typeface="+mj-lt"/>
                        </a:rPr>
                        <a:t>WK3</a:t>
                      </a:r>
                      <a:endParaRPr lang="en-MY" sz="1050">
                        <a:solidFill>
                          <a:schemeClr val="tx1"/>
                        </a:solidFill>
                        <a:latin typeface="+mj-lt"/>
                      </a:endParaRPr>
                    </a:p>
                  </a:txBody>
                  <a:tcPr marL="0" marR="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050">
                          <a:solidFill>
                            <a:schemeClr val="tx1"/>
                          </a:solidFill>
                          <a:latin typeface="+mj-lt"/>
                        </a:rPr>
                        <a:t>WK4/5</a:t>
                      </a:r>
                      <a:endParaRPr lang="en-MY" sz="1050">
                        <a:solidFill>
                          <a:schemeClr val="tx1"/>
                        </a:solidFill>
                        <a:latin typeface="+mj-lt"/>
                      </a:endParaRPr>
                    </a:p>
                  </a:txBody>
                  <a:tcPr marL="0" marR="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050">
                          <a:solidFill>
                            <a:schemeClr val="tx1"/>
                          </a:solidFill>
                          <a:latin typeface="+mj-lt"/>
                        </a:rPr>
                        <a:t>WK1</a:t>
                      </a:r>
                      <a:endParaRPr lang="en-MY" sz="1050">
                        <a:solidFill>
                          <a:schemeClr val="tx1"/>
                        </a:solidFill>
                        <a:latin typeface="+mj-lt"/>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050">
                          <a:solidFill>
                            <a:schemeClr val="tx1"/>
                          </a:solidFill>
                          <a:latin typeface="+mj-lt"/>
                        </a:rPr>
                        <a:t>WK2</a:t>
                      </a:r>
                      <a:endParaRPr lang="en-MY" sz="1050">
                        <a:solidFill>
                          <a:schemeClr val="tx1"/>
                        </a:solidFill>
                        <a:latin typeface="+mj-lt"/>
                      </a:endParaRPr>
                    </a:p>
                  </a:txBody>
                  <a:tcPr marL="0" marR="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050">
                          <a:solidFill>
                            <a:schemeClr val="tx1"/>
                          </a:solidFill>
                          <a:latin typeface="+mj-lt"/>
                        </a:rPr>
                        <a:t>WK3</a:t>
                      </a:r>
                      <a:endParaRPr lang="en-MY" sz="1050">
                        <a:solidFill>
                          <a:schemeClr val="tx1"/>
                        </a:solidFill>
                        <a:latin typeface="+mj-lt"/>
                      </a:endParaRPr>
                    </a:p>
                  </a:txBody>
                  <a:tcPr marL="0" marR="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050">
                          <a:solidFill>
                            <a:schemeClr val="tx1"/>
                          </a:solidFill>
                          <a:latin typeface="+mj-lt"/>
                        </a:rPr>
                        <a:t>WK4/5</a:t>
                      </a:r>
                      <a:endParaRPr lang="en-MY" sz="1050">
                        <a:solidFill>
                          <a:schemeClr val="tx1"/>
                        </a:solidFill>
                        <a:latin typeface="+mj-lt"/>
                      </a:endParaRPr>
                    </a:p>
                  </a:txBody>
                  <a:tcPr marL="0" marR="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6740885"/>
                  </a:ext>
                </a:extLst>
              </a:tr>
              <a:tr h="359467">
                <a:tc>
                  <a:txBody>
                    <a:bodyPr/>
                    <a:lstStyle/>
                    <a:p>
                      <a:endParaRPr lang="en-MY">
                        <a:solidFill>
                          <a:schemeClr val="tx1"/>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solidFill>
                          <a:schemeClr val="tx1"/>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solidFill>
                          <a:schemeClr val="tx1"/>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1735823"/>
                  </a:ext>
                </a:extLst>
              </a:tr>
              <a:tr h="359467">
                <a:tc>
                  <a:txBody>
                    <a:bodyPr/>
                    <a:lstStyle/>
                    <a:p>
                      <a:endParaRPr lang="en-MY">
                        <a:solidFill>
                          <a:schemeClr val="tx1"/>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solidFill>
                          <a:schemeClr val="tx1"/>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solidFill>
                          <a:schemeClr val="tx1"/>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14635189"/>
                  </a:ext>
                </a:extLst>
              </a:tr>
              <a:tr h="359467">
                <a:tc>
                  <a:txBody>
                    <a:bodyPr/>
                    <a:lstStyle/>
                    <a:p>
                      <a:endParaRPr lang="en-MY">
                        <a:solidFill>
                          <a:schemeClr val="tx1"/>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solidFill>
                          <a:schemeClr val="tx1"/>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solidFill>
                          <a:schemeClr val="tx1"/>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20089260"/>
                  </a:ext>
                </a:extLst>
              </a:tr>
              <a:tr h="359467">
                <a:tc>
                  <a:txBody>
                    <a:bodyPr/>
                    <a:lstStyle/>
                    <a:p>
                      <a:endParaRPr lang="en-MY">
                        <a:solidFill>
                          <a:schemeClr val="tx1"/>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solidFill>
                          <a:schemeClr val="tx1"/>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solidFill>
                          <a:schemeClr val="tx1"/>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3751883"/>
                  </a:ext>
                </a:extLst>
              </a:tr>
            </a:tbl>
          </a:graphicData>
        </a:graphic>
      </p:graphicFrame>
      <p:sp>
        <p:nvSpPr>
          <p:cNvPr id="26" name="Title 1">
            <a:extLst>
              <a:ext uri="{FF2B5EF4-FFF2-40B4-BE49-F238E27FC236}">
                <a16:creationId xmlns:a16="http://schemas.microsoft.com/office/drawing/2014/main" id="{8DCCFF46-A373-D9A2-D5C3-885C981D70DC}"/>
              </a:ext>
            </a:extLst>
          </p:cNvPr>
          <p:cNvSpPr txBox="1">
            <a:spLocks/>
          </p:cNvSpPr>
          <p:nvPr/>
        </p:nvSpPr>
        <p:spPr>
          <a:xfrm>
            <a:off x="554989" y="246662"/>
            <a:ext cx="11082019" cy="867930"/>
          </a:xfrm>
          <a:prstGeom prst="rect">
            <a:avLst/>
          </a:prstGeom>
        </p:spPr>
        <p:txBody>
          <a:bodyPr vert="horz" lIns="91440" tIns="45720" rIns="91440" bIns="45720" rtlCol="0" anchor="t">
            <a:spAutoFit/>
          </a:bodyPr>
          <a:lstStyle>
            <a:lvl1pPr algn="l" defTabSz="914377" rtl="0" eaLnBrk="1" latinLnBrk="0" hangingPunct="1">
              <a:lnSpc>
                <a:spcPct val="90000"/>
              </a:lnSpc>
              <a:spcBef>
                <a:spcPct val="0"/>
              </a:spcBef>
              <a:buNone/>
              <a:defRPr sz="3200" b="1" kern="1200">
                <a:solidFill>
                  <a:schemeClr val="accent4"/>
                </a:solidFill>
                <a:latin typeface="Poppins" panose="00000500000000000000" pitchFamily="2" charset="0"/>
                <a:ea typeface="+mj-ea"/>
                <a:cs typeface="Poppins" panose="00000500000000000000" pitchFamily="2" charset="0"/>
              </a:defRPr>
            </a:lvl1pPr>
          </a:lstStyle>
          <a:p>
            <a:pPr algn="ctr"/>
            <a:r>
              <a:rPr lang="en-US" sz="2800" dirty="0">
                <a:solidFill>
                  <a:schemeClr val="tx2"/>
                </a:solidFill>
                <a:latin typeface="+mj-lt"/>
              </a:rPr>
              <a:t>Prioritization Inclusive Of LOE Enables Broader Testing, Higher Impact &amp; Lower Risk</a:t>
            </a:r>
          </a:p>
        </p:txBody>
      </p:sp>
      <p:graphicFrame>
        <p:nvGraphicFramePr>
          <p:cNvPr id="29" name="Table 7">
            <a:extLst>
              <a:ext uri="{FF2B5EF4-FFF2-40B4-BE49-F238E27FC236}">
                <a16:creationId xmlns:a16="http://schemas.microsoft.com/office/drawing/2014/main" id="{A276C578-DC9F-537C-D807-F9A9AC26E162}"/>
              </a:ext>
            </a:extLst>
          </p:cNvPr>
          <p:cNvGraphicFramePr>
            <a:graphicFrameLocks noGrp="1"/>
          </p:cNvGraphicFramePr>
          <p:nvPr/>
        </p:nvGraphicFramePr>
        <p:xfrm>
          <a:off x="4614112" y="4134058"/>
          <a:ext cx="7260936" cy="2192529"/>
        </p:xfrm>
        <a:graphic>
          <a:graphicData uri="http://schemas.openxmlformats.org/drawingml/2006/table">
            <a:tbl>
              <a:tblPr firstRow="1" bandRow="1">
                <a:tableStyleId>{5C22544A-7EE6-4342-B048-85BDC9FD1C3A}</a:tableStyleId>
              </a:tblPr>
              <a:tblGrid>
                <a:gridCol w="605078">
                  <a:extLst>
                    <a:ext uri="{9D8B030D-6E8A-4147-A177-3AD203B41FA5}">
                      <a16:colId xmlns:a16="http://schemas.microsoft.com/office/drawing/2014/main" val="2512130470"/>
                    </a:ext>
                  </a:extLst>
                </a:gridCol>
                <a:gridCol w="605078">
                  <a:extLst>
                    <a:ext uri="{9D8B030D-6E8A-4147-A177-3AD203B41FA5}">
                      <a16:colId xmlns:a16="http://schemas.microsoft.com/office/drawing/2014/main" val="4133395945"/>
                    </a:ext>
                  </a:extLst>
                </a:gridCol>
                <a:gridCol w="605078">
                  <a:extLst>
                    <a:ext uri="{9D8B030D-6E8A-4147-A177-3AD203B41FA5}">
                      <a16:colId xmlns:a16="http://schemas.microsoft.com/office/drawing/2014/main" val="4118028688"/>
                    </a:ext>
                  </a:extLst>
                </a:gridCol>
                <a:gridCol w="605078">
                  <a:extLst>
                    <a:ext uri="{9D8B030D-6E8A-4147-A177-3AD203B41FA5}">
                      <a16:colId xmlns:a16="http://schemas.microsoft.com/office/drawing/2014/main" val="3264559589"/>
                    </a:ext>
                  </a:extLst>
                </a:gridCol>
                <a:gridCol w="605078">
                  <a:extLst>
                    <a:ext uri="{9D8B030D-6E8A-4147-A177-3AD203B41FA5}">
                      <a16:colId xmlns:a16="http://schemas.microsoft.com/office/drawing/2014/main" val="759051057"/>
                    </a:ext>
                  </a:extLst>
                </a:gridCol>
                <a:gridCol w="605078">
                  <a:extLst>
                    <a:ext uri="{9D8B030D-6E8A-4147-A177-3AD203B41FA5}">
                      <a16:colId xmlns:a16="http://schemas.microsoft.com/office/drawing/2014/main" val="3729066656"/>
                    </a:ext>
                  </a:extLst>
                </a:gridCol>
                <a:gridCol w="605078">
                  <a:extLst>
                    <a:ext uri="{9D8B030D-6E8A-4147-A177-3AD203B41FA5}">
                      <a16:colId xmlns:a16="http://schemas.microsoft.com/office/drawing/2014/main" val="2153923829"/>
                    </a:ext>
                  </a:extLst>
                </a:gridCol>
                <a:gridCol w="605078">
                  <a:extLst>
                    <a:ext uri="{9D8B030D-6E8A-4147-A177-3AD203B41FA5}">
                      <a16:colId xmlns:a16="http://schemas.microsoft.com/office/drawing/2014/main" val="697760512"/>
                    </a:ext>
                  </a:extLst>
                </a:gridCol>
                <a:gridCol w="605078">
                  <a:extLst>
                    <a:ext uri="{9D8B030D-6E8A-4147-A177-3AD203B41FA5}">
                      <a16:colId xmlns:a16="http://schemas.microsoft.com/office/drawing/2014/main" val="706740897"/>
                    </a:ext>
                  </a:extLst>
                </a:gridCol>
                <a:gridCol w="605078">
                  <a:extLst>
                    <a:ext uri="{9D8B030D-6E8A-4147-A177-3AD203B41FA5}">
                      <a16:colId xmlns:a16="http://schemas.microsoft.com/office/drawing/2014/main" val="1588501090"/>
                    </a:ext>
                  </a:extLst>
                </a:gridCol>
                <a:gridCol w="605078">
                  <a:extLst>
                    <a:ext uri="{9D8B030D-6E8A-4147-A177-3AD203B41FA5}">
                      <a16:colId xmlns:a16="http://schemas.microsoft.com/office/drawing/2014/main" val="2454760725"/>
                    </a:ext>
                  </a:extLst>
                </a:gridCol>
                <a:gridCol w="605078">
                  <a:extLst>
                    <a:ext uri="{9D8B030D-6E8A-4147-A177-3AD203B41FA5}">
                      <a16:colId xmlns:a16="http://schemas.microsoft.com/office/drawing/2014/main" val="2075737799"/>
                    </a:ext>
                  </a:extLst>
                </a:gridCol>
              </a:tblGrid>
              <a:tr h="395194">
                <a:tc gridSpan="4">
                  <a:txBody>
                    <a:bodyPr/>
                    <a:lstStyle/>
                    <a:p>
                      <a:pPr algn="ctr"/>
                      <a:r>
                        <a:rPr lang="en-US" sz="2400" b="0">
                          <a:ln>
                            <a:noFill/>
                          </a:ln>
                          <a:solidFill>
                            <a:schemeClr val="tx1"/>
                          </a:solidFill>
                          <a:latin typeface="Georgia" panose="02040502050405020303" pitchFamily="18" charset="0"/>
                        </a:rPr>
                        <a:t>Month 1</a:t>
                      </a:r>
                      <a:endParaRPr lang="en-MY" sz="2400" b="0">
                        <a:ln>
                          <a:noFill/>
                        </a:ln>
                        <a:solidFill>
                          <a:schemeClr val="tx1"/>
                        </a:solidFill>
                        <a:latin typeface="Georgia" panose="02040502050405020303"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MY" sz="1200" b="0">
                        <a:solidFill>
                          <a:schemeClr val="tx1"/>
                        </a:solidFill>
                      </a:endParaRPr>
                    </a:p>
                  </a:txBody>
                  <a:tcPr marL="0" marR="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MY" sz="1200" b="0">
                        <a:solidFill>
                          <a:schemeClr val="tx1"/>
                        </a:solidFill>
                      </a:endParaRPr>
                    </a:p>
                  </a:txBody>
                  <a:tcPr marL="0" marR="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MY" sz="1200" b="0">
                        <a:solidFill>
                          <a:schemeClr val="tx1"/>
                        </a:solidFill>
                      </a:endParaRPr>
                    </a:p>
                  </a:txBody>
                  <a:tcPr marL="0" marR="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a:r>
                        <a:rPr lang="en-US" sz="2400" b="0" kern="1200">
                          <a:ln>
                            <a:noFill/>
                          </a:ln>
                          <a:solidFill>
                            <a:schemeClr val="tx1"/>
                          </a:solidFill>
                          <a:latin typeface="Georgia" panose="02040502050405020303" pitchFamily="18" charset="0"/>
                          <a:ea typeface="+mn-ea"/>
                          <a:cs typeface="+mn-cs"/>
                        </a:rPr>
                        <a:t>Month 2</a:t>
                      </a:r>
                      <a:endParaRPr lang="en-MY" sz="2400" b="0">
                        <a:ln>
                          <a:noFill/>
                        </a:ln>
                        <a:solidFill>
                          <a:schemeClr val="tx1"/>
                        </a:solidFill>
                        <a:latin typeface="Georgia" panose="02040502050405020303"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MY" sz="1200" b="0">
                        <a:solidFill>
                          <a:schemeClr val="tx1"/>
                        </a:solidFill>
                      </a:endParaRPr>
                    </a:p>
                  </a:txBody>
                  <a:tcPr marL="0" marR="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MY" sz="1200" b="0">
                        <a:solidFill>
                          <a:schemeClr val="tx1"/>
                        </a:solidFill>
                      </a:endParaRPr>
                    </a:p>
                  </a:txBody>
                  <a:tcPr marL="0" marR="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MY" sz="1200" b="0">
                        <a:solidFill>
                          <a:schemeClr val="tx1"/>
                        </a:solidFill>
                      </a:endParaRPr>
                    </a:p>
                  </a:txBody>
                  <a:tcPr marL="0" marR="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a:r>
                        <a:rPr lang="en-US" sz="2400" b="0" kern="1200">
                          <a:ln>
                            <a:noFill/>
                          </a:ln>
                          <a:solidFill>
                            <a:schemeClr val="tx1"/>
                          </a:solidFill>
                          <a:latin typeface="Georgia" panose="02040502050405020303" pitchFamily="18" charset="0"/>
                          <a:ea typeface="+mn-ea"/>
                          <a:cs typeface="+mn-cs"/>
                        </a:rPr>
                        <a:t>Month 3</a:t>
                      </a:r>
                      <a:endParaRPr lang="en-MY" sz="2400" b="0">
                        <a:ln>
                          <a:noFill/>
                        </a:ln>
                        <a:solidFill>
                          <a:schemeClr val="tx1"/>
                        </a:solidFill>
                        <a:latin typeface="Georgia" panose="02040502050405020303"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MY" sz="1200" b="0">
                        <a:solidFill>
                          <a:schemeClr val="tx1"/>
                        </a:solidFill>
                      </a:endParaRPr>
                    </a:p>
                  </a:txBody>
                  <a:tcPr marL="0" marR="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MY" sz="1200" b="0">
                        <a:solidFill>
                          <a:schemeClr val="tx1"/>
                        </a:solidFill>
                      </a:endParaRPr>
                    </a:p>
                  </a:txBody>
                  <a:tcPr marL="0" marR="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MY" sz="1200" b="0">
                        <a:solidFill>
                          <a:schemeClr val="tx1"/>
                        </a:solidFill>
                      </a:endParaRPr>
                    </a:p>
                  </a:txBody>
                  <a:tcPr marL="0" marR="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26821813"/>
                  </a:ext>
                </a:extLst>
              </a:tr>
              <a:tr h="359467">
                <a:tc>
                  <a:txBody>
                    <a:bodyPr/>
                    <a:lstStyle/>
                    <a:p>
                      <a:pPr algn="ctr"/>
                      <a:r>
                        <a:rPr lang="en-US" sz="1050">
                          <a:ln>
                            <a:noFill/>
                          </a:ln>
                          <a:solidFill>
                            <a:schemeClr val="tx1"/>
                          </a:solidFill>
                          <a:latin typeface="+mj-lt"/>
                        </a:rPr>
                        <a:t>WK1</a:t>
                      </a:r>
                      <a:endParaRPr lang="en-MY" sz="1050">
                        <a:ln>
                          <a:noFill/>
                        </a:ln>
                        <a:solidFill>
                          <a:schemeClr val="tx1"/>
                        </a:solidFill>
                        <a:latin typeface="+mj-lt"/>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050">
                          <a:ln>
                            <a:noFill/>
                          </a:ln>
                          <a:solidFill>
                            <a:schemeClr val="tx1"/>
                          </a:solidFill>
                          <a:latin typeface="+mj-lt"/>
                        </a:rPr>
                        <a:t>WK2</a:t>
                      </a:r>
                      <a:endParaRPr lang="en-MY" sz="1050">
                        <a:ln>
                          <a:noFill/>
                        </a:ln>
                        <a:solidFill>
                          <a:schemeClr val="tx1"/>
                        </a:solidFill>
                        <a:latin typeface="+mj-lt"/>
                      </a:endParaRPr>
                    </a:p>
                  </a:txBody>
                  <a:tcPr marL="0" marR="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050">
                          <a:ln>
                            <a:noFill/>
                          </a:ln>
                          <a:solidFill>
                            <a:schemeClr val="tx1"/>
                          </a:solidFill>
                          <a:latin typeface="+mj-lt"/>
                        </a:rPr>
                        <a:t>WK3</a:t>
                      </a:r>
                      <a:endParaRPr lang="en-MY" sz="1050">
                        <a:ln>
                          <a:noFill/>
                        </a:ln>
                        <a:solidFill>
                          <a:schemeClr val="tx1"/>
                        </a:solidFill>
                        <a:latin typeface="+mj-lt"/>
                      </a:endParaRPr>
                    </a:p>
                  </a:txBody>
                  <a:tcPr marL="0" marR="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050">
                          <a:ln>
                            <a:noFill/>
                          </a:ln>
                          <a:solidFill>
                            <a:schemeClr val="tx1"/>
                          </a:solidFill>
                          <a:latin typeface="+mj-lt"/>
                        </a:rPr>
                        <a:t>WK4/5</a:t>
                      </a:r>
                      <a:endParaRPr lang="en-MY" sz="1050">
                        <a:ln>
                          <a:noFill/>
                        </a:ln>
                        <a:solidFill>
                          <a:schemeClr val="tx1"/>
                        </a:solidFill>
                        <a:latin typeface="+mj-lt"/>
                      </a:endParaRPr>
                    </a:p>
                  </a:txBody>
                  <a:tcPr marL="0" marR="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050">
                          <a:ln>
                            <a:noFill/>
                          </a:ln>
                          <a:solidFill>
                            <a:schemeClr val="tx1"/>
                          </a:solidFill>
                          <a:latin typeface="+mj-lt"/>
                        </a:rPr>
                        <a:t>WK1</a:t>
                      </a:r>
                      <a:endParaRPr lang="en-MY" sz="1050">
                        <a:ln>
                          <a:noFill/>
                        </a:ln>
                        <a:solidFill>
                          <a:schemeClr val="tx1"/>
                        </a:solidFill>
                        <a:latin typeface="+mj-lt"/>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050">
                          <a:ln>
                            <a:noFill/>
                          </a:ln>
                          <a:solidFill>
                            <a:schemeClr val="tx1"/>
                          </a:solidFill>
                          <a:latin typeface="+mj-lt"/>
                        </a:rPr>
                        <a:t>WK2</a:t>
                      </a:r>
                      <a:endParaRPr lang="en-MY" sz="1050">
                        <a:ln>
                          <a:noFill/>
                        </a:ln>
                        <a:solidFill>
                          <a:schemeClr val="tx1"/>
                        </a:solidFill>
                        <a:latin typeface="+mj-lt"/>
                      </a:endParaRPr>
                    </a:p>
                  </a:txBody>
                  <a:tcPr marL="0" marR="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050">
                          <a:ln>
                            <a:noFill/>
                          </a:ln>
                          <a:solidFill>
                            <a:schemeClr val="tx1"/>
                          </a:solidFill>
                          <a:latin typeface="+mj-lt"/>
                        </a:rPr>
                        <a:t>WK3</a:t>
                      </a:r>
                      <a:endParaRPr lang="en-MY" sz="1050">
                        <a:ln>
                          <a:noFill/>
                        </a:ln>
                        <a:solidFill>
                          <a:schemeClr val="tx1"/>
                        </a:solidFill>
                        <a:latin typeface="+mj-lt"/>
                      </a:endParaRPr>
                    </a:p>
                  </a:txBody>
                  <a:tcPr marL="0" marR="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050">
                          <a:ln>
                            <a:noFill/>
                          </a:ln>
                          <a:solidFill>
                            <a:schemeClr val="tx1"/>
                          </a:solidFill>
                          <a:latin typeface="+mj-lt"/>
                        </a:rPr>
                        <a:t>WK4/5</a:t>
                      </a:r>
                      <a:endParaRPr lang="en-MY" sz="1050">
                        <a:ln>
                          <a:noFill/>
                        </a:ln>
                        <a:solidFill>
                          <a:schemeClr val="tx1"/>
                        </a:solidFill>
                        <a:latin typeface="+mj-lt"/>
                      </a:endParaRPr>
                    </a:p>
                  </a:txBody>
                  <a:tcPr marL="0" marR="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050">
                          <a:ln>
                            <a:noFill/>
                          </a:ln>
                          <a:solidFill>
                            <a:schemeClr val="tx1"/>
                          </a:solidFill>
                          <a:latin typeface="+mj-lt"/>
                        </a:rPr>
                        <a:t>WK1</a:t>
                      </a:r>
                      <a:endParaRPr lang="en-MY" sz="1050">
                        <a:ln>
                          <a:noFill/>
                        </a:ln>
                        <a:solidFill>
                          <a:schemeClr val="tx1"/>
                        </a:solidFill>
                        <a:latin typeface="+mj-lt"/>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050">
                          <a:ln>
                            <a:noFill/>
                          </a:ln>
                          <a:solidFill>
                            <a:schemeClr val="tx1"/>
                          </a:solidFill>
                          <a:latin typeface="+mj-lt"/>
                        </a:rPr>
                        <a:t>WK2</a:t>
                      </a:r>
                      <a:endParaRPr lang="en-MY" sz="1050">
                        <a:ln>
                          <a:noFill/>
                        </a:ln>
                        <a:solidFill>
                          <a:schemeClr val="tx1"/>
                        </a:solidFill>
                        <a:latin typeface="+mj-lt"/>
                      </a:endParaRPr>
                    </a:p>
                  </a:txBody>
                  <a:tcPr marL="0" marR="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050">
                          <a:ln>
                            <a:noFill/>
                          </a:ln>
                          <a:solidFill>
                            <a:schemeClr val="tx1"/>
                          </a:solidFill>
                          <a:latin typeface="+mj-lt"/>
                        </a:rPr>
                        <a:t>WK3</a:t>
                      </a:r>
                      <a:endParaRPr lang="en-MY" sz="1050">
                        <a:ln>
                          <a:noFill/>
                        </a:ln>
                        <a:solidFill>
                          <a:schemeClr val="tx1"/>
                        </a:solidFill>
                        <a:latin typeface="+mj-lt"/>
                      </a:endParaRPr>
                    </a:p>
                  </a:txBody>
                  <a:tcPr marL="0" marR="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050">
                          <a:ln>
                            <a:noFill/>
                          </a:ln>
                          <a:solidFill>
                            <a:schemeClr val="tx1"/>
                          </a:solidFill>
                          <a:latin typeface="+mj-lt"/>
                        </a:rPr>
                        <a:t>WK4/5</a:t>
                      </a:r>
                      <a:endParaRPr lang="en-MY" sz="1050">
                        <a:ln>
                          <a:noFill/>
                        </a:ln>
                        <a:solidFill>
                          <a:schemeClr val="tx1"/>
                        </a:solidFill>
                        <a:latin typeface="+mj-lt"/>
                      </a:endParaRPr>
                    </a:p>
                  </a:txBody>
                  <a:tcPr marL="0" marR="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6740885"/>
                  </a:ext>
                </a:extLst>
              </a:tr>
              <a:tr h="359467">
                <a:tc>
                  <a:txBody>
                    <a:bodyPr/>
                    <a:lstStyle/>
                    <a:p>
                      <a:endParaRPr lang="en-MY">
                        <a:ln>
                          <a:noFill/>
                        </a:ln>
                        <a:solidFill>
                          <a:schemeClr val="tx1"/>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ln>
                          <a:noFill/>
                        </a:ln>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ln>
                          <a:noFill/>
                        </a:ln>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ln>
                          <a:noFill/>
                        </a:ln>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ln>
                          <a:noFill/>
                        </a:ln>
                        <a:solidFill>
                          <a:schemeClr val="tx1"/>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ln>
                          <a:noFill/>
                        </a:ln>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ln>
                          <a:noFill/>
                        </a:ln>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ln>
                          <a:noFill/>
                        </a:ln>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ln>
                          <a:noFill/>
                        </a:ln>
                        <a:solidFill>
                          <a:schemeClr val="tx1"/>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ln>
                          <a:noFill/>
                        </a:ln>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ln>
                          <a:noFill/>
                        </a:ln>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ln>
                          <a:noFill/>
                        </a:ln>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1735823"/>
                  </a:ext>
                </a:extLst>
              </a:tr>
              <a:tr h="359467">
                <a:tc>
                  <a:txBody>
                    <a:bodyPr/>
                    <a:lstStyle/>
                    <a:p>
                      <a:endParaRPr lang="en-MY">
                        <a:ln>
                          <a:noFill/>
                        </a:ln>
                        <a:solidFill>
                          <a:schemeClr val="tx1"/>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ln>
                          <a:noFill/>
                        </a:ln>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ln>
                          <a:noFill/>
                        </a:ln>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ln>
                          <a:noFill/>
                        </a:ln>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ln>
                          <a:noFill/>
                        </a:ln>
                        <a:solidFill>
                          <a:schemeClr val="tx1"/>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ln>
                          <a:noFill/>
                        </a:ln>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ln>
                          <a:noFill/>
                        </a:ln>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ln>
                          <a:noFill/>
                        </a:ln>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ln>
                          <a:noFill/>
                        </a:ln>
                        <a:solidFill>
                          <a:schemeClr val="tx1"/>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ln>
                          <a:noFill/>
                        </a:ln>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ln>
                          <a:noFill/>
                        </a:ln>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ln>
                          <a:noFill/>
                        </a:ln>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14635189"/>
                  </a:ext>
                </a:extLst>
              </a:tr>
              <a:tr h="359467">
                <a:tc>
                  <a:txBody>
                    <a:bodyPr/>
                    <a:lstStyle/>
                    <a:p>
                      <a:endParaRPr lang="en-MY">
                        <a:ln>
                          <a:noFill/>
                        </a:ln>
                        <a:solidFill>
                          <a:schemeClr val="tx1"/>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ln>
                          <a:noFill/>
                        </a:ln>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ln>
                          <a:noFill/>
                        </a:ln>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ln>
                          <a:noFill/>
                        </a:ln>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ln>
                          <a:noFill/>
                        </a:ln>
                        <a:solidFill>
                          <a:schemeClr val="tx1"/>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ln>
                          <a:noFill/>
                        </a:ln>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ln>
                          <a:noFill/>
                        </a:ln>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ln>
                          <a:noFill/>
                        </a:ln>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ln>
                          <a:noFill/>
                        </a:ln>
                        <a:solidFill>
                          <a:schemeClr val="tx1"/>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ln>
                          <a:noFill/>
                        </a:ln>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ln>
                          <a:noFill/>
                        </a:ln>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ln>
                          <a:noFill/>
                        </a:ln>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20089260"/>
                  </a:ext>
                </a:extLst>
              </a:tr>
              <a:tr h="359467">
                <a:tc>
                  <a:txBody>
                    <a:bodyPr/>
                    <a:lstStyle/>
                    <a:p>
                      <a:endParaRPr lang="en-MY">
                        <a:ln>
                          <a:noFill/>
                        </a:ln>
                        <a:solidFill>
                          <a:schemeClr val="tx1"/>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ln>
                          <a:noFill/>
                        </a:ln>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ln>
                          <a:noFill/>
                        </a:ln>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ln>
                          <a:noFill/>
                        </a:ln>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ln>
                          <a:noFill/>
                        </a:ln>
                        <a:solidFill>
                          <a:schemeClr val="tx1"/>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ln>
                          <a:noFill/>
                        </a:ln>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ln>
                          <a:noFill/>
                        </a:ln>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ln>
                          <a:noFill/>
                        </a:ln>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ln>
                          <a:noFill/>
                        </a:ln>
                        <a:solidFill>
                          <a:schemeClr val="tx1"/>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ln>
                          <a:noFill/>
                        </a:ln>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ln>
                          <a:noFill/>
                        </a:ln>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MY">
                        <a:ln>
                          <a:noFill/>
                        </a:ln>
                        <a:solidFill>
                          <a:schemeClr val="tx1"/>
                        </a:solidFill>
                      </a:endParaRPr>
                    </a:p>
                  </a:txBody>
                  <a:tcPr marL="0" marR="0" marT="0" marB="0">
                    <a:lnL w="12700" cap="flat" cmpd="sng" algn="ctr">
                      <a:solidFill>
                        <a:schemeClr val="bg1">
                          <a:lumMod val="9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3751883"/>
                  </a:ext>
                </a:extLst>
              </a:tr>
            </a:tbl>
          </a:graphicData>
        </a:graphic>
      </p:graphicFrame>
      <p:sp>
        <p:nvSpPr>
          <p:cNvPr id="32" name="Rectangle: Rounded Corners 31">
            <a:extLst>
              <a:ext uri="{FF2B5EF4-FFF2-40B4-BE49-F238E27FC236}">
                <a16:creationId xmlns:a16="http://schemas.microsoft.com/office/drawing/2014/main" id="{447BE34B-CB51-4C97-30C2-C6B805555F66}"/>
              </a:ext>
            </a:extLst>
          </p:cNvPr>
          <p:cNvSpPr/>
          <p:nvPr/>
        </p:nvSpPr>
        <p:spPr>
          <a:xfrm>
            <a:off x="5252854" y="4909008"/>
            <a:ext cx="2089946" cy="324035"/>
          </a:xfrm>
          <a:prstGeom prst="roundRect">
            <a:avLst>
              <a:gd name="adj" fmla="val 4958"/>
            </a:avLst>
          </a:prstGeom>
          <a:solidFill>
            <a:srgbClr val="FFC000"/>
          </a:solidFill>
          <a:ln>
            <a:noFill/>
          </a:ln>
          <a:effectLst>
            <a:outerShdw blurRad="254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MY" sz="1100" b="0" i="0" u="none" strike="noStrike" kern="1200" cap="none" spc="0" normalizeH="0" baseline="0" noProof="0">
                <a:ln>
                  <a:noFill/>
                </a:ln>
                <a:solidFill>
                  <a:srgbClr val="FFFFFF"/>
                </a:solidFill>
                <a:effectLst/>
                <a:uLnTx/>
                <a:uFillTx/>
                <a:latin typeface="+mj-lt"/>
                <a:ea typeface="+mn-ea"/>
                <a:cs typeface="+mn-cs"/>
              </a:rPr>
              <a:t>Large +10</a:t>
            </a:r>
          </a:p>
        </p:txBody>
      </p:sp>
      <p:sp>
        <p:nvSpPr>
          <p:cNvPr id="33" name="Rectangle: Rounded Corners 32">
            <a:extLst>
              <a:ext uri="{FF2B5EF4-FFF2-40B4-BE49-F238E27FC236}">
                <a16:creationId xmlns:a16="http://schemas.microsoft.com/office/drawing/2014/main" id="{B417CA68-F8F7-5C62-8686-0501856FA8E2}"/>
              </a:ext>
            </a:extLst>
          </p:cNvPr>
          <p:cNvSpPr/>
          <p:nvPr/>
        </p:nvSpPr>
        <p:spPr>
          <a:xfrm>
            <a:off x="7449880" y="4909008"/>
            <a:ext cx="2089946" cy="324035"/>
          </a:xfrm>
          <a:prstGeom prst="roundRect">
            <a:avLst>
              <a:gd name="adj" fmla="val 4958"/>
            </a:avLst>
          </a:prstGeom>
          <a:solidFill>
            <a:srgbClr val="FFC000"/>
          </a:solidFill>
          <a:ln>
            <a:noFill/>
          </a:ln>
          <a:effectLst>
            <a:outerShdw blurRad="254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MY" sz="1100" b="0" i="0" u="none" strike="noStrike" kern="1200" cap="none" spc="0" normalizeH="0" baseline="0" noProof="0">
                <a:ln>
                  <a:noFill/>
                </a:ln>
                <a:solidFill>
                  <a:srgbClr val="FFFFFF"/>
                </a:solidFill>
                <a:effectLst/>
                <a:uLnTx/>
                <a:uFillTx/>
                <a:latin typeface="+mj-lt"/>
                <a:ea typeface="+mn-ea"/>
                <a:cs typeface="+mn-cs"/>
              </a:rPr>
              <a:t>Large +12</a:t>
            </a:r>
          </a:p>
        </p:txBody>
      </p:sp>
      <p:sp>
        <p:nvSpPr>
          <p:cNvPr id="36" name="Rectangle: Rounded Corners 35">
            <a:extLst>
              <a:ext uri="{FF2B5EF4-FFF2-40B4-BE49-F238E27FC236}">
                <a16:creationId xmlns:a16="http://schemas.microsoft.com/office/drawing/2014/main" id="{17D6DEFF-C95A-158B-436F-8BA0A1958A71}"/>
              </a:ext>
            </a:extLst>
          </p:cNvPr>
          <p:cNvSpPr/>
          <p:nvPr/>
        </p:nvSpPr>
        <p:spPr>
          <a:xfrm>
            <a:off x="8512629" y="5253714"/>
            <a:ext cx="3254813" cy="324035"/>
          </a:xfrm>
          <a:prstGeom prst="roundRect">
            <a:avLst>
              <a:gd name="adj" fmla="val 4958"/>
            </a:avLst>
          </a:prstGeom>
          <a:solidFill>
            <a:srgbClr val="FFC000"/>
          </a:solidFill>
          <a:ln>
            <a:noFill/>
          </a:ln>
          <a:effectLst>
            <a:outerShdw blurRad="254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MY" sz="1100" b="0" i="0" u="none" strike="noStrike" kern="1200" cap="none" spc="0" normalizeH="0" baseline="0" noProof="0">
                <a:ln>
                  <a:noFill/>
                </a:ln>
                <a:solidFill>
                  <a:srgbClr val="FFFFFF"/>
                </a:solidFill>
                <a:effectLst/>
                <a:uLnTx/>
                <a:uFillTx/>
                <a:latin typeface="+mj-lt"/>
                <a:ea typeface="+mn-ea"/>
                <a:cs typeface="+mn-cs"/>
              </a:rPr>
              <a:t>X-Large</a:t>
            </a:r>
          </a:p>
        </p:txBody>
      </p:sp>
      <p:sp>
        <p:nvSpPr>
          <p:cNvPr id="41" name="TextBox 40">
            <a:extLst>
              <a:ext uri="{FF2B5EF4-FFF2-40B4-BE49-F238E27FC236}">
                <a16:creationId xmlns:a16="http://schemas.microsoft.com/office/drawing/2014/main" id="{B3799C69-F7BF-2DAE-9F4A-3025A67BEC64}"/>
              </a:ext>
            </a:extLst>
          </p:cNvPr>
          <p:cNvSpPr txBox="1"/>
          <p:nvPr/>
        </p:nvSpPr>
        <p:spPr>
          <a:xfrm>
            <a:off x="3417420" y="2236431"/>
            <a:ext cx="1194454" cy="307777"/>
          </a:xfrm>
          <a:prstGeom prst="rect">
            <a:avLst/>
          </a:prstGeom>
          <a:noFill/>
        </p:spPr>
        <p:txBody>
          <a:bodyPr wrap="square" rtlCol="0">
            <a:spAutoFit/>
          </a:bodyPr>
          <a:lstStyle/>
          <a:p>
            <a:pPr algn="ctr"/>
            <a:r>
              <a:rPr lang="en-US" sz="1400">
                <a:latin typeface="+mj-lt"/>
              </a:rPr>
              <a:t>Location 1</a:t>
            </a:r>
          </a:p>
        </p:txBody>
      </p:sp>
      <p:sp>
        <p:nvSpPr>
          <p:cNvPr id="5" name="Rectangle: Rounded Corners 4">
            <a:extLst>
              <a:ext uri="{FF2B5EF4-FFF2-40B4-BE49-F238E27FC236}">
                <a16:creationId xmlns:a16="http://schemas.microsoft.com/office/drawing/2014/main" id="{120FD225-13DD-2280-E570-EB077BBD8CD5}"/>
              </a:ext>
            </a:extLst>
          </p:cNvPr>
          <p:cNvSpPr/>
          <p:nvPr/>
        </p:nvSpPr>
        <p:spPr>
          <a:xfrm>
            <a:off x="5226558" y="2222895"/>
            <a:ext cx="840334" cy="324035"/>
          </a:xfrm>
          <a:prstGeom prst="roundRect">
            <a:avLst>
              <a:gd name="adj" fmla="val 4958"/>
            </a:avLst>
          </a:prstGeom>
          <a:solidFill>
            <a:srgbClr val="002060"/>
          </a:solidFill>
          <a:ln>
            <a:noFill/>
          </a:ln>
          <a:effectLst>
            <a:outerShdw blurRad="254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MY" sz="1100" b="0" i="0" u="none" strike="noStrike" kern="1200" cap="none" spc="0" normalizeH="0" baseline="0" noProof="0">
                <a:ln>
                  <a:noFill/>
                </a:ln>
                <a:solidFill>
                  <a:srgbClr val="FFFFFF"/>
                </a:solidFill>
                <a:effectLst/>
                <a:uLnTx/>
                <a:uFillTx/>
                <a:latin typeface="+mj-lt"/>
                <a:ea typeface="+mn-ea"/>
                <a:cs typeface="+mn-cs"/>
              </a:rPr>
              <a:t>Small</a:t>
            </a:r>
            <a:r>
              <a:rPr lang="en-MY" sz="1100">
                <a:solidFill>
                  <a:srgbClr val="FFFFFF"/>
                </a:solidFill>
                <a:latin typeface="+mj-lt"/>
              </a:rPr>
              <a:t> +2</a:t>
            </a:r>
            <a:endParaRPr kumimoji="0" lang="en-MY" sz="1100" b="0" i="0" u="none" strike="noStrike" kern="1200" cap="none" spc="0" normalizeH="0" baseline="0" noProof="0">
              <a:ln>
                <a:noFill/>
              </a:ln>
              <a:solidFill>
                <a:srgbClr val="FFFFFF"/>
              </a:solidFill>
              <a:effectLst/>
              <a:uLnTx/>
              <a:uFillTx/>
              <a:latin typeface="+mj-lt"/>
              <a:ea typeface="+mn-ea"/>
              <a:cs typeface="+mn-cs"/>
            </a:endParaRPr>
          </a:p>
        </p:txBody>
      </p:sp>
      <p:sp>
        <p:nvSpPr>
          <p:cNvPr id="16" name="Rectangle: Rounded Corners 15">
            <a:extLst>
              <a:ext uri="{FF2B5EF4-FFF2-40B4-BE49-F238E27FC236}">
                <a16:creationId xmlns:a16="http://schemas.microsoft.com/office/drawing/2014/main" id="{9969AD7D-7F07-EAF6-3A24-A28ACC1F6B2F}"/>
              </a:ext>
            </a:extLst>
          </p:cNvPr>
          <p:cNvSpPr/>
          <p:nvPr/>
        </p:nvSpPr>
        <p:spPr>
          <a:xfrm>
            <a:off x="5859487" y="2590959"/>
            <a:ext cx="1025858" cy="324035"/>
          </a:xfrm>
          <a:prstGeom prst="roundRect">
            <a:avLst>
              <a:gd name="adj" fmla="val 4958"/>
            </a:avLst>
          </a:prstGeom>
          <a:solidFill>
            <a:srgbClr val="0070C0"/>
          </a:solidFill>
          <a:ln>
            <a:noFill/>
          </a:ln>
          <a:effectLst>
            <a:outerShdw blurRad="254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MY" sz="1100" b="0" i="0" u="none" strike="noStrike" kern="1200" cap="none" spc="0" normalizeH="0" baseline="0" noProof="0">
                <a:ln>
                  <a:noFill/>
                </a:ln>
                <a:solidFill>
                  <a:srgbClr val="FFFFFF"/>
                </a:solidFill>
                <a:effectLst/>
                <a:uLnTx/>
                <a:uFillTx/>
                <a:latin typeface="+mj-lt"/>
              </a:rPr>
              <a:t>Medium +5</a:t>
            </a:r>
          </a:p>
        </p:txBody>
      </p:sp>
      <p:sp>
        <p:nvSpPr>
          <p:cNvPr id="3" name="Rectangle: Rounded Corners 2">
            <a:extLst>
              <a:ext uri="{FF2B5EF4-FFF2-40B4-BE49-F238E27FC236}">
                <a16:creationId xmlns:a16="http://schemas.microsoft.com/office/drawing/2014/main" id="{6E2C1492-89B9-E102-11DF-DA0E0D8C7217}"/>
              </a:ext>
            </a:extLst>
          </p:cNvPr>
          <p:cNvSpPr/>
          <p:nvPr/>
        </p:nvSpPr>
        <p:spPr>
          <a:xfrm>
            <a:off x="8967223" y="2222894"/>
            <a:ext cx="1025858" cy="324035"/>
          </a:xfrm>
          <a:prstGeom prst="roundRect">
            <a:avLst>
              <a:gd name="adj" fmla="val 4958"/>
            </a:avLst>
          </a:prstGeom>
          <a:solidFill>
            <a:srgbClr val="0070C0"/>
          </a:solidFill>
          <a:ln>
            <a:noFill/>
          </a:ln>
          <a:effectLst>
            <a:outerShdw blurRad="254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MY" sz="1100" b="0" i="0" u="none" strike="noStrike" kern="1200" cap="none" spc="0" normalizeH="0" baseline="0" noProof="0">
                <a:ln>
                  <a:noFill/>
                </a:ln>
                <a:solidFill>
                  <a:srgbClr val="FFFFFF"/>
                </a:solidFill>
                <a:effectLst/>
                <a:uLnTx/>
                <a:uFillTx/>
                <a:latin typeface="+mj-lt"/>
                <a:ea typeface="+mn-ea"/>
                <a:cs typeface="+mn-cs"/>
              </a:rPr>
              <a:t>Medium +6</a:t>
            </a:r>
          </a:p>
        </p:txBody>
      </p:sp>
      <p:sp>
        <p:nvSpPr>
          <p:cNvPr id="9" name="Rectangle: Rounded Corners 8">
            <a:extLst>
              <a:ext uri="{FF2B5EF4-FFF2-40B4-BE49-F238E27FC236}">
                <a16:creationId xmlns:a16="http://schemas.microsoft.com/office/drawing/2014/main" id="{582FF811-9578-D010-D2E8-F97A10B6F3F5}"/>
              </a:ext>
            </a:extLst>
          </p:cNvPr>
          <p:cNvSpPr/>
          <p:nvPr/>
        </p:nvSpPr>
        <p:spPr>
          <a:xfrm>
            <a:off x="6709871" y="2933903"/>
            <a:ext cx="841248" cy="324035"/>
          </a:xfrm>
          <a:prstGeom prst="roundRect">
            <a:avLst>
              <a:gd name="adj" fmla="val 4958"/>
            </a:avLst>
          </a:prstGeom>
          <a:solidFill>
            <a:srgbClr val="002060"/>
          </a:solidFill>
          <a:ln>
            <a:noFill/>
          </a:ln>
          <a:effectLst>
            <a:outerShdw blurRad="254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MY" sz="1100" b="0" i="0" u="none" strike="noStrike" kern="1200" cap="none" spc="0" normalizeH="0" baseline="0" noProof="0">
                <a:ln>
                  <a:noFill/>
                </a:ln>
                <a:solidFill>
                  <a:srgbClr val="FFFFFF"/>
                </a:solidFill>
                <a:effectLst/>
                <a:uLnTx/>
                <a:uFillTx/>
                <a:latin typeface="+mj-lt"/>
                <a:ea typeface="+mn-ea"/>
                <a:cs typeface="+mn-cs"/>
              </a:rPr>
              <a:t>Small</a:t>
            </a:r>
          </a:p>
        </p:txBody>
      </p:sp>
      <p:sp>
        <p:nvSpPr>
          <p:cNvPr id="10" name="Rectangle: Rounded Corners 9">
            <a:extLst>
              <a:ext uri="{FF2B5EF4-FFF2-40B4-BE49-F238E27FC236}">
                <a16:creationId xmlns:a16="http://schemas.microsoft.com/office/drawing/2014/main" id="{9E82E9D4-E6F5-4447-4F9E-A2429E75010F}"/>
              </a:ext>
            </a:extLst>
          </p:cNvPr>
          <p:cNvSpPr/>
          <p:nvPr/>
        </p:nvSpPr>
        <p:spPr>
          <a:xfrm>
            <a:off x="6431633" y="2222895"/>
            <a:ext cx="2089946" cy="324035"/>
          </a:xfrm>
          <a:prstGeom prst="roundRect">
            <a:avLst>
              <a:gd name="adj" fmla="val 4958"/>
            </a:avLst>
          </a:prstGeom>
          <a:solidFill>
            <a:srgbClr val="FFC000"/>
          </a:solidFill>
          <a:ln>
            <a:noFill/>
          </a:ln>
          <a:effectLst>
            <a:outerShdw blurRad="254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MY" sz="1100" b="0" i="0" u="none" strike="noStrike" kern="1200" cap="none" spc="0" normalizeH="0" baseline="0" noProof="0">
                <a:ln>
                  <a:noFill/>
                </a:ln>
                <a:solidFill>
                  <a:srgbClr val="FFFFFF"/>
                </a:solidFill>
                <a:effectLst/>
                <a:uLnTx/>
                <a:uFillTx/>
                <a:latin typeface="+mj-lt"/>
                <a:ea typeface="+mn-ea"/>
                <a:cs typeface="+mn-cs"/>
              </a:rPr>
              <a:t>Large +10</a:t>
            </a:r>
          </a:p>
        </p:txBody>
      </p:sp>
      <p:sp>
        <p:nvSpPr>
          <p:cNvPr id="11" name="Rectangle: Rounded Corners 10">
            <a:extLst>
              <a:ext uri="{FF2B5EF4-FFF2-40B4-BE49-F238E27FC236}">
                <a16:creationId xmlns:a16="http://schemas.microsoft.com/office/drawing/2014/main" id="{0ADBE60C-73C8-FFC6-3445-00853F7B4D4C}"/>
              </a:ext>
            </a:extLst>
          </p:cNvPr>
          <p:cNvSpPr/>
          <p:nvPr/>
        </p:nvSpPr>
        <p:spPr>
          <a:xfrm>
            <a:off x="8521579" y="2590959"/>
            <a:ext cx="3254813" cy="324035"/>
          </a:xfrm>
          <a:prstGeom prst="roundRect">
            <a:avLst>
              <a:gd name="adj" fmla="val 4958"/>
            </a:avLst>
          </a:prstGeom>
          <a:solidFill>
            <a:srgbClr val="FFC000"/>
          </a:solidFill>
          <a:ln>
            <a:noFill/>
          </a:ln>
          <a:effectLst>
            <a:outerShdw blurRad="254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MY" sz="1100" b="0" i="0" u="none" strike="noStrike" kern="1200" cap="none" spc="0" normalizeH="0" baseline="0" noProof="0">
                <a:ln>
                  <a:noFill/>
                </a:ln>
                <a:solidFill>
                  <a:srgbClr val="FFFFFF"/>
                </a:solidFill>
                <a:effectLst/>
                <a:uLnTx/>
                <a:uFillTx/>
                <a:latin typeface="+mj-lt"/>
                <a:ea typeface="+mn-ea"/>
                <a:cs typeface="+mn-cs"/>
              </a:rPr>
              <a:t>X-Large</a:t>
            </a:r>
          </a:p>
        </p:txBody>
      </p:sp>
      <p:sp>
        <p:nvSpPr>
          <p:cNvPr id="13" name="Rectangle: Rounded Corners 12">
            <a:extLst>
              <a:ext uri="{FF2B5EF4-FFF2-40B4-BE49-F238E27FC236}">
                <a16:creationId xmlns:a16="http://schemas.microsoft.com/office/drawing/2014/main" id="{B68CA7E5-2E83-B5F1-A408-9BDB71B6CBE3}"/>
              </a:ext>
            </a:extLst>
          </p:cNvPr>
          <p:cNvSpPr/>
          <p:nvPr/>
        </p:nvSpPr>
        <p:spPr>
          <a:xfrm>
            <a:off x="7994386" y="2933903"/>
            <a:ext cx="841248" cy="324035"/>
          </a:xfrm>
          <a:prstGeom prst="roundRect">
            <a:avLst>
              <a:gd name="adj" fmla="val 4958"/>
            </a:avLst>
          </a:prstGeom>
          <a:solidFill>
            <a:srgbClr val="002060"/>
          </a:solidFill>
          <a:ln>
            <a:noFill/>
          </a:ln>
          <a:effectLst>
            <a:outerShdw blurRad="254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MY" sz="1100" b="0" i="0" u="none" strike="noStrike" kern="1200" cap="none" spc="0" normalizeH="0" baseline="0" noProof="0" dirty="0">
                <a:ln>
                  <a:noFill/>
                </a:ln>
                <a:solidFill>
                  <a:srgbClr val="FFFFFF"/>
                </a:solidFill>
                <a:effectLst/>
                <a:uLnTx/>
                <a:uFillTx/>
                <a:latin typeface="+mj-lt"/>
                <a:ea typeface="+mn-ea"/>
                <a:cs typeface="+mn-cs"/>
              </a:rPr>
              <a:t>Small + 3</a:t>
            </a:r>
          </a:p>
        </p:txBody>
      </p:sp>
      <p:sp>
        <p:nvSpPr>
          <p:cNvPr id="14" name="Rectangle: Rounded Corners 13">
            <a:extLst>
              <a:ext uri="{FF2B5EF4-FFF2-40B4-BE49-F238E27FC236}">
                <a16:creationId xmlns:a16="http://schemas.microsoft.com/office/drawing/2014/main" id="{85F9B5B9-5012-77A3-711D-714B3B362652}"/>
              </a:ext>
            </a:extLst>
          </p:cNvPr>
          <p:cNvSpPr/>
          <p:nvPr/>
        </p:nvSpPr>
        <p:spPr>
          <a:xfrm>
            <a:off x="10465443" y="2933903"/>
            <a:ext cx="841248" cy="324035"/>
          </a:xfrm>
          <a:prstGeom prst="roundRect">
            <a:avLst>
              <a:gd name="adj" fmla="val 4958"/>
            </a:avLst>
          </a:prstGeom>
          <a:solidFill>
            <a:srgbClr val="002060"/>
          </a:solidFill>
          <a:ln>
            <a:noFill/>
          </a:ln>
          <a:effectLst>
            <a:outerShdw blurRad="254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MY" sz="1100" b="0" i="0" u="none" strike="noStrike" kern="1200" cap="none" spc="0" normalizeH="0" baseline="0" noProof="0">
                <a:ln>
                  <a:noFill/>
                </a:ln>
                <a:solidFill>
                  <a:srgbClr val="FFFFFF"/>
                </a:solidFill>
                <a:effectLst/>
                <a:uLnTx/>
                <a:uFillTx/>
                <a:latin typeface="+mj-lt"/>
                <a:ea typeface="+mn-ea"/>
                <a:cs typeface="+mn-cs"/>
              </a:rPr>
              <a:t>Small</a:t>
            </a:r>
          </a:p>
        </p:txBody>
      </p:sp>
      <p:sp>
        <p:nvSpPr>
          <p:cNvPr id="19" name="TextBox 18">
            <a:extLst>
              <a:ext uri="{FF2B5EF4-FFF2-40B4-BE49-F238E27FC236}">
                <a16:creationId xmlns:a16="http://schemas.microsoft.com/office/drawing/2014/main" id="{AC8DADD7-BC2E-B7C8-99DB-26BAC672DC70}"/>
              </a:ext>
            </a:extLst>
          </p:cNvPr>
          <p:cNvSpPr txBox="1"/>
          <p:nvPr/>
        </p:nvSpPr>
        <p:spPr>
          <a:xfrm>
            <a:off x="3417420" y="2609199"/>
            <a:ext cx="1194454" cy="307777"/>
          </a:xfrm>
          <a:prstGeom prst="rect">
            <a:avLst/>
          </a:prstGeom>
          <a:noFill/>
        </p:spPr>
        <p:txBody>
          <a:bodyPr wrap="square" rtlCol="0">
            <a:spAutoFit/>
          </a:bodyPr>
          <a:lstStyle/>
          <a:p>
            <a:pPr algn="ctr"/>
            <a:r>
              <a:rPr lang="en-US" sz="1400">
                <a:latin typeface="+mj-lt"/>
              </a:rPr>
              <a:t>Location 2</a:t>
            </a:r>
          </a:p>
        </p:txBody>
      </p:sp>
      <p:sp>
        <p:nvSpPr>
          <p:cNvPr id="20" name="TextBox 19">
            <a:extLst>
              <a:ext uri="{FF2B5EF4-FFF2-40B4-BE49-F238E27FC236}">
                <a16:creationId xmlns:a16="http://schemas.microsoft.com/office/drawing/2014/main" id="{C26B805F-BB97-8695-3139-08B37235541A}"/>
              </a:ext>
            </a:extLst>
          </p:cNvPr>
          <p:cNvSpPr txBox="1"/>
          <p:nvPr/>
        </p:nvSpPr>
        <p:spPr>
          <a:xfrm>
            <a:off x="3417420" y="2957053"/>
            <a:ext cx="1194454" cy="307777"/>
          </a:xfrm>
          <a:prstGeom prst="rect">
            <a:avLst/>
          </a:prstGeom>
          <a:noFill/>
        </p:spPr>
        <p:txBody>
          <a:bodyPr wrap="square" rtlCol="0">
            <a:spAutoFit/>
          </a:bodyPr>
          <a:lstStyle/>
          <a:p>
            <a:pPr algn="ctr"/>
            <a:r>
              <a:rPr lang="en-US" sz="1400">
                <a:latin typeface="+mj-lt"/>
              </a:rPr>
              <a:t>Location 3</a:t>
            </a:r>
          </a:p>
        </p:txBody>
      </p:sp>
      <p:grpSp>
        <p:nvGrpSpPr>
          <p:cNvPr id="24" name="Group 23">
            <a:extLst>
              <a:ext uri="{FF2B5EF4-FFF2-40B4-BE49-F238E27FC236}">
                <a16:creationId xmlns:a16="http://schemas.microsoft.com/office/drawing/2014/main" id="{AEAFDD62-A1A6-3E3C-D183-3D249D5D3F96}"/>
              </a:ext>
            </a:extLst>
          </p:cNvPr>
          <p:cNvGrpSpPr/>
          <p:nvPr/>
        </p:nvGrpSpPr>
        <p:grpSpPr>
          <a:xfrm>
            <a:off x="3384761" y="4925201"/>
            <a:ext cx="1194454" cy="1028399"/>
            <a:chOff x="3569820" y="2388831"/>
            <a:chExt cx="1194454" cy="1028399"/>
          </a:xfrm>
        </p:grpSpPr>
        <p:sp>
          <p:nvSpPr>
            <p:cNvPr id="21" name="TextBox 20">
              <a:extLst>
                <a:ext uri="{FF2B5EF4-FFF2-40B4-BE49-F238E27FC236}">
                  <a16:creationId xmlns:a16="http://schemas.microsoft.com/office/drawing/2014/main" id="{432D8A17-20BF-9CCD-D3C3-1FD720C0B153}"/>
                </a:ext>
              </a:extLst>
            </p:cNvPr>
            <p:cNvSpPr txBox="1"/>
            <p:nvPr/>
          </p:nvSpPr>
          <p:spPr>
            <a:xfrm>
              <a:off x="3569820" y="2388831"/>
              <a:ext cx="1194454" cy="307777"/>
            </a:xfrm>
            <a:prstGeom prst="rect">
              <a:avLst/>
            </a:prstGeom>
            <a:noFill/>
          </p:spPr>
          <p:txBody>
            <a:bodyPr wrap="square" rtlCol="0">
              <a:spAutoFit/>
            </a:bodyPr>
            <a:lstStyle/>
            <a:p>
              <a:pPr algn="ctr"/>
              <a:r>
                <a:rPr lang="en-US" sz="1400">
                  <a:latin typeface="+mj-lt"/>
                </a:rPr>
                <a:t>Location 1</a:t>
              </a:r>
            </a:p>
          </p:txBody>
        </p:sp>
        <p:sp>
          <p:nvSpPr>
            <p:cNvPr id="22" name="TextBox 21">
              <a:extLst>
                <a:ext uri="{FF2B5EF4-FFF2-40B4-BE49-F238E27FC236}">
                  <a16:creationId xmlns:a16="http://schemas.microsoft.com/office/drawing/2014/main" id="{49AE2F7A-712A-3DF0-D4FE-536D18293906}"/>
                </a:ext>
              </a:extLst>
            </p:cNvPr>
            <p:cNvSpPr txBox="1"/>
            <p:nvPr/>
          </p:nvSpPr>
          <p:spPr>
            <a:xfrm>
              <a:off x="3569820" y="2761599"/>
              <a:ext cx="1194454" cy="307777"/>
            </a:xfrm>
            <a:prstGeom prst="rect">
              <a:avLst/>
            </a:prstGeom>
            <a:noFill/>
          </p:spPr>
          <p:txBody>
            <a:bodyPr wrap="square" rtlCol="0">
              <a:spAutoFit/>
            </a:bodyPr>
            <a:lstStyle/>
            <a:p>
              <a:pPr algn="ctr"/>
              <a:r>
                <a:rPr lang="en-US" sz="1400">
                  <a:latin typeface="+mj-lt"/>
                </a:rPr>
                <a:t>Location 2</a:t>
              </a:r>
            </a:p>
          </p:txBody>
        </p:sp>
        <p:sp>
          <p:nvSpPr>
            <p:cNvPr id="23" name="TextBox 22">
              <a:extLst>
                <a:ext uri="{FF2B5EF4-FFF2-40B4-BE49-F238E27FC236}">
                  <a16:creationId xmlns:a16="http://schemas.microsoft.com/office/drawing/2014/main" id="{184C0078-37D9-AFDA-669E-51B117F75EAE}"/>
                </a:ext>
              </a:extLst>
            </p:cNvPr>
            <p:cNvSpPr txBox="1"/>
            <p:nvPr/>
          </p:nvSpPr>
          <p:spPr>
            <a:xfrm>
              <a:off x="3569820" y="3109453"/>
              <a:ext cx="1194454" cy="307777"/>
            </a:xfrm>
            <a:prstGeom prst="rect">
              <a:avLst/>
            </a:prstGeom>
            <a:noFill/>
          </p:spPr>
          <p:txBody>
            <a:bodyPr wrap="square" rtlCol="0">
              <a:spAutoFit/>
            </a:bodyPr>
            <a:lstStyle/>
            <a:p>
              <a:pPr algn="ctr"/>
              <a:r>
                <a:rPr lang="en-US" sz="1400">
                  <a:latin typeface="+mj-lt"/>
                </a:rPr>
                <a:t>Location 3</a:t>
              </a:r>
            </a:p>
          </p:txBody>
        </p:sp>
      </p:grpSp>
      <p:sp>
        <p:nvSpPr>
          <p:cNvPr id="25" name="TextBox 24">
            <a:extLst>
              <a:ext uri="{FF2B5EF4-FFF2-40B4-BE49-F238E27FC236}">
                <a16:creationId xmlns:a16="http://schemas.microsoft.com/office/drawing/2014/main" id="{AA5D2A48-F389-28CE-17C7-EB7D9E9DA87F}"/>
              </a:ext>
            </a:extLst>
          </p:cNvPr>
          <p:cNvSpPr txBox="1"/>
          <p:nvPr/>
        </p:nvSpPr>
        <p:spPr>
          <a:xfrm>
            <a:off x="316952" y="1646376"/>
            <a:ext cx="2700349" cy="5047536"/>
          </a:xfrm>
          <a:prstGeom prst="rect">
            <a:avLst/>
          </a:prstGeom>
          <a:solidFill>
            <a:schemeClr val="accent1"/>
          </a:solidFill>
        </p:spPr>
        <p:txBody>
          <a:bodyPr wrap="square" rtlCol="0">
            <a:spAutoFit/>
          </a:bodyPr>
          <a:lstStyle/>
          <a:p>
            <a:r>
              <a:rPr lang="en-US" sz="1400" dirty="0">
                <a:solidFill>
                  <a:schemeClr val="bg1"/>
                </a:solidFill>
                <a:latin typeface="+mj-lt"/>
                <a:cs typeface="Arial" panose="020B0604020202020204" pitchFamily="34" charset="0"/>
              </a:rPr>
              <a:t>High LOE tests are important </a:t>
            </a:r>
            <a:r>
              <a:rPr lang="en-US" sz="1400" b="1" dirty="0">
                <a:solidFill>
                  <a:schemeClr val="bg1"/>
                </a:solidFill>
                <a:latin typeface="+mj-lt"/>
                <a:cs typeface="Arial" panose="020B0604020202020204" pitchFamily="34" charset="0"/>
              </a:rPr>
              <a:t>BUT </a:t>
            </a:r>
            <a:r>
              <a:rPr lang="en-US" sz="1400" dirty="0">
                <a:solidFill>
                  <a:schemeClr val="bg1"/>
                </a:solidFill>
                <a:latin typeface="+mj-lt"/>
                <a:cs typeface="Arial" panose="020B0604020202020204" pitchFamily="34" charset="0"/>
              </a:rPr>
              <a:t>limiting yourself to them:</a:t>
            </a:r>
          </a:p>
          <a:p>
            <a:pPr marL="342900" indent="-342900">
              <a:buFont typeface="+mj-lt"/>
              <a:buAutoNum type="arabicPeriod"/>
            </a:pPr>
            <a:endParaRPr lang="en-US" sz="1400" dirty="0">
              <a:solidFill>
                <a:schemeClr val="bg1"/>
              </a:solidFill>
              <a:latin typeface="+mj-lt"/>
              <a:cs typeface="Arial" panose="020B0604020202020204" pitchFamily="34" charset="0"/>
            </a:endParaRPr>
          </a:p>
          <a:p>
            <a:pPr marL="342900" indent="-342900">
              <a:buFont typeface="+mj-lt"/>
              <a:buAutoNum type="arabicPeriod"/>
            </a:pPr>
            <a:r>
              <a:rPr lang="en-US" sz="1400" dirty="0">
                <a:solidFill>
                  <a:schemeClr val="bg1"/>
                </a:solidFill>
                <a:latin typeface="+mj-lt"/>
                <a:cs typeface="Arial" panose="020B0604020202020204" pitchFamily="34" charset="0"/>
              </a:rPr>
              <a:t>Limits testing locations and volume – less wholistic optimization approach </a:t>
            </a:r>
          </a:p>
          <a:p>
            <a:pPr marL="342900" indent="-342900">
              <a:buFont typeface="+mj-lt"/>
              <a:buAutoNum type="arabicPeriod"/>
            </a:pPr>
            <a:endParaRPr lang="en-US" sz="1400" dirty="0">
              <a:solidFill>
                <a:schemeClr val="bg1"/>
              </a:solidFill>
              <a:latin typeface="+mj-lt"/>
              <a:cs typeface="Arial" panose="020B0604020202020204" pitchFamily="34" charset="0"/>
            </a:endParaRPr>
          </a:p>
          <a:p>
            <a:pPr marL="342900" indent="-342900">
              <a:buFont typeface="+mj-lt"/>
              <a:buAutoNum type="arabicPeriod"/>
            </a:pPr>
            <a:r>
              <a:rPr lang="en-US" sz="1400" dirty="0">
                <a:solidFill>
                  <a:schemeClr val="bg1"/>
                </a:solidFill>
                <a:latin typeface="+mj-lt"/>
                <a:cs typeface="Arial" panose="020B0604020202020204" pitchFamily="34" charset="0"/>
              </a:rPr>
              <a:t>Creates ROI risk – a few bad tests in a row can ruin your year</a:t>
            </a:r>
          </a:p>
          <a:p>
            <a:pPr marL="342900" indent="-342900">
              <a:buFont typeface="+mj-lt"/>
              <a:buAutoNum type="arabicPeriod"/>
            </a:pPr>
            <a:endParaRPr lang="en-US" sz="1400" dirty="0">
              <a:solidFill>
                <a:schemeClr val="bg1"/>
              </a:solidFill>
              <a:latin typeface="+mj-lt"/>
              <a:cs typeface="Arial" panose="020B0604020202020204" pitchFamily="34" charset="0"/>
            </a:endParaRPr>
          </a:p>
          <a:p>
            <a:pPr marL="342900" indent="-342900">
              <a:buFont typeface="+mj-lt"/>
              <a:buAutoNum type="arabicPeriod"/>
            </a:pPr>
            <a:r>
              <a:rPr lang="en-US" sz="1400" dirty="0">
                <a:solidFill>
                  <a:schemeClr val="bg1"/>
                </a:solidFill>
                <a:latin typeface="+mj-lt"/>
                <a:cs typeface="Arial" panose="020B0604020202020204" pitchFamily="34" charset="0"/>
              </a:rPr>
              <a:t>Reduces impact potential – XL tests have high impact but also create opportunities for S and M sized tests to refine new experiences. In aggregate, these small tests can achieve equal, or even greater value</a:t>
            </a:r>
          </a:p>
        </p:txBody>
      </p:sp>
    </p:spTree>
    <p:extLst>
      <p:ext uri="{BB962C8B-B14F-4D97-AF65-F5344CB8AC3E}">
        <p14:creationId xmlns:p14="http://schemas.microsoft.com/office/powerpoint/2010/main" val="37545678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41749F-D36B-3911-7983-D0CA4CABDD8E}"/>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F6B6FE12-1187-C1BA-162D-CDD8523C98A7}"/>
              </a:ext>
            </a:extLst>
          </p:cNvPr>
          <p:cNvSpPr txBox="1"/>
          <p:nvPr/>
        </p:nvSpPr>
        <p:spPr>
          <a:xfrm>
            <a:off x="843490" y="1968569"/>
            <a:ext cx="4556535" cy="2857064"/>
          </a:xfrm>
          <a:prstGeom prst="rect">
            <a:avLst/>
          </a:prstGeom>
          <a:noFill/>
        </p:spPr>
        <p:txBody>
          <a:bodyPr wrap="square" rtlCol="0" anchor="ctr">
            <a:spAutoFit/>
          </a:bodyPr>
          <a:lstStyle/>
          <a:p>
            <a:pPr>
              <a:lnSpc>
                <a:spcPct val="95000"/>
              </a:lnSpc>
              <a:spcBef>
                <a:spcPct val="0"/>
              </a:spcBef>
              <a:defRPr/>
            </a:pPr>
            <a:r>
              <a:rPr lang="en-US" sz="3200" b="1" dirty="0">
                <a:solidFill>
                  <a:schemeClr val="accent1"/>
                </a:solidFill>
                <a:latin typeface="+mj-lt"/>
                <a:ea typeface="+mj-ea"/>
                <a:cs typeface="+mj-cs"/>
              </a:rPr>
              <a:t>How to maximize </a:t>
            </a:r>
          </a:p>
          <a:p>
            <a:pPr>
              <a:lnSpc>
                <a:spcPct val="95000"/>
              </a:lnSpc>
              <a:spcBef>
                <a:spcPct val="0"/>
              </a:spcBef>
              <a:defRPr/>
            </a:pPr>
            <a:r>
              <a:rPr lang="en-US" sz="3200" b="1" dirty="0">
                <a:solidFill>
                  <a:schemeClr val="accent1"/>
                </a:solidFill>
                <a:latin typeface="+mj-lt"/>
                <a:ea typeface="+mj-ea"/>
                <a:cs typeface="+mj-cs"/>
              </a:rPr>
              <a:t>X-small test ROI</a:t>
            </a:r>
          </a:p>
          <a:p>
            <a:pPr marL="342900" indent="-342900">
              <a:lnSpc>
                <a:spcPct val="112000"/>
              </a:lnSpc>
              <a:spcBef>
                <a:spcPts val="1200"/>
              </a:spcBef>
              <a:buAutoNum type="arabicPeriod"/>
              <a:defRPr/>
            </a:pPr>
            <a:r>
              <a:rPr lang="en-US" sz="1600" dirty="0">
                <a:latin typeface="+mj-lt"/>
              </a:rPr>
              <a:t>Reduce alignment &amp; execution steps to only QA link alignment</a:t>
            </a:r>
          </a:p>
          <a:p>
            <a:pPr marL="342900" indent="-342900">
              <a:lnSpc>
                <a:spcPct val="112000"/>
              </a:lnSpc>
              <a:spcBef>
                <a:spcPts val="1200"/>
              </a:spcBef>
              <a:buAutoNum type="arabicPeriod"/>
              <a:defRPr/>
            </a:pPr>
            <a:r>
              <a:rPr lang="en-US" sz="1600" dirty="0">
                <a:latin typeface="+mj-lt"/>
              </a:rPr>
              <a:t>Up front alignment on low-risk test parameters</a:t>
            </a:r>
          </a:p>
          <a:p>
            <a:pPr marL="342900" indent="-342900">
              <a:lnSpc>
                <a:spcPct val="112000"/>
              </a:lnSpc>
              <a:spcBef>
                <a:spcPts val="1200"/>
              </a:spcBef>
              <a:buAutoNum type="arabicPeriod"/>
              <a:defRPr/>
            </a:pPr>
            <a:endParaRPr lang="en-US" sz="1600" dirty="0">
              <a:latin typeface="+mj-lt"/>
            </a:endParaRPr>
          </a:p>
        </p:txBody>
      </p:sp>
      <p:graphicFrame>
        <p:nvGraphicFramePr>
          <p:cNvPr id="2" name="Chart 1">
            <a:extLst>
              <a:ext uri="{FF2B5EF4-FFF2-40B4-BE49-F238E27FC236}">
                <a16:creationId xmlns:a16="http://schemas.microsoft.com/office/drawing/2014/main" id="{48EBB8C6-B49E-5D1D-114E-CC4EDBB2D91D}"/>
              </a:ext>
            </a:extLst>
          </p:cNvPr>
          <p:cNvGraphicFramePr>
            <a:graphicFrameLocks/>
          </p:cNvGraphicFramePr>
          <p:nvPr>
            <p:extLst>
              <p:ext uri="{D42A27DB-BD31-4B8C-83A1-F6EECF244321}">
                <p14:modId xmlns:p14="http://schemas.microsoft.com/office/powerpoint/2010/main" val="2769313084"/>
              </p:ext>
            </p:extLst>
          </p:nvPr>
        </p:nvGraphicFramePr>
        <p:xfrm>
          <a:off x="6795867" y="1726440"/>
          <a:ext cx="4552643" cy="3405117"/>
        </p:xfrm>
        <a:graphic>
          <a:graphicData uri="http://schemas.openxmlformats.org/drawingml/2006/chart">
            <c:chart xmlns:c="http://schemas.openxmlformats.org/drawingml/2006/chart" xmlns:r="http://schemas.openxmlformats.org/officeDocument/2006/relationships" r:id="rId2"/>
          </a:graphicData>
        </a:graphic>
      </p:graphicFrame>
      <p:sp>
        <p:nvSpPr>
          <p:cNvPr id="4" name="Oval 3">
            <a:extLst>
              <a:ext uri="{FF2B5EF4-FFF2-40B4-BE49-F238E27FC236}">
                <a16:creationId xmlns:a16="http://schemas.microsoft.com/office/drawing/2014/main" id="{233C9E74-0C13-EC7D-3D93-23AD019AE861}"/>
              </a:ext>
            </a:extLst>
          </p:cNvPr>
          <p:cNvSpPr/>
          <p:nvPr/>
        </p:nvSpPr>
        <p:spPr>
          <a:xfrm>
            <a:off x="8829961" y="4254655"/>
            <a:ext cx="177557" cy="174529"/>
          </a:xfrm>
          <a:prstGeom prst="ellipse">
            <a:avLst/>
          </a:prstGeom>
          <a:solidFill>
            <a:srgbClr val="7030A0"/>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US" dirty="0" err="1"/>
          </a:p>
        </p:txBody>
      </p:sp>
      <p:sp>
        <p:nvSpPr>
          <p:cNvPr id="5" name="Oval 4">
            <a:extLst>
              <a:ext uri="{FF2B5EF4-FFF2-40B4-BE49-F238E27FC236}">
                <a16:creationId xmlns:a16="http://schemas.microsoft.com/office/drawing/2014/main" id="{AF03C3DB-DBF7-4039-8A1A-22A0F495946A}"/>
              </a:ext>
            </a:extLst>
          </p:cNvPr>
          <p:cNvSpPr/>
          <p:nvPr/>
        </p:nvSpPr>
        <p:spPr>
          <a:xfrm>
            <a:off x="7491092" y="4254655"/>
            <a:ext cx="177557" cy="174529"/>
          </a:xfrm>
          <a:prstGeom prst="ellipse">
            <a:avLst/>
          </a:prstGeom>
          <a:solidFill>
            <a:schemeClr val="accent2"/>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US" dirty="0" err="1"/>
          </a:p>
        </p:txBody>
      </p:sp>
      <p:cxnSp>
        <p:nvCxnSpPr>
          <p:cNvPr id="7" name="Straight Arrow Connector 6">
            <a:extLst>
              <a:ext uri="{FF2B5EF4-FFF2-40B4-BE49-F238E27FC236}">
                <a16:creationId xmlns:a16="http://schemas.microsoft.com/office/drawing/2014/main" id="{612A8BEE-F2D4-65DB-BB69-160B5D829524}"/>
              </a:ext>
            </a:extLst>
          </p:cNvPr>
          <p:cNvCxnSpPr>
            <a:cxnSpLocks/>
            <a:stCxn id="4" idx="2"/>
            <a:endCxn id="5" idx="6"/>
          </p:cNvCxnSpPr>
          <p:nvPr/>
        </p:nvCxnSpPr>
        <p:spPr>
          <a:xfrm flipH="1">
            <a:off x="7668649" y="4341920"/>
            <a:ext cx="1161312" cy="0"/>
          </a:xfrm>
          <a:prstGeom prst="straightConnector1">
            <a:avLst/>
          </a:prstGeom>
          <a:ln w="38100" cap="rnd">
            <a:solidFill>
              <a:schemeClr val="accent2"/>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FFDA258C-3E88-3AC9-3173-603F2D64F379}"/>
              </a:ext>
            </a:extLst>
          </p:cNvPr>
          <p:cNvSpPr/>
          <p:nvPr/>
        </p:nvSpPr>
        <p:spPr>
          <a:xfrm>
            <a:off x="8829960" y="3552282"/>
            <a:ext cx="177557" cy="174529"/>
          </a:xfrm>
          <a:prstGeom prst="ellipse">
            <a:avLst/>
          </a:prstGeom>
          <a:solidFill>
            <a:schemeClr val="accent2"/>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US" dirty="0" err="1"/>
          </a:p>
        </p:txBody>
      </p:sp>
    </p:spTree>
    <p:extLst>
      <p:ext uri="{BB962C8B-B14F-4D97-AF65-F5344CB8AC3E}">
        <p14:creationId xmlns:p14="http://schemas.microsoft.com/office/powerpoint/2010/main" val="14598206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C966BCE-E18F-2C08-E504-288A66F62C2E}"/>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EEEFA95B-1222-4EEA-2D07-94EC1234D79D}"/>
              </a:ext>
            </a:extLst>
          </p:cNvPr>
          <p:cNvSpPr txBox="1">
            <a:spLocks/>
          </p:cNvSpPr>
          <p:nvPr/>
        </p:nvSpPr>
        <p:spPr>
          <a:xfrm>
            <a:off x="699713" y="248038"/>
            <a:ext cx="7063721" cy="1159200"/>
          </a:xfrm>
          <a:prstGeom prst="rect">
            <a:avLst/>
          </a:prstGeom>
        </p:spPr>
        <p:txBody>
          <a:bodyPr vert="horz" lIns="91440" tIns="45720" rIns="91440" bIns="45720" rtlCol="0" anchor="ctr">
            <a:normAutofit/>
          </a:bodyPr>
          <a:lstStyle>
            <a:lvl1pPr algn="l" defTabSz="914377" rtl="0" eaLnBrk="1" latinLnBrk="0" hangingPunct="1">
              <a:lnSpc>
                <a:spcPct val="95000"/>
              </a:lnSpc>
              <a:spcBef>
                <a:spcPct val="0"/>
              </a:spcBef>
              <a:buNone/>
              <a:defRPr sz="3200" b="1" kern="1200">
                <a:solidFill>
                  <a:schemeClr val="accent4"/>
                </a:solidFill>
                <a:latin typeface="Poppins" panose="00000500000000000000" pitchFamily="2" charset="0"/>
                <a:ea typeface="+mj-ea"/>
                <a:cs typeface="Poppins" panose="00000500000000000000" pitchFamily="2" charset="0"/>
              </a:defRPr>
            </a:lvl1pPr>
          </a:lstStyle>
          <a:p>
            <a:pPr defTabSz="914400">
              <a:lnSpc>
                <a:spcPct val="90000"/>
              </a:lnSpc>
              <a:spcAft>
                <a:spcPts val="600"/>
              </a:spcAft>
            </a:pPr>
            <a:r>
              <a:rPr lang="en-US" sz="2200" b="0" kern="1200" dirty="0">
                <a:solidFill>
                  <a:srgbClr val="FFFFFF"/>
                </a:solidFill>
                <a:latin typeface="+mj-lt"/>
                <a:ea typeface="+mj-ea"/>
                <a:cs typeface="+mj-cs"/>
              </a:rPr>
              <a:t>Limiting alignment to only the QA link, enables </a:t>
            </a:r>
            <a:r>
              <a:rPr lang="en-US" sz="2200" kern="1200" dirty="0">
                <a:solidFill>
                  <a:srgbClr val="FFFFFF"/>
                </a:solidFill>
                <a:latin typeface="+mj-lt"/>
                <a:ea typeface="+mj-ea"/>
                <a:cs typeface="+mj-cs"/>
              </a:rPr>
              <a:t>fast delivery</a:t>
            </a:r>
            <a:r>
              <a:rPr lang="en-US" sz="2200" b="0" kern="1200" dirty="0">
                <a:solidFill>
                  <a:srgbClr val="FFFFFF"/>
                </a:solidFill>
                <a:latin typeface="+mj-lt"/>
                <a:ea typeface="+mj-ea"/>
                <a:cs typeface="+mj-cs"/>
              </a:rPr>
              <a:t> </a:t>
            </a:r>
            <a:r>
              <a:rPr lang="en-US" sz="2200" kern="1200" dirty="0">
                <a:solidFill>
                  <a:srgbClr val="FFFFFF"/>
                </a:solidFill>
                <a:latin typeface="+mj-lt"/>
                <a:ea typeface="+mj-ea"/>
                <a:cs typeface="+mj-cs"/>
              </a:rPr>
              <a:t>while maintaining [Client] control</a:t>
            </a:r>
            <a:r>
              <a:rPr lang="en-US" sz="2200" b="0" kern="1200" dirty="0">
                <a:solidFill>
                  <a:srgbClr val="FFFFFF"/>
                </a:solidFill>
                <a:latin typeface="+mj-lt"/>
                <a:ea typeface="+mj-ea"/>
                <a:cs typeface="+mj-cs"/>
              </a:rPr>
              <a:t> over all tests that reach consumers</a:t>
            </a:r>
          </a:p>
        </p:txBody>
      </p:sp>
      <p:graphicFrame>
        <p:nvGraphicFramePr>
          <p:cNvPr id="2" name="Table 1">
            <a:extLst>
              <a:ext uri="{FF2B5EF4-FFF2-40B4-BE49-F238E27FC236}">
                <a16:creationId xmlns:a16="http://schemas.microsoft.com/office/drawing/2014/main" id="{0C9E0FB6-B477-316F-6B64-05EF8FAEA08B}"/>
              </a:ext>
            </a:extLst>
          </p:cNvPr>
          <p:cNvGraphicFramePr>
            <a:graphicFrameLocks noGrp="1"/>
          </p:cNvGraphicFramePr>
          <p:nvPr>
            <p:extLst>
              <p:ext uri="{D42A27DB-BD31-4B8C-83A1-F6EECF244321}">
                <p14:modId xmlns:p14="http://schemas.microsoft.com/office/powerpoint/2010/main" val="1878357830"/>
              </p:ext>
            </p:extLst>
          </p:nvPr>
        </p:nvGraphicFramePr>
        <p:xfrm>
          <a:off x="731994" y="1966293"/>
          <a:ext cx="10728012" cy="4452164"/>
        </p:xfrm>
        <a:graphic>
          <a:graphicData uri="http://schemas.openxmlformats.org/drawingml/2006/table">
            <a:tbl>
              <a:tblPr firstRow="1" bandRow="1">
                <a:tableStyleId>{5C22544A-7EE6-4342-B048-85BDC9FD1C3A}</a:tableStyleId>
              </a:tblPr>
              <a:tblGrid>
                <a:gridCol w="5364006">
                  <a:extLst>
                    <a:ext uri="{9D8B030D-6E8A-4147-A177-3AD203B41FA5}">
                      <a16:colId xmlns:a16="http://schemas.microsoft.com/office/drawing/2014/main" val="1428976892"/>
                    </a:ext>
                  </a:extLst>
                </a:gridCol>
                <a:gridCol w="5364006">
                  <a:extLst>
                    <a:ext uri="{9D8B030D-6E8A-4147-A177-3AD203B41FA5}">
                      <a16:colId xmlns:a16="http://schemas.microsoft.com/office/drawing/2014/main" val="3566654997"/>
                    </a:ext>
                  </a:extLst>
                </a:gridCol>
              </a:tblGrid>
              <a:tr h="318314">
                <a:tc>
                  <a:txBody>
                    <a:bodyPr/>
                    <a:lstStyle/>
                    <a:p>
                      <a:pPr algn="ctr" fontAlgn="b">
                        <a:buNone/>
                      </a:pPr>
                      <a:r>
                        <a:rPr lang="en-US" sz="1700" u="none" strike="noStrike" dirty="0">
                          <a:effectLst/>
                        </a:rPr>
                        <a:t>Standard Delivery Process</a:t>
                      </a:r>
                      <a:endParaRPr lang="en-US" sz="1700" b="0" i="0" u="none" strike="noStrike" dirty="0">
                        <a:solidFill>
                          <a:srgbClr val="000000"/>
                        </a:solidFill>
                        <a:effectLst/>
                        <a:latin typeface="Calibri" panose="020F0502020204030204" pitchFamily="34" charset="0"/>
                      </a:endParaRPr>
                    </a:p>
                  </a:txBody>
                  <a:tcPr marL="9599" marR="9599" marT="9599" marB="0" anchor="b"/>
                </a:tc>
                <a:tc>
                  <a:txBody>
                    <a:bodyPr/>
                    <a:lstStyle/>
                    <a:p>
                      <a:pPr algn="ctr" fontAlgn="b">
                        <a:buNone/>
                      </a:pPr>
                      <a:r>
                        <a:rPr lang="en-US" sz="1700" u="none" strike="noStrike" dirty="0">
                          <a:effectLst/>
                        </a:rPr>
                        <a:t>Flash Delivery Process</a:t>
                      </a:r>
                      <a:endParaRPr lang="en-US" sz="1700" b="0" i="0" u="none" strike="noStrike" dirty="0">
                        <a:solidFill>
                          <a:srgbClr val="000000"/>
                        </a:solidFill>
                        <a:effectLst/>
                        <a:latin typeface="Calibri" panose="020F0502020204030204" pitchFamily="34" charset="0"/>
                      </a:endParaRPr>
                    </a:p>
                  </a:txBody>
                  <a:tcPr marL="9599" marR="9599" marT="9599" marB="0" anchor="b">
                    <a:solidFill>
                      <a:srgbClr val="00B050"/>
                    </a:solidFill>
                  </a:tcPr>
                </a:tc>
                <a:extLst>
                  <a:ext uri="{0D108BD9-81ED-4DB2-BD59-A6C34878D82A}">
                    <a16:rowId xmlns:a16="http://schemas.microsoft.com/office/drawing/2014/main" val="877627965"/>
                  </a:ext>
                </a:extLst>
              </a:tr>
              <a:tr h="295275">
                <a:tc>
                  <a:txBody>
                    <a:bodyPr/>
                    <a:lstStyle/>
                    <a:p>
                      <a:pPr algn="ctr" fontAlgn="ctr">
                        <a:buNone/>
                      </a:pPr>
                      <a:r>
                        <a:rPr lang="en-US" sz="1500" u="none" strike="noStrike" dirty="0">
                          <a:effectLst/>
                          <a:latin typeface="+mj-lt"/>
                        </a:rPr>
                        <a:t>Research</a:t>
                      </a:r>
                      <a:endParaRPr lang="en-US" sz="1500" b="0" i="0" u="none" strike="noStrike" dirty="0">
                        <a:solidFill>
                          <a:srgbClr val="000000"/>
                        </a:solidFill>
                        <a:effectLst/>
                        <a:latin typeface="+mj-lt"/>
                      </a:endParaRPr>
                    </a:p>
                  </a:txBody>
                  <a:tcPr marL="9599" marR="9599" marT="9599" marB="0" anchor="ctr"/>
                </a:tc>
                <a:tc>
                  <a:txBody>
                    <a:bodyPr/>
                    <a:lstStyle/>
                    <a:p>
                      <a:pPr algn="ctr" fontAlgn="ctr">
                        <a:buNone/>
                      </a:pPr>
                      <a:r>
                        <a:rPr lang="en-US" sz="1500" u="none" strike="noStrike" dirty="0">
                          <a:effectLst/>
                          <a:latin typeface="+mj-lt"/>
                        </a:rPr>
                        <a:t>Concepting</a:t>
                      </a:r>
                      <a:endParaRPr lang="en-US" sz="1500" b="0" i="0" u="none" strike="noStrike" dirty="0">
                        <a:solidFill>
                          <a:srgbClr val="000000"/>
                        </a:solidFill>
                        <a:effectLst/>
                        <a:latin typeface="+mj-lt"/>
                      </a:endParaRPr>
                    </a:p>
                  </a:txBody>
                  <a:tcPr marL="9599" marR="9599" marT="9599" marB="0" anchor="ctr">
                    <a:solidFill>
                      <a:schemeClr val="accent2">
                        <a:lumMod val="20000"/>
                        <a:lumOff val="80000"/>
                      </a:schemeClr>
                    </a:solidFill>
                  </a:tcPr>
                </a:tc>
                <a:extLst>
                  <a:ext uri="{0D108BD9-81ED-4DB2-BD59-A6C34878D82A}">
                    <a16:rowId xmlns:a16="http://schemas.microsoft.com/office/drawing/2014/main" val="139499405"/>
                  </a:ext>
                </a:extLst>
              </a:tr>
              <a:tr h="295275">
                <a:tc>
                  <a:txBody>
                    <a:bodyPr/>
                    <a:lstStyle/>
                    <a:p>
                      <a:pPr algn="ctr" fontAlgn="ctr">
                        <a:buNone/>
                      </a:pPr>
                      <a:r>
                        <a:rPr lang="en-US" sz="1500" u="none" strike="noStrike" dirty="0">
                          <a:effectLst/>
                          <a:latin typeface="+mj-lt"/>
                        </a:rPr>
                        <a:t>Alignment on Research</a:t>
                      </a:r>
                      <a:endParaRPr lang="en-US" sz="1500" b="0" i="0" u="none" strike="noStrike" dirty="0">
                        <a:solidFill>
                          <a:srgbClr val="000000"/>
                        </a:solidFill>
                        <a:effectLst/>
                        <a:latin typeface="+mj-lt"/>
                      </a:endParaRPr>
                    </a:p>
                  </a:txBody>
                  <a:tcPr marL="9599" marR="9599" marT="9599" marB="0" anchor="ctr"/>
                </a:tc>
                <a:tc>
                  <a:txBody>
                    <a:bodyPr/>
                    <a:lstStyle/>
                    <a:p>
                      <a:pPr algn="ctr" fontAlgn="ctr">
                        <a:buNone/>
                      </a:pPr>
                      <a:r>
                        <a:rPr lang="en-US" sz="1500" u="none" strike="noStrike" kern="1200" dirty="0">
                          <a:solidFill>
                            <a:schemeClr val="dk1"/>
                          </a:solidFill>
                          <a:effectLst/>
                          <a:latin typeface="+mn-lt"/>
                          <a:ea typeface="+mn-ea"/>
                          <a:cs typeface="+mn-cs"/>
                        </a:rPr>
                        <a:t>Alignment on Concepting</a:t>
                      </a:r>
                      <a:endParaRPr lang="en-US" sz="1500" b="0" i="0" u="none" strike="noStrike" dirty="0">
                        <a:solidFill>
                          <a:srgbClr val="000000"/>
                        </a:solidFill>
                        <a:effectLst/>
                        <a:latin typeface="+mj-lt"/>
                      </a:endParaRPr>
                    </a:p>
                  </a:txBody>
                  <a:tcPr marL="9599" marR="9599" marT="9599" marB="0" anchor="ctr">
                    <a:solidFill>
                      <a:srgbClr val="E5FFF8"/>
                    </a:solidFill>
                  </a:tcPr>
                </a:tc>
                <a:extLst>
                  <a:ext uri="{0D108BD9-81ED-4DB2-BD59-A6C34878D82A}">
                    <a16:rowId xmlns:a16="http://schemas.microsoft.com/office/drawing/2014/main" val="2875603519"/>
                  </a:ext>
                </a:extLst>
              </a:tr>
              <a:tr h="295275">
                <a:tc>
                  <a:txBody>
                    <a:bodyPr/>
                    <a:lstStyle/>
                    <a:p>
                      <a:pPr algn="ctr" fontAlgn="ctr">
                        <a:buNone/>
                      </a:pPr>
                      <a:r>
                        <a:rPr lang="en-US" sz="1500" u="none" strike="noStrike" dirty="0">
                          <a:effectLst/>
                          <a:latin typeface="+mj-lt"/>
                        </a:rPr>
                        <a:t>Concepting</a:t>
                      </a:r>
                      <a:endParaRPr lang="en-US" sz="1500" b="0" i="0" u="none" strike="noStrike" dirty="0">
                        <a:solidFill>
                          <a:srgbClr val="000000"/>
                        </a:solidFill>
                        <a:effectLst/>
                        <a:latin typeface="+mj-lt"/>
                      </a:endParaRPr>
                    </a:p>
                  </a:txBody>
                  <a:tcPr marL="9599" marR="9599" marT="9599" marB="0" anchor="ctr"/>
                </a:tc>
                <a:tc>
                  <a:txBody>
                    <a:bodyPr/>
                    <a:lstStyle/>
                    <a:p>
                      <a:pPr algn="ctr" fontAlgn="ctr">
                        <a:buNone/>
                      </a:pPr>
                      <a:r>
                        <a:rPr lang="en-US" sz="1500" u="none" strike="noStrike" dirty="0">
                          <a:effectLst/>
                          <a:latin typeface="+mj-lt"/>
                        </a:rPr>
                        <a:t>Briefing – Simplified</a:t>
                      </a:r>
                      <a:endParaRPr lang="en-US" sz="1500" b="0" i="0" u="none" strike="noStrike" dirty="0">
                        <a:solidFill>
                          <a:srgbClr val="000000"/>
                        </a:solidFill>
                        <a:effectLst/>
                        <a:latin typeface="+mj-lt"/>
                      </a:endParaRPr>
                    </a:p>
                  </a:txBody>
                  <a:tcPr marL="9599" marR="9599" marT="9599" marB="0" anchor="ctr">
                    <a:solidFill>
                      <a:schemeClr val="accent2">
                        <a:lumMod val="20000"/>
                        <a:lumOff val="80000"/>
                      </a:schemeClr>
                    </a:solidFill>
                  </a:tcPr>
                </a:tc>
                <a:extLst>
                  <a:ext uri="{0D108BD9-81ED-4DB2-BD59-A6C34878D82A}">
                    <a16:rowId xmlns:a16="http://schemas.microsoft.com/office/drawing/2014/main" val="756173161"/>
                  </a:ext>
                </a:extLst>
              </a:tr>
              <a:tr h="295275">
                <a:tc>
                  <a:txBody>
                    <a:bodyPr/>
                    <a:lstStyle/>
                    <a:p>
                      <a:pPr algn="ctr" fontAlgn="ctr">
                        <a:buNone/>
                      </a:pPr>
                      <a:r>
                        <a:rPr lang="en-US" sz="1500" u="none" strike="noStrike" dirty="0">
                          <a:effectLst/>
                          <a:latin typeface="+mj-lt"/>
                        </a:rPr>
                        <a:t>Alignment on Concepting</a:t>
                      </a:r>
                      <a:endParaRPr lang="en-US" sz="1500" b="0" i="0" u="none" strike="noStrike" dirty="0">
                        <a:solidFill>
                          <a:srgbClr val="000000"/>
                        </a:solidFill>
                        <a:effectLst/>
                        <a:latin typeface="+mj-lt"/>
                      </a:endParaRPr>
                    </a:p>
                  </a:txBody>
                  <a:tcPr marL="9599" marR="9599" marT="9599" marB="0" anchor="ctr"/>
                </a:tc>
                <a:tc>
                  <a:txBody>
                    <a:bodyPr/>
                    <a:lstStyle/>
                    <a:p>
                      <a:pPr algn="ctr" fontAlgn="ctr">
                        <a:buNone/>
                      </a:pPr>
                      <a:r>
                        <a:rPr lang="en-US" sz="1500" u="none" strike="noStrike" kern="1200" dirty="0">
                          <a:solidFill>
                            <a:schemeClr val="dk1"/>
                          </a:solidFill>
                          <a:effectLst/>
                          <a:latin typeface="+mj-lt"/>
                          <a:ea typeface="+mn-ea"/>
                          <a:cs typeface="+mn-cs"/>
                        </a:rPr>
                        <a:t>Creative</a:t>
                      </a:r>
                      <a:r>
                        <a:rPr lang="en-US" sz="1500" b="0" i="0" u="none" strike="noStrike" dirty="0">
                          <a:solidFill>
                            <a:srgbClr val="000000"/>
                          </a:solidFill>
                          <a:effectLst/>
                          <a:latin typeface="+mj-lt"/>
                        </a:rPr>
                        <a:t> Input</a:t>
                      </a:r>
                    </a:p>
                  </a:txBody>
                  <a:tcPr marL="9599" marR="9599" marT="9599" marB="0" anchor="ctr">
                    <a:solidFill>
                      <a:srgbClr val="E5FFF8"/>
                    </a:solidFill>
                  </a:tcPr>
                </a:tc>
                <a:extLst>
                  <a:ext uri="{0D108BD9-81ED-4DB2-BD59-A6C34878D82A}">
                    <a16:rowId xmlns:a16="http://schemas.microsoft.com/office/drawing/2014/main" val="2738900714"/>
                  </a:ext>
                </a:extLst>
              </a:tr>
              <a:tr h="295275">
                <a:tc>
                  <a:txBody>
                    <a:bodyPr/>
                    <a:lstStyle/>
                    <a:p>
                      <a:pPr algn="ctr" fontAlgn="ctr">
                        <a:buNone/>
                      </a:pPr>
                      <a:r>
                        <a:rPr lang="en-US" sz="1500" u="none" strike="noStrike" dirty="0">
                          <a:effectLst/>
                          <a:latin typeface="+mj-lt"/>
                        </a:rPr>
                        <a:t>Briefing</a:t>
                      </a:r>
                      <a:endParaRPr lang="en-US" sz="1500" b="0" i="0" u="none" strike="noStrike" dirty="0">
                        <a:solidFill>
                          <a:srgbClr val="000000"/>
                        </a:solidFill>
                        <a:effectLst/>
                        <a:latin typeface="+mj-lt"/>
                      </a:endParaRPr>
                    </a:p>
                  </a:txBody>
                  <a:tcPr marL="9599" marR="9599" marT="9599" marB="0" anchor="ctr"/>
                </a:tc>
                <a:tc>
                  <a:txBody>
                    <a:bodyPr/>
                    <a:lstStyle/>
                    <a:p>
                      <a:pPr algn="ctr" fontAlgn="ctr">
                        <a:buNone/>
                      </a:pPr>
                      <a:r>
                        <a:rPr lang="en-US" sz="1500" u="none" strike="noStrike" dirty="0">
                          <a:effectLst/>
                          <a:latin typeface="+mj-lt"/>
                        </a:rPr>
                        <a:t>WYSIWIG Development</a:t>
                      </a:r>
                      <a:endParaRPr lang="en-US" sz="1500" b="0" i="0" u="none" strike="noStrike" dirty="0">
                        <a:solidFill>
                          <a:srgbClr val="000000"/>
                        </a:solidFill>
                        <a:effectLst/>
                        <a:latin typeface="+mj-lt"/>
                      </a:endParaRPr>
                    </a:p>
                  </a:txBody>
                  <a:tcPr marL="9599" marR="9599" marT="9599" marB="0" anchor="ctr">
                    <a:solidFill>
                      <a:schemeClr val="accent2">
                        <a:lumMod val="20000"/>
                        <a:lumOff val="80000"/>
                      </a:schemeClr>
                    </a:solidFill>
                  </a:tcPr>
                </a:tc>
                <a:extLst>
                  <a:ext uri="{0D108BD9-81ED-4DB2-BD59-A6C34878D82A}">
                    <a16:rowId xmlns:a16="http://schemas.microsoft.com/office/drawing/2014/main" val="3464746124"/>
                  </a:ext>
                </a:extLst>
              </a:tr>
              <a:tr h="295275">
                <a:tc>
                  <a:txBody>
                    <a:bodyPr/>
                    <a:lstStyle/>
                    <a:p>
                      <a:pPr algn="ctr" fontAlgn="ctr">
                        <a:buNone/>
                      </a:pPr>
                      <a:r>
                        <a:rPr lang="en-US" sz="1500" u="none" strike="noStrike" dirty="0">
                          <a:effectLst/>
                          <a:latin typeface="+mj-lt"/>
                        </a:rPr>
                        <a:t>Alignment on Briefing</a:t>
                      </a:r>
                      <a:endParaRPr lang="en-US" sz="1500" b="0" i="0" u="none" strike="noStrike" dirty="0">
                        <a:solidFill>
                          <a:srgbClr val="000000"/>
                        </a:solidFill>
                        <a:effectLst/>
                        <a:latin typeface="+mj-lt"/>
                      </a:endParaRPr>
                    </a:p>
                  </a:txBody>
                  <a:tcPr marL="9599" marR="9599" marT="9599" marB="0" anchor="ctr"/>
                </a:tc>
                <a:tc>
                  <a:txBody>
                    <a:bodyPr/>
                    <a:lstStyle/>
                    <a:p>
                      <a:pPr algn="ctr" fontAlgn="ctr">
                        <a:buNone/>
                      </a:pPr>
                      <a:r>
                        <a:rPr lang="en-US" sz="1500" b="1" u="none" strike="noStrike" dirty="0">
                          <a:effectLst/>
                          <a:latin typeface="+mj-lt"/>
                        </a:rPr>
                        <a:t>QA Link Alignment</a:t>
                      </a:r>
                      <a:endParaRPr lang="en-US" sz="1500" b="1" i="0" u="none" strike="noStrike" dirty="0">
                        <a:solidFill>
                          <a:srgbClr val="000000"/>
                        </a:solidFill>
                        <a:effectLst/>
                        <a:latin typeface="+mj-lt"/>
                      </a:endParaRPr>
                    </a:p>
                  </a:txBody>
                  <a:tcPr marL="9599" marR="9599" marT="9599" marB="0" anchor="ctr">
                    <a:solidFill>
                      <a:srgbClr val="E5FFF8"/>
                    </a:solidFill>
                  </a:tcPr>
                </a:tc>
                <a:extLst>
                  <a:ext uri="{0D108BD9-81ED-4DB2-BD59-A6C34878D82A}">
                    <a16:rowId xmlns:a16="http://schemas.microsoft.com/office/drawing/2014/main" val="98295842"/>
                  </a:ext>
                </a:extLst>
              </a:tr>
              <a:tr h="295275">
                <a:tc>
                  <a:txBody>
                    <a:bodyPr/>
                    <a:lstStyle/>
                    <a:p>
                      <a:pPr algn="ctr" fontAlgn="ctr">
                        <a:buNone/>
                      </a:pPr>
                      <a:r>
                        <a:rPr lang="en-US" sz="1500" u="none" strike="noStrike" dirty="0">
                          <a:effectLst/>
                          <a:latin typeface="+mj-lt"/>
                        </a:rPr>
                        <a:t>Internally Approved Design Delivery</a:t>
                      </a:r>
                      <a:endParaRPr lang="en-US" sz="1500" b="0" i="0" u="none" strike="noStrike" dirty="0">
                        <a:solidFill>
                          <a:srgbClr val="000000"/>
                        </a:solidFill>
                        <a:effectLst/>
                        <a:latin typeface="+mj-lt"/>
                      </a:endParaRPr>
                    </a:p>
                  </a:txBody>
                  <a:tcPr marL="9599" marR="9599" marT="9599" marB="0" anchor="ctr"/>
                </a:tc>
                <a:tc>
                  <a:txBody>
                    <a:bodyPr/>
                    <a:lstStyle/>
                    <a:p>
                      <a:pPr algn="ctr" fontAlgn="ctr">
                        <a:buNone/>
                      </a:pPr>
                      <a:r>
                        <a:rPr lang="en-US" sz="1500" u="none" strike="noStrike" dirty="0">
                          <a:effectLst/>
                          <a:latin typeface="+mj-lt"/>
                        </a:rPr>
                        <a:t>Test Launch + Monitoring</a:t>
                      </a:r>
                      <a:endParaRPr lang="en-US" sz="1500" b="0" i="0" u="none" strike="noStrike" dirty="0">
                        <a:solidFill>
                          <a:srgbClr val="000000"/>
                        </a:solidFill>
                        <a:effectLst/>
                        <a:latin typeface="+mj-lt"/>
                      </a:endParaRPr>
                    </a:p>
                  </a:txBody>
                  <a:tcPr marL="9599" marR="9599" marT="9599" marB="0" anchor="ctr">
                    <a:solidFill>
                      <a:schemeClr val="accent2">
                        <a:lumMod val="20000"/>
                        <a:lumOff val="80000"/>
                      </a:schemeClr>
                    </a:solidFill>
                  </a:tcPr>
                </a:tc>
                <a:extLst>
                  <a:ext uri="{0D108BD9-81ED-4DB2-BD59-A6C34878D82A}">
                    <a16:rowId xmlns:a16="http://schemas.microsoft.com/office/drawing/2014/main" val="1353195599"/>
                  </a:ext>
                </a:extLst>
              </a:tr>
              <a:tr h="295275">
                <a:tc>
                  <a:txBody>
                    <a:bodyPr/>
                    <a:lstStyle/>
                    <a:p>
                      <a:pPr algn="ctr" fontAlgn="ctr">
                        <a:buNone/>
                      </a:pPr>
                      <a:r>
                        <a:rPr lang="en-US" sz="1500" u="none" strike="noStrike" dirty="0">
                          <a:effectLst/>
                          <a:latin typeface="+mj-lt"/>
                        </a:rPr>
                        <a:t>Alignment on Design + Revisions</a:t>
                      </a:r>
                      <a:endParaRPr lang="en-US" sz="1500" b="0" i="0" u="none" strike="noStrike" dirty="0">
                        <a:solidFill>
                          <a:srgbClr val="000000"/>
                        </a:solidFill>
                        <a:effectLst/>
                        <a:latin typeface="+mj-lt"/>
                      </a:endParaRPr>
                    </a:p>
                  </a:txBody>
                  <a:tcPr marL="9599" marR="9599" marT="9599" marB="0" anchor="ctr"/>
                </a:tc>
                <a:tc>
                  <a:txBody>
                    <a:bodyPr/>
                    <a:lstStyle/>
                    <a:p>
                      <a:pPr algn="ctr" fontAlgn="ctr">
                        <a:buNone/>
                      </a:pPr>
                      <a:r>
                        <a:rPr lang="en-US" sz="1500" u="none" strike="noStrike" dirty="0">
                          <a:effectLst/>
                          <a:latin typeface="+mj-lt"/>
                        </a:rPr>
                        <a:t>Analysis</a:t>
                      </a:r>
                      <a:endParaRPr lang="en-US" sz="1500" b="0" i="0" u="none" strike="noStrike" dirty="0">
                        <a:solidFill>
                          <a:srgbClr val="000000"/>
                        </a:solidFill>
                        <a:effectLst/>
                        <a:latin typeface="+mj-lt"/>
                      </a:endParaRPr>
                    </a:p>
                  </a:txBody>
                  <a:tcPr marL="9599" marR="9599" marT="9599" marB="0" anchor="ctr">
                    <a:solidFill>
                      <a:srgbClr val="E5FFF8"/>
                    </a:solidFill>
                  </a:tcPr>
                </a:tc>
                <a:extLst>
                  <a:ext uri="{0D108BD9-81ED-4DB2-BD59-A6C34878D82A}">
                    <a16:rowId xmlns:a16="http://schemas.microsoft.com/office/drawing/2014/main" val="522907157"/>
                  </a:ext>
                </a:extLst>
              </a:tr>
              <a:tr h="295275">
                <a:tc>
                  <a:txBody>
                    <a:bodyPr/>
                    <a:lstStyle/>
                    <a:p>
                      <a:pPr algn="ctr" fontAlgn="ctr">
                        <a:buNone/>
                      </a:pPr>
                      <a:r>
                        <a:rPr lang="en-US" sz="1500" u="none" strike="noStrike" dirty="0">
                          <a:effectLst/>
                          <a:latin typeface="+mj-lt"/>
                        </a:rPr>
                        <a:t>Compliance Alignment</a:t>
                      </a:r>
                      <a:endParaRPr lang="en-US" sz="1500" b="0" i="0" u="none" strike="noStrike" dirty="0">
                        <a:solidFill>
                          <a:srgbClr val="000000"/>
                        </a:solidFill>
                        <a:effectLst/>
                        <a:latin typeface="+mj-lt"/>
                      </a:endParaRPr>
                    </a:p>
                  </a:txBody>
                  <a:tcPr marL="9599" marR="9599" marT="9599" marB="0" anchor="ctr"/>
                </a:tc>
                <a:tc>
                  <a:txBody>
                    <a:bodyPr/>
                    <a:lstStyle/>
                    <a:p>
                      <a:pPr algn="ctr" fontAlgn="ctr">
                        <a:buNone/>
                      </a:pPr>
                      <a:r>
                        <a:rPr lang="en-US" sz="1500" u="none" strike="noStrike" dirty="0">
                          <a:effectLst/>
                          <a:latin typeface="+mj-lt"/>
                        </a:rPr>
                        <a:t>Maintaining Winning Experiences</a:t>
                      </a:r>
                      <a:endParaRPr lang="en-US" sz="1500" b="0" i="0" u="none" strike="noStrike" dirty="0">
                        <a:solidFill>
                          <a:srgbClr val="000000"/>
                        </a:solidFill>
                        <a:effectLst/>
                        <a:latin typeface="+mj-lt"/>
                      </a:endParaRPr>
                    </a:p>
                  </a:txBody>
                  <a:tcPr marL="9599" marR="9599" marT="9599" marB="0" anchor="ctr">
                    <a:solidFill>
                      <a:schemeClr val="accent2">
                        <a:lumMod val="20000"/>
                        <a:lumOff val="80000"/>
                      </a:schemeClr>
                    </a:solidFill>
                  </a:tcPr>
                </a:tc>
                <a:extLst>
                  <a:ext uri="{0D108BD9-81ED-4DB2-BD59-A6C34878D82A}">
                    <a16:rowId xmlns:a16="http://schemas.microsoft.com/office/drawing/2014/main" val="2592031991"/>
                  </a:ext>
                </a:extLst>
              </a:tr>
              <a:tr h="295275">
                <a:tc>
                  <a:txBody>
                    <a:bodyPr/>
                    <a:lstStyle/>
                    <a:p>
                      <a:pPr algn="ctr" fontAlgn="ctr">
                        <a:buNone/>
                      </a:pPr>
                      <a:r>
                        <a:rPr lang="en-US" sz="1500" u="none" strike="noStrike" dirty="0">
                          <a:effectLst/>
                          <a:latin typeface="+mj-lt"/>
                        </a:rPr>
                        <a:t>Development</a:t>
                      </a:r>
                      <a:endParaRPr lang="en-US" sz="1500" b="0" i="0" u="none" strike="noStrike" dirty="0">
                        <a:solidFill>
                          <a:srgbClr val="000000"/>
                        </a:solidFill>
                        <a:effectLst/>
                        <a:latin typeface="+mj-lt"/>
                      </a:endParaRPr>
                    </a:p>
                  </a:txBody>
                  <a:tcPr marL="9599" marR="9599" marT="9599" marB="0" anchor="ctr"/>
                </a:tc>
                <a:tc>
                  <a:txBody>
                    <a:bodyPr/>
                    <a:lstStyle/>
                    <a:p>
                      <a:pPr algn="l" fontAlgn="b">
                        <a:buNone/>
                      </a:pPr>
                      <a:endParaRPr lang="en-US" sz="1500" b="0" i="0" u="none" strike="noStrike" dirty="0">
                        <a:solidFill>
                          <a:srgbClr val="000000"/>
                        </a:solidFill>
                        <a:effectLst/>
                        <a:latin typeface="+mj-lt"/>
                      </a:endParaRPr>
                    </a:p>
                  </a:txBody>
                  <a:tcPr marL="9599" marR="9599" marT="9599" marB="0" anchor="b">
                    <a:solidFill>
                      <a:srgbClr val="E5FFF8"/>
                    </a:solidFill>
                  </a:tcPr>
                </a:tc>
                <a:extLst>
                  <a:ext uri="{0D108BD9-81ED-4DB2-BD59-A6C34878D82A}">
                    <a16:rowId xmlns:a16="http://schemas.microsoft.com/office/drawing/2014/main" val="3989580898"/>
                  </a:ext>
                </a:extLst>
              </a:tr>
              <a:tr h="295275">
                <a:tc>
                  <a:txBody>
                    <a:bodyPr/>
                    <a:lstStyle/>
                    <a:p>
                      <a:pPr algn="ctr" fontAlgn="ctr">
                        <a:buNone/>
                      </a:pPr>
                      <a:r>
                        <a:rPr lang="en-US" sz="1500" u="none" strike="noStrike" dirty="0">
                          <a:effectLst/>
                          <a:latin typeface="+mj-lt"/>
                        </a:rPr>
                        <a:t>Development Alignment</a:t>
                      </a:r>
                      <a:endParaRPr lang="en-US" sz="1500" b="0" i="0" u="none" strike="noStrike" dirty="0">
                        <a:solidFill>
                          <a:srgbClr val="000000"/>
                        </a:solidFill>
                        <a:effectLst/>
                        <a:latin typeface="+mj-lt"/>
                      </a:endParaRPr>
                    </a:p>
                  </a:txBody>
                  <a:tcPr marL="9599" marR="9599" marT="9599" marB="0" anchor="ctr"/>
                </a:tc>
                <a:tc>
                  <a:txBody>
                    <a:bodyPr/>
                    <a:lstStyle/>
                    <a:p>
                      <a:pPr algn="l" fontAlgn="b">
                        <a:buNone/>
                      </a:pPr>
                      <a:endParaRPr lang="en-US" sz="1500" b="0" i="0" u="none" strike="noStrike" dirty="0">
                        <a:solidFill>
                          <a:srgbClr val="000000"/>
                        </a:solidFill>
                        <a:effectLst/>
                        <a:latin typeface="+mj-lt"/>
                      </a:endParaRPr>
                    </a:p>
                  </a:txBody>
                  <a:tcPr marL="9599" marR="9599" marT="9599" marB="0" anchor="b">
                    <a:solidFill>
                      <a:schemeClr val="accent2">
                        <a:lumMod val="20000"/>
                        <a:lumOff val="80000"/>
                      </a:schemeClr>
                    </a:solidFill>
                  </a:tcPr>
                </a:tc>
                <a:extLst>
                  <a:ext uri="{0D108BD9-81ED-4DB2-BD59-A6C34878D82A}">
                    <a16:rowId xmlns:a16="http://schemas.microsoft.com/office/drawing/2014/main" val="3914484587"/>
                  </a:ext>
                </a:extLst>
              </a:tr>
              <a:tr h="295275">
                <a:tc>
                  <a:txBody>
                    <a:bodyPr/>
                    <a:lstStyle/>
                    <a:p>
                      <a:pPr algn="ctr" fontAlgn="ctr">
                        <a:buNone/>
                      </a:pPr>
                      <a:r>
                        <a:rPr lang="en-US" sz="1500" u="none" strike="noStrike" dirty="0">
                          <a:effectLst/>
                          <a:latin typeface="+mj-lt"/>
                        </a:rPr>
                        <a:t>Test Launch + Monitoring</a:t>
                      </a:r>
                      <a:endParaRPr lang="en-US" sz="1500" b="0" i="0" u="none" strike="noStrike" dirty="0">
                        <a:solidFill>
                          <a:srgbClr val="000000"/>
                        </a:solidFill>
                        <a:effectLst/>
                        <a:latin typeface="+mj-lt"/>
                      </a:endParaRPr>
                    </a:p>
                  </a:txBody>
                  <a:tcPr marL="9599" marR="9599" marT="9599" marB="0" anchor="ctr"/>
                </a:tc>
                <a:tc>
                  <a:txBody>
                    <a:bodyPr/>
                    <a:lstStyle/>
                    <a:p>
                      <a:pPr algn="l" fontAlgn="b">
                        <a:buNone/>
                      </a:pPr>
                      <a:endParaRPr lang="en-US" sz="1500" b="0" i="0" u="none" strike="noStrike" dirty="0">
                        <a:solidFill>
                          <a:srgbClr val="000000"/>
                        </a:solidFill>
                        <a:effectLst/>
                        <a:latin typeface="+mj-lt"/>
                      </a:endParaRPr>
                    </a:p>
                  </a:txBody>
                  <a:tcPr marL="9599" marR="9599" marT="9599" marB="0" anchor="b">
                    <a:solidFill>
                      <a:srgbClr val="E5FFF8"/>
                    </a:solidFill>
                  </a:tcPr>
                </a:tc>
                <a:extLst>
                  <a:ext uri="{0D108BD9-81ED-4DB2-BD59-A6C34878D82A}">
                    <a16:rowId xmlns:a16="http://schemas.microsoft.com/office/drawing/2014/main" val="940097673"/>
                  </a:ext>
                </a:extLst>
              </a:tr>
              <a:tr h="295275">
                <a:tc>
                  <a:txBody>
                    <a:bodyPr/>
                    <a:lstStyle/>
                    <a:p>
                      <a:pPr algn="ctr" fontAlgn="ctr">
                        <a:buNone/>
                      </a:pPr>
                      <a:r>
                        <a:rPr lang="en-US" sz="1500" u="none" strike="noStrike">
                          <a:effectLst/>
                          <a:latin typeface="+mj-lt"/>
                        </a:rPr>
                        <a:t>Analysis</a:t>
                      </a:r>
                      <a:endParaRPr lang="en-US" sz="1500" b="0" i="0" u="none" strike="noStrike">
                        <a:solidFill>
                          <a:srgbClr val="000000"/>
                        </a:solidFill>
                        <a:effectLst/>
                        <a:latin typeface="+mj-lt"/>
                      </a:endParaRPr>
                    </a:p>
                  </a:txBody>
                  <a:tcPr marL="9599" marR="9599" marT="9599" marB="0" anchor="ctr"/>
                </a:tc>
                <a:tc>
                  <a:txBody>
                    <a:bodyPr/>
                    <a:lstStyle/>
                    <a:p>
                      <a:pPr algn="l" fontAlgn="b">
                        <a:buNone/>
                      </a:pPr>
                      <a:endParaRPr lang="en-US" sz="1500" b="0" i="0" u="none" strike="noStrike" dirty="0">
                        <a:solidFill>
                          <a:srgbClr val="000000"/>
                        </a:solidFill>
                        <a:effectLst/>
                        <a:latin typeface="+mj-lt"/>
                      </a:endParaRPr>
                    </a:p>
                  </a:txBody>
                  <a:tcPr marL="9599" marR="9599" marT="9599" marB="0" anchor="b">
                    <a:solidFill>
                      <a:schemeClr val="accent2">
                        <a:lumMod val="20000"/>
                        <a:lumOff val="80000"/>
                      </a:schemeClr>
                    </a:solidFill>
                  </a:tcPr>
                </a:tc>
                <a:extLst>
                  <a:ext uri="{0D108BD9-81ED-4DB2-BD59-A6C34878D82A}">
                    <a16:rowId xmlns:a16="http://schemas.microsoft.com/office/drawing/2014/main" val="3643179302"/>
                  </a:ext>
                </a:extLst>
              </a:tr>
              <a:tr h="295275">
                <a:tc>
                  <a:txBody>
                    <a:bodyPr/>
                    <a:lstStyle/>
                    <a:p>
                      <a:pPr algn="ctr" fontAlgn="ctr">
                        <a:buNone/>
                      </a:pPr>
                      <a:r>
                        <a:rPr lang="en-US" sz="1500" u="none" strike="noStrike" dirty="0">
                          <a:effectLst/>
                          <a:latin typeface="+mj-lt"/>
                        </a:rPr>
                        <a:t>Maintaining Winning Experiences</a:t>
                      </a:r>
                      <a:endParaRPr lang="en-US" sz="1500" b="0" i="0" u="none" strike="noStrike" dirty="0">
                        <a:solidFill>
                          <a:srgbClr val="000000"/>
                        </a:solidFill>
                        <a:effectLst/>
                        <a:latin typeface="+mj-lt"/>
                      </a:endParaRPr>
                    </a:p>
                  </a:txBody>
                  <a:tcPr marL="9599" marR="9599" marT="9599" marB="0" anchor="ctr"/>
                </a:tc>
                <a:tc>
                  <a:txBody>
                    <a:bodyPr/>
                    <a:lstStyle/>
                    <a:p>
                      <a:pPr algn="l" fontAlgn="b">
                        <a:buNone/>
                      </a:pPr>
                      <a:endParaRPr lang="en-US" sz="1500" b="0" i="0" u="none" strike="noStrike" dirty="0">
                        <a:solidFill>
                          <a:srgbClr val="000000"/>
                        </a:solidFill>
                        <a:effectLst/>
                        <a:latin typeface="+mj-lt"/>
                      </a:endParaRPr>
                    </a:p>
                  </a:txBody>
                  <a:tcPr marL="9599" marR="9599" marT="9599" marB="0" anchor="b">
                    <a:solidFill>
                      <a:srgbClr val="E5FFF8"/>
                    </a:solidFill>
                  </a:tcPr>
                </a:tc>
                <a:extLst>
                  <a:ext uri="{0D108BD9-81ED-4DB2-BD59-A6C34878D82A}">
                    <a16:rowId xmlns:a16="http://schemas.microsoft.com/office/drawing/2014/main" val="2662264918"/>
                  </a:ext>
                </a:extLst>
              </a:tr>
            </a:tbl>
          </a:graphicData>
        </a:graphic>
      </p:graphicFrame>
    </p:spTree>
    <p:extLst>
      <p:ext uri="{BB962C8B-B14F-4D97-AF65-F5344CB8AC3E}">
        <p14:creationId xmlns:p14="http://schemas.microsoft.com/office/powerpoint/2010/main" val="24208144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D7912EF-F352-439C-7A11-533DDE7A4F79}"/>
              </a:ext>
            </a:extLst>
          </p:cNvPr>
          <p:cNvSpPr/>
          <p:nvPr/>
        </p:nvSpPr>
        <p:spPr>
          <a:xfrm>
            <a:off x="0" y="470781"/>
            <a:ext cx="12191998" cy="6387220"/>
          </a:xfrm>
          <a:prstGeom prst="rect">
            <a:avLst/>
          </a:prstGeom>
          <a:solidFill>
            <a:srgbClr val="6699CC">
              <a:alpha val="12941"/>
            </a:srgb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j-lt"/>
              <a:ea typeface="+mn-ea"/>
              <a:cs typeface="+mn-cs"/>
            </a:endParaRPr>
          </a:p>
        </p:txBody>
      </p:sp>
      <p:pic>
        <p:nvPicPr>
          <p:cNvPr id="3" name="Picture 2">
            <a:extLst>
              <a:ext uri="{FF2B5EF4-FFF2-40B4-BE49-F238E27FC236}">
                <a16:creationId xmlns:a16="http://schemas.microsoft.com/office/drawing/2014/main" id="{D9649019-285D-B5EE-B61C-F832CC7D4068}"/>
              </a:ext>
            </a:extLst>
          </p:cNvPr>
          <p:cNvPicPr>
            <a:picLocks noChangeAspect="1"/>
          </p:cNvPicPr>
          <p:nvPr/>
        </p:nvPicPr>
        <p:blipFill>
          <a:blip r:embed="rId2"/>
          <a:stretch>
            <a:fillRect/>
          </a:stretch>
        </p:blipFill>
        <p:spPr>
          <a:xfrm>
            <a:off x="431221" y="6141617"/>
            <a:ext cx="5016677" cy="563652"/>
          </a:xfrm>
          <a:prstGeom prst="rect">
            <a:avLst/>
          </a:prstGeom>
        </p:spPr>
      </p:pic>
      <p:sp>
        <p:nvSpPr>
          <p:cNvPr id="5" name="Google Shape;1601;p96">
            <a:extLst>
              <a:ext uri="{FF2B5EF4-FFF2-40B4-BE49-F238E27FC236}">
                <a16:creationId xmlns:a16="http://schemas.microsoft.com/office/drawing/2014/main" id="{4D5229CD-A076-C433-A2D8-2CA29008F637}"/>
              </a:ext>
            </a:extLst>
          </p:cNvPr>
          <p:cNvSpPr/>
          <p:nvPr/>
        </p:nvSpPr>
        <p:spPr>
          <a:xfrm>
            <a:off x="855012" y="485594"/>
            <a:ext cx="10396500" cy="548640"/>
          </a:xfrm>
          <a:prstGeom prst="roundRect">
            <a:avLst>
              <a:gd name="adj" fmla="val 16667"/>
            </a:avLst>
          </a:prstGeom>
          <a:solidFill>
            <a:schemeClr val="accent1"/>
          </a:solidFill>
          <a:ln>
            <a:noFill/>
          </a:ln>
        </p:spPr>
        <p:txBody>
          <a:bodyPr spcFirstLastPara="1" wrap="square" lIns="77300" tIns="77300" rIns="77300" bIns="773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002477"/>
              </a:solidFill>
              <a:effectLst/>
              <a:uLnTx/>
              <a:uFillTx/>
              <a:latin typeface="+mj-lt"/>
              <a:ea typeface="Arial"/>
              <a:cs typeface="Arial"/>
              <a:sym typeface="Arial"/>
            </a:endParaRPr>
          </a:p>
        </p:txBody>
      </p:sp>
      <p:cxnSp>
        <p:nvCxnSpPr>
          <p:cNvPr id="6" name="Google Shape;1621;p96">
            <a:extLst>
              <a:ext uri="{FF2B5EF4-FFF2-40B4-BE49-F238E27FC236}">
                <a16:creationId xmlns:a16="http://schemas.microsoft.com/office/drawing/2014/main" id="{B7738AC3-7ECE-153E-A403-A11A66E33A24}"/>
              </a:ext>
            </a:extLst>
          </p:cNvPr>
          <p:cNvCxnSpPr>
            <a:cxnSpLocks/>
            <a:stCxn id="7" idx="3"/>
            <a:endCxn id="11" idx="1"/>
          </p:cNvCxnSpPr>
          <p:nvPr/>
        </p:nvCxnSpPr>
        <p:spPr>
          <a:xfrm>
            <a:off x="3888441" y="759914"/>
            <a:ext cx="1308764" cy="0"/>
          </a:xfrm>
          <a:prstGeom prst="straightConnector1">
            <a:avLst/>
          </a:prstGeom>
          <a:noFill/>
          <a:ln w="28575" cap="flat" cmpd="sng">
            <a:solidFill>
              <a:srgbClr val="FFFFFF"/>
            </a:solidFill>
            <a:prstDash val="solid"/>
            <a:round/>
            <a:headEnd type="none" w="sm" len="sm"/>
            <a:tailEnd type="triangle" w="med" len="med"/>
          </a:ln>
        </p:spPr>
      </p:cxnSp>
      <p:sp>
        <p:nvSpPr>
          <p:cNvPr id="7" name="Google Shape;1619;p96">
            <a:extLst>
              <a:ext uri="{FF2B5EF4-FFF2-40B4-BE49-F238E27FC236}">
                <a16:creationId xmlns:a16="http://schemas.microsoft.com/office/drawing/2014/main" id="{0DB38E2F-5556-2C0A-B07B-ABFD64920900}"/>
              </a:ext>
            </a:extLst>
          </p:cNvPr>
          <p:cNvSpPr/>
          <p:nvPr/>
        </p:nvSpPr>
        <p:spPr>
          <a:xfrm>
            <a:off x="2631030" y="592814"/>
            <a:ext cx="1257411" cy="334200"/>
          </a:xfrm>
          <a:prstGeom prst="rect">
            <a:avLst/>
          </a:prstGeom>
          <a:gradFill flip="none" rotWithShape="1">
            <a:gsLst>
              <a:gs pos="0">
                <a:schemeClr val="accent6">
                  <a:lumMod val="50000"/>
                  <a:lumOff val="50000"/>
                </a:schemeClr>
              </a:gs>
              <a:gs pos="33000">
                <a:schemeClr val="bg1"/>
              </a:gs>
              <a:gs pos="67000">
                <a:schemeClr val="accent5">
                  <a:lumMod val="40000"/>
                  <a:lumOff val="60000"/>
                </a:schemeClr>
              </a:gs>
              <a:gs pos="100000">
                <a:schemeClr val="accent2">
                  <a:lumMod val="40000"/>
                  <a:lumOff val="60000"/>
                </a:schemeClr>
              </a:gs>
            </a:gsLst>
            <a:lin ang="0" scaled="1"/>
            <a:tileRect/>
          </a:gradFill>
          <a:ln w="9525" cap="flat" cmpd="sng">
            <a:solidFill>
              <a:schemeClr val="tx1"/>
            </a:solidFill>
            <a:prstDash val="solid"/>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dirty="0">
                <a:ln>
                  <a:noFill/>
                </a:ln>
                <a:effectLst/>
                <a:uLnTx/>
                <a:uFillTx/>
                <a:latin typeface="+mj-lt"/>
                <a:ea typeface="Red Hat Display"/>
                <a:cs typeface="Red Hat Display"/>
                <a:sym typeface="Red Hat Display"/>
              </a:rPr>
              <a:t>Biz Insights / Data Gathering</a:t>
            </a:r>
            <a:endParaRPr kumimoji="0" sz="900" b="0" i="0" u="none" strike="noStrike" kern="1200" cap="none" spc="0" normalizeH="0" baseline="0" noProof="0" dirty="0">
              <a:ln>
                <a:noFill/>
              </a:ln>
              <a:effectLst/>
              <a:uLnTx/>
              <a:uFillTx/>
              <a:latin typeface="+mj-lt"/>
              <a:ea typeface="Red Hat Display"/>
              <a:cs typeface="Red Hat Display"/>
              <a:sym typeface="Red Hat Display"/>
            </a:endParaRPr>
          </a:p>
        </p:txBody>
      </p:sp>
      <p:sp>
        <p:nvSpPr>
          <p:cNvPr id="8" name="Google Shape;1620;p96">
            <a:extLst>
              <a:ext uri="{FF2B5EF4-FFF2-40B4-BE49-F238E27FC236}">
                <a16:creationId xmlns:a16="http://schemas.microsoft.com/office/drawing/2014/main" id="{640B0D8A-36E6-B265-1181-1906B6E1ED89}"/>
              </a:ext>
            </a:extLst>
          </p:cNvPr>
          <p:cNvSpPr/>
          <p:nvPr/>
        </p:nvSpPr>
        <p:spPr>
          <a:xfrm>
            <a:off x="7741632" y="592946"/>
            <a:ext cx="1258596" cy="333936"/>
          </a:xfrm>
          <a:prstGeom prst="flowChartDocument">
            <a:avLst/>
          </a:prstGeom>
          <a:solidFill>
            <a:srgbClr val="FFFFFF"/>
          </a:solidFill>
          <a:ln w="9525" cap="flat" cmpd="sng">
            <a:solidFill>
              <a:schemeClr val="tx1"/>
            </a:solidFill>
            <a:prstDash val="solid"/>
            <a:round/>
            <a:headEnd type="none" w="sm" len="sm"/>
            <a:tailEnd type="none" w="sm" len="sm"/>
          </a:ln>
        </p:spPr>
        <p:txBody>
          <a:bodyPr spcFirstLastPara="1" wrap="square" lIns="0" tIns="4572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dirty="0">
                <a:ln>
                  <a:noFill/>
                </a:ln>
                <a:solidFill>
                  <a:srgbClr val="0070C0"/>
                </a:solidFill>
                <a:effectLst/>
                <a:uLnTx/>
                <a:uFillTx/>
                <a:latin typeface="+mj-lt"/>
                <a:ea typeface="Red Hat Display"/>
                <a:cs typeface="Red Hat Display"/>
                <a:sym typeface="Red Hat Display"/>
                <a:hlinkClick r:id="rId3">
                  <a:extLst>
                    <a:ext uri="{A12FA001-AC4F-418D-AE19-62706E023703}">
                      <ahyp:hlinkClr xmlns:ahyp="http://schemas.microsoft.com/office/drawing/2018/hyperlinkcolor" val="tx"/>
                    </a:ext>
                  </a:extLst>
                </a:hlinkClick>
              </a:rPr>
              <a:t>Test Roadma</a:t>
            </a:r>
            <a:r>
              <a:rPr lang="en" sz="900" dirty="0">
                <a:solidFill>
                  <a:srgbClr val="0070C0"/>
                </a:solidFill>
                <a:latin typeface="+mj-lt"/>
                <a:ea typeface="Red Hat Display"/>
                <a:cs typeface="Red Hat Display"/>
                <a:sym typeface="Red Hat Display"/>
                <a:hlinkClick r:id="rId3">
                  <a:extLst>
                    <a:ext uri="{A12FA001-AC4F-418D-AE19-62706E023703}">
                      <ahyp:hlinkClr xmlns:ahyp="http://schemas.microsoft.com/office/drawing/2018/hyperlinkcolor" val="tx"/>
                    </a:ext>
                  </a:extLst>
                </a:hlinkClick>
              </a:rPr>
              <a:t>p</a:t>
            </a:r>
            <a:r>
              <a:rPr kumimoji="0" lang="en" sz="900" b="0" i="0" u="none" strike="noStrike" kern="1200" cap="none" spc="0" normalizeH="0" baseline="0" noProof="0" dirty="0">
                <a:ln>
                  <a:noFill/>
                </a:ln>
                <a:solidFill>
                  <a:srgbClr val="0070C0"/>
                </a:solidFill>
                <a:effectLst/>
                <a:uLnTx/>
                <a:uFillTx/>
                <a:latin typeface="+mj-lt"/>
                <a:ea typeface="Red Hat Display"/>
                <a:cs typeface="Red Hat Display"/>
                <a:sym typeface="Red Hat Display"/>
                <a:hlinkClick r:id="rId3">
                  <a:extLst>
                    <a:ext uri="{A12FA001-AC4F-418D-AE19-62706E023703}">
                      <ahyp:hlinkClr xmlns:ahyp="http://schemas.microsoft.com/office/drawing/2018/hyperlinkcolor" val="tx"/>
                    </a:ext>
                  </a:extLst>
                </a:hlinkClick>
              </a:rPr>
              <a:t> Delivered</a:t>
            </a:r>
            <a:endParaRPr kumimoji="0" sz="900" b="0" i="0" u="none" strike="noStrike" kern="1200" cap="none" spc="0" normalizeH="0" baseline="0" noProof="0" dirty="0">
              <a:ln>
                <a:noFill/>
              </a:ln>
              <a:solidFill>
                <a:srgbClr val="0070C0"/>
              </a:solidFill>
              <a:effectLst/>
              <a:uLnTx/>
              <a:uFillTx/>
              <a:latin typeface="+mj-lt"/>
              <a:ea typeface="Red Hat Display"/>
              <a:cs typeface="Red Hat Display"/>
              <a:sym typeface="Red Hat Display"/>
            </a:endParaRPr>
          </a:p>
        </p:txBody>
      </p:sp>
      <p:sp>
        <p:nvSpPr>
          <p:cNvPr id="9" name="Google Shape;1622;p96">
            <a:extLst>
              <a:ext uri="{FF2B5EF4-FFF2-40B4-BE49-F238E27FC236}">
                <a16:creationId xmlns:a16="http://schemas.microsoft.com/office/drawing/2014/main" id="{204A75B3-4692-6218-3173-2CE827BD36D9}"/>
              </a:ext>
            </a:extLst>
          </p:cNvPr>
          <p:cNvSpPr/>
          <p:nvPr/>
        </p:nvSpPr>
        <p:spPr>
          <a:xfrm>
            <a:off x="9550562" y="592951"/>
            <a:ext cx="1511896" cy="333926"/>
          </a:xfrm>
          <a:prstGeom prst="flowChartPredefinedProcess">
            <a:avLst/>
          </a:prstGeom>
          <a:solidFill>
            <a:schemeClr val="accent2">
              <a:lumMod val="40000"/>
              <a:lumOff val="60000"/>
            </a:schemeClr>
          </a:solidFill>
          <a:ln w="3175" cap="flat" cmpd="sng">
            <a:solidFill>
              <a:schemeClr val="tx2"/>
            </a:solidFill>
            <a:prstDash val="solid"/>
            <a:round/>
            <a:headEnd type="none" w="sm" len="sm"/>
            <a:tailEnd type="none" w="sm" len="sm"/>
          </a:ln>
        </p:spPr>
        <p:txBody>
          <a:bodyPr spcFirstLastPara="1" wrap="square" lIns="0" tIns="77300" rIns="0" bIns="773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a:ln>
                  <a:noFill/>
                </a:ln>
                <a:effectLst/>
                <a:uLnTx/>
                <a:uFillTx/>
                <a:latin typeface="+mj-lt"/>
                <a:ea typeface="Red Hat Display"/>
                <a:cs typeface="Red Hat Display"/>
                <a:sym typeface="Red Hat Display"/>
              </a:rPr>
              <a:t>Testing Direction Approved</a:t>
            </a:r>
            <a:endParaRPr kumimoji="0" sz="900" b="0" i="0" u="none" strike="noStrike" kern="1200" cap="none" spc="0" normalizeH="0" baseline="0" noProof="0">
              <a:ln>
                <a:noFill/>
              </a:ln>
              <a:effectLst/>
              <a:uLnTx/>
              <a:uFillTx/>
              <a:latin typeface="+mj-lt"/>
              <a:ea typeface="Red Hat Display"/>
              <a:cs typeface="Red Hat Display"/>
              <a:sym typeface="Red Hat Display"/>
            </a:endParaRPr>
          </a:p>
        </p:txBody>
      </p:sp>
      <p:sp>
        <p:nvSpPr>
          <p:cNvPr id="11" name="Google Shape;1619;p96">
            <a:extLst>
              <a:ext uri="{FF2B5EF4-FFF2-40B4-BE49-F238E27FC236}">
                <a16:creationId xmlns:a16="http://schemas.microsoft.com/office/drawing/2014/main" id="{D2E99177-54B3-4FDB-A8B0-D36C34455316}"/>
              </a:ext>
            </a:extLst>
          </p:cNvPr>
          <p:cNvSpPr/>
          <p:nvPr/>
        </p:nvSpPr>
        <p:spPr>
          <a:xfrm>
            <a:off x="5197205" y="592814"/>
            <a:ext cx="1058100" cy="334200"/>
          </a:xfrm>
          <a:prstGeom prst="rect">
            <a:avLst/>
          </a:prstGeom>
          <a:gradFill flip="none" rotWithShape="1">
            <a:gsLst>
              <a:gs pos="33000">
                <a:schemeClr val="accent1"/>
              </a:gs>
              <a:gs pos="0">
                <a:schemeClr val="accent6">
                  <a:lumMod val="50000"/>
                  <a:lumOff val="50000"/>
                </a:schemeClr>
              </a:gs>
              <a:gs pos="60000">
                <a:schemeClr val="bg1"/>
              </a:gs>
              <a:gs pos="100000">
                <a:schemeClr val="accent5">
                  <a:lumMod val="40000"/>
                  <a:lumOff val="60000"/>
                </a:schemeClr>
              </a:gs>
            </a:gsLst>
            <a:lin ang="0" scaled="1"/>
            <a:tileRect/>
          </a:gradFill>
          <a:ln w="9525" cap="flat" cmpd="sng">
            <a:solidFill>
              <a:schemeClr val="tx1"/>
            </a:solidFill>
            <a:prstDash val="solid"/>
            <a:round/>
            <a:headEnd type="none" w="sm" len="sm"/>
            <a:tailEnd type="none" w="sm" len="sm"/>
          </a:ln>
        </p:spPr>
        <p:txBody>
          <a:bodyPr spcFirstLastPara="1" wrap="square" lIns="0" tIns="0" rIns="0" bIns="0" anchor="ctr" anchorCtr="0">
            <a:noAutofit/>
          </a:bodyPr>
          <a:lstStyle/>
          <a:p>
            <a:pPr algn="ctr">
              <a:buClr>
                <a:srgbClr val="000000"/>
              </a:buClr>
              <a:buSzPts val="500"/>
            </a:pPr>
            <a:r>
              <a:rPr lang="en" sz="900" dirty="0">
                <a:latin typeface="+mj-lt"/>
                <a:sym typeface="Red Hat Display"/>
              </a:rPr>
              <a:t>Test Roadmap Developed</a:t>
            </a:r>
            <a:endParaRPr sz="900" dirty="0">
              <a:latin typeface="+mj-lt"/>
              <a:sym typeface="Red Hat Display"/>
            </a:endParaRPr>
          </a:p>
        </p:txBody>
      </p:sp>
      <p:cxnSp>
        <p:nvCxnSpPr>
          <p:cNvPr id="12" name="Google Shape;1621;p96">
            <a:extLst>
              <a:ext uri="{FF2B5EF4-FFF2-40B4-BE49-F238E27FC236}">
                <a16:creationId xmlns:a16="http://schemas.microsoft.com/office/drawing/2014/main" id="{75F2D5FD-F5EB-633F-0E10-5794B64EB518}"/>
              </a:ext>
            </a:extLst>
          </p:cNvPr>
          <p:cNvCxnSpPr>
            <a:cxnSpLocks/>
            <a:stCxn id="11" idx="3"/>
            <a:endCxn id="8" idx="1"/>
          </p:cNvCxnSpPr>
          <p:nvPr/>
        </p:nvCxnSpPr>
        <p:spPr>
          <a:xfrm>
            <a:off x="6255305" y="759914"/>
            <a:ext cx="1486327" cy="0"/>
          </a:xfrm>
          <a:prstGeom prst="straightConnector1">
            <a:avLst/>
          </a:prstGeom>
          <a:noFill/>
          <a:ln w="28575" cap="flat" cmpd="sng">
            <a:solidFill>
              <a:srgbClr val="FFFFFF"/>
            </a:solidFill>
            <a:prstDash val="solid"/>
            <a:round/>
            <a:headEnd type="none" w="sm" len="sm"/>
            <a:tailEnd type="triangle" w="med" len="med"/>
          </a:ln>
        </p:spPr>
      </p:cxnSp>
      <p:cxnSp>
        <p:nvCxnSpPr>
          <p:cNvPr id="13" name="Google Shape;1621;p96">
            <a:extLst>
              <a:ext uri="{FF2B5EF4-FFF2-40B4-BE49-F238E27FC236}">
                <a16:creationId xmlns:a16="http://schemas.microsoft.com/office/drawing/2014/main" id="{97D9402F-3396-076E-B6CF-663B69E7F655}"/>
              </a:ext>
            </a:extLst>
          </p:cNvPr>
          <p:cNvCxnSpPr>
            <a:cxnSpLocks/>
            <a:stCxn id="8" idx="3"/>
            <a:endCxn id="9" idx="1"/>
          </p:cNvCxnSpPr>
          <p:nvPr/>
        </p:nvCxnSpPr>
        <p:spPr>
          <a:xfrm>
            <a:off x="9000228" y="759914"/>
            <a:ext cx="550334" cy="0"/>
          </a:xfrm>
          <a:prstGeom prst="straightConnector1">
            <a:avLst/>
          </a:prstGeom>
          <a:noFill/>
          <a:ln w="28575" cap="flat" cmpd="sng">
            <a:solidFill>
              <a:srgbClr val="FFFFFF"/>
            </a:solidFill>
            <a:prstDash val="solid"/>
            <a:round/>
            <a:headEnd type="none" w="sm" len="sm"/>
            <a:tailEnd type="triangle" w="med" len="med"/>
          </a:ln>
        </p:spPr>
      </p:cxnSp>
      <p:sp>
        <p:nvSpPr>
          <p:cNvPr id="15" name="Google Shape;1607;p96">
            <a:extLst>
              <a:ext uri="{FF2B5EF4-FFF2-40B4-BE49-F238E27FC236}">
                <a16:creationId xmlns:a16="http://schemas.microsoft.com/office/drawing/2014/main" id="{A7B3195B-87C1-689D-1322-0EA5A84FEA6D}"/>
              </a:ext>
            </a:extLst>
          </p:cNvPr>
          <p:cNvSpPr/>
          <p:nvPr/>
        </p:nvSpPr>
        <p:spPr>
          <a:xfrm>
            <a:off x="855012" y="4648342"/>
            <a:ext cx="10422000" cy="548640"/>
          </a:xfrm>
          <a:prstGeom prst="roundRect">
            <a:avLst>
              <a:gd name="adj" fmla="val 16667"/>
            </a:avLst>
          </a:prstGeom>
          <a:solidFill>
            <a:schemeClr val="bg1">
              <a:lumMod val="65000"/>
            </a:schemeClr>
          </a:solidFill>
          <a:ln>
            <a:noFill/>
          </a:ln>
        </p:spPr>
        <p:txBody>
          <a:bodyPr spcFirstLastPara="1" wrap="square" lIns="77300" tIns="77300" rIns="77300" bIns="773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002477"/>
              </a:solidFill>
              <a:effectLst/>
              <a:uLnTx/>
              <a:uFillTx/>
              <a:latin typeface="+mj-lt"/>
              <a:ea typeface="Arial"/>
              <a:cs typeface="Arial"/>
              <a:sym typeface="Arial"/>
            </a:endParaRPr>
          </a:p>
        </p:txBody>
      </p:sp>
      <p:sp>
        <p:nvSpPr>
          <p:cNvPr id="16" name="Google Shape;1645;p96">
            <a:extLst>
              <a:ext uri="{FF2B5EF4-FFF2-40B4-BE49-F238E27FC236}">
                <a16:creationId xmlns:a16="http://schemas.microsoft.com/office/drawing/2014/main" id="{AD7F4DC9-0DC8-7530-B97E-4B57722F642A}"/>
              </a:ext>
            </a:extLst>
          </p:cNvPr>
          <p:cNvSpPr txBox="1"/>
          <p:nvPr/>
        </p:nvSpPr>
        <p:spPr>
          <a:xfrm>
            <a:off x="910328" y="4747612"/>
            <a:ext cx="1895400" cy="350100"/>
          </a:xfrm>
          <a:prstGeom prst="rect">
            <a:avLst/>
          </a:prstGeom>
          <a:noFill/>
          <a:ln>
            <a:noFill/>
          </a:ln>
        </p:spPr>
        <p:txBody>
          <a:bodyPr spcFirstLastPara="1" wrap="square" lIns="77300" tIns="77300" rIns="77300" bIns="773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 sz="1200" b="0" i="0" u="none" strike="noStrike" kern="1200" cap="none" spc="0" normalizeH="0" baseline="0" noProof="0">
                <a:ln>
                  <a:noFill/>
                </a:ln>
                <a:effectLst/>
                <a:uLnTx/>
                <a:uFillTx/>
                <a:latin typeface="+mj-lt"/>
                <a:ea typeface="Red Hat Display"/>
                <a:cs typeface="Red Hat Display"/>
                <a:sym typeface="Red Hat Display"/>
              </a:rPr>
              <a:t>Analysis</a:t>
            </a:r>
            <a:endParaRPr kumimoji="0" sz="1200" b="0" i="0" u="none" strike="noStrike" kern="1200" cap="none" spc="0" normalizeH="0" baseline="0" noProof="0">
              <a:ln>
                <a:noFill/>
              </a:ln>
              <a:effectLst/>
              <a:uLnTx/>
              <a:uFillTx/>
              <a:latin typeface="+mj-lt"/>
              <a:ea typeface="Red Hat Display"/>
              <a:cs typeface="Red Hat Display"/>
              <a:sym typeface="Red Hat Display"/>
            </a:endParaRPr>
          </a:p>
        </p:txBody>
      </p:sp>
      <p:sp>
        <p:nvSpPr>
          <p:cNvPr id="17" name="Google Shape;1654;p96">
            <a:extLst>
              <a:ext uri="{FF2B5EF4-FFF2-40B4-BE49-F238E27FC236}">
                <a16:creationId xmlns:a16="http://schemas.microsoft.com/office/drawing/2014/main" id="{7E99DED4-A580-4AAF-7307-009B928BE467}"/>
              </a:ext>
            </a:extLst>
          </p:cNvPr>
          <p:cNvSpPr/>
          <p:nvPr/>
        </p:nvSpPr>
        <p:spPr>
          <a:xfrm>
            <a:off x="4688724" y="4755562"/>
            <a:ext cx="761400" cy="334200"/>
          </a:xfrm>
          <a:prstGeom prst="rect">
            <a:avLst/>
          </a:prstGeom>
          <a:solidFill>
            <a:srgbClr val="FFFFFF"/>
          </a:solidFill>
          <a:ln w="9525" cap="flat" cmpd="sng">
            <a:solidFill>
              <a:schemeClr val="tx1"/>
            </a:solidFill>
            <a:prstDash val="dash"/>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a:ln>
                  <a:noFill/>
                </a:ln>
                <a:effectLst/>
                <a:uLnTx/>
                <a:uFillTx/>
                <a:latin typeface="+mj-lt"/>
                <a:ea typeface="Red Hat Display"/>
                <a:cs typeface="Red Hat Display"/>
                <a:sym typeface="Red Hat Display"/>
              </a:rPr>
              <a:t>Deep Dive</a:t>
            </a:r>
            <a:endParaRPr kumimoji="0" sz="900" b="0" i="0" u="none" strike="noStrike" kern="1200" cap="none" spc="0" normalizeH="0" baseline="0" noProof="0">
              <a:ln>
                <a:noFill/>
              </a:ln>
              <a:effectLst/>
              <a:uLnTx/>
              <a:uFillTx/>
              <a:latin typeface="+mj-lt"/>
              <a:ea typeface="Red Hat Display"/>
              <a:cs typeface="Red Hat Display"/>
              <a:sym typeface="Red Hat Display"/>
            </a:endParaRPr>
          </a:p>
        </p:txBody>
      </p:sp>
      <p:sp>
        <p:nvSpPr>
          <p:cNvPr id="18" name="Google Shape;1655;p96">
            <a:extLst>
              <a:ext uri="{FF2B5EF4-FFF2-40B4-BE49-F238E27FC236}">
                <a16:creationId xmlns:a16="http://schemas.microsoft.com/office/drawing/2014/main" id="{574D772D-A01D-853A-DD1F-61CC01870A55}"/>
              </a:ext>
            </a:extLst>
          </p:cNvPr>
          <p:cNvSpPr/>
          <p:nvPr/>
        </p:nvSpPr>
        <p:spPr>
          <a:xfrm>
            <a:off x="9780647" y="4755562"/>
            <a:ext cx="1281811" cy="334200"/>
          </a:xfrm>
          <a:prstGeom prst="rect">
            <a:avLst/>
          </a:prstGeom>
          <a:solidFill>
            <a:srgbClr val="FFFFFF"/>
          </a:solidFill>
          <a:ln w="9525" cap="flat" cmpd="sng">
            <a:solidFill>
              <a:schemeClr val="tx1"/>
            </a:solidFill>
            <a:prstDash val="solid"/>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dirty="0">
                <a:ln>
                  <a:noFill/>
                </a:ln>
                <a:effectLst/>
                <a:uLnTx/>
                <a:uFillTx/>
                <a:latin typeface="+mj-lt"/>
                <a:ea typeface="Red Hat Display"/>
                <a:cs typeface="Red Hat Display"/>
                <a:sym typeface="Red Hat Display"/>
              </a:rPr>
              <a:t>Learnings Captured To Inform Iteration</a:t>
            </a:r>
            <a:endParaRPr kumimoji="0" sz="900" b="0" i="0" u="none" strike="noStrike" kern="1200" cap="none" spc="0" normalizeH="0" baseline="0" noProof="0" dirty="0">
              <a:ln>
                <a:noFill/>
              </a:ln>
              <a:effectLst/>
              <a:uLnTx/>
              <a:uFillTx/>
              <a:latin typeface="+mj-lt"/>
              <a:ea typeface="Red Hat Display"/>
              <a:cs typeface="Red Hat Display"/>
              <a:sym typeface="Red Hat Display"/>
            </a:endParaRPr>
          </a:p>
        </p:txBody>
      </p:sp>
      <p:cxnSp>
        <p:nvCxnSpPr>
          <p:cNvPr id="19" name="Google Shape;1657;p96">
            <a:extLst>
              <a:ext uri="{FF2B5EF4-FFF2-40B4-BE49-F238E27FC236}">
                <a16:creationId xmlns:a16="http://schemas.microsoft.com/office/drawing/2014/main" id="{8021AE27-E23C-2644-9FC5-78E300EE976E}"/>
              </a:ext>
            </a:extLst>
          </p:cNvPr>
          <p:cNvCxnSpPr>
            <a:cxnSpLocks/>
          </p:cNvCxnSpPr>
          <p:nvPr/>
        </p:nvCxnSpPr>
        <p:spPr>
          <a:xfrm>
            <a:off x="3966489" y="4922662"/>
            <a:ext cx="722235" cy="0"/>
          </a:xfrm>
          <a:prstGeom prst="straightConnector1">
            <a:avLst/>
          </a:prstGeom>
          <a:noFill/>
          <a:ln w="28575" cap="flat" cmpd="sng">
            <a:solidFill>
              <a:srgbClr val="FFFFFF"/>
            </a:solidFill>
            <a:prstDash val="solid"/>
            <a:round/>
            <a:headEnd type="none" w="sm" len="sm"/>
            <a:tailEnd type="triangle" w="med" len="med"/>
          </a:ln>
        </p:spPr>
      </p:cxnSp>
      <p:cxnSp>
        <p:nvCxnSpPr>
          <p:cNvPr id="20" name="Google Shape;1661;p96">
            <a:extLst>
              <a:ext uri="{FF2B5EF4-FFF2-40B4-BE49-F238E27FC236}">
                <a16:creationId xmlns:a16="http://schemas.microsoft.com/office/drawing/2014/main" id="{994824EB-6121-D7A6-7D8C-21C6C632D2AA}"/>
              </a:ext>
            </a:extLst>
          </p:cNvPr>
          <p:cNvCxnSpPr>
            <a:cxnSpLocks/>
            <a:stCxn id="23" idx="3"/>
            <a:endCxn id="18" idx="1"/>
          </p:cNvCxnSpPr>
          <p:nvPr/>
        </p:nvCxnSpPr>
        <p:spPr>
          <a:xfrm>
            <a:off x="9216784" y="4922662"/>
            <a:ext cx="563863" cy="0"/>
          </a:xfrm>
          <a:prstGeom prst="straightConnector1">
            <a:avLst/>
          </a:prstGeom>
          <a:noFill/>
          <a:ln w="28575" cap="flat" cmpd="sng">
            <a:solidFill>
              <a:srgbClr val="FFFFFF"/>
            </a:solidFill>
            <a:prstDash val="solid"/>
            <a:round/>
            <a:headEnd type="none" w="sm" len="sm"/>
            <a:tailEnd type="triangle" w="med" len="med"/>
          </a:ln>
        </p:spPr>
      </p:cxnSp>
      <p:cxnSp>
        <p:nvCxnSpPr>
          <p:cNvPr id="21" name="Google Shape;1663;p96">
            <a:extLst>
              <a:ext uri="{FF2B5EF4-FFF2-40B4-BE49-F238E27FC236}">
                <a16:creationId xmlns:a16="http://schemas.microsoft.com/office/drawing/2014/main" id="{D11C7F7D-223C-E34E-37CC-C4184BE443DE}"/>
              </a:ext>
            </a:extLst>
          </p:cNvPr>
          <p:cNvCxnSpPr>
            <a:cxnSpLocks/>
            <a:endCxn id="25" idx="1"/>
          </p:cNvCxnSpPr>
          <p:nvPr/>
        </p:nvCxnSpPr>
        <p:spPr>
          <a:xfrm>
            <a:off x="5450124" y="4922662"/>
            <a:ext cx="722235" cy="0"/>
          </a:xfrm>
          <a:prstGeom prst="straightConnector1">
            <a:avLst/>
          </a:prstGeom>
          <a:noFill/>
          <a:ln w="28575" cap="flat" cmpd="sng">
            <a:solidFill>
              <a:srgbClr val="FFFFFF"/>
            </a:solidFill>
            <a:prstDash val="solid"/>
            <a:round/>
            <a:headEnd type="none" w="sm" len="sm"/>
            <a:tailEnd type="triangle" w="med" len="med"/>
          </a:ln>
        </p:spPr>
      </p:cxnSp>
      <p:sp>
        <p:nvSpPr>
          <p:cNvPr id="22" name="Google Shape;1658;p96">
            <a:extLst>
              <a:ext uri="{FF2B5EF4-FFF2-40B4-BE49-F238E27FC236}">
                <a16:creationId xmlns:a16="http://schemas.microsoft.com/office/drawing/2014/main" id="{95ED0C11-8AD1-E910-76F8-D290D5E15903}"/>
              </a:ext>
            </a:extLst>
          </p:cNvPr>
          <p:cNvSpPr/>
          <p:nvPr/>
        </p:nvSpPr>
        <p:spPr>
          <a:xfrm>
            <a:off x="2631031" y="4755699"/>
            <a:ext cx="1325064" cy="333926"/>
          </a:xfrm>
          <a:prstGeom prst="flowChartPredefinedProcess">
            <a:avLst/>
          </a:prstGeom>
          <a:solidFill>
            <a:srgbClr val="FFFFFF"/>
          </a:solidFill>
          <a:ln w="9525" cap="flat" cmpd="sng">
            <a:solidFill>
              <a:schemeClr val="tx1"/>
            </a:solidFill>
            <a:prstDash val="solid"/>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dirty="0">
                <a:ln>
                  <a:noFill/>
                </a:ln>
                <a:effectLst/>
                <a:uLnTx/>
                <a:uFillTx/>
                <a:latin typeface="+mj-lt"/>
                <a:ea typeface="Red Hat Display"/>
                <a:cs typeface="Red Hat Display"/>
                <a:sym typeface="Red Hat Display"/>
              </a:rPr>
              <a:t>Win/Loss Assessment</a:t>
            </a:r>
            <a:endParaRPr kumimoji="0" sz="900" b="0" i="0" u="none" strike="noStrike" kern="1200" cap="none" spc="0" normalizeH="0" baseline="0" noProof="0" dirty="0">
              <a:ln>
                <a:noFill/>
              </a:ln>
              <a:effectLst/>
              <a:uLnTx/>
              <a:uFillTx/>
              <a:latin typeface="+mj-lt"/>
              <a:ea typeface="Red Hat Display"/>
              <a:cs typeface="Red Hat Display"/>
              <a:sym typeface="Red Hat Display"/>
            </a:endParaRPr>
          </a:p>
        </p:txBody>
      </p:sp>
      <p:sp>
        <p:nvSpPr>
          <p:cNvPr id="23" name="Google Shape;1614;p96">
            <a:extLst>
              <a:ext uri="{FF2B5EF4-FFF2-40B4-BE49-F238E27FC236}">
                <a16:creationId xmlns:a16="http://schemas.microsoft.com/office/drawing/2014/main" id="{E53EF01A-EAEC-CBB9-49FA-79838D89703E}"/>
              </a:ext>
            </a:extLst>
          </p:cNvPr>
          <p:cNvSpPr/>
          <p:nvPr/>
        </p:nvSpPr>
        <p:spPr>
          <a:xfrm>
            <a:off x="7884090" y="4755704"/>
            <a:ext cx="1332694" cy="333916"/>
          </a:xfrm>
          <a:prstGeom prst="rect">
            <a:avLst/>
          </a:prstGeom>
          <a:solidFill>
            <a:schemeClr val="bg1"/>
          </a:solidFill>
          <a:ln w="9525" cap="flat" cmpd="sng">
            <a:solidFill>
              <a:schemeClr val="tx1"/>
            </a:solidFill>
            <a:prstDash val="solid"/>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Tx/>
              <a:buNone/>
              <a:tabLst/>
              <a:defRPr/>
            </a:pPr>
            <a:r>
              <a:rPr kumimoji="0" lang="en" sz="900" b="0" i="0" u="none" strike="noStrike" kern="1200" cap="none" spc="0" normalizeH="0" baseline="0" noProof="0">
                <a:ln>
                  <a:noFill/>
                </a:ln>
                <a:effectLst/>
                <a:uLnTx/>
                <a:uFillTx/>
                <a:latin typeface="+mj-lt"/>
                <a:ea typeface="+mn-ea"/>
                <a:cs typeface="+mn-cs"/>
                <a:sym typeface="Red Hat Display"/>
              </a:rPr>
              <a:t>Winning Experience Maintained on Site</a:t>
            </a:r>
            <a:endParaRPr kumimoji="0" sz="900" b="0" i="0" u="none" strike="noStrike" kern="1200" cap="none" spc="0" normalizeH="0" baseline="0" noProof="0">
              <a:ln>
                <a:noFill/>
              </a:ln>
              <a:effectLst/>
              <a:uLnTx/>
              <a:uFillTx/>
              <a:latin typeface="+mj-lt"/>
              <a:ea typeface="+mn-ea"/>
              <a:cs typeface="+mn-cs"/>
              <a:sym typeface="Red Hat Display"/>
            </a:endParaRPr>
          </a:p>
        </p:txBody>
      </p:sp>
      <p:cxnSp>
        <p:nvCxnSpPr>
          <p:cNvPr id="24" name="Google Shape;1663;p96">
            <a:extLst>
              <a:ext uri="{FF2B5EF4-FFF2-40B4-BE49-F238E27FC236}">
                <a16:creationId xmlns:a16="http://schemas.microsoft.com/office/drawing/2014/main" id="{14E9D1D5-4BB8-3806-B5E9-AD8E245E988B}"/>
              </a:ext>
            </a:extLst>
          </p:cNvPr>
          <p:cNvCxnSpPr>
            <a:cxnSpLocks/>
            <a:stCxn id="25" idx="3"/>
          </p:cNvCxnSpPr>
          <p:nvPr/>
        </p:nvCxnSpPr>
        <p:spPr>
          <a:xfrm>
            <a:off x="7161855" y="4922662"/>
            <a:ext cx="722235" cy="0"/>
          </a:xfrm>
          <a:prstGeom prst="straightConnector1">
            <a:avLst/>
          </a:prstGeom>
          <a:noFill/>
          <a:ln w="28575" cap="flat" cmpd="sng">
            <a:solidFill>
              <a:srgbClr val="FFFFFF"/>
            </a:solidFill>
            <a:prstDash val="solid"/>
            <a:round/>
            <a:headEnd type="none" w="sm" len="sm"/>
            <a:tailEnd type="triangle" w="med" len="med"/>
          </a:ln>
        </p:spPr>
      </p:cxnSp>
      <p:sp>
        <p:nvSpPr>
          <p:cNvPr id="25" name="Google Shape;1662;p96">
            <a:extLst>
              <a:ext uri="{FF2B5EF4-FFF2-40B4-BE49-F238E27FC236}">
                <a16:creationId xmlns:a16="http://schemas.microsoft.com/office/drawing/2014/main" id="{3A752AB3-E87D-4184-7A21-AC12E8A6FB0F}"/>
              </a:ext>
            </a:extLst>
          </p:cNvPr>
          <p:cNvSpPr/>
          <p:nvPr/>
        </p:nvSpPr>
        <p:spPr>
          <a:xfrm>
            <a:off x="6172359" y="4755694"/>
            <a:ext cx="989496" cy="333936"/>
          </a:xfrm>
          <a:prstGeom prst="flowChartDocument">
            <a:avLst/>
          </a:prstGeom>
          <a:solidFill>
            <a:srgbClr val="FFFFFF"/>
          </a:solidFill>
          <a:ln w="9525" cap="flat" cmpd="sng">
            <a:solidFill>
              <a:schemeClr val="tx1"/>
            </a:solidFill>
            <a:prstDash val="solid"/>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a:ln>
                  <a:noFill/>
                </a:ln>
                <a:solidFill>
                  <a:srgbClr val="0070C0"/>
                </a:solidFill>
                <a:effectLst/>
                <a:uLnTx/>
                <a:uFillTx/>
                <a:latin typeface="+mj-lt"/>
                <a:ea typeface="Red Hat Display"/>
                <a:cs typeface="Red Hat Display"/>
                <a:sym typeface="Red Hat Display"/>
                <a:hlinkClick r:id="rId4">
                  <a:extLst>
                    <a:ext uri="{A12FA001-AC4F-418D-AE19-62706E023703}">
                      <ahyp:hlinkClr xmlns:ahyp="http://schemas.microsoft.com/office/drawing/2018/hyperlinkcolor" val="tx"/>
                    </a:ext>
                  </a:extLst>
                </a:hlinkClick>
              </a:rPr>
              <a:t>Test Results Delivered</a:t>
            </a:r>
            <a:endParaRPr kumimoji="0" sz="900" b="0" i="0" u="none" strike="noStrike" kern="1200" cap="none" spc="0" normalizeH="0" baseline="0" noProof="0">
              <a:ln>
                <a:noFill/>
              </a:ln>
              <a:solidFill>
                <a:srgbClr val="0070C0"/>
              </a:solidFill>
              <a:effectLst/>
              <a:uLnTx/>
              <a:uFillTx/>
              <a:latin typeface="+mj-lt"/>
              <a:ea typeface="Red Hat Display"/>
              <a:cs typeface="Red Hat Display"/>
              <a:sym typeface="Red Hat Display"/>
            </a:endParaRPr>
          </a:p>
        </p:txBody>
      </p:sp>
      <p:sp>
        <p:nvSpPr>
          <p:cNvPr id="27" name="Google Shape;1608;p96">
            <a:extLst>
              <a:ext uri="{FF2B5EF4-FFF2-40B4-BE49-F238E27FC236}">
                <a16:creationId xmlns:a16="http://schemas.microsoft.com/office/drawing/2014/main" id="{00CE4E32-2CFD-A099-76AE-FBF8A1E18244}"/>
              </a:ext>
            </a:extLst>
          </p:cNvPr>
          <p:cNvSpPr/>
          <p:nvPr/>
        </p:nvSpPr>
        <p:spPr>
          <a:xfrm>
            <a:off x="855012" y="2857758"/>
            <a:ext cx="10396500" cy="548640"/>
          </a:xfrm>
          <a:prstGeom prst="roundRect">
            <a:avLst>
              <a:gd name="adj" fmla="val 16667"/>
            </a:avLst>
          </a:prstGeom>
          <a:solidFill>
            <a:schemeClr val="accent1"/>
          </a:solidFill>
          <a:ln>
            <a:noFill/>
          </a:ln>
        </p:spPr>
        <p:txBody>
          <a:bodyPr spcFirstLastPara="1" wrap="square" lIns="77300" tIns="77300" rIns="77300" bIns="773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sng" strike="noStrike" kern="1200" cap="none" spc="0" normalizeH="0" baseline="0" noProof="0">
              <a:ln>
                <a:noFill/>
              </a:ln>
              <a:solidFill>
                <a:srgbClr val="002477"/>
              </a:solidFill>
              <a:effectLst/>
              <a:uLnTx/>
              <a:uFillTx/>
              <a:latin typeface="+mj-lt"/>
              <a:ea typeface="Arial"/>
              <a:cs typeface="Arial"/>
              <a:sym typeface="Arial"/>
            </a:endParaRPr>
          </a:p>
        </p:txBody>
      </p:sp>
      <p:sp>
        <p:nvSpPr>
          <p:cNvPr id="28" name="Google Shape;1613;p96">
            <a:extLst>
              <a:ext uri="{FF2B5EF4-FFF2-40B4-BE49-F238E27FC236}">
                <a16:creationId xmlns:a16="http://schemas.microsoft.com/office/drawing/2014/main" id="{8468C1E3-7869-E8CE-51FE-EB5317F95EB0}"/>
              </a:ext>
            </a:extLst>
          </p:cNvPr>
          <p:cNvSpPr/>
          <p:nvPr/>
        </p:nvSpPr>
        <p:spPr>
          <a:xfrm>
            <a:off x="2631031" y="2965124"/>
            <a:ext cx="842413" cy="333909"/>
          </a:xfrm>
          <a:prstGeom prst="flowChartProcess">
            <a:avLst/>
          </a:prstGeom>
          <a:solidFill>
            <a:schemeClr val="accent3">
              <a:lumMod val="60000"/>
              <a:lumOff val="40000"/>
            </a:schemeClr>
          </a:solidFill>
          <a:ln w="9525" cap="flat" cmpd="sng">
            <a:solidFill>
              <a:schemeClr val="tx1"/>
            </a:solidFill>
            <a:prstDash val="solid"/>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dirty="0">
                <a:ln>
                  <a:noFill/>
                </a:ln>
                <a:solidFill>
                  <a:schemeClr val="bg1"/>
                </a:solidFill>
                <a:effectLst/>
                <a:uLnTx/>
                <a:uFillTx/>
                <a:latin typeface="+mj-lt"/>
                <a:ea typeface="Red Hat Display"/>
                <a:cs typeface="Red Hat Display"/>
                <a:sym typeface="Red Hat Display"/>
              </a:rPr>
              <a:t>Dev Intake</a:t>
            </a:r>
            <a:endParaRPr kumimoji="0" sz="900" b="0" i="0" u="none" strike="noStrike" kern="1200" cap="none" spc="0" normalizeH="0" baseline="0" noProof="0" dirty="0">
              <a:ln>
                <a:noFill/>
              </a:ln>
              <a:solidFill>
                <a:schemeClr val="bg1"/>
              </a:solidFill>
              <a:effectLst/>
              <a:uLnTx/>
              <a:uFillTx/>
              <a:latin typeface="+mj-lt"/>
              <a:ea typeface="Red Hat Display"/>
              <a:cs typeface="Red Hat Display"/>
              <a:sym typeface="Red Hat Display"/>
            </a:endParaRPr>
          </a:p>
        </p:txBody>
      </p:sp>
      <p:cxnSp>
        <p:nvCxnSpPr>
          <p:cNvPr id="29" name="Google Shape;1632;p96">
            <a:extLst>
              <a:ext uri="{FF2B5EF4-FFF2-40B4-BE49-F238E27FC236}">
                <a16:creationId xmlns:a16="http://schemas.microsoft.com/office/drawing/2014/main" id="{05215E76-EDB3-B479-8A54-C2128950C86F}"/>
              </a:ext>
            </a:extLst>
          </p:cNvPr>
          <p:cNvCxnSpPr>
            <a:cxnSpLocks/>
            <a:stCxn id="28" idx="3"/>
            <a:endCxn id="33" idx="1"/>
          </p:cNvCxnSpPr>
          <p:nvPr/>
        </p:nvCxnSpPr>
        <p:spPr>
          <a:xfrm flipV="1">
            <a:off x="3473444" y="3132078"/>
            <a:ext cx="447300" cy="1"/>
          </a:xfrm>
          <a:prstGeom prst="straightConnector1">
            <a:avLst/>
          </a:prstGeom>
          <a:noFill/>
          <a:ln w="28575" cap="flat" cmpd="sng">
            <a:solidFill>
              <a:srgbClr val="FFFFFF"/>
            </a:solidFill>
            <a:prstDash val="solid"/>
            <a:round/>
            <a:headEnd type="none" w="sm" len="sm"/>
            <a:tailEnd type="triangle" w="med" len="med"/>
          </a:ln>
        </p:spPr>
      </p:cxnSp>
      <p:sp>
        <p:nvSpPr>
          <p:cNvPr id="30" name="Google Shape;1643;p96">
            <a:extLst>
              <a:ext uri="{FF2B5EF4-FFF2-40B4-BE49-F238E27FC236}">
                <a16:creationId xmlns:a16="http://schemas.microsoft.com/office/drawing/2014/main" id="{46AF012E-25E6-20EF-CF24-A18C8E7B6961}"/>
              </a:ext>
            </a:extLst>
          </p:cNvPr>
          <p:cNvSpPr txBox="1"/>
          <p:nvPr/>
        </p:nvSpPr>
        <p:spPr>
          <a:xfrm>
            <a:off x="962260" y="2957028"/>
            <a:ext cx="1644300" cy="350100"/>
          </a:xfrm>
          <a:prstGeom prst="rect">
            <a:avLst/>
          </a:prstGeom>
          <a:noFill/>
          <a:ln>
            <a:noFill/>
          </a:ln>
        </p:spPr>
        <p:txBody>
          <a:bodyPr spcFirstLastPara="1" wrap="square" lIns="77300" tIns="77300" rIns="77300" bIns="773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 sz="1200" b="0" i="0" u="none" strike="noStrike" kern="1200" cap="none" spc="0" normalizeH="0" baseline="0" noProof="0">
                <a:ln>
                  <a:noFill/>
                </a:ln>
                <a:solidFill>
                  <a:schemeClr val="bg1"/>
                </a:solidFill>
                <a:effectLst/>
                <a:uLnTx/>
                <a:uFillTx/>
                <a:latin typeface="+mj-lt"/>
                <a:ea typeface="Red Hat Display"/>
                <a:cs typeface="Red Hat Display"/>
                <a:sym typeface="Red Hat Display"/>
              </a:rPr>
              <a:t>Dev Fulfillment</a:t>
            </a:r>
            <a:endParaRPr kumimoji="0" sz="1200" b="0" i="0" u="none" strike="noStrike" kern="1200" cap="none" spc="0" normalizeH="0" baseline="0" noProof="0">
              <a:ln>
                <a:noFill/>
              </a:ln>
              <a:solidFill>
                <a:schemeClr val="bg1"/>
              </a:solidFill>
              <a:effectLst/>
              <a:uLnTx/>
              <a:uFillTx/>
              <a:latin typeface="+mj-lt"/>
              <a:ea typeface="Red Hat Display"/>
              <a:cs typeface="Red Hat Display"/>
              <a:sym typeface="Red Hat Display"/>
            </a:endParaRPr>
          </a:p>
        </p:txBody>
      </p:sp>
      <p:sp>
        <p:nvSpPr>
          <p:cNvPr id="31" name="Google Shape;1615;p96">
            <a:extLst>
              <a:ext uri="{FF2B5EF4-FFF2-40B4-BE49-F238E27FC236}">
                <a16:creationId xmlns:a16="http://schemas.microsoft.com/office/drawing/2014/main" id="{8551B22F-0B14-BAF9-F851-717544F54CDC}"/>
              </a:ext>
            </a:extLst>
          </p:cNvPr>
          <p:cNvSpPr/>
          <p:nvPr/>
        </p:nvSpPr>
        <p:spPr>
          <a:xfrm>
            <a:off x="5383929" y="2965124"/>
            <a:ext cx="1254292" cy="333909"/>
          </a:xfrm>
          <a:prstGeom prst="flowChartProcess">
            <a:avLst/>
          </a:prstGeom>
          <a:solidFill>
            <a:schemeClr val="accent3">
              <a:lumMod val="60000"/>
              <a:lumOff val="40000"/>
            </a:schemeClr>
          </a:solidFill>
          <a:ln w="9525" cap="flat" cmpd="sng">
            <a:solidFill>
              <a:schemeClr val="tx1"/>
            </a:solidFill>
            <a:prstDash val="solid"/>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Tx/>
              <a:buNone/>
              <a:tabLst/>
              <a:defRPr/>
            </a:pPr>
            <a:r>
              <a:rPr kumimoji="0" lang="en" sz="900" b="0" i="0" u="none" strike="noStrike" kern="1200" cap="none" spc="0" normalizeH="0" baseline="0" noProof="0">
                <a:ln>
                  <a:noFill/>
                </a:ln>
                <a:solidFill>
                  <a:schemeClr val="bg1"/>
                </a:solidFill>
                <a:effectLst/>
                <a:uLnTx/>
                <a:uFillTx/>
                <a:latin typeface="+mj-lt"/>
                <a:ea typeface="+mn-ea"/>
                <a:cs typeface="+mn-cs"/>
                <a:sym typeface="Red Hat Display"/>
              </a:rPr>
              <a:t>QA / Troubleshoot</a:t>
            </a:r>
            <a:endParaRPr kumimoji="0" sz="900" b="0" i="0" u="none" strike="noStrike" kern="1200" cap="none" spc="0" normalizeH="0" baseline="0" noProof="0">
              <a:ln>
                <a:noFill/>
              </a:ln>
              <a:solidFill>
                <a:schemeClr val="bg1"/>
              </a:solidFill>
              <a:effectLst/>
              <a:uLnTx/>
              <a:uFillTx/>
              <a:latin typeface="+mj-lt"/>
              <a:ea typeface="+mn-ea"/>
              <a:cs typeface="+mn-cs"/>
              <a:sym typeface="Red Hat Display"/>
            </a:endParaRPr>
          </a:p>
        </p:txBody>
      </p:sp>
      <p:cxnSp>
        <p:nvCxnSpPr>
          <p:cNvPr id="32" name="Google Shape;1636;p96">
            <a:extLst>
              <a:ext uri="{FF2B5EF4-FFF2-40B4-BE49-F238E27FC236}">
                <a16:creationId xmlns:a16="http://schemas.microsoft.com/office/drawing/2014/main" id="{C40AF761-66EA-2825-424E-B29C90C119EE}"/>
              </a:ext>
            </a:extLst>
          </p:cNvPr>
          <p:cNvCxnSpPr>
            <a:cxnSpLocks/>
            <a:stCxn id="33" idx="3"/>
            <a:endCxn id="31" idx="1"/>
          </p:cNvCxnSpPr>
          <p:nvPr/>
        </p:nvCxnSpPr>
        <p:spPr>
          <a:xfrm>
            <a:off x="5081222" y="3132078"/>
            <a:ext cx="302707" cy="1"/>
          </a:xfrm>
          <a:prstGeom prst="straightConnector1">
            <a:avLst/>
          </a:prstGeom>
          <a:noFill/>
          <a:ln w="28575" cap="flat" cmpd="sng">
            <a:solidFill>
              <a:srgbClr val="FFFFFF"/>
            </a:solidFill>
            <a:prstDash val="solid"/>
            <a:round/>
            <a:headEnd type="none" w="sm" len="sm"/>
            <a:tailEnd type="triangle" w="med" len="med"/>
          </a:ln>
        </p:spPr>
      </p:cxnSp>
      <p:sp>
        <p:nvSpPr>
          <p:cNvPr id="33" name="Google Shape;1634;p96">
            <a:extLst>
              <a:ext uri="{FF2B5EF4-FFF2-40B4-BE49-F238E27FC236}">
                <a16:creationId xmlns:a16="http://schemas.microsoft.com/office/drawing/2014/main" id="{1FE1684D-8B61-0CB7-2648-1E0252CF4A6D}"/>
              </a:ext>
            </a:extLst>
          </p:cNvPr>
          <p:cNvSpPr/>
          <p:nvPr/>
        </p:nvSpPr>
        <p:spPr>
          <a:xfrm>
            <a:off x="3920744" y="2965120"/>
            <a:ext cx="1160478" cy="333916"/>
          </a:xfrm>
          <a:prstGeom prst="flowChartProcess">
            <a:avLst/>
          </a:prstGeom>
          <a:solidFill>
            <a:schemeClr val="accent3">
              <a:lumMod val="60000"/>
              <a:lumOff val="40000"/>
            </a:schemeClr>
          </a:solidFill>
          <a:ln w="9525" cap="flat" cmpd="sng">
            <a:solidFill>
              <a:schemeClr val="tx1"/>
            </a:solidFill>
            <a:prstDash val="solid"/>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a:ln>
                  <a:noFill/>
                </a:ln>
                <a:solidFill>
                  <a:schemeClr val="bg1"/>
                </a:solidFill>
                <a:effectLst/>
                <a:uLnTx/>
                <a:uFillTx/>
                <a:latin typeface="+mj-lt"/>
                <a:ea typeface="Red Hat Display"/>
                <a:cs typeface="Red Hat Display"/>
                <a:sym typeface="Red Hat Display"/>
              </a:rPr>
              <a:t>Test Builds</a:t>
            </a:r>
            <a:endParaRPr kumimoji="0" sz="900" b="0" i="0" u="none" strike="noStrike" kern="1200" cap="none" spc="0" normalizeH="0" baseline="0" noProof="0">
              <a:ln>
                <a:noFill/>
              </a:ln>
              <a:solidFill>
                <a:schemeClr val="bg1"/>
              </a:solidFill>
              <a:effectLst/>
              <a:uLnTx/>
              <a:uFillTx/>
              <a:latin typeface="+mj-lt"/>
              <a:ea typeface="Red Hat Display"/>
              <a:cs typeface="Red Hat Display"/>
              <a:sym typeface="Red Hat Display"/>
            </a:endParaRPr>
          </a:p>
        </p:txBody>
      </p:sp>
      <p:sp>
        <p:nvSpPr>
          <p:cNvPr id="34" name="Google Shape;1614;p96">
            <a:extLst>
              <a:ext uri="{FF2B5EF4-FFF2-40B4-BE49-F238E27FC236}">
                <a16:creationId xmlns:a16="http://schemas.microsoft.com/office/drawing/2014/main" id="{A43FC642-BBC0-B883-85AD-34E914B66659}"/>
              </a:ext>
            </a:extLst>
          </p:cNvPr>
          <p:cNvSpPr/>
          <p:nvPr/>
        </p:nvSpPr>
        <p:spPr>
          <a:xfrm>
            <a:off x="8500440" y="2965120"/>
            <a:ext cx="1317482" cy="333916"/>
          </a:xfrm>
          <a:prstGeom prst="flowChartPredefinedProcess">
            <a:avLst/>
          </a:prstGeom>
          <a:solidFill>
            <a:schemeClr val="accent2">
              <a:lumMod val="40000"/>
              <a:lumOff val="60000"/>
            </a:schemeClr>
          </a:solidFill>
          <a:ln w="3175" cap="flat" cmpd="sng">
            <a:solidFill>
              <a:schemeClr val="tx1"/>
            </a:solidFill>
            <a:prstDash val="solid"/>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a:ln>
                  <a:noFill/>
                </a:ln>
                <a:effectLst/>
                <a:uLnTx/>
                <a:uFillTx/>
                <a:latin typeface="+mj-lt"/>
                <a:ea typeface="Red Hat Display"/>
                <a:cs typeface="Red Hat Display"/>
                <a:sym typeface="Red Hat Display"/>
              </a:rPr>
              <a:t>Builds Approved</a:t>
            </a:r>
            <a:endParaRPr kumimoji="0" sz="900" b="0" i="0" u="none" strike="noStrike" kern="1200" cap="none" spc="0" normalizeH="0" baseline="0" noProof="0">
              <a:ln>
                <a:noFill/>
              </a:ln>
              <a:effectLst/>
              <a:uLnTx/>
              <a:uFillTx/>
              <a:latin typeface="+mj-lt"/>
              <a:ea typeface="Red Hat Display"/>
              <a:cs typeface="Red Hat Display"/>
              <a:sym typeface="Red Hat Display"/>
            </a:endParaRPr>
          </a:p>
        </p:txBody>
      </p:sp>
      <p:cxnSp>
        <p:nvCxnSpPr>
          <p:cNvPr id="35" name="Google Shape;1636;p96">
            <a:extLst>
              <a:ext uri="{FF2B5EF4-FFF2-40B4-BE49-F238E27FC236}">
                <a16:creationId xmlns:a16="http://schemas.microsoft.com/office/drawing/2014/main" id="{BE0BCD5A-6323-1B91-2211-D9D9820FCD4C}"/>
              </a:ext>
            </a:extLst>
          </p:cNvPr>
          <p:cNvCxnSpPr>
            <a:cxnSpLocks/>
            <a:stCxn id="31" idx="3"/>
            <a:endCxn id="121" idx="1"/>
          </p:cNvCxnSpPr>
          <p:nvPr/>
        </p:nvCxnSpPr>
        <p:spPr>
          <a:xfrm flipV="1">
            <a:off x="6638221" y="3130253"/>
            <a:ext cx="341317" cy="1826"/>
          </a:xfrm>
          <a:prstGeom prst="straightConnector1">
            <a:avLst/>
          </a:prstGeom>
          <a:noFill/>
          <a:ln w="28575" cap="flat" cmpd="sng">
            <a:solidFill>
              <a:srgbClr val="FFFFFF"/>
            </a:solidFill>
            <a:prstDash val="solid"/>
            <a:round/>
            <a:headEnd type="none" w="sm" len="sm"/>
            <a:tailEnd type="triangle" w="med" len="med"/>
          </a:ln>
        </p:spPr>
      </p:cxnSp>
      <p:sp>
        <p:nvSpPr>
          <p:cNvPr id="36" name="Title 1">
            <a:extLst>
              <a:ext uri="{FF2B5EF4-FFF2-40B4-BE49-F238E27FC236}">
                <a16:creationId xmlns:a16="http://schemas.microsoft.com/office/drawing/2014/main" id="{366D5BD4-62D7-84A2-A2DF-32BA3F14A83C}"/>
              </a:ext>
            </a:extLst>
          </p:cNvPr>
          <p:cNvSpPr txBox="1">
            <a:spLocks/>
          </p:cNvSpPr>
          <p:nvPr/>
        </p:nvSpPr>
        <p:spPr>
          <a:xfrm>
            <a:off x="0" y="12228"/>
            <a:ext cx="12192000" cy="540923"/>
          </a:xfrm>
          <a:prstGeom prst="rect">
            <a:avLst/>
          </a:prstGeom>
        </p:spPr>
        <p:txBody>
          <a:bodyPr lIns="91440" tIns="45720" rIns="91440" bIns="45720" anchor="t"/>
          <a:lstStyle>
            <a:lvl1pPr algn="l" defTabSz="914377" rtl="0" eaLnBrk="1" latinLnBrk="0" hangingPunct="1">
              <a:lnSpc>
                <a:spcPct val="100000"/>
              </a:lnSpc>
              <a:spcBef>
                <a:spcPct val="0"/>
              </a:spcBef>
              <a:buNone/>
              <a:defRPr sz="3200" b="1" i="0" kern="1200" spc="0" baseline="0">
                <a:solidFill>
                  <a:schemeClr val="accent1"/>
                </a:solidFill>
                <a:latin typeface="+mj-lt"/>
                <a:ea typeface="+mj-ea"/>
                <a:cs typeface="+mj-cs"/>
              </a:defRPr>
            </a:lvl1pPr>
          </a:lstStyle>
          <a:p>
            <a:pPr algn="ctr"/>
            <a:r>
              <a:rPr lang="en-MY" sz="2800"/>
              <a:t>CRO Workflow</a:t>
            </a:r>
          </a:p>
        </p:txBody>
      </p:sp>
      <p:sp>
        <p:nvSpPr>
          <p:cNvPr id="38" name="Google Shape;1602;p96">
            <a:extLst>
              <a:ext uri="{FF2B5EF4-FFF2-40B4-BE49-F238E27FC236}">
                <a16:creationId xmlns:a16="http://schemas.microsoft.com/office/drawing/2014/main" id="{3EA62908-3123-5AF1-F77A-A1A4F9610487}"/>
              </a:ext>
            </a:extLst>
          </p:cNvPr>
          <p:cNvSpPr/>
          <p:nvPr/>
        </p:nvSpPr>
        <p:spPr>
          <a:xfrm>
            <a:off x="855012" y="1676853"/>
            <a:ext cx="10396500" cy="548640"/>
          </a:xfrm>
          <a:prstGeom prst="roundRect">
            <a:avLst>
              <a:gd name="adj" fmla="val 16667"/>
            </a:avLst>
          </a:prstGeom>
          <a:solidFill>
            <a:schemeClr val="accent1"/>
          </a:solidFill>
          <a:ln>
            <a:noFill/>
          </a:ln>
        </p:spPr>
        <p:txBody>
          <a:bodyPr spcFirstLastPara="1" wrap="square" lIns="77300" tIns="77300" rIns="77300" bIns="773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002477"/>
              </a:solidFill>
              <a:effectLst/>
              <a:uLnTx/>
              <a:uFillTx/>
              <a:latin typeface="+mj-lt"/>
              <a:ea typeface="Arial"/>
              <a:cs typeface="Arial"/>
              <a:sym typeface="Arial"/>
            </a:endParaRPr>
          </a:p>
        </p:txBody>
      </p:sp>
      <p:sp>
        <p:nvSpPr>
          <p:cNvPr id="39" name="Google Shape;1605;p96">
            <a:extLst>
              <a:ext uri="{FF2B5EF4-FFF2-40B4-BE49-F238E27FC236}">
                <a16:creationId xmlns:a16="http://schemas.microsoft.com/office/drawing/2014/main" id="{1FBA37CF-6882-EF06-CA3B-C2176715414B}"/>
              </a:ext>
            </a:extLst>
          </p:cNvPr>
          <p:cNvSpPr/>
          <p:nvPr/>
        </p:nvSpPr>
        <p:spPr>
          <a:xfrm>
            <a:off x="8310149" y="1784073"/>
            <a:ext cx="1058100" cy="334200"/>
          </a:xfrm>
          <a:prstGeom prst="rect">
            <a:avLst/>
          </a:prstGeom>
          <a:solidFill>
            <a:schemeClr val="accent1"/>
          </a:solidFill>
          <a:ln w="9525" cap="flat" cmpd="sng">
            <a:solidFill>
              <a:schemeClr val="tx1"/>
            </a:solidFill>
            <a:prstDash val="solid"/>
            <a:round/>
            <a:headEnd type="none" w="sm" len="sm"/>
            <a:tailEnd type="none" w="sm" len="sm"/>
          </a:ln>
        </p:spPr>
        <p:txBody>
          <a:bodyPr spcFirstLastPara="1" wrap="square" lIns="77300" tIns="0" rIns="7730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dirty="0">
                <a:ln>
                  <a:noFill/>
                </a:ln>
                <a:solidFill>
                  <a:schemeClr val="bg1"/>
                </a:solidFill>
                <a:effectLst/>
                <a:uLnTx/>
                <a:uFillTx/>
                <a:latin typeface="+mj-lt"/>
                <a:ea typeface="Red Hat Display"/>
                <a:cs typeface="Red Hat Display"/>
                <a:sym typeface="Red Hat Display"/>
              </a:rPr>
              <a:t>Creative Development</a:t>
            </a:r>
            <a:endParaRPr kumimoji="0" sz="900" b="0" i="0" u="none" strike="noStrike" kern="1200" cap="none" spc="0" normalizeH="0" baseline="0" noProof="0" dirty="0">
              <a:ln>
                <a:noFill/>
              </a:ln>
              <a:solidFill>
                <a:schemeClr val="bg1"/>
              </a:solidFill>
              <a:effectLst/>
              <a:uLnTx/>
              <a:uFillTx/>
              <a:latin typeface="+mj-lt"/>
              <a:ea typeface="Red Hat Display"/>
              <a:cs typeface="Red Hat Display"/>
              <a:sym typeface="Red Hat Display"/>
            </a:endParaRPr>
          </a:p>
        </p:txBody>
      </p:sp>
      <p:sp>
        <p:nvSpPr>
          <p:cNvPr id="40" name="Google Shape;1606;p96">
            <a:extLst>
              <a:ext uri="{FF2B5EF4-FFF2-40B4-BE49-F238E27FC236}">
                <a16:creationId xmlns:a16="http://schemas.microsoft.com/office/drawing/2014/main" id="{F25129C2-6C39-BF3E-9AF4-4D52C59052AA}"/>
              </a:ext>
            </a:extLst>
          </p:cNvPr>
          <p:cNvSpPr txBox="1"/>
          <p:nvPr/>
        </p:nvSpPr>
        <p:spPr>
          <a:xfrm>
            <a:off x="910328" y="1776123"/>
            <a:ext cx="1644300" cy="350100"/>
          </a:xfrm>
          <a:prstGeom prst="rect">
            <a:avLst/>
          </a:prstGeom>
          <a:noFill/>
          <a:ln>
            <a:noFill/>
          </a:ln>
        </p:spPr>
        <p:txBody>
          <a:bodyPr spcFirstLastPara="1" wrap="square" lIns="77300" tIns="77300" rIns="77300" bIns="773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 sz="1200" b="0" i="0" u="none" strike="noStrike" kern="1200" cap="none" spc="0" normalizeH="0" baseline="0" noProof="0">
                <a:ln>
                  <a:noFill/>
                </a:ln>
                <a:solidFill>
                  <a:schemeClr val="bg1"/>
                </a:solidFill>
                <a:effectLst/>
                <a:uLnTx/>
                <a:uFillTx/>
                <a:latin typeface="+mj-lt"/>
                <a:ea typeface="Red Hat Display"/>
                <a:cs typeface="Red Hat Display"/>
                <a:sym typeface="Red Hat Display"/>
              </a:rPr>
              <a:t>Creative Fulfillment</a:t>
            </a:r>
            <a:endParaRPr kumimoji="0" sz="1200" b="0" i="0" u="none" strike="noStrike" kern="1200" cap="none" spc="0" normalizeH="0" baseline="0" noProof="0">
              <a:ln>
                <a:noFill/>
              </a:ln>
              <a:solidFill>
                <a:schemeClr val="bg1"/>
              </a:solidFill>
              <a:effectLst/>
              <a:uLnTx/>
              <a:uFillTx/>
              <a:latin typeface="+mj-lt"/>
              <a:ea typeface="Red Hat Display"/>
              <a:cs typeface="Red Hat Display"/>
              <a:sym typeface="Red Hat Display"/>
            </a:endParaRPr>
          </a:p>
        </p:txBody>
      </p:sp>
      <p:sp>
        <p:nvSpPr>
          <p:cNvPr id="41" name="Google Shape;1620;p96">
            <a:extLst>
              <a:ext uri="{FF2B5EF4-FFF2-40B4-BE49-F238E27FC236}">
                <a16:creationId xmlns:a16="http://schemas.microsoft.com/office/drawing/2014/main" id="{1681EE79-6CEE-C5E1-D58F-6F68C2338545}"/>
              </a:ext>
            </a:extLst>
          </p:cNvPr>
          <p:cNvSpPr/>
          <p:nvPr/>
        </p:nvSpPr>
        <p:spPr>
          <a:xfrm>
            <a:off x="5266877" y="1784205"/>
            <a:ext cx="1114992" cy="333936"/>
          </a:xfrm>
          <a:prstGeom prst="flowChartDocument">
            <a:avLst/>
          </a:prstGeom>
          <a:solidFill>
            <a:srgbClr val="FFFFFF"/>
          </a:solidFill>
          <a:ln w="9525" cap="flat" cmpd="sng">
            <a:solidFill>
              <a:schemeClr val="tx1"/>
            </a:solidFill>
            <a:prstDash val="solid"/>
            <a:round/>
            <a:headEnd type="none" w="sm" len="sm"/>
            <a:tailEnd type="none" w="sm" len="sm"/>
          </a:ln>
        </p:spPr>
        <p:txBody>
          <a:bodyPr spcFirstLastPara="1" wrap="square" lIns="77300" tIns="0" rIns="7730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dirty="0">
                <a:ln>
                  <a:noFill/>
                </a:ln>
                <a:solidFill>
                  <a:srgbClr val="0070C0"/>
                </a:solidFill>
                <a:effectLst/>
                <a:uLnTx/>
                <a:uFillTx/>
                <a:latin typeface="+mj-lt"/>
                <a:ea typeface="Red Hat Display"/>
                <a:cs typeface="Red Hat Display"/>
                <a:sym typeface="Red Hat Display"/>
                <a:hlinkClick r:id="" action="ppaction://noaction">
                  <a:extLst>
                    <a:ext uri="{A12FA001-AC4F-418D-AE19-62706E023703}">
                      <ahyp:hlinkClr xmlns:ahyp="http://schemas.microsoft.com/office/drawing/2018/hyperlinkcolor" val="tx"/>
                    </a:ext>
                  </a:extLst>
                </a:hlinkClick>
              </a:rPr>
              <a:t>Creative Brief</a:t>
            </a:r>
          </a:p>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dirty="0">
                <a:ln>
                  <a:noFill/>
                </a:ln>
                <a:solidFill>
                  <a:srgbClr val="0070C0"/>
                </a:solidFill>
                <a:effectLst/>
                <a:uLnTx/>
                <a:uFillTx/>
                <a:latin typeface="+mj-lt"/>
                <a:ea typeface="Red Hat Display"/>
                <a:cs typeface="Red Hat Display"/>
                <a:sym typeface="Red Hat Display"/>
                <a:hlinkClick r:id="" action="ppaction://noaction">
                  <a:extLst>
                    <a:ext uri="{A12FA001-AC4F-418D-AE19-62706E023703}">
                      <ahyp:hlinkClr xmlns:ahyp="http://schemas.microsoft.com/office/drawing/2018/hyperlinkcolor" val="tx"/>
                    </a:ext>
                  </a:extLst>
                </a:hlinkClick>
              </a:rPr>
              <a:t>Delivered</a:t>
            </a:r>
            <a:endParaRPr kumimoji="0" sz="900" b="0" i="0" u="none" strike="noStrike" kern="1200" cap="none" spc="0" normalizeH="0" baseline="0" noProof="0" dirty="0">
              <a:ln>
                <a:noFill/>
              </a:ln>
              <a:solidFill>
                <a:srgbClr val="0070C0"/>
              </a:solidFill>
              <a:effectLst/>
              <a:uLnTx/>
              <a:uFillTx/>
              <a:latin typeface="+mj-lt"/>
              <a:ea typeface="Red Hat Display"/>
              <a:cs typeface="Red Hat Display"/>
              <a:sym typeface="Red Hat Display"/>
            </a:endParaRPr>
          </a:p>
        </p:txBody>
      </p:sp>
      <p:sp>
        <p:nvSpPr>
          <p:cNvPr id="42" name="Google Shape;1620;p96">
            <a:extLst>
              <a:ext uri="{FF2B5EF4-FFF2-40B4-BE49-F238E27FC236}">
                <a16:creationId xmlns:a16="http://schemas.microsoft.com/office/drawing/2014/main" id="{E9681F80-563F-74D9-BEF6-2AC5F3803141}"/>
              </a:ext>
            </a:extLst>
          </p:cNvPr>
          <p:cNvSpPr/>
          <p:nvPr/>
        </p:nvSpPr>
        <p:spPr>
          <a:xfrm>
            <a:off x="10169349" y="1784205"/>
            <a:ext cx="878732" cy="333936"/>
          </a:xfrm>
          <a:prstGeom prst="flowChartDocument">
            <a:avLst/>
          </a:prstGeom>
          <a:solidFill>
            <a:schemeClr val="bg1"/>
          </a:solidFill>
          <a:ln w="9525" cap="flat" cmpd="sng">
            <a:solidFill>
              <a:schemeClr val="tx1"/>
            </a:solidFill>
            <a:prstDash val="solid"/>
            <a:round/>
            <a:headEnd type="none" w="sm" len="sm"/>
            <a:tailEnd type="none" w="sm" len="sm"/>
          </a:ln>
        </p:spPr>
        <p:txBody>
          <a:bodyPr spcFirstLastPara="1" wrap="square" lIns="77300" tIns="0" rIns="7730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a:ln>
                  <a:noFill/>
                </a:ln>
                <a:effectLst/>
                <a:uLnTx/>
                <a:uFillTx/>
                <a:latin typeface="+mj-lt"/>
                <a:ea typeface="Red Hat Display"/>
                <a:cs typeface="Red Hat Display"/>
                <a:sym typeface="Red Hat Display"/>
              </a:rPr>
              <a:t>Mockups</a:t>
            </a:r>
          </a:p>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a:ln>
                  <a:noFill/>
                </a:ln>
                <a:effectLst/>
                <a:uLnTx/>
                <a:uFillTx/>
                <a:latin typeface="+mj-lt"/>
                <a:ea typeface="Red Hat Display"/>
                <a:cs typeface="Red Hat Display"/>
                <a:sym typeface="Red Hat Display"/>
              </a:rPr>
              <a:t>Delivered</a:t>
            </a:r>
            <a:endParaRPr kumimoji="0" sz="900" b="0" i="0" u="none" strike="noStrike" kern="1200" cap="none" spc="0" normalizeH="0" baseline="0" noProof="0">
              <a:ln>
                <a:noFill/>
              </a:ln>
              <a:effectLst/>
              <a:uLnTx/>
              <a:uFillTx/>
              <a:latin typeface="+mj-lt"/>
              <a:ea typeface="Red Hat Display"/>
              <a:cs typeface="Red Hat Display"/>
              <a:sym typeface="Red Hat Display"/>
            </a:endParaRPr>
          </a:p>
        </p:txBody>
      </p:sp>
      <p:cxnSp>
        <p:nvCxnSpPr>
          <p:cNvPr id="43" name="Google Shape;1621;p96">
            <a:extLst>
              <a:ext uri="{FF2B5EF4-FFF2-40B4-BE49-F238E27FC236}">
                <a16:creationId xmlns:a16="http://schemas.microsoft.com/office/drawing/2014/main" id="{32B6C365-6FB0-ACDA-9133-AAC76C694F9C}"/>
              </a:ext>
            </a:extLst>
          </p:cNvPr>
          <p:cNvCxnSpPr>
            <a:cxnSpLocks/>
            <a:stCxn id="47" idx="3"/>
            <a:endCxn id="39" idx="1"/>
          </p:cNvCxnSpPr>
          <p:nvPr/>
        </p:nvCxnSpPr>
        <p:spPr>
          <a:xfrm>
            <a:off x="7831169" y="1951173"/>
            <a:ext cx="478980" cy="0"/>
          </a:xfrm>
          <a:prstGeom prst="straightConnector1">
            <a:avLst/>
          </a:prstGeom>
          <a:noFill/>
          <a:ln w="28575" cap="flat" cmpd="sng">
            <a:solidFill>
              <a:srgbClr val="FFFFFF"/>
            </a:solidFill>
            <a:prstDash val="solid"/>
            <a:round/>
            <a:headEnd type="none" w="sm" len="sm"/>
            <a:tailEnd type="triangle" w="med" len="med"/>
          </a:ln>
        </p:spPr>
      </p:cxnSp>
      <p:cxnSp>
        <p:nvCxnSpPr>
          <p:cNvPr id="44" name="Google Shape;1621;p96">
            <a:extLst>
              <a:ext uri="{FF2B5EF4-FFF2-40B4-BE49-F238E27FC236}">
                <a16:creationId xmlns:a16="http://schemas.microsoft.com/office/drawing/2014/main" id="{08B75237-D682-C06A-1CE4-2880E7C00BAE}"/>
              </a:ext>
            </a:extLst>
          </p:cNvPr>
          <p:cNvCxnSpPr>
            <a:cxnSpLocks/>
            <a:stCxn id="123" idx="3"/>
            <a:endCxn id="41" idx="1"/>
          </p:cNvCxnSpPr>
          <p:nvPr/>
        </p:nvCxnSpPr>
        <p:spPr>
          <a:xfrm>
            <a:off x="5030104" y="1948425"/>
            <a:ext cx="236773" cy="2748"/>
          </a:xfrm>
          <a:prstGeom prst="straightConnector1">
            <a:avLst/>
          </a:prstGeom>
          <a:noFill/>
          <a:ln w="28575" cap="flat" cmpd="sng">
            <a:solidFill>
              <a:srgbClr val="FFFFFF"/>
            </a:solidFill>
            <a:prstDash val="solid"/>
            <a:round/>
            <a:headEnd type="none" w="sm" len="sm"/>
            <a:tailEnd type="triangle" w="med" len="med"/>
          </a:ln>
        </p:spPr>
      </p:cxnSp>
      <p:sp>
        <p:nvSpPr>
          <p:cNvPr id="45" name="Google Shape;1619;p96">
            <a:extLst>
              <a:ext uri="{FF2B5EF4-FFF2-40B4-BE49-F238E27FC236}">
                <a16:creationId xmlns:a16="http://schemas.microsoft.com/office/drawing/2014/main" id="{4CEC771E-1F8A-842A-927B-BE2E81145874}"/>
              </a:ext>
            </a:extLst>
          </p:cNvPr>
          <p:cNvSpPr/>
          <p:nvPr/>
        </p:nvSpPr>
        <p:spPr>
          <a:xfrm>
            <a:off x="2632520" y="1784073"/>
            <a:ext cx="1058100" cy="334200"/>
          </a:xfrm>
          <a:prstGeom prst="rect">
            <a:avLst/>
          </a:prstGeom>
          <a:solidFill>
            <a:schemeClr val="accent5">
              <a:lumMod val="40000"/>
              <a:lumOff val="60000"/>
            </a:schemeClr>
          </a:solidFill>
          <a:ln w="9525" cap="flat" cmpd="sng">
            <a:solidFill>
              <a:schemeClr val="tx2">
                <a:lumMod val="60000"/>
                <a:lumOff val="40000"/>
              </a:schemeClr>
            </a:solidFill>
            <a:prstDash val="solid"/>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dirty="0">
                <a:ln>
                  <a:noFill/>
                </a:ln>
                <a:effectLst/>
                <a:uLnTx/>
                <a:uFillTx/>
                <a:latin typeface="+mj-lt"/>
                <a:ea typeface="Red Hat Display"/>
                <a:cs typeface="Red Hat Display"/>
                <a:sym typeface="Red Hat Display"/>
              </a:rPr>
              <a:t>Creative Brief Developed</a:t>
            </a:r>
            <a:endParaRPr kumimoji="0" sz="900" b="0" i="0" u="none" strike="noStrike" kern="1200" cap="none" spc="0" normalizeH="0" baseline="0" noProof="0" dirty="0">
              <a:ln>
                <a:noFill/>
              </a:ln>
              <a:effectLst/>
              <a:uLnTx/>
              <a:uFillTx/>
              <a:latin typeface="+mj-lt"/>
              <a:ea typeface="Red Hat Display"/>
              <a:cs typeface="Red Hat Display"/>
              <a:sym typeface="Red Hat Display"/>
            </a:endParaRPr>
          </a:p>
        </p:txBody>
      </p:sp>
      <p:cxnSp>
        <p:nvCxnSpPr>
          <p:cNvPr id="46" name="Google Shape;1621;p96">
            <a:extLst>
              <a:ext uri="{FF2B5EF4-FFF2-40B4-BE49-F238E27FC236}">
                <a16:creationId xmlns:a16="http://schemas.microsoft.com/office/drawing/2014/main" id="{26F34ABF-9BCB-7485-7B7A-BEA862DD8BE7}"/>
              </a:ext>
            </a:extLst>
          </p:cNvPr>
          <p:cNvCxnSpPr>
            <a:cxnSpLocks/>
            <a:stCxn id="39" idx="3"/>
            <a:endCxn id="42" idx="1"/>
          </p:cNvCxnSpPr>
          <p:nvPr/>
        </p:nvCxnSpPr>
        <p:spPr>
          <a:xfrm>
            <a:off x="9368249" y="1951173"/>
            <a:ext cx="801100" cy="0"/>
          </a:xfrm>
          <a:prstGeom prst="straightConnector1">
            <a:avLst/>
          </a:prstGeom>
          <a:noFill/>
          <a:ln w="28575" cap="flat" cmpd="sng">
            <a:solidFill>
              <a:srgbClr val="FFFFFF"/>
            </a:solidFill>
            <a:prstDash val="solid"/>
            <a:round/>
            <a:headEnd type="none" w="sm" len="sm"/>
            <a:tailEnd type="triangle" w="med" len="med"/>
          </a:ln>
        </p:spPr>
      </p:cxnSp>
      <p:sp>
        <p:nvSpPr>
          <p:cNvPr id="47" name="Google Shape;1622;p96">
            <a:extLst>
              <a:ext uri="{FF2B5EF4-FFF2-40B4-BE49-F238E27FC236}">
                <a16:creationId xmlns:a16="http://schemas.microsoft.com/office/drawing/2014/main" id="{C0598339-B4A5-2BF6-6634-596C1FD96BF4}"/>
              </a:ext>
            </a:extLst>
          </p:cNvPr>
          <p:cNvSpPr/>
          <p:nvPr/>
        </p:nvSpPr>
        <p:spPr>
          <a:xfrm>
            <a:off x="6773069" y="1784210"/>
            <a:ext cx="1058100" cy="333926"/>
          </a:xfrm>
          <a:prstGeom prst="flowChartPredefinedProcess">
            <a:avLst/>
          </a:prstGeom>
          <a:solidFill>
            <a:schemeClr val="accent2">
              <a:lumMod val="40000"/>
              <a:lumOff val="60000"/>
            </a:schemeClr>
          </a:solidFill>
          <a:ln w="3175" cap="flat" cmpd="sng">
            <a:solidFill>
              <a:schemeClr val="tx2"/>
            </a:solidFill>
            <a:prstDash val="solid"/>
            <a:round/>
            <a:headEnd type="none" w="sm" len="sm"/>
            <a:tailEnd type="none" w="sm" len="sm"/>
          </a:ln>
        </p:spPr>
        <p:txBody>
          <a:bodyPr spcFirstLastPara="1" wrap="square" lIns="0" tIns="77300" rIns="0" bIns="773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a:ln>
                  <a:noFill/>
                </a:ln>
                <a:effectLst/>
                <a:uLnTx/>
                <a:uFillTx/>
                <a:latin typeface="+mj-lt"/>
                <a:ea typeface="Red Hat Display"/>
                <a:cs typeface="Red Hat Display"/>
                <a:sym typeface="Red Hat Display"/>
              </a:rPr>
              <a:t>Creative Brief Approved</a:t>
            </a:r>
            <a:endParaRPr kumimoji="0" sz="900" b="0" i="0" u="none" strike="noStrike" kern="1200" cap="none" spc="0" normalizeH="0" baseline="0" noProof="0">
              <a:ln>
                <a:noFill/>
              </a:ln>
              <a:effectLst/>
              <a:uLnTx/>
              <a:uFillTx/>
              <a:latin typeface="+mj-lt"/>
              <a:ea typeface="Red Hat Display"/>
              <a:cs typeface="Red Hat Display"/>
              <a:sym typeface="Red Hat Display"/>
            </a:endParaRPr>
          </a:p>
        </p:txBody>
      </p:sp>
      <p:cxnSp>
        <p:nvCxnSpPr>
          <p:cNvPr id="48" name="Google Shape;1621;p96">
            <a:extLst>
              <a:ext uri="{FF2B5EF4-FFF2-40B4-BE49-F238E27FC236}">
                <a16:creationId xmlns:a16="http://schemas.microsoft.com/office/drawing/2014/main" id="{08966409-D6DA-3891-C3A2-85DFFE8A5730}"/>
              </a:ext>
            </a:extLst>
          </p:cNvPr>
          <p:cNvCxnSpPr>
            <a:cxnSpLocks/>
            <a:stCxn id="41" idx="3"/>
            <a:endCxn id="47" idx="1"/>
          </p:cNvCxnSpPr>
          <p:nvPr/>
        </p:nvCxnSpPr>
        <p:spPr>
          <a:xfrm>
            <a:off x="6381869" y="1951173"/>
            <a:ext cx="391200" cy="0"/>
          </a:xfrm>
          <a:prstGeom prst="straightConnector1">
            <a:avLst/>
          </a:prstGeom>
          <a:noFill/>
          <a:ln w="28575" cap="flat" cmpd="sng">
            <a:solidFill>
              <a:srgbClr val="FFFFFF"/>
            </a:solidFill>
            <a:prstDash val="solid"/>
            <a:round/>
            <a:headEnd type="none" w="sm" len="sm"/>
            <a:tailEnd type="triangle" w="med" len="med"/>
          </a:ln>
        </p:spPr>
      </p:cxnSp>
      <p:sp>
        <p:nvSpPr>
          <p:cNvPr id="50" name="Google Shape;1608;p96">
            <a:extLst>
              <a:ext uri="{FF2B5EF4-FFF2-40B4-BE49-F238E27FC236}">
                <a16:creationId xmlns:a16="http://schemas.microsoft.com/office/drawing/2014/main" id="{53C5B3B4-032E-1B82-5CEB-A4FF364442B0}"/>
              </a:ext>
            </a:extLst>
          </p:cNvPr>
          <p:cNvSpPr/>
          <p:nvPr/>
        </p:nvSpPr>
        <p:spPr>
          <a:xfrm>
            <a:off x="855012" y="2270967"/>
            <a:ext cx="10396500" cy="548640"/>
          </a:xfrm>
          <a:prstGeom prst="roundRect">
            <a:avLst>
              <a:gd name="adj" fmla="val 16667"/>
            </a:avLst>
          </a:prstGeom>
          <a:solidFill>
            <a:schemeClr val="bg1">
              <a:lumMod val="65000"/>
            </a:schemeClr>
          </a:solidFill>
          <a:ln>
            <a:noFill/>
          </a:ln>
        </p:spPr>
        <p:txBody>
          <a:bodyPr spcFirstLastPara="1" wrap="square" lIns="77300" tIns="77300" rIns="77300" bIns="773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002477"/>
              </a:solidFill>
              <a:effectLst/>
              <a:uLnTx/>
              <a:uFillTx/>
              <a:latin typeface="+mj-lt"/>
              <a:ea typeface="Arial"/>
              <a:cs typeface="Arial"/>
              <a:sym typeface="Arial"/>
            </a:endParaRPr>
          </a:p>
        </p:txBody>
      </p:sp>
      <p:cxnSp>
        <p:nvCxnSpPr>
          <p:cNvPr id="51" name="Google Shape;1632;p96">
            <a:extLst>
              <a:ext uri="{FF2B5EF4-FFF2-40B4-BE49-F238E27FC236}">
                <a16:creationId xmlns:a16="http://schemas.microsoft.com/office/drawing/2014/main" id="{5785A8BB-2F36-33FD-EA37-E04B54869427}"/>
              </a:ext>
            </a:extLst>
          </p:cNvPr>
          <p:cNvCxnSpPr>
            <a:cxnSpLocks/>
            <a:stCxn id="54" idx="3"/>
            <a:endCxn id="55" idx="1"/>
          </p:cNvCxnSpPr>
          <p:nvPr/>
        </p:nvCxnSpPr>
        <p:spPr>
          <a:xfrm>
            <a:off x="6985532" y="2535035"/>
            <a:ext cx="2382717" cy="0"/>
          </a:xfrm>
          <a:prstGeom prst="straightConnector1">
            <a:avLst/>
          </a:prstGeom>
          <a:noFill/>
          <a:ln w="28575" cap="flat" cmpd="sng">
            <a:solidFill>
              <a:srgbClr val="FFFFFF"/>
            </a:solidFill>
            <a:prstDash val="solid"/>
            <a:round/>
            <a:headEnd type="none" w="sm" len="sm"/>
            <a:tailEnd type="triangle" w="med" len="med"/>
          </a:ln>
        </p:spPr>
      </p:cxnSp>
      <p:sp>
        <p:nvSpPr>
          <p:cNvPr id="52" name="Google Shape;1643;p96">
            <a:extLst>
              <a:ext uri="{FF2B5EF4-FFF2-40B4-BE49-F238E27FC236}">
                <a16:creationId xmlns:a16="http://schemas.microsoft.com/office/drawing/2014/main" id="{EA0E6895-3DC8-C887-07DC-19703383B8B0}"/>
              </a:ext>
            </a:extLst>
          </p:cNvPr>
          <p:cNvSpPr txBox="1"/>
          <p:nvPr/>
        </p:nvSpPr>
        <p:spPr>
          <a:xfrm>
            <a:off x="940488" y="2370237"/>
            <a:ext cx="1644300" cy="350100"/>
          </a:xfrm>
          <a:prstGeom prst="rect">
            <a:avLst/>
          </a:prstGeom>
          <a:noFill/>
          <a:ln>
            <a:noFill/>
          </a:ln>
        </p:spPr>
        <p:txBody>
          <a:bodyPr spcFirstLastPara="1" wrap="square" lIns="77300" tIns="77300" rIns="77300" bIns="773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lang="en" sz="1200">
                <a:latin typeface="+mj-lt"/>
                <a:ea typeface="Red Hat Display"/>
                <a:cs typeface="Red Hat Display"/>
                <a:sym typeface="Red Hat Display"/>
              </a:rPr>
              <a:t>Creative Approvals</a:t>
            </a:r>
            <a:endParaRPr kumimoji="0" sz="1200" b="0" i="0" u="none" strike="noStrike" kern="1200" cap="none" spc="0" normalizeH="0" baseline="0" noProof="0">
              <a:ln>
                <a:noFill/>
              </a:ln>
              <a:effectLst/>
              <a:uLnTx/>
              <a:uFillTx/>
              <a:latin typeface="+mj-lt"/>
              <a:ea typeface="Red Hat Display"/>
              <a:cs typeface="Red Hat Display"/>
              <a:sym typeface="Red Hat Display"/>
            </a:endParaRPr>
          </a:p>
        </p:txBody>
      </p:sp>
      <p:sp>
        <p:nvSpPr>
          <p:cNvPr id="53" name="Google Shape;1628;p96">
            <a:extLst>
              <a:ext uri="{FF2B5EF4-FFF2-40B4-BE49-F238E27FC236}">
                <a16:creationId xmlns:a16="http://schemas.microsoft.com/office/drawing/2014/main" id="{468C4173-FFBA-FAA4-F710-D3778D687430}"/>
              </a:ext>
            </a:extLst>
          </p:cNvPr>
          <p:cNvSpPr/>
          <p:nvPr/>
        </p:nvSpPr>
        <p:spPr>
          <a:xfrm>
            <a:off x="2629950" y="2348523"/>
            <a:ext cx="1425519" cy="373024"/>
          </a:xfrm>
          <a:prstGeom prst="flowChartPredefinedProcess">
            <a:avLst/>
          </a:prstGeom>
          <a:solidFill>
            <a:schemeClr val="accent2">
              <a:lumMod val="40000"/>
              <a:lumOff val="60000"/>
            </a:schemeClr>
          </a:solidFill>
          <a:ln w="3175" cap="flat" cmpd="sng">
            <a:solidFill>
              <a:schemeClr val="tx2"/>
            </a:solidFill>
            <a:prstDash val="solid"/>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dirty="0">
                <a:ln>
                  <a:noFill/>
                </a:ln>
                <a:effectLst/>
                <a:uLnTx/>
                <a:uFillTx/>
                <a:latin typeface="+mj-lt"/>
                <a:ea typeface="Red Hat Display"/>
                <a:cs typeface="Red Hat Display"/>
                <a:sym typeface="Red Hat Display"/>
              </a:rPr>
              <a:t>CRO Approves Mockups</a:t>
            </a:r>
            <a:endParaRPr kumimoji="0" sz="900" b="0" i="0" u="none" strike="noStrike" kern="1200" cap="none" spc="0" normalizeH="0" baseline="0" noProof="0" dirty="0">
              <a:ln>
                <a:noFill/>
              </a:ln>
              <a:effectLst/>
              <a:uLnTx/>
              <a:uFillTx/>
              <a:latin typeface="+mj-lt"/>
              <a:ea typeface="Red Hat Display"/>
              <a:cs typeface="Red Hat Display"/>
              <a:sym typeface="Red Hat Display"/>
            </a:endParaRPr>
          </a:p>
        </p:txBody>
      </p:sp>
      <p:sp>
        <p:nvSpPr>
          <p:cNvPr id="54" name="Google Shape;1628;p96">
            <a:extLst>
              <a:ext uri="{FF2B5EF4-FFF2-40B4-BE49-F238E27FC236}">
                <a16:creationId xmlns:a16="http://schemas.microsoft.com/office/drawing/2014/main" id="{6C2E4E32-869F-7A1C-6829-C3B6E5E53346}"/>
              </a:ext>
            </a:extLst>
          </p:cNvPr>
          <p:cNvSpPr/>
          <p:nvPr/>
        </p:nvSpPr>
        <p:spPr>
          <a:xfrm>
            <a:off x="5738649" y="2348523"/>
            <a:ext cx="1246883" cy="373024"/>
          </a:xfrm>
          <a:prstGeom prst="flowChartPredefinedProcess">
            <a:avLst/>
          </a:prstGeom>
          <a:solidFill>
            <a:schemeClr val="accent2">
              <a:lumMod val="40000"/>
              <a:lumOff val="60000"/>
            </a:schemeClr>
          </a:solidFill>
          <a:ln w="3175" cap="flat" cmpd="sng">
            <a:solidFill>
              <a:schemeClr val="tx2"/>
            </a:solidFill>
            <a:prstDash val="solid"/>
            <a:round/>
            <a:headEnd type="none" w="sm" len="sm"/>
            <a:tailEnd type="none" w="sm" len="sm"/>
          </a:ln>
        </p:spPr>
        <p:txBody>
          <a:bodyPr spcFirstLastPara="1" wrap="square" lIns="0" tIns="0" rIns="0" bIns="0" anchor="ctr" anchorCtr="0">
            <a:noAutofit/>
          </a:bodyPr>
          <a:lstStyle/>
          <a:p>
            <a:pPr lvl="0" algn="ctr">
              <a:buClr>
                <a:srgbClr val="000000"/>
              </a:buClr>
              <a:buSzPts val="500"/>
              <a:defRPr/>
            </a:pPr>
            <a:r>
              <a:rPr kumimoji="0" lang="en" sz="900" b="0" i="0" u="none" strike="noStrike" kern="1200" cap="none" spc="0" normalizeH="0" baseline="0" noProof="0" dirty="0">
                <a:ln>
                  <a:noFill/>
                </a:ln>
                <a:effectLst/>
                <a:uLnTx/>
                <a:uFillTx/>
                <a:latin typeface="+mj-lt"/>
                <a:ea typeface="Red Hat Display"/>
                <a:cs typeface="Red Hat Display"/>
                <a:sym typeface="Red Hat Display"/>
              </a:rPr>
              <a:t>UX Approves Mockups</a:t>
            </a:r>
            <a:endParaRPr kumimoji="0" sz="900" b="0" i="0" u="none" strike="noStrike" kern="1200" cap="none" spc="0" normalizeH="0" baseline="0" noProof="0" dirty="0">
              <a:ln>
                <a:noFill/>
              </a:ln>
              <a:effectLst/>
              <a:uLnTx/>
              <a:uFillTx/>
              <a:latin typeface="+mj-lt"/>
              <a:ea typeface="Red Hat Display"/>
              <a:cs typeface="Red Hat Display"/>
              <a:sym typeface="Red Hat Display"/>
            </a:endParaRPr>
          </a:p>
        </p:txBody>
      </p:sp>
      <p:sp>
        <p:nvSpPr>
          <p:cNvPr id="55" name="Google Shape;1628;p96">
            <a:extLst>
              <a:ext uri="{FF2B5EF4-FFF2-40B4-BE49-F238E27FC236}">
                <a16:creationId xmlns:a16="http://schemas.microsoft.com/office/drawing/2014/main" id="{FD351D8E-80F6-972C-EC3D-CC530E2DC2A3}"/>
              </a:ext>
            </a:extLst>
          </p:cNvPr>
          <p:cNvSpPr/>
          <p:nvPr/>
        </p:nvSpPr>
        <p:spPr>
          <a:xfrm>
            <a:off x="9368249" y="2348523"/>
            <a:ext cx="1694209" cy="373024"/>
          </a:xfrm>
          <a:prstGeom prst="flowChartPredefinedProcess">
            <a:avLst/>
          </a:prstGeom>
          <a:solidFill>
            <a:schemeClr val="accent2">
              <a:lumMod val="40000"/>
              <a:lumOff val="60000"/>
            </a:schemeClr>
          </a:solidFill>
          <a:ln w="3175" cap="flat" cmpd="sng">
            <a:solidFill>
              <a:schemeClr val="tx2"/>
            </a:solidFill>
            <a:prstDash val="solid"/>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dirty="0">
                <a:ln>
                  <a:noFill/>
                </a:ln>
                <a:effectLst/>
                <a:uLnTx/>
                <a:uFillTx/>
                <a:latin typeface="+mj-lt"/>
                <a:ea typeface="Red Hat Display"/>
                <a:cs typeface="Red Hat Display"/>
                <a:sym typeface="Red Hat Display"/>
              </a:rPr>
              <a:t>Compliance/Brand Approves Mockups</a:t>
            </a:r>
            <a:endParaRPr kumimoji="0" sz="900" b="0" i="0" u="none" strike="noStrike" kern="1200" cap="none" spc="0" normalizeH="0" baseline="0" noProof="0" dirty="0">
              <a:ln>
                <a:noFill/>
              </a:ln>
              <a:effectLst/>
              <a:uLnTx/>
              <a:uFillTx/>
              <a:latin typeface="+mj-lt"/>
              <a:ea typeface="Red Hat Display"/>
              <a:cs typeface="Red Hat Display"/>
              <a:sym typeface="Red Hat Display"/>
            </a:endParaRPr>
          </a:p>
        </p:txBody>
      </p:sp>
      <p:cxnSp>
        <p:nvCxnSpPr>
          <p:cNvPr id="56" name="Google Shape;1636;p96">
            <a:extLst>
              <a:ext uri="{FF2B5EF4-FFF2-40B4-BE49-F238E27FC236}">
                <a16:creationId xmlns:a16="http://schemas.microsoft.com/office/drawing/2014/main" id="{261366E4-2317-50ED-3FB7-8D69FD1EB494}"/>
              </a:ext>
            </a:extLst>
          </p:cNvPr>
          <p:cNvCxnSpPr>
            <a:cxnSpLocks/>
            <a:stCxn id="53" idx="3"/>
            <a:endCxn id="54" idx="1"/>
          </p:cNvCxnSpPr>
          <p:nvPr/>
        </p:nvCxnSpPr>
        <p:spPr>
          <a:xfrm>
            <a:off x="4055469" y="2535035"/>
            <a:ext cx="1683180" cy="0"/>
          </a:xfrm>
          <a:prstGeom prst="straightConnector1">
            <a:avLst/>
          </a:prstGeom>
          <a:noFill/>
          <a:ln w="28575" cap="flat" cmpd="sng">
            <a:solidFill>
              <a:srgbClr val="FFFFFF"/>
            </a:solidFill>
            <a:prstDash val="solid"/>
            <a:round/>
            <a:headEnd type="none" w="sm" len="sm"/>
            <a:tailEnd type="triangle" w="med" len="med"/>
          </a:ln>
        </p:spPr>
      </p:cxnSp>
      <p:sp>
        <p:nvSpPr>
          <p:cNvPr id="58" name="Google Shape;1608;p96">
            <a:extLst>
              <a:ext uri="{FF2B5EF4-FFF2-40B4-BE49-F238E27FC236}">
                <a16:creationId xmlns:a16="http://schemas.microsoft.com/office/drawing/2014/main" id="{CED61C21-A40E-9F04-8060-6DAC78AD012B}"/>
              </a:ext>
            </a:extLst>
          </p:cNvPr>
          <p:cNvSpPr/>
          <p:nvPr/>
        </p:nvSpPr>
        <p:spPr>
          <a:xfrm>
            <a:off x="850574" y="3458956"/>
            <a:ext cx="10396500" cy="548640"/>
          </a:xfrm>
          <a:prstGeom prst="roundRect">
            <a:avLst>
              <a:gd name="adj" fmla="val 16667"/>
            </a:avLst>
          </a:prstGeom>
          <a:solidFill>
            <a:schemeClr val="bg1">
              <a:lumMod val="65000"/>
            </a:schemeClr>
          </a:solidFill>
          <a:ln>
            <a:noFill/>
          </a:ln>
        </p:spPr>
        <p:txBody>
          <a:bodyPr spcFirstLastPara="1" wrap="square" lIns="77300" tIns="77300" rIns="77300" bIns="773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002477"/>
              </a:solidFill>
              <a:effectLst/>
              <a:uLnTx/>
              <a:uFillTx/>
              <a:latin typeface="+mj-lt"/>
              <a:ea typeface="Arial"/>
              <a:cs typeface="Arial"/>
              <a:sym typeface="Arial"/>
            </a:endParaRPr>
          </a:p>
        </p:txBody>
      </p:sp>
      <p:sp>
        <p:nvSpPr>
          <p:cNvPr id="59" name="Google Shape;1643;p96">
            <a:extLst>
              <a:ext uri="{FF2B5EF4-FFF2-40B4-BE49-F238E27FC236}">
                <a16:creationId xmlns:a16="http://schemas.microsoft.com/office/drawing/2014/main" id="{6BBA2C6F-DBE1-0867-E5F1-D4EA0B1F7C63}"/>
              </a:ext>
            </a:extLst>
          </p:cNvPr>
          <p:cNvSpPr txBox="1"/>
          <p:nvPr/>
        </p:nvSpPr>
        <p:spPr>
          <a:xfrm>
            <a:off x="936050" y="3558226"/>
            <a:ext cx="1644300" cy="350100"/>
          </a:xfrm>
          <a:prstGeom prst="rect">
            <a:avLst/>
          </a:prstGeom>
          <a:noFill/>
          <a:ln>
            <a:noFill/>
          </a:ln>
        </p:spPr>
        <p:txBody>
          <a:bodyPr spcFirstLastPara="1" wrap="square" lIns="77300" tIns="77300" rIns="77300" bIns="773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lang="en" sz="1200">
                <a:latin typeface="+mj-lt"/>
                <a:ea typeface="Red Hat Display"/>
                <a:cs typeface="Red Hat Display"/>
                <a:sym typeface="Red Hat Display"/>
              </a:rPr>
              <a:t>Launch Approvals</a:t>
            </a:r>
            <a:endParaRPr kumimoji="0" sz="1200" b="0" i="0" u="none" strike="noStrike" kern="1200" cap="none" spc="0" normalizeH="0" baseline="0" noProof="0">
              <a:ln>
                <a:noFill/>
              </a:ln>
              <a:effectLst/>
              <a:uLnTx/>
              <a:uFillTx/>
              <a:latin typeface="+mj-lt"/>
              <a:ea typeface="Red Hat Display"/>
              <a:cs typeface="Red Hat Display"/>
              <a:sym typeface="Red Hat Display"/>
            </a:endParaRPr>
          </a:p>
        </p:txBody>
      </p:sp>
      <p:cxnSp>
        <p:nvCxnSpPr>
          <p:cNvPr id="60" name="Google Shape;1636;p96">
            <a:extLst>
              <a:ext uri="{FF2B5EF4-FFF2-40B4-BE49-F238E27FC236}">
                <a16:creationId xmlns:a16="http://schemas.microsoft.com/office/drawing/2014/main" id="{1FDC826E-D196-1C28-CC6F-ABA72EFF2FC0}"/>
              </a:ext>
            </a:extLst>
          </p:cNvPr>
          <p:cNvCxnSpPr>
            <a:cxnSpLocks/>
            <a:stCxn id="62" idx="3"/>
            <a:endCxn id="63" idx="1"/>
          </p:cNvCxnSpPr>
          <p:nvPr/>
        </p:nvCxnSpPr>
        <p:spPr>
          <a:xfrm>
            <a:off x="7244300" y="3738012"/>
            <a:ext cx="2418990" cy="0"/>
          </a:xfrm>
          <a:prstGeom prst="straightConnector1">
            <a:avLst/>
          </a:prstGeom>
          <a:noFill/>
          <a:ln w="28575" cap="flat" cmpd="sng">
            <a:solidFill>
              <a:srgbClr val="FFFFFF"/>
            </a:solidFill>
            <a:prstDash val="solid"/>
            <a:round/>
            <a:headEnd type="none" w="sm" len="sm"/>
            <a:tailEnd type="triangle" w="med" len="med"/>
          </a:ln>
        </p:spPr>
      </p:cxnSp>
      <p:sp>
        <p:nvSpPr>
          <p:cNvPr id="61" name="Google Shape;1628;p96">
            <a:extLst>
              <a:ext uri="{FF2B5EF4-FFF2-40B4-BE49-F238E27FC236}">
                <a16:creationId xmlns:a16="http://schemas.microsoft.com/office/drawing/2014/main" id="{BBE10269-E5FA-B22E-10F6-671F98D7CD52}"/>
              </a:ext>
            </a:extLst>
          </p:cNvPr>
          <p:cNvSpPr/>
          <p:nvPr/>
        </p:nvSpPr>
        <p:spPr>
          <a:xfrm>
            <a:off x="2625512" y="3551500"/>
            <a:ext cx="1246883" cy="373024"/>
          </a:xfrm>
          <a:prstGeom prst="flowChartPredefinedProcess">
            <a:avLst/>
          </a:prstGeom>
          <a:solidFill>
            <a:schemeClr val="accent2">
              <a:lumMod val="40000"/>
              <a:lumOff val="60000"/>
            </a:schemeClr>
          </a:solidFill>
          <a:ln w="3175" cap="flat" cmpd="sng">
            <a:solidFill>
              <a:schemeClr val="tx2"/>
            </a:solidFill>
            <a:prstDash val="solid"/>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dirty="0">
                <a:ln>
                  <a:noFill/>
                </a:ln>
                <a:effectLst/>
                <a:uLnTx/>
                <a:uFillTx/>
                <a:latin typeface="+mj-lt"/>
                <a:ea typeface="Red Hat Display"/>
                <a:cs typeface="Red Hat Display"/>
                <a:sym typeface="Red Hat Display"/>
              </a:rPr>
              <a:t>UX Approves QA Links</a:t>
            </a:r>
            <a:endParaRPr kumimoji="0" sz="900" b="0" i="0" u="none" strike="noStrike" kern="1200" cap="none" spc="0" normalizeH="0" baseline="0" noProof="0" dirty="0">
              <a:ln>
                <a:noFill/>
              </a:ln>
              <a:effectLst/>
              <a:uLnTx/>
              <a:uFillTx/>
              <a:latin typeface="+mj-lt"/>
              <a:ea typeface="Red Hat Display"/>
              <a:cs typeface="Red Hat Display"/>
              <a:sym typeface="Red Hat Display"/>
            </a:endParaRPr>
          </a:p>
        </p:txBody>
      </p:sp>
      <p:sp>
        <p:nvSpPr>
          <p:cNvPr id="62" name="Google Shape;1628;p96">
            <a:extLst>
              <a:ext uri="{FF2B5EF4-FFF2-40B4-BE49-F238E27FC236}">
                <a16:creationId xmlns:a16="http://schemas.microsoft.com/office/drawing/2014/main" id="{14F02357-6664-A841-395E-7167779B3D53}"/>
              </a:ext>
            </a:extLst>
          </p:cNvPr>
          <p:cNvSpPr/>
          <p:nvPr/>
        </p:nvSpPr>
        <p:spPr>
          <a:xfrm>
            <a:off x="5997417" y="3551500"/>
            <a:ext cx="1246883" cy="373024"/>
          </a:xfrm>
          <a:prstGeom prst="rect">
            <a:avLst/>
          </a:prstGeom>
          <a:solidFill>
            <a:schemeClr val="bg1"/>
          </a:solidFill>
          <a:ln w="3175" cap="flat" cmpd="sng">
            <a:solidFill>
              <a:schemeClr val="tx2"/>
            </a:solidFill>
            <a:prstDash val="solid"/>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dirty="0">
                <a:ln>
                  <a:noFill/>
                </a:ln>
                <a:effectLst/>
                <a:uLnTx/>
                <a:uFillTx/>
                <a:latin typeface="+mj-lt"/>
                <a:ea typeface="Red Hat Display"/>
                <a:cs typeface="Red Hat Display"/>
                <a:sym typeface="Red Hat Display"/>
              </a:rPr>
              <a:t>Launch Scheduled</a:t>
            </a:r>
            <a:endParaRPr kumimoji="0" sz="900" b="0" i="0" u="none" strike="noStrike" kern="1200" cap="none" spc="0" normalizeH="0" baseline="0" noProof="0" dirty="0">
              <a:ln>
                <a:noFill/>
              </a:ln>
              <a:effectLst/>
              <a:uLnTx/>
              <a:uFillTx/>
              <a:latin typeface="+mj-lt"/>
              <a:ea typeface="Red Hat Display"/>
              <a:cs typeface="Red Hat Display"/>
              <a:sym typeface="Red Hat Display"/>
            </a:endParaRPr>
          </a:p>
        </p:txBody>
      </p:sp>
      <p:sp>
        <p:nvSpPr>
          <p:cNvPr id="63" name="Google Shape;1628;p96">
            <a:extLst>
              <a:ext uri="{FF2B5EF4-FFF2-40B4-BE49-F238E27FC236}">
                <a16:creationId xmlns:a16="http://schemas.microsoft.com/office/drawing/2014/main" id="{C0F76E5F-BB1A-4B6A-5DBF-5B559CA566BC}"/>
              </a:ext>
            </a:extLst>
          </p:cNvPr>
          <p:cNvSpPr/>
          <p:nvPr/>
        </p:nvSpPr>
        <p:spPr>
          <a:xfrm>
            <a:off x="9663290" y="3551500"/>
            <a:ext cx="1405602" cy="373024"/>
          </a:xfrm>
          <a:prstGeom prst="flowChartPredefinedProcess">
            <a:avLst/>
          </a:prstGeom>
          <a:solidFill>
            <a:schemeClr val="accent2">
              <a:lumMod val="40000"/>
              <a:lumOff val="60000"/>
            </a:schemeClr>
          </a:solidFill>
          <a:ln w="3175" cap="flat" cmpd="sng">
            <a:solidFill>
              <a:schemeClr val="tx2"/>
            </a:solidFill>
            <a:prstDash val="solid"/>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a:ln>
                  <a:noFill/>
                </a:ln>
                <a:effectLst/>
                <a:uLnTx/>
                <a:uFillTx/>
                <a:latin typeface="+mj-lt"/>
                <a:ea typeface="Red Hat Display"/>
                <a:cs typeface="Red Hat Display"/>
                <a:sym typeface="Red Hat Display"/>
              </a:rPr>
              <a:t>Engineering Confirms Receipt</a:t>
            </a:r>
            <a:endParaRPr kumimoji="0" sz="900" b="0" i="0" u="none" strike="noStrike" kern="1200" cap="none" spc="0" normalizeH="0" baseline="0" noProof="0">
              <a:ln>
                <a:noFill/>
              </a:ln>
              <a:effectLst/>
              <a:uLnTx/>
              <a:uFillTx/>
              <a:latin typeface="+mj-lt"/>
              <a:ea typeface="Red Hat Display"/>
              <a:cs typeface="Red Hat Display"/>
              <a:sym typeface="Red Hat Display"/>
            </a:endParaRPr>
          </a:p>
        </p:txBody>
      </p:sp>
      <p:cxnSp>
        <p:nvCxnSpPr>
          <p:cNvPr id="64" name="Google Shape;1636;p96">
            <a:extLst>
              <a:ext uri="{FF2B5EF4-FFF2-40B4-BE49-F238E27FC236}">
                <a16:creationId xmlns:a16="http://schemas.microsoft.com/office/drawing/2014/main" id="{7517A9D5-D81D-20AB-E7DD-3BB2286E119F}"/>
              </a:ext>
            </a:extLst>
          </p:cNvPr>
          <p:cNvCxnSpPr>
            <a:cxnSpLocks/>
            <a:stCxn id="61" idx="3"/>
            <a:endCxn id="62" idx="1"/>
          </p:cNvCxnSpPr>
          <p:nvPr/>
        </p:nvCxnSpPr>
        <p:spPr>
          <a:xfrm>
            <a:off x="3872395" y="3738012"/>
            <a:ext cx="2125022" cy="0"/>
          </a:xfrm>
          <a:prstGeom prst="straightConnector1">
            <a:avLst/>
          </a:prstGeom>
          <a:noFill/>
          <a:ln w="28575" cap="flat" cmpd="sng">
            <a:solidFill>
              <a:srgbClr val="FFFFFF"/>
            </a:solidFill>
            <a:prstDash val="solid"/>
            <a:round/>
            <a:headEnd type="none" w="sm" len="sm"/>
            <a:tailEnd type="triangle" w="med" len="med"/>
          </a:ln>
        </p:spPr>
      </p:cxnSp>
      <p:sp>
        <p:nvSpPr>
          <p:cNvPr id="66" name="Google Shape;1608;p96">
            <a:extLst>
              <a:ext uri="{FF2B5EF4-FFF2-40B4-BE49-F238E27FC236}">
                <a16:creationId xmlns:a16="http://schemas.microsoft.com/office/drawing/2014/main" id="{45B19EEE-E939-B5EB-B734-120A251E8FEE}"/>
              </a:ext>
            </a:extLst>
          </p:cNvPr>
          <p:cNvSpPr/>
          <p:nvPr/>
        </p:nvSpPr>
        <p:spPr>
          <a:xfrm>
            <a:off x="855012" y="4046310"/>
            <a:ext cx="10396500" cy="548640"/>
          </a:xfrm>
          <a:prstGeom prst="roundRect">
            <a:avLst>
              <a:gd name="adj" fmla="val 16667"/>
            </a:avLst>
          </a:prstGeom>
          <a:solidFill>
            <a:schemeClr val="accent1"/>
          </a:solidFill>
          <a:ln>
            <a:noFill/>
          </a:ln>
        </p:spPr>
        <p:txBody>
          <a:bodyPr spcFirstLastPara="1" wrap="square" lIns="77300" tIns="77300" rIns="77300" bIns="773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sng" strike="noStrike" kern="1200" cap="none" spc="0" normalizeH="0" baseline="0" noProof="0">
              <a:ln>
                <a:noFill/>
              </a:ln>
              <a:solidFill>
                <a:srgbClr val="002477"/>
              </a:solidFill>
              <a:effectLst/>
              <a:uLnTx/>
              <a:uFillTx/>
              <a:latin typeface="+mj-lt"/>
              <a:ea typeface="Arial"/>
              <a:cs typeface="Arial"/>
              <a:sym typeface="Arial"/>
            </a:endParaRPr>
          </a:p>
        </p:txBody>
      </p:sp>
      <p:sp>
        <p:nvSpPr>
          <p:cNvPr id="67" name="Google Shape;1617;p96">
            <a:extLst>
              <a:ext uri="{FF2B5EF4-FFF2-40B4-BE49-F238E27FC236}">
                <a16:creationId xmlns:a16="http://schemas.microsoft.com/office/drawing/2014/main" id="{6FBE3FEE-E31B-2864-C653-4F6620E70FAC}"/>
              </a:ext>
            </a:extLst>
          </p:cNvPr>
          <p:cNvSpPr/>
          <p:nvPr/>
        </p:nvSpPr>
        <p:spPr>
          <a:xfrm>
            <a:off x="5251047" y="4153530"/>
            <a:ext cx="1065062" cy="334200"/>
          </a:xfrm>
          <a:prstGeom prst="rect">
            <a:avLst/>
          </a:prstGeom>
          <a:solidFill>
            <a:srgbClr val="FFFFFF"/>
          </a:solidFill>
          <a:ln w="9525" cap="flat" cmpd="sng">
            <a:solidFill>
              <a:schemeClr val="tx1"/>
            </a:solidFill>
            <a:prstDash val="solid"/>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US" sz="900" b="0" i="0" u="none" strike="noStrike" kern="1200" cap="none" spc="0" normalizeH="0" baseline="0" noProof="0">
                <a:ln>
                  <a:noFill/>
                </a:ln>
                <a:effectLst/>
                <a:uLnTx/>
                <a:uFillTx/>
                <a:latin typeface="+mj-lt"/>
                <a:ea typeface="Red Hat Display"/>
                <a:cs typeface="Red Hat Display"/>
                <a:sym typeface="Red Hat Display"/>
              </a:rPr>
              <a:t>Monitor Guardrail Metrics</a:t>
            </a:r>
          </a:p>
        </p:txBody>
      </p:sp>
      <p:cxnSp>
        <p:nvCxnSpPr>
          <p:cNvPr id="68" name="Google Shape;1639;p96">
            <a:extLst>
              <a:ext uri="{FF2B5EF4-FFF2-40B4-BE49-F238E27FC236}">
                <a16:creationId xmlns:a16="http://schemas.microsoft.com/office/drawing/2014/main" id="{FF787F0B-6FCA-7E9B-3328-19FA8B09F113}"/>
              </a:ext>
            </a:extLst>
          </p:cNvPr>
          <p:cNvCxnSpPr>
            <a:cxnSpLocks/>
            <a:stCxn id="67" idx="3"/>
            <a:endCxn id="70" idx="1"/>
          </p:cNvCxnSpPr>
          <p:nvPr/>
        </p:nvCxnSpPr>
        <p:spPr>
          <a:xfrm>
            <a:off x="6316109" y="4320630"/>
            <a:ext cx="1429270" cy="0"/>
          </a:xfrm>
          <a:prstGeom prst="straightConnector1">
            <a:avLst/>
          </a:prstGeom>
          <a:noFill/>
          <a:ln w="28575" cap="flat" cmpd="sng">
            <a:solidFill>
              <a:srgbClr val="FFFFFF"/>
            </a:solidFill>
            <a:prstDash val="solid"/>
            <a:round/>
            <a:headEnd type="none" w="sm" len="sm"/>
            <a:tailEnd type="triangle" w="med" len="med"/>
          </a:ln>
        </p:spPr>
      </p:cxnSp>
      <p:sp>
        <p:nvSpPr>
          <p:cNvPr id="69" name="Google Shape;1644;p96">
            <a:extLst>
              <a:ext uri="{FF2B5EF4-FFF2-40B4-BE49-F238E27FC236}">
                <a16:creationId xmlns:a16="http://schemas.microsoft.com/office/drawing/2014/main" id="{4D4F0E3E-1B60-EE21-66A2-F69AFA208E65}"/>
              </a:ext>
            </a:extLst>
          </p:cNvPr>
          <p:cNvSpPr txBox="1"/>
          <p:nvPr/>
        </p:nvSpPr>
        <p:spPr>
          <a:xfrm>
            <a:off x="910328" y="4145580"/>
            <a:ext cx="1895400" cy="350100"/>
          </a:xfrm>
          <a:prstGeom prst="rect">
            <a:avLst/>
          </a:prstGeom>
          <a:noFill/>
          <a:ln>
            <a:noFill/>
          </a:ln>
        </p:spPr>
        <p:txBody>
          <a:bodyPr spcFirstLastPara="1" wrap="square" lIns="77300" tIns="77300" rIns="77300" bIns="773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 sz="1200" b="0" i="0" u="none" strike="noStrike" kern="1200" cap="none" spc="0" normalizeH="0" baseline="0" noProof="0">
                <a:ln>
                  <a:noFill/>
                </a:ln>
                <a:solidFill>
                  <a:schemeClr val="bg1"/>
                </a:solidFill>
                <a:effectLst/>
                <a:uLnTx/>
                <a:uFillTx/>
                <a:latin typeface="+mj-lt"/>
                <a:ea typeface="Red Hat Display"/>
                <a:cs typeface="Red Hat Display"/>
                <a:sym typeface="Red Hat Display"/>
              </a:rPr>
              <a:t>Launch</a:t>
            </a:r>
            <a:endParaRPr kumimoji="0" sz="1200" b="0" i="0" u="none" strike="noStrike" kern="1200" cap="none" spc="0" normalizeH="0" baseline="0" noProof="0">
              <a:ln>
                <a:noFill/>
              </a:ln>
              <a:solidFill>
                <a:schemeClr val="bg1"/>
              </a:solidFill>
              <a:effectLst/>
              <a:uLnTx/>
              <a:uFillTx/>
              <a:latin typeface="+mj-lt"/>
              <a:ea typeface="Red Hat Display"/>
              <a:cs typeface="Red Hat Display"/>
              <a:sym typeface="Red Hat Display"/>
            </a:endParaRPr>
          </a:p>
        </p:txBody>
      </p:sp>
      <p:sp>
        <p:nvSpPr>
          <p:cNvPr id="70" name="Google Shape;1640;p96">
            <a:extLst>
              <a:ext uri="{FF2B5EF4-FFF2-40B4-BE49-F238E27FC236}">
                <a16:creationId xmlns:a16="http://schemas.microsoft.com/office/drawing/2014/main" id="{D586851A-0393-54E3-5B4B-C56621AC8564}"/>
              </a:ext>
            </a:extLst>
          </p:cNvPr>
          <p:cNvSpPr/>
          <p:nvPr/>
        </p:nvSpPr>
        <p:spPr>
          <a:xfrm>
            <a:off x="7745379" y="4153672"/>
            <a:ext cx="863342" cy="333916"/>
          </a:xfrm>
          <a:prstGeom prst="flowChartProcess">
            <a:avLst/>
          </a:prstGeom>
          <a:solidFill>
            <a:srgbClr val="FFFFFF"/>
          </a:solidFill>
          <a:ln w="9525" cap="flat" cmpd="sng">
            <a:solidFill>
              <a:schemeClr val="tx1"/>
            </a:solidFill>
            <a:prstDash val="solid"/>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a:ln>
                  <a:noFill/>
                </a:ln>
                <a:effectLst/>
                <a:uLnTx/>
                <a:uFillTx/>
                <a:latin typeface="+mj-lt"/>
                <a:ea typeface="Red Hat Display"/>
                <a:cs typeface="Red Hat Display"/>
                <a:sym typeface="Red Hat Display"/>
              </a:rPr>
              <a:t>Run Test</a:t>
            </a:r>
            <a:endParaRPr kumimoji="0" sz="900" b="0" i="0" u="none" strike="noStrike" kern="1200" cap="none" spc="0" normalizeH="0" baseline="0" noProof="0">
              <a:ln>
                <a:noFill/>
              </a:ln>
              <a:effectLst/>
              <a:uLnTx/>
              <a:uFillTx/>
              <a:latin typeface="+mj-lt"/>
              <a:ea typeface="Red Hat Display"/>
              <a:cs typeface="Red Hat Display"/>
              <a:sym typeface="Red Hat Display"/>
            </a:endParaRPr>
          </a:p>
        </p:txBody>
      </p:sp>
      <p:sp>
        <p:nvSpPr>
          <p:cNvPr id="71" name="Google Shape;1652;p96">
            <a:extLst>
              <a:ext uri="{FF2B5EF4-FFF2-40B4-BE49-F238E27FC236}">
                <a16:creationId xmlns:a16="http://schemas.microsoft.com/office/drawing/2014/main" id="{CCBA905C-D5AD-A194-313C-8A6180D60AC2}"/>
              </a:ext>
            </a:extLst>
          </p:cNvPr>
          <p:cNvSpPr/>
          <p:nvPr/>
        </p:nvSpPr>
        <p:spPr>
          <a:xfrm>
            <a:off x="9947438" y="4153672"/>
            <a:ext cx="1115020" cy="333916"/>
          </a:xfrm>
          <a:prstGeom prst="flowChartPredefinedProcess">
            <a:avLst/>
          </a:prstGeom>
          <a:solidFill>
            <a:srgbClr val="FFFFFF"/>
          </a:solidFill>
          <a:ln w="9525" cap="flat" cmpd="sng">
            <a:solidFill>
              <a:schemeClr val="tx1"/>
            </a:solidFill>
            <a:prstDash val="solid"/>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a:ln>
                  <a:noFill/>
                </a:ln>
                <a:effectLst/>
                <a:uLnTx/>
                <a:uFillTx/>
                <a:latin typeface="+mj-lt"/>
                <a:ea typeface="Red Hat Display"/>
                <a:cs typeface="Red Hat Display"/>
                <a:sym typeface="Red Hat Display"/>
              </a:rPr>
              <a:t>End Test</a:t>
            </a:r>
            <a:endParaRPr kumimoji="0" sz="900" b="0" i="0" u="none" strike="noStrike" kern="1200" cap="none" spc="0" normalizeH="0" baseline="0" noProof="0">
              <a:ln>
                <a:noFill/>
              </a:ln>
              <a:effectLst/>
              <a:uLnTx/>
              <a:uFillTx/>
              <a:latin typeface="+mj-lt"/>
              <a:ea typeface="Red Hat Display"/>
              <a:cs typeface="Red Hat Display"/>
              <a:sym typeface="Red Hat Display"/>
            </a:endParaRPr>
          </a:p>
        </p:txBody>
      </p:sp>
      <p:cxnSp>
        <p:nvCxnSpPr>
          <p:cNvPr id="72" name="Google Shape;1653;p96">
            <a:extLst>
              <a:ext uri="{FF2B5EF4-FFF2-40B4-BE49-F238E27FC236}">
                <a16:creationId xmlns:a16="http://schemas.microsoft.com/office/drawing/2014/main" id="{B514DB0D-A63C-9086-A75C-98E7B37CDD90}"/>
              </a:ext>
            </a:extLst>
          </p:cNvPr>
          <p:cNvCxnSpPr>
            <a:cxnSpLocks/>
            <a:stCxn id="70" idx="3"/>
            <a:endCxn id="71" idx="1"/>
          </p:cNvCxnSpPr>
          <p:nvPr/>
        </p:nvCxnSpPr>
        <p:spPr>
          <a:xfrm>
            <a:off x="8608721" y="4320630"/>
            <a:ext cx="1338717" cy="0"/>
          </a:xfrm>
          <a:prstGeom prst="straightConnector1">
            <a:avLst/>
          </a:prstGeom>
          <a:noFill/>
          <a:ln w="28575" cap="flat" cmpd="sng">
            <a:solidFill>
              <a:srgbClr val="FFFFFF"/>
            </a:solidFill>
            <a:prstDash val="solid"/>
            <a:round/>
            <a:headEnd type="none" w="sm" len="sm"/>
            <a:tailEnd type="triangle" w="med" len="med"/>
          </a:ln>
        </p:spPr>
      </p:cxnSp>
      <p:sp>
        <p:nvSpPr>
          <p:cNvPr id="73" name="Google Shape;1640;p96">
            <a:extLst>
              <a:ext uri="{FF2B5EF4-FFF2-40B4-BE49-F238E27FC236}">
                <a16:creationId xmlns:a16="http://schemas.microsoft.com/office/drawing/2014/main" id="{6D34CF74-8E31-98B5-C8AA-EC000BFC4BF0}"/>
              </a:ext>
            </a:extLst>
          </p:cNvPr>
          <p:cNvSpPr/>
          <p:nvPr/>
        </p:nvSpPr>
        <p:spPr>
          <a:xfrm>
            <a:off x="2649885" y="4153672"/>
            <a:ext cx="945565" cy="333916"/>
          </a:xfrm>
          <a:prstGeom prst="flowChartProcess">
            <a:avLst/>
          </a:prstGeom>
          <a:solidFill>
            <a:srgbClr val="FFFFFF"/>
          </a:solidFill>
          <a:ln w="9525" cap="flat" cmpd="sng">
            <a:solidFill>
              <a:schemeClr val="tx1"/>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500"/>
              <a:buFont typeface="Arial"/>
              <a:buNone/>
            </a:pPr>
            <a:r>
              <a:rPr lang="en" sz="900" b="0" i="0" u="none" strike="noStrike" cap="none">
                <a:latin typeface="+mj-lt"/>
                <a:ea typeface="Red Hat Display"/>
                <a:cs typeface="Red Hat Display"/>
                <a:sym typeface="Red Hat Display"/>
              </a:rPr>
              <a:t>Launch Test</a:t>
            </a:r>
            <a:endParaRPr sz="900" b="0" i="0" u="none" strike="noStrike" cap="none">
              <a:latin typeface="+mj-lt"/>
              <a:ea typeface="Red Hat Display"/>
              <a:cs typeface="Red Hat Display"/>
              <a:sym typeface="Red Hat Display"/>
            </a:endParaRPr>
          </a:p>
        </p:txBody>
      </p:sp>
      <p:cxnSp>
        <p:nvCxnSpPr>
          <p:cNvPr id="74" name="Google Shape;1639;p96">
            <a:extLst>
              <a:ext uri="{FF2B5EF4-FFF2-40B4-BE49-F238E27FC236}">
                <a16:creationId xmlns:a16="http://schemas.microsoft.com/office/drawing/2014/main" id="{629F5AEE-EC1D-0161-486A-2EAF2465AEAF}"/>
              </a:ext>
            </a:extLst>
          </p:cNvPr>
          <p:cNvCxnSpPr>
            <a:cxnSpLocks/>
            <a:stCxn id="73" idx="3"/>
            <a:endCxn id="67" idx="1"/>
          </p:cNvCxnSpPr>
          <p:nvPr/>
        </p:nvCxnSpPr>
        <p:spPr>
          <a:xfrm>
            <a:off x="3595450" y="4320630"/>
            <a:ext cx="1655597" cy="0"/>
          </a:xfrm>
          <a:prstGeom prst="straightConnector1">
            <a:avLst/>
          </a:prstGeom>
          <a:noFill/>
          <a:ln w="28575" cap="flat" cmpd="sng">
            <a:solidFill>
              <a:srgbClr val="FFFFFF"/>
            </a:solidFill>
            <a:prstDash val="solid"/>
            <a:round/>
            <a:headEnd type="none" w="sm" len="sm"/>
            <a:tailEnd type="triangle" w="med" len="med"/>
          </a:ln>
        </p:spPr>
      </p:cxnSp>
      <p:sp>
        <p:nvSpPr>
          <p:cNvPr id="76" name="Google Shape;1646;p96">
            <a:extLst>
              <a:ext uri="{FF2B5EF4-FFF2-40B4-BE49-F238E27FC236}">
                <a16:creationId xmlns:a16="http://schemas.microsoft.com/office/drawing/2014/main" id="{70BE9582-0B83-4EA1-BF31-942A5947F6A8}"/>
              </a:ext>
            </a:extLst>
          </p:cNvPr>
          <p:cNvSpPr/>
          <p:nvPr/>
        </p:nvSpPr>
        <p:spPr>
          <a:xfrm>
            <a:off x="3611622" y="6042105"/>
            <a:ext cx="887700" cy="250800"/>
          </a:xfrm>
          <a:prstGeom prst="rect">
            <a:avLst/>
          </a:prstGeom>
          <a:solidFill>
            <a:srgbClr val="FFFFFF"/>
          </a:solidFill>
          <a:ln w="9525" cap="flat" cmpd="sng">
            <a:solidFill>
              <a:schemeClr val="tx1"/>
            </a:solidFill>
            <a:prstDash val="solid"/>
            <a:round/>
            <a:headEnd type="none" w="sm" len="sm"/>
            <a:tailEnd type="none" w="sm" len="sm"/>
          </a:ln>
        </p:spPr>
        <p:txBody>
          <a:bodyPr spcFirstLastPara="1" wrap="square" lIns="77300" tIns="77300" rIns="77300" bIns="773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800" b="1" i="0" u="none" strike="noStrike" kern="1200" cap="none" spc="0" normalizeH="0" baseline="0" noProof="0" dirty="0">
                <a:ln>
                  <a:noFill/>
                </a:ln>
                <a:effectLst/>
                <a:uLnTx/>
                <a:uFillTx/>
                <a:latin typeface="+mj-lt"/>
                <a:ea typeface="Red Hat Display"/>
                <a:cs typeface="Red Hat Display"/>
                <a:sym typeface="Red Hat Display"/>
              </a:rPr>
              <a:t>Process Step</a:t>
            </a:r>
            <a:endParaRPr kumimoji="0" sz="800" b="1" i="0" u="none" strike="noStrike" kern="1200" cap="none" spc="0" normalizeH="0" baseline="0" noProof="0" dirty="0">
              <a:ln>
                <a:noFill/>
              </a:ln>
              <a:effectLst/>
              <a:uLnTx/>
              <a:uFillTx/>
              <a:latin typeface="+mj-lt"/>
              <a:ea typeface="Red Hat Display"/>
              <a:cs typeface="Red Hat Display"/>
              <a:sym typeface="Red Hat Display"/>
            </a:endParaRPr>
          </a:p>
        </p:txBody>
      </p:sp>
      <p:sp>
        <p:nvSpPr>
          <p:cNvPr id="77" name="Google Shape;1647;p96">
            <a:extLst>
              <a:ext uri="{FF2B5EF4-FFF2-40B4-BE49-F238E27FC236}">
                <a16:creationId xmlns:a16="http://schemas.microsoft.com/office/drawing/2014/main" id="{FF0A5B7D-4BA0-F109-EF91-D6954BFBEBA9}"/>
              </a:ext>
            </a:extLst>
          </p:cNvPr>
          <p:cNvSpPr/>
          <p:nvPr/>
        </p:nvSpPr>
        <p:spPr>
          <a:xfrm>
            <a:off x="4641121" y="6042105"/>
            <a:ext cx="732888" cy="250938"/>
          </a:xfrm>
          <a:prstGeom prst="flowChartDocument">
            <a:avLst/>
          </a:prstGeom>
          <a:solidFill>
            <a:srgbClr val="FFFFFF"/>
          </a:solidFill>
          <a:ln w="9525" cap="flat" cmpd="sng">
            <a:solidFill>
              <a:schemeClr val="tx1"/>
            </a:solidFill>
            <a:prstDash val="solid"/>
            <a:round/>
            <a:headEnd type="none" w="sm" len="sm"/>
            <a:tailEnd type="none" w="sm" len="sm"/>
          </a:ln>
        </p:spPr>
        <p:txBody>
          <a:bodyPr spcFirstLastPara="1" wrap="square" lIns="77300" tIns="77300" rIns="77300" bIns="773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800" b="1" i="0" u="none" strike="noStrike" kern="1200" cap="none" spc="0" normalizeH="0" baseline="0" noProof="0">
                <a:ln>
                  <a:noFill/>
                </a:ln>
                <a:effectLst/>
                <a:uLnTx/>
                <a:uFillTx/>
                <a:latin typeface="+mj-lt"/>
                <a:ea typeface="Red Hat Display"/>
                <a:cs typeface="Red Hat Display"/>
                <a:sym typeface="Red Hat Display"/>
              </a:rPr>
              <a:t>Document</a:t>
            </a:r>
            <a:endParaRPr kumimoji="0" sz="800" b="1" i="0" u="none" strike="noStrike" kern="1200" cap="none" spc="0" normalizeH="0" baseline="0" noProof="0">
              <a:ln>
                <a:noFill/>
              </a:ln>
              <a:effectLst/>
              <a:uLnTx/>
              <a:uFillTx/>
              <a:latin typeface="+mj-lt"/>
              <a:ea typeface="Red Hat Display"/>
              <a:cs typeface="Red Hat Display"/>
              <a:sym typeface="Red Hat Display"/>
            </a:endParaRPr>
          </a:p>
        </p:txBody>
      </p:sp>
      <p:sp>
        <p:nvSpPr>
          <p:cNvPr id="78" name="Google Shape;1648;p96">
            <a:extLst>
              <a:ext uri="{FF2B5EF4-FFF2-40B4-BE49-F238E27FC236}">
                <a16:creationId xmlns:a16="http://schemas.microsoft.com/office/drawing/2014/main" id="{265ED73F-1530-F506-7747-55CC453098DA}"/>
              </a:ext>
            </a:extLst>
          </p:cNvPr>
          <p:cNvSpPr/>
          <p:nvPr/>
        </p:nvSpPr>
        <p:spPr>
          <a:xfrm>
            <a:off x="5515808" y="6042104"/>
            <a:ext cx="1135972" cy="250949"/>
          </a:xfrm>
          <a:prstGeom prst="flowChartPredefinedProcess">
            <a:avLst/>
          </a:prstGeom>
          <a:solidFill>
            <a:srgbClr val="FFFFFF"/>
          </a:solidFill>
          <a:ln w="9525" cap="flat" cmpd="sng">
            <a:solidFill>
              <a:schemeClr val="tx1"/>
            </a:solidFill>
            <a:prstDash val="solid"/>
            <a:round/>
            <a:headEnd type="none" w="sm" len="sm"/>
            <a:tailEnd type="none" w="sm" len="sm"/>
          </a:ln>
        </p:spPr>
        <p:txBody>
          <a:bodyPr spcFirstLastPara="1" wrap="square" lIns="77300" tIns="77300" rIns="77300" bIns="773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800" b="1" i="0" u="none" strike="noStrike" kern="1200" cap="none" spc="0" normalizeH="0" baseline="0" noProof="0">
                <a:ln>
                  <a:noFill/>
                </a:ln>
                <a:effectLst/>
                <a:uLnTx/>
                <a:uFillTx/>
                <a:latin typeface="+mj-lt"/>
                <a:ea typeface="Red Hat Display"/>
                <a:cs typeface="Red Hat Display"/>
                <a:sym typeface="Red Hat Display"/>
              </a:rPr>
              <a:t>Decision</a:t>
            </a:r>
            <a:endParaRPr kumimoji="0" sz="800" b="1" i="0" u="none" strike="noStrike" kern="1200" cap="none" spc="0" normalizeH="0" baseline="0" noProof="0">
              <a:ln>
                <a:noFill/>
              </a:ln>
              <a:effectLst/>
              <a:uLnTx/>
              <a:uFillTx/>
              <a:latin typeface="+mj-lt"/>
              <a:ea typeface="Red Hat Display"/>
              <a:cs typeface="Red Hat Display"/>
              <a:sym typeface="Red Hat Display"/>
            </a:endParaRPr>
          </a:p>
        </p:txBody>
      </p:sp>
      <p:sp>
        <p:nvSpPr>
          <p:cNvPr id="79" name="Google Shape;1649;p96">
            <a:extLst>
              <a:ext uri="{FF2B5EF4-FFF2-40B4-BE49-F238E27FC236}">
                <a16:creationId xmlns:a16="http://schemas.microsoft.com/office/drawing/2014/main" id="{4AE5D152-B070-6B34-E0EB-A33DEB432E53}"/>
              </a:ext>
            </a:extLst>
          </p:cNvPr>
          <p:cNvSpPr/>
          <p:nvPr/>
        </p:nvSpPr>
        <p:spPr>
          <a:xfrm>
            <a:off x="6793579" y="6042103"/>
            <a:ext cx="923700" cy="250800"/>
          </a:xfrm>
          <a:prstGeom prst="rect">
            <a:avLst/>
          </a:prstGeom>
          <a:solidFill>
            <a:srgbClr val="FFFFFF"/>
          </a:solidFill>
          <a:ln w="9525" cap="flat" cmpd="sng">
            <a:solidFill>
              <a:schemeClr val="tx1"/>
            </a:solidFill>
            <a:prstDash val="dash"/>
            <a:round/>
            <a:headEnd type="none" w="sm" len="sm"/>
            <a:tailEnd type="none" w="sm" len="sm"/>
          </a:ln>
        </p:spPr>
        <p:txBody>
          <a:bodyPr spcFirstLastPara="1" wrap="square" lIns="77300" tIns="77300" rIns="77300" bIns="773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800" b="1" i="0" u="none" strike="noStrike" kern="1200" cap="none" spc="0" normalizeH="0" baseline="0" noProof="0" dirty="0">
                <a:ln>
                  <a:noFill/>
                </a:ln>
                <a:effectLst/>
                <a:uLnTx/>
                <a:uFillTx/>
                <a:latin typeface="+mj-lt"/>
                <a:ea typeface="Red Hat Display"/>
                <a:cs typeface="Red Hat Display"/>
                <a:sym typeface="Red Hat Display"/>
              </a:rPr>
              <a:t>Optional / as needed step</a:t>
            </a:r>
            <a:endParaRPr kumimoji="0" sz="800" b="1" i="0" u="none" strike="noStrike" kern="1200" cap="none" spc="0" normalizeH="0" baseline="0" noProof="0" dirty="0">
              <a:ln>
                <a:noFill/>
              </a:ln>
              <a:effectLst/>
              <a:uLnTx/>
              <a:uFillTx/>
              <a:latin typeface="+mj-lt"/>
              <a:ea typeface="Red Hat Display"/>
              <a:cs typeface="Red Hat Display"/>
              <a:sym typeface="Red Hat Display"/>
            </a:endParaRPr>
          </a:p>
        </p:txBody>
      </p:sp>
      <p:sp>
        <p:nvSpPr>
          <p:cNvPr id="80" name="Google Shape;1650;p96">
            <a:extLst>
              <a:ext uri="{FF2B5EF4-FFF2-40B4-BE49-F238E27FC236}">
                <a16:creationId xmlns:a16="http://schemas.microsoft.com/office/drawing/2014/main" id="{255D5265-5F0B-FB04-4930-84C75DFEE5A5}"/>
              </a:ext>
            </a:extLst>
          </p:cNvPr>
          <p:cNvSpPr txBox="1"/>
          <p:nvPr/>
        </p:nvSpPr>
        <p:spPr>
          <a:xfrm>
            <a:off x="2213894" y="6042819"/>
            <a:ext cx="1650300" cy="175200"/>
          </a:xfrm>
          <a:prstGeom prst="rect">
            <a:avLst/>
          </a:prstGeom>
          <a:noFill/>
          <a:ln>
            <a:noFill/>
          </a:ln>
        </p:spPr>
        <p:txBody>
          <a:bodyPr spcFirstLastPara="1" wrap="square" lIns="75575" tIns="75575" rIns="75575" bIns="7557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 sz="800" b="0" i="0" u="none" strike="noStrike" kern="1200" cap="none" spc="0" normalizeH="0" baseline="0" noProof="0" dirty="0">
                <a:ln>
                  <a:noFill/>
                </a:ln>
                <a:effectLst/>
                <a:uLnTx/>
                <a:uFillTx/>
                <a:latin typeface="+mj-lt"/>
                <a:ea typeface="Red Hat Display"/>
                <a:cs typeface="Red Hat Display"/>
                <a:sym typeface="Red Hat Display"/>
              </a:rPr>
              <a:t>Process flow shape key:</a:t>
            </a:r>
            <a:endParaRPr kumimoji="0" sz="800" b="0" i="0" u="none" strike="noStrike" kern="1200" cap="none" spc="0" normalizeH="0" baseline="0" noProof="0" dirty="0">
              <a:ln>
                <a:noFill/>
              </a:ln>
              <a:effectLst/>
              <a:uLnTx/>
              <a:uFillTx/>
              <a:latin typeface="+mj-lt"/>
              <a:ea typeface="Red Hat Display"/>
              <a:cs typeface="Red Hat Display"/>
              <a:sym typeface="Red Hat Display"/>
            </a:endParaRPr>
          </a:p>
        </p:txBody>
      </p:sp>
      <p:sp>
        <p:nvSpPr>
          <p:cNvPr id="82" name="Google Shape;1646;p96">
            <a:extLst>
              <a:ext uri="{FF2B5EF4-FFF2-40B4-BE49-F238E27FC236}">
                <a16:creationId xmlns:a16="http://schemas.microsoft.com/office/drawing/2014/main" id="{773C6345-5223-1595-F36C-582A3228864A}"/>
              </a:ext>
            </a:extLst>
          </p:cNvPr>
          <p:cNvSpPr/>
          <p:nvPr/>
        </p:nvSpPr>
        <p:spPr>
          <a:xfrm>
            <a:off x="6710086" y="6403511"/>
            <a:ext cx="887700" cy="250800"/>
          </a:xfrm>
          <a:prstGeom prst="rect">
            <a:avLst/>
          </a:prstGeom>
          <a:solidFill>
            <a:schemeClr val="accent2">
              <a:lumMod val="40000"/>
              <a:lumOff val="60000"/>
            </a:schemeClr>
          </a:solidFill>
          <a:ln w="3175" cap="flat" cmpd="sng">
            <a:solidFill>
              <a:schemeClr val="tx2"/>
            </a:solidFill>
            <a:prstDash val="solid"/>
            <a:round/>
            <a:headEnd type="none" w="sm" len="sm"/>
            <a:tailEnd type="none" w="sm" len="sm"/>
          </a:ln>
        </p:spPr>
        <p:txBody>
          <a:bodyPr spcFirstLastPara="1" wrap="square" lIns="77300" tIns="77300" rIns="77300" bIns="773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Tx/>
              <a:buNone/>
              <a:tabLst/>
              <a:defRPr/>
            </a:pPr>
            <a:r>
              <a:rPr kumimoji="0" lang="en-US" sz="700" b="1" i="0" u="none" strike="noStrike" kern="1200" cap="none" spc="0" normalizeH="0" baseline="0" noProof="0" dirty="0">
                <a:ln>
                  <a:noFill/>
                </a:ln>
                <a:effectLst/>
                <a:uLnTx/>
                <a:uFillTx/>
                <a:latin typeface="+mj-lt"/>
                <a:ea typeface="Red Hat Display"/>
                <a:cs typeface="Poppins"/>
                <a:sym typeface="Red Hat Display"/>
              </a:rPr>
              <a:t>Client</a:t>
            </a:r>
            <a:endParaRPr kumimoji="0" lang="en-US" sz="700" b="1" i="0" u="none" strike="noStrike" kern="1200" cap="none" spc="0" normalizeH="0" baseline="0" noProof="0" dirty="0">
              <a:ln>
                <a:noFill/>
              </a:ln>
              <a:effectLst/>
              <a:uLnTx/>
              <a:uFillTx/>
              <a:latin typeface="+mj-lt"/>
              <a:ea typeface="Red Hat Display"/>
              <a:cs typeface="Poppins" panose="00000500000000000000" pitchFamily="2" charset="0"/>
              <a:sym typeface="Red Hat Display"/>
            </a:endParaRPr>
          </a:p>
        </p:txBody>
      </p:sp>
      <p:sp>
        <p:nvSpPr>
          <p:cNvPr id="83" name="Google Shape;1646;p96">
            <a:extLst>
              <a:ext uri="{FF2B5EF4-FFF2-40B4-BE49-F238E27FC236}">
                <a16:creationId xmlns:a16="http://schemas.microsoft.com/office/drawing/2014/main" id="{D9A49974-8355-2D96-EC80-74ABDD236903}"/>
              </a:ext>
            </a:extLst>
          </p:cNvPr>
          <p:cNvSpPr/>
          <p:nvPr/>
        </p:nvSpPr>
        <p:spPr>
          <a:xfrm>
            <a:off x="5677493" y="6403511"/>
            <a:ext cx="887700" cy="250800"/>
          </a:xfrm>
          <a:prstGeom prst="rect">
            <a:avLst/>
          </a:prstGeom>
          <a:solidFill>
            <a:schemeClr val="accent3">
              <a:lumMod val="60000"/>
              <a:lumOff val="40000"/>
            </a:schemeClr>
          </a:solidFill>
          <a:ln w="3175" cap="flat" cmpd="sng">
            <a:solidFill>
              <a:schemeClr val="tx2"/>
            </a:solidFill>
            <a:prstDash val="solid"/>
            <a:round/>
            <a:headEnd type="none" w="sm" len="sm"/>
            <a:tailEnd type="none" w="sm" len="sm"/>
          </a:ln>
        </p:spPr>
        <p:txBody>
          <a:bodyPr spcFirstLastPara="1" wrap="square" lIns="77300" tIns="77300" rIns="77300" bIns="773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Tx/>
              <a:buNone/>
              <a:tabLst/>
              <a:defRPr/>
            </a:pPr>
            <a:r>
              <a:rPr kumimoji="0" lang="en" sz="700" b="1" i="0" u="none" strike="noStrike" kern="1200" cap="none" spc="0" normalizeH="0" baseline="0" noProof="0" dirty="0">
                <a:ln>
                  <a:noFill/>
                </a:ln>
                <a:solidFill>
                  <a:schemeClr val="bg1"/>
                </a:solidFill>
                <a:effectLst/>
                <a:uLnTx/>
                <a:uFillTx/>
                <a:latin typeface="+mj-lt"/>
                <a:ea typeface="Red Hat Display"/>
                <a:cs typeface="Poppins"/>
                <a:sym typeface="Red Hat Display"/>
              </a:rPr>
              <a:t>HC Dev</a:t>
            </a:r>
            <a:endParaRPr kumimoji="0" sz="700" b="1" i="0" u="none" strike="noStrike" kern="1200" cap="none" spc="0" normalizeH="0" baseline="0" noProof="0" dirty="0">
              <a:ln>
                <a:noFill/>
              </a:ln>
              <a:solidFill>
                <a:schemeClr val="bg1"/>
              </a:solidFill>
              <a:effectLst/>
              <a:uLnTx/>
              <a:uFillTx/>
              <a:latin typeface="+mj-lt"/>
              <a:ea typeface="Red Hat Display"/>
              <a:cs typeface="Poppins"/>
              <a:sym typeface="Red Hat Display"/>
            </a:endParaRPr>
          </a:p>
        </p:txBody>
      </p:sp>
      <p:sp>
        <p:nvSpPr>
          <p:cNvPr id="84" name="Google Shape;1646;p96">
            <a:extLst>
              <a:ext uri="{FF2B5EF4-FFF2-40B4-BE49-F238E27FC236}">
                <a16:creationId xmlns:a16="http://schemas.microsoft.com/office/drawing/2014/main" id="{3DDC26A1-3E0B-9EE5-2116-A8D69E474A4E}"/>
              </a:ext>
            </a:extLst>
          </p:cNvPr>
          <p:cNvSpPr/>
          <p:nvPr/>
        </p:nvSpPr>
        <p:spPr>
          <a:xfrm>
            <a:off x="4644899" y="6403511"/>
            <a:ext cx="887700" cy="250800"/>
          </a:xfrm>
          <a:prstGeom prst="rect">
            <a:avLst/>
          </a:prstGeom>
          <a:solidFill>
            <a:schemeClr val="accent1"/>
          </a:solidFill>
          <a:ln w="3175" cap="flat" cmpd="sng">
            <a:solidFill>
              <a:schemeClr val="tx2"/>
            </a:solidFill>
            <a:prstDash val="solid"/>
            <a:round/>
            <a:headEnd type="none" w="sm" len="sm"/>
            <a:tailEnd type="none" w="sm" len="sm"/>
          </a:ln>
        </p:spPr>
        <p:txBody>
          <a:bodyPr spcFirstLastPara="1" wrap="square" lIns="77300" tIns="77300" rIns="77300" bIns="773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Tx/>
              <a:buNone/>
              <a:tabLst/>
              <a:defRPr/>
            </a:pPr>
            <a:r>
              <a:rPr kumimoji="0" lang="en" sz="700" b="1" i="0" u="none" strike="noStrike" kern="1200" cap="none" spc="0" normalizeH="0" baseline="0" noProof="0" dirty="0">
                <a:ln>
                  <a:noFill/>
                </a:ln>
                <a:solidFill>
                  <a:schemeClr val="bg1"/>
                </a:solidFill>
                <a:effectLst/>
                <a:uLnTx/>
                <a:uFillTx/>
                <a:latin typeface="+mj-lt"/>
                <a:ea typeface="Red Hat Display"/>
                <a:cs typeface="Poppins"/>
                <a:sym typeface="Red Hat Display"/>
              </a:rPr>
              <a:t>HC Design</a:t>
            </a:r>
            <a:endParaRPr kumimoji="0" sz="700" b="1" i="0" u="none" strike="noStrike" kern="1200" cap="none" spc="0" normalizeH="0" baseline="0" noProof="0" dirty="0">
              <a:ln>
                <a:noFill/>
              </a:ln>
              <a:solidFill>
                <a:schemeClr val="bg1"/>
              </a:solidFill>
              <a:effectLst/>
              <a:uLnTx/>
              <a:uFillTx/>
              <a:latin typeface="+mj-lt"/>
              <a:ea typeface="Red Hat Display"/>
              <a:cs typeface="Poppins"/>
              <a:sym typeface="Red Hat Display"/>
            </a:endParaRPr>
          </a:p>
        </p:txBody>
      </p:sp>
      <p:sp>
        <p:nvSpPr>
          <p:cNvPr id="85" name="Google Shape;1646;p96">
            <a:extLst>
              <a:ext uri="{FF2B5EF4-FFF2-40B4-BE49-F238E27FC236}">
                <a16:creationId xmlns:a16="http://schemas.microsoft.com/office/drawing/2014/main" id="{5FD3244A-9AE8-A5A6-53C7-8C9C49C88026}"/>
              </a:ext>
            </a:extLst>
          </p:cNvPr>
          <p:cNvSpPr/>
          <p:nvPr/>
        </p:nvSpPr>
        <p:spPr>
          <a:xfrm>
            <a:off x="3612305" y="6403511"/>
            <a:ext cx="887700" cy="250800"/>
          </a:xfrm>
          <a:prstGeom prst="rect">
            <a:avLst/>
          </a:prstGeom>
          <a:solidFill>
            <a:schemeClr val="bg1"/>
          </a:solidFill>
          <a:ln w="3175" cap="flat" cmpd="sng">
            <a:solidFill>
              <a:schemeClr val="tx2"/>
            </a:solidFill>
            <a:prstDash val="solid"/>
            <a:round/>
            <a:headEnd type="none" w="sm" len="sm"/>
            <a:tailEnd type="none" w="sm" len="sm"/>
          </a:ln>
        </p:spPr>
        <p:txBody>
          <a:bodyPr spcFirstLastPara="1" wrap="square" lIns="77300" tIns="77300" rIns="77300" bIns="773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Tx/>
              <a:buNone/>
              <a:tabLst/>
              <a:defRPr/>
            </a:pPr>
            <a:r>
              <a:rPr kumimoji="0" lang="en" sz="700" b="1" i="0" u="none" strike="noStrike" kern="1200" cap="none" spc="0" normalizeH="0" baseline="0" noProof="0" dirty="0">
                <a:ln>
                  <a:noFill/>
                </a:ln>
                <a:effectLst/>
                <a:uLnTx/>
                <a:uFillTx/>
                <a:latin typeface="+mj-lt"/>
                <a:ea typeface="Red Hat Display"/>
                <a:cs typeface="Poppins"/>
                <a:sym typeface="Red Hat Display"/>
              </a:rPr>
              <a:t>HC CRO</a:t>
            </a:r>
            <a:endParaRPr kumimoji="0" sz="700" b="1" i="0" u="none" strike="noStrike" kern="1200" cap="none" spc="0" normalizeH="0" baseline="0" noProof="0" dirty="0">
              <a:ln>
                <a:noFill/>
              </a:ln>
              <a:effectLst/>
              <a:uLnTx/>
              <a:uFillTx/>
              <a:latin typeface="+mj-lt"/>
              <a:ea typeface="Red Hat Display"/>
              <a:cs typeface="Poppins"/>
              <a:sym typeface="Red Hat Display"/>
            </a:endParaRPr>
          </a:p>
        </p:txBody>
      </p:sp>
      <p:sp>
        <p:nvSpPr>
          <p:cNvPr id="86" name="Google Shape;1650;p96">
            <a:extLst>
              <a:ext uri="{FF2B5EF4-FFF2-40B4-BE49-F238E27FC236}">
                <a16:creationId xmlns:a16="http://schemas.microsoft.com/office/drawing/2014/main" id="{9CA9E22A-B912-620C-6A82-64B8ECD3C9B3}"/>
              </a:ext>
            </a:extLst>
          </p:cNvPr>
          <p:cNvSpPr txBox="1"/>
          <p:nvPr/>
        </p:nvSpPr>
        <p:spPr>
          <a:xfrm>
            <a:off x="2203007" y="6418939"/>
            <a:ext cx="1650300" cy="175200"/>
          </a:xfrm>
          <a:prstGeom prst="rect">
            <a:avLst/>
          </a:prstGeom>
          <a:noFill/>
          <a:ln>
            <a:noFill/>
          </a:ln>
        </p:spPr>
        <p:txBody>
          <a:bodyPr spcFirstLastPara="1" wrap="square" lIns="75575" tIns="75575" rIns="75575" bIns="7557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 sz="800" b="0" i="0" u="none" strike="noStrike" kern="1200" cap="none" spc="0" normalizeH="0" baseline="0" noProof="0" dirty="0">
                <a:ln>
                  <a:noFill/>
                </a:ln>
                <a:effectLst/>
                <a:uLnTx/>
                <a:uFillTx/>
                <a:latin typeface="+mj-lt"/>
                <a:ea typeface="Red Hat Display"/>
                <a:cs typeface="Red Hat Display"/>
                <a:sym typeface="Red Hat Display"/>
              </a:rPr>
              <a:t>Process step owner key:</a:t>
            </a:r>
            <a:endParaRPr kumimoji="0" sz="800" b="0" i="0" u="none" strike="noStrike" kern="1200" cap="none" spc="0" normalizeH="0" baseline="0" noProof="0" dirty="0">
              <a:ln>
                <a:noFill/>
              </a:ln>
              <a:effectLst/>
              <a:uLnTx/>
              <a:uFillTx/>
              <a:latin typeface="+mj-lt"/>
              <a:ea typeface="Red Hat Display"/>
              <a:cs typeface="Red Hat Display"/>
              <a:sym typeface="Red Hat Display"/>
            </a:endParaRPr>
          </a:p>
        </p:txBody>
      </p:sp>
      <p:sp>
        <p:nvSpPr>
          <p:cNvPr id="87" name="Google Shape;1620;p96">
            <a:extLst>
              <a:ext uri="{FF2B5EF4-FFF2-40B4-BE49-F238E27FC236}">
                <a16:creationId xmlns:a16="http://schemas.microsoft.com/office/drawing/2014/main" id="{1F8E8249-C6A3-8290-3892-E11091047682}"/>
              </a:ext>
            </a:extLst>
          </p:cNvPr>
          <p:cNvSpPr/>
          <p:nvPr/>
        </p:nvSpPr>
        <p:spPr>
          <a:xfrm>
            <a:off x="10131626" y="2963271"/>
            <a:ext cx="878732" cy="333936"/>
          </a:xfrm>
          <a:prstGeom prst="flowChartDocument">
            <a:avLst/>
          </a:prstGeom>
          <a:solidFill>
            <a:schemeClr val="bg1"/>
          </a:solidFill>
          <a:ln w="9525" cap="flat" cmpd="sng">
            <a:solidFill>
              <a:schemeClr val="tx1"/>
            </a:solidFill>
            <a:prstDash val="solid"/>
            <a:round/>
            <a:headEnd type="none" w="sm" len="sm"/>
            <a:tailEnd type="none" w="sm" len="sm"/>
          </a:ln>
        </p:spPr>
        <p:txBody>
          <a:bodyPr spcFirstLastPara="1" wrap="square" lIns="77300" tIns="0" rIns="7730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a:ln>
                  <a:noFill/>
                </a:ln>
                <a:effectLst/>
                <a:uLnTx/>
                <a:uFillTx/>
                <a:latin typeface="+mj-lt"/>
                <a:ea typeface="Red Hat Display"/>
                <a:cs typeface="Red Hat Display"/>
                <a:sym typeface="Red Hat Display"/>
              </a:rPr>
              <a:t>QA Links</a:t>
            </a:r>
          </a:p>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a:ln>
                  <a:noFill/>
                </a:ln>
                <a:effectLst/>
                <a:uLnTx/>
                <a:uFillTx/>
                <a:latin typeface="+mj-lt"/>
                <a:ea typeface="Red Hat Display"/>
                <a:cs typeface="Red Hat Display"/>
                <a:sym typeface="Red Hat Display"/>
              </a:rPr>
              <a:t>Delivered</a:t>
            </a:r>
            <a:endParaRPr kumimoji="0" sz="900" b="0" i="0" u="none" strike="noStrike" kern="1200" cap="none" spc="0" normalizeH="0" baseline="0" noProof="0">
              <a:ln>
                <a:noFill/>
              </a:ln>
              <a:effectLst/>
              <a:uLnTx/>
              <a:uFillTx/>
              <a:latin typeface="+mj-lt"/>
              <a:ea typeface="Red Hat Display"/>
              <a:cs typeface="Red Hat Display"/>
              <a:sym typeface="Red Hat Display"/>
            </a:endParaRPr>
          </a:p>
        </p:txBody>
      </p:sp>
      <p:cxnSp>
        <p:nvCxnSpPr>
          <p:cNvPr id="88" name="Google Shape;1621;p96">
            <a:extLst>
              <a:ext uri="{FF2B5EF4-FFF2-40B4-BE49-F238E27FC236}">
                <a16:creationId xmlns:a16="http://schemas.microsoft.com/office/drawing/2014/main" id="{CAC19DE9-4ADC-85ED-855A-388AFC9DC875}"/>
              </a:ext>
            </a:extLst>
          </p:cNvPr>
          <p:cNvCxnSpPr>
            <a:cxnSpLocks/>
            <a:stCxn id="34" idx="3"/>
            <a:endCxn id="87" idx="1"/>
          </p:cNvCxnSpPr>
          <p:nvPr/>
        </p:nvCxnSpPr>
        <p:spPr>
          <a:xfrm flipV="1">
            <a:off x="9817922" y="3130239"/>
            <a:ext cx="313704" cy="1839"/>
          </a:xfrm>
          <a:prstGeom prst="straightConnector1">
            <a:avLst/>
          </a:prstGeom>
          <a:noFill/>
          <a:ln w="28575" cap="flat" cmpd="sng">
            <a:solidFill>
              <a:srgbClr val="FFFFFF"/>
            </a:solidFill>
            <a:prstDash val="solid"/>
            <a:round/>
            <a:headEnd type="none" w="sm" len="sm"/>
            <a:tailEnd type="triangle" w="med" len="med"/>
          </a:ln>
        </p:spPr>
      </p:cxnSp>
      <p:sp>
        <p:nvSpPr>
          <p:cNvPr id="95" name="Google Shape;1601;p96">
            <a:extLst>
              <a:ext uri="{FF2B5EF4-FFF2-40B4-BE49-F238E27FC236}">
                <a16:creationId xmlns:a16="http://schemas.microsoft.com/office/drawing/2014/main" id="{60C16D4D-08C7-405F-87EB-E56830AE3A83}"/>
              </a:ext>
            </a:extLst>
          </p:cNvPr>
          <p:cNvSpPr/>
          <p:nvPr/>
        </p:nvSpPr>
        <p:spPr>
          <a:xfrm>
            <a:off x="0" y="1084288"/>
            <a:ext cx="12191997" cy="548640"/>
          </a:xfrm>
          <a:prstGeom prst="roundRect">
            <a:avLst>
              <a:gd name="adj" fmla="val 16667"/>
            </a:avLst>
          </a:prstGeom>
          <a:solidFill>
            <a:schemeClr val="bg1">
              <a:lumMod val="65000"/>
            </a:schemeClr>
          </a:solidFill>
          <a:ln>
            <a:noFill/>
          </a:ln>
        </p:spPr>
        <p:txBody>
          <a:bodyPr spcFirstLastPara="1" wrap="square" lIns="77300" tIns="77300" rIns="77300" bIns="773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002477"/>
              </a:solidFill>
              <a:effectLst/>
              <a:uLnTx/>
              <a:uFillTx/>
              <a:latin typeface="+mj-lt"/>
              <a:ea typeface="Arial"/>
              <a:cs typeface="Arial"/>
              <a:sym typeface="Arial"/>
            </a:endParaRPr>
          </a:p>
        </p:txBody>
      </p:sp>
      <p:cxnSp>
        <p:nvCxnSpPr>
          <p:cNvPr id="96" name="Google Shape;1621;p96">
            <a:extLst>
              <a:ext uri="{FF2B5EF4-FFF2-40B4-BE49-F238E27FC236}">
                <a16:creationId xmlns:a16="http://schemas.microsoft.com/office/drawing/2014/main" id="{CFC19BDC-6239-2862-8E03-BA932997BB03}"/>
              </a:ext>
            </a:extLst>
          </p:cNvPr>
          <p:cNvCxnSpPr>
            <a:cxnSpLocks/>
            <a:stCxn id="97" idx="3"/>
            <a:endCxn id="118" idx="1"/>
          </p:cNvCxnSpPr>
          <p:nvPr/>
        </p:nvCxnSpPr>
        <p:spPr>
          <a:xfrm>
            <a:off x="1900439" y="1358608"/>
            <a:ext cx="200566" cy="1621"/>
          </a:xfrm>
          <a:prstGeom prst="straightConnector1">
            <a:avLst/>
          </a:prstGeom>
          <a:noFill/>
          <a:ln w="28575" cap="flat" cmpd="sng">
            <a:solidFill>
              <a:srgbClr val="FFFFFF"/>
            </a:solidFill>
            <a:prstDash val="solid"/>
            <a:round/>
            <a:headEnd type="none" w="sm" len="sm"/>
            <a:tailEnd type="triangle" w="med" len="med"/>
          </a:ln>
        </p:spPr>
      </p:cxnSp>
      <p:sp>
        <p:nvSpPr>
          <p:cNvPr id="97" name="Google Shape;1619;p96">
            <a:extLst>
              <a:ext uri="{FF2B5EF4-FFF2-40B4-BE49-F238E27FC236}">
                <a16:creationId xmlns:a16="http://schemas.microsoft.com/office/drawing/2014/main" id="{B0F74D1B-D4ED-AFE2-E778-112CDB48495F}"/>
              </a:ext>
            </a:extLst>
          </p:cNvPr>
          <p:cNvSpPr/>
          <p:nvPr/>
        </p:nvSpPr>
        <p:spPr>
          <a:xfrm>
            <a:off x="1027287" y="1191508"/>
            <a:ext cx="873152" cy="334200"/>
          </a:xfrm>
          <a:prstGeom prst="rect">
            <a:avLst/>
          </a:prstGeom>
          <a:solidFill>
            <a:schemeClr val="accent6">
              <a:lumMod val="50000"/>
              <a:lumOff val="50000"/>
            </a:schemeClr>
          </a:solidFill>
          <a:ln w="9525" cap="flat" cmpd="sng">
            <a:solidFill>
              <a:schemeClr val="tx1"/>
            </a:solidFill>
            <a:prstDash val="solid"/>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dirty="0">
                <a:ln>
                  <a:noFill/>
                </a:ln>
                <a:solidFill>
                  <a:schemeClr val="bg1"/>
                </a:solidFill>
                <a:effectLst/>
                <a:uLnTx/>
                <a:uFillTx/>
                <a:latin typeface="+mj-lt"/>
                <a:ea typeface="Red Hat Display"/>
                <a:cs typeface="Red Hat Display"/>
                <a:sym typeface="Red Hat Display"/>
              </a:rPr>
              <a:t>Data Analysis / Deep Dive</a:t>
            </a:r>
            <a:endParaRPr kumimoji="0" sz="900" b="0" i="0" u="none" strike="noStrike" kern="1200" cap="none" spc="0" normalizeH="0" baseline="0" noProof="0" dirty="0">
              <a:ln>
                <a:noFill/>
              </a:ln>
              <a:solidFill>
                <a:schemeClr val="bg1"/>
              </a:solidFill>
              <a:effectLst/>
              <a:uLnTx/>
              <a:uFillTx/>
              <a:latin typeface="+mj-lt"/>
              <a:ea typeface="Red Hat Display"/>
              <a:cs typeface="Red Hat Display"/>
              <a:sym typeface="Red Hat Display"/>
            </a:endParaRPr>
          </a:p>
        </p:txBody>
      </p:sp>
      <p:sp>
        <p:nvSpPr>
          <p:cNvPr id="98" name="Google Shape;1620;p96">
            <a:extLst>
              <a:ext uri="{FF2B5EF4-FFF2-40B4-BE49-F238E27FC236}">
                <a16:creationId xmlns:a16="http://schemas.microsoft.com/office/drawing/2014/main" id="{0C2F2D0F-F99F-0549-EAA5-9E9FCFA3B479}"/>
              </a:ext>
            </a:extLst>
          </p:cNvPr>
          <p:cNvSpPr/>
          <p:nvPr/>
        </p:nvSpPr>
        <p:spPr>
          <a:xfrm>
            <a:off x="7333460" y="1191640"/>
            <a:ext cx="887700" cy="333936"/>
          </a:xfrm>
          <a:prstGeom prst="flowChartDocument">
            <a:avLst/>
          </a:prstGeom>
          <a:solidFill>
            <a:srgbClr val="FFFFFF"/>
          </a:solidFill>
          <a:ln w="9525" cap="flat" cmpd="sng">
            <a:solidFill>
              <a:schemeClr val="tx1"/>
            </a:solidFill>
            <a:prstDash val="solid"/>
            <a:round/>
            <a:headEnd type="none" w="sm" len="sm"/>
            <a:tailEnd type="none" w="sm" len="sm"/>
          </a:ln>
        </p:spPr>
        <p:txBody>
          <a:bodyPr spcFirstLastPara="1" wrap="square" lIns="0" tIns="4572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a:ln>
                  <a:noFill/>
                </a:ln>
                <a:solidFill>
                  <a:srgbClr val="0070C0"/>
                </a:solidFill>
                <a:effectLst/>
                <a:uLnTx/>
                <a:uFillTx/>
                <a:latin typeface="+mj-lt"/>
                <a:ea typeface="Red Hat Display"/>
                <a:cs typeface="Red Hat Display"/>
                <a:sym typeface="Red Hat Display"/>
                <a:hlinkClick r:id="rId5">
                  <a:extLst>
                    <a:ext uri="{A12FA001-AC4F-418D-AE19-62706E023703}">
                      <ahyp:hlinkClr xmlns:ahyp="http://schemas.microsoft.com/office/drawing/2018/hyperlinkcolor" val="tx"/>
                    </a:ext>
                  </a:extLst>
                </a:hlinkClick>
              </a:rPr>
              <a:t>Test Concepts Delivered</a:t>
            </a:r>
            <a:endParaRPr kumimoji="0" sz="900" b="0" i="0" u="none" strike="noStrike" kern="1200" cap="none" spc="0" normalizeH="0" baseline="0" noProof="0">
              <a:ln>
                <a:noFill/>
              </a:ln>
              <a:solidFill>
                <a:srgbClr val="0070C0"/>
              </a:solidFill>
              <a:effectLst/>
              <a:uLnTx/>
              <a:uFillTx/>
              <a:latin typeface="+mj-lt"/>
              <a:ea typeface="Red Hat Display"/>
              <a:cs typeface="Red Hat Display"/>
              <a:sym typeface="Red Hat Display"/>
            </a:endParaRPr>
          </a:p>
        </p:txBody>
      </p:sp>
      <p:sp>
        <p:nvSpPr>
          <p:cNvPr id="99" name="Google Shape;1622;p96">
            <a:extLst>
              <a:ext uri="{FF2B5EF4-FFF2-40B4-BE49-F238E27FC236}">
                <a16:creationId xmlns:a16="http://schemas.microsoft.com/office/drawing/2014/main" id="{8C1A08E3-F7F6-8117-48EC-5D886F8D610C}"/>
              </a:ext>
            </a:extLst>
          </p:cNvPr>
          <p:cNvSpPr/>
          <p:nvPr/>
        </p:nvSpPr>
        <p:spPr>
          <a:xfrm>
            <a:off x="8401147" y="1191645"/>
            <a:ext cx="1475106" cy="333926"/>
          </a:xfrm>
          <a:prstGeom prst="flowChartPredefinedProcess">
            <a:avLst/>
          </a:prstGeom>
          <a:solidFill>
            <a:schemeClr val="accent2">
              <a:lumMod val="40000"/>
              <a:lumOff val="60000"/>
            </a:schemeClr>
          </a:solidFill>
          <a:ln w="3175" cap="flat" cmpd="sng">
            <a:solidFill>
              <a:schemeClr val="tx2"/>
            </a:solidFill>
            <a:prstDash val="solid"/>
            <a:round/>
            <a:headEnd type="none" w="sm" len="sm"/>
            <a:tailEnd type="none" w="sm" len="sm"/>
          </a:ln>
        </p:spPr>
        <p:txBody>
          <a:bodyPr spcFirstLastPara="1" wrap="square" lIns="0" tIns="77300" rIns="0" bIns="773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dirty="0">
                <a:ln>
                  <a:noFill/>
                </a:ln>
                <a:effectLst/>
                <a:uLnTx/>
                <a:uFillTx/>
                <a:latin typeface="+mj-lt"/>
                <a:ea typeface="Red Hat Display"/>
                <a:cs typeface="Red Hat Display"/>
                <a:sym typeface="Red Hat Display"/>
              </a:rPr>
              <a:t>Selected Concepts Approved</a:t>
            </a:r>
            <a:endParaRPr kumimoji="0" sz="900" b="0" i="0" u="none" strike="noStrike" kern="1200" cap="none" spc="0" normalizeH="0" baseline="0" noProof="0" dirty="0">
              <a:ln>
                <a:noFill/>
              </a:ln>
              <a:effectLst/>
              <a:uLnTx/>
              <a:uFillTx/>
              <a:latin typeface="+mj-lt"/>
              <a:ea typeface="Red Hat Display"/>
              <a:cs typeface="Red Hat Display"/>
              <a:sym typeface="Red Hat Display"/>
            </a:endParaRPr>
          </a:p>
        </p:txBody>
      </p:sp>
      <p:sp>
        <p:nvSpPr>
          <p:cNvPr id="100" name="Google Shape;1642;p96">
            <a:extLst>
              <a:ext uri="{FF2B5EF4-FFF2-40B4-BE49-F238E27FC236}">
                <a16:creationId xmlns:a16="http://schemas.microsoft.com/office/drawing/2014/main" id="{3FAAC731-E69F-FF54-5326-3512E21C5C0C}"/>
              </a:ext>
            </a:extLst>
          </p:cNvPr>
          <p:cNvSpPr txBox="1"/>
          <p:nvPr/>
        </p:nvSpPr>
        <p:spPr>
          <a:xfrm>
            <a:off x="56443" y="1183558"/>
            <a:ext cx="1090058" cy="350100"/>
          </a:xfrm>
          <a:prstGeom prst="rect">
            <a:avLst/>
          </a:prstGeom>
          <a:noFill/>
          <a:ln>
            <a:noFill/>
          </a:ln>
        </p:spPr>
        <p:txBody>
          <a:bodyPr spcFirstLastPara="1" wrap="square" lIns="77300" tIns="77300" rIns="77300" bIns="773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 sz="1200" b="0" i="0" u="none" strike="noStrike" kern="1200" cap="none" spc="0" normalizeH="0" baseline="0" noProof="0" dirty="0">
                <a:ln>
                  <a:noFill/>
                </a:ln>
                <a:effectLst/>
                <a:uLnTx/>
                <a:uFillTx/>
                <a:latin typeface="+mj-lt"/>
                <a:ea typeface="Red Hat Display"/>
                <a:cs typeface="Red Hat Display"/>
                <a:sym typeface="Red Hat Display"/>
              </a:rPr>
              <a:t>Ideation</a:t>
            </a:r>
            <a:endParaRPr kumimoji="0" sz="1200" b="0" i="0" u="none" strike="noStrike" kern="1200" cap="none" spc="0" normalizeH="0" baseline="0" noProof="0" dirty="0">
              <a:ln>
                <a:noFill/>
              </a:ln>
              <a:effectLst/>
              <a:uLnTx/>
              <a:uFillTx/>
              <a:latin typeface="+mj-lt"/>
              <a:ea typeface="Red Hat Display"/>
              <a:cs typeface="Red Hat Display"/>
              <a:sym typeface="Red Hat Display"/>
            </a:endParaRPr>
          </a:p>
        </p:txBody>
      </p:sp>
      <p:sp>
        <p:nvSpPr>
          <p:cNvPr id="101" name="Google Shape;1619;p96">
            <a:extLst>
              <a:ext uri="{FF2B5EF4-FFF2-40B4-BE49-F238E27FC236}">
                <a16:creationId xmlns:a16="http://schemas.microsoft.com/office/drawing/2014/main" id="{A796B2D4-9CC0-6103-29A6-70FF1EC90064}"/>
              </a:ext>
            </a:extLst>
          </p:cNvPr>
          <p:cNvSpPr/>
          <p:nvPr/>
        </p:nvSpPr>
        <p:spPr>
          <a:xfrm>
            <a:off x="6268331" y="1191508"/>
            <a:ext cx="886496" cy="334200"/>
          </a:xfrm>
          <a:prstGeom prst="rect">
            <a:avLst/>
          </a:prstGeom>
          <a:solidFill>
            <a:srgbClr val="FFFFFF"/>
          </a:solidFill>
          <a:ln w="9525" cap="flat" cmpd="sng">
            <a:solidFill>
              <a:schemeClr val="tx1"/>
            </a:solidFill>
            <a:prstDash val="solid"/>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dirty="0">
                <a:ln>
                  <a:noFill/>
                </a:ln>
                <a:solidFill>
                  <a:srgbClr val="0070C0"/>
                </a:solidFill>
                <a:effectLst/>
                <a:uLnTx/>
                <a:uFillTx/>
                <a:latin typeface="+mj-lt"/>
                <a:ea typeface="Red Hat Display"/>
                <a:cs typeface="Red Hat Display"/>
                <a:sym typeface="Red Hat Display"/>
                <a:hlinkClick r:id="rId6">
                  <a:extLst>
                    <a:ext uri="{A12FA001-AC4F-418D-AE19-62706E023703}">
                      <ahyp:hlinkClr xmlns:ahyp="http://schemas.microsoft.com/office/drawing/2018/hyperlinkcolor" val="tx"/>
                    </a:ext>
                  </a:extLst>
                </a:hlinkClick>
              </a:rPr>
              <a:t>Test Concept Development</a:t>
            </a:r>
            <a:endParaRPr kumimoji="0" sz="900" b="0" i="0" u="none" strike="noStrike" kern="1200" cap="none" spc="0" normalizeH="0" baseline="0" noProof="0" dirty="0">
              <a:ln>
                <a:noFill/>
              </a:ln>
              <a:solidFill>
                <a:srgbClr val="0070C0"/>
              </a:solidFill>
              <a:effectLst/>
              <a:uLnTx/>
              <a:uFillTx/>
              <a:latin typeface="+mj-lt"/>
              <a:ea typeface="Red Hat Display"/>
              <a:cs typeface="Red Hat Display"/>
              <a:sym typeface="Red Hat Display"/>
            </a:endParaRPr>
          </a:p>
        </p:txBody>
      </p:sp>
      <p:cxnSp>
        <p:nvCxnSpPr>
          <p:cNvPr id="102" name="Google Shape;1621;p96">
            <a:extLst>
              <a:ext uri="{FF2B5EF4-FFF2-40B4-BE49-F238E27FC236}">
                <a16:creationId xmlns:a16="http://schemas.microsoft.com/office/drawing/2014/main" id="{C70CC66F-C09A-A1A7-0959-0F7B294C5CCD}"/>
              </a:ext>
            </a:extLst>
          </p:cNvPr>
          <p:cNvCxnSpPr>
            <a:cxnSpLocks/>
            <a:stCxn id="98" idx="3"/>
            <a:endCxn id="99" idx="1"/>
          </p:cNvCxnSpPr>
          <p:nvPr/>
        </p:nvCxnSpPr>
        <p:spPr>
          <a:xfrm>
            <a:off x="8221160" y="1358608"/>
            <a:ext cx="179987" cy="0"/>
          </a:xfrm>
          <a:prstGeom prst="straightConnector1">
            <a:avLst/>
          </a:prstGeom>
          <a:noFill/>
          <a:ln w="28575" cap="flat" cmpd="sng">
            <a:solidFill>
              <a:srgbClr val="FFFFFF"/>
            </a:solidFill>
            <a:prstDash val="solid"/>
            <a:round/>
            <a:headEnd type="none" w="sm" len="sm"/>
            <a:tailEnd type="triangle" w="med" len="med"/>
          </a:ln>
        </p:spPr>
      </p:cxnSp>
      <p:sp>
        <p:nvSpPr>
          <p:cNvPr id="91" name="Google Shape;1620;p96">
            <a:extLst>
              <a:ext uri="{FF2B5EF4-FFF2-40B4-BE49-F238E27FC236}">
                <a16:creationId xmlns:a16="http://schemas.microsoft.com/office/drawing/2014/main" id="{05A39217-3CD3-D593-37A8-9447457D0F79}"/>
              </a:ext>
            </a:extLst>
          </p:cNvPr>
          <p:cNvSpPr/>
          <p:nvPr/>
        </p:nvSpPr>
        <p:spPr>
          <a:xfrm>
            <a:off x="10074743" y="1196055"/>
            <a:ext cx="1098148" cy="333936"/>
          </a:xfrm>
          <a:prstGeom prst="flowChartDocument">
            <a:avLst/>
          </a:prstGeom>
          <a:solidFill>
            <a:srgbClr val="FFFFFF"/>
          </a:solidFill>
          <a:ln w="9525" cap="flat" cmpd="sng">
            <a:solidFill>
              <a:schemeClr val="tx1"/>
            </a:solidFill>
            <a:prstDash val="solid"/>
            <a:round/>
            <a:headEnd type="none" w="sm" len="sm"/>
            <a:tailEnd type="none" w="sm" len="sm"/>
          </a:ln>
        </p:spPr>
        <p:txBody>
          <a:bodyPr spcFirstLastPara="1" wrap="square" lIns="0" tIns="4572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dirty="0">
                <a:ln>
                  <a:noFill/>
                </a:ln>
                <a:solidFill>
                  <a:srgbClr val="0070C0"/>
                </a:solidFill>
                <a:effectLst/>
                <a:uLnTx/>
                <a:uFillTx/>
                <a:latin typeface="+mj-lt"/>
                <a:ea typeface="Red Hat Display"/>
                <a:cs typeface="Red Hat Display"/>
                <a:sym typeface="Red Hat Display"/>
                <a:hlinkClick r:id="rId7">
                  <a:extLst>
                    <a:ext uri="{A12FA001-AC4F-418D-AE19-62706E023703}">
                      <ahyp:hlinkClr xmlns:ahyp="http://schemas.microsoft.com/office/drawing/2018/hyperlinkcolor" val="tx"/>
                    </a:ext>
                  </a:extLst>
                </a:hlinkClick>
              </a:rPr>
              <a:t>Prioritized Pipeline Delivered</a:t>
            </a:r>
            <a:endParaRPr kumimoji="0" sz="900" b="0" i="0" u="none" strike="noStrike" kern="1200" cap="none" spc="0" normalizeH="0" baseline="0" noProof="0" dirty="0">
              <a:ln>
                <a:noFill/>
              </a:ln>
              <a:solidFill>
                <a:srgbClr val="0070C0"/>
              </a:solidFill>
              <a:effectLst/>
              <a:uLnTx/>
              <a:uFillTx/>
              <a:latin typeface="+mj-lt"/>
              <a:ea typeface="Red Hat Display"/>
              <a:cs typeface="Red Hat Display"/>
              <a:sym typeface="Red Hat Display"/>
            </a:endParaRPr>
          </a:p>
        </p:txBody>
      </p:sp>
      <p:cxnSp>
        <p:nvCxnSpPr>
          <p:cNvPr id="92" name="Google Shape;1621;p96">
            <a:extLst>
              <a:ext uri="{FF2B5EF4-FFF2-40B4-BE49-F238E27FC236}">
                <a16:creationId xmlns:a16="http://schemas.microsoft.com/office/drawing/2014/main" id="{56ED19E2-9512-CFF7-1074-FB2325A81AAD}"/>
              </a:ext>
            </a:extLst>
          </p:cNvPr>
          <p:cNvCxnSpPr>
            <a:cxnSpLocks/>
            <a:stCxn id="99" idx="3"/>
            <a:endCxn id="91" idx="1"/>
          </p:cNvCxnSpPr>
          <p:nvPr/>
        </p:nvCxnSpPr>
        <p:spPr>
          <a:xfrm>
            <a:off x="9876253" y="1358608"/>
            <a:ext cx="198490" cy="4415"/>
          </a:xfrm>
          <a:prstGeom prst="straightConnector1">
            <a:avLst/>
          </a:prstGeom>
          <a:noFill/>
          <a:ln w="28575" cap="flat" cmpd="sng">
            <a:solidFill>
              <a:srgbClr val="FFFFFF"/>
            </a:solidFill>
            <a:prstDash val="solid"/>
            <a:round/>
            <a:headEnd type="none" w="sm" len="sm"/>
            <a:tailEnd type="triangle" w="med" len="med"/>
          </a:ln>
        </p:spPr>
      </p:cxnSp>
      <p:sp>
        <p:nvSpPr>
          <p:cNvPr id="93" name="Google Shape;1622;p96">
            <a:extLst>
              <a:ext uri="{FF2B5EF4-FFF2-40B4-BE49-F238E27FC236}">
                <a16:creationId xmlns:a16="http://schemas.microsoft.com/office/drawing/2014/main" id="{E2C603B4-AD98-287C-440B-779F39B9E1A9}"/>
              </a:ext>
            </a:extLst>
          </p:cNvPr>
          <p:cNvSpPr/>
          <p:nvPr/>
        </p:nvSpPr>
        <p:spPr>
          <a:xfrm>
            <a:off x="11355950" y="1196055"/>
            <a:ext cx="753004" cy="333926"/>
          </a:xfrm>
          <a:prstGeom prst="flowChartPredefinedProcess">
            <a:avLst/>
          </a:prstGeom>
          <a:solidFill>
            <a:schemeClr val="accent2">
              <a:lumMod val="40000"/>
              <a:lumOff val="60000"/>
            </a:schemeClr>
          </a:solidFill>
          <a:ln w="3175" cap="flat" cmpd="sng">
            <a:solidFill>
              <a:schemeClr val="tx2"/>
            </a:solidFill>
            <a:prstDash val="solid"/>
            <a:round/>
            <a:headEnd type="none" w="sm" len="sm"/>
            <a:tailEnd type="none" w="sm" len="sm"/>
          </a:ln>
        </p:spPr>
        <p:txBody>
          <a:bodyPr spcFirstLastPara="1" wrap="square" lIns="0" tIns="77300" rIns="0" bIns="773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dirty="0">
                <a:ln>
                  <a:noFill/>
                </a:ln>
                <a:effectLst/>
                <a:uLnTx/>
                <a:uFillTx/>
                <a:latin typeface="+mj-lt"/>
                <a:ea typeface="Red Hat Display"/>
                <a:cs typeface="Red Hat Display"/>
                <a:sym typeface="Red Hat Display"/>
              </a:rPr>
              <a:t>Pipeline Approved</a:t>
            </a:r>
            <a:endParaRPr kumimoji="0" sz="900" b="0" i="0" u="none" strike="noStrike" kern="1200" cap="none" spc="0" normalizeH="0" baseline="0" noProof="0" dirty="0">
              <a:ln>
                <a:noFill/>
              </a:ln>
              <a:effectLst/>
              <a:uLnTx/>
              <a:uFillTx/>
              <a:latin typeface="+mj-lt"/>
              <a:ea typeface="Red Hat Display"/>
              <a:cs typeface="Red Hat Display"/>
              <a:sym typeface="Red Hat Display"/>
            </a:endParaRPr>
          </a:p>
        </p:txBody>
      </p:sp>
      <p:cxnSp>
        <p:nvCxnSpPr>
          <p:cNvPr id="94" name="Google Shape;1621;p96">
            <a:extLst>
              <a:ext uri="{FF2B5EF4-FFF2-40B4-BE49-F238E27FC236}">
                <a16:creationId xmlns:a16="http://schemas.microsoft.com/office/drawing/2014/main" id="{02F2655A-639A-EDD8-CD0B-4B951F37557C}"/>
              </a:ext>
            </a:extLst>
          </p:cNvPr>
          <p:cNvCxnSpPr>
            <a:cxnSpLocks/>
            <a:stCxn id="91" idx="3"/>
            <a:endCxn id="93" idx="1"/>
          </p:cNvCxnSpPr>
          <p:nvPr/>
        </p:nvCxnSpPr>
        <p:spPr>
          <a:xfrm flipV="1">
            <a:off x="11172891" y="1363018"/>
            <a:ext cx="183059" cy="5"/>
          </a:xfrm>
          <a:prstGeom prst="straightConnector1">
            <a:avLst/>
          </a:prstGeom>
          <a:noFill/>
          <a:ln w="28575" cap="flat" cmpd="sng">
            <a:solidFill>
              <a:srgbClr val="FFFFFF"/>
            </a:solidFill>
            <a:prstDash val="solid"/>
            <a:round/>
            <a:headEnd type="none" w="sm" len="sm"/>
            <a:tailEnd type="triangle" w="med" len="med"/>
          </a:ln>
        </p:spPr>
      </p:cxnSp>
      <p:sp>
        <p:nvSpPr>
          <p:cNvPr id="107" name="Google Shape;1607;p96">
            <a:extLst>
              <a:ext uri="{FF2B5EF4-FFF2-40B4-BE49-F238E27FC236}">
                <a16:creationId xmlns:a16="http://schemas.microsoft.com/office/drawing/2014/main" id="{059FCFDC-8A33-74E4-8035-8273AEFE08E0}"/>
              </a:ext>
            </a:extLst>
          </p:cNvPr>
          <p:cNvSpPr/>
          <p:nvPr/>
        </p:nvSpPr>
        <p:spPr>
          <a:xfrm>
            <a:off x="839734" y="5219644"/>
            <a:ext cx="10468044" cy="548640"/>
          </a:xfrm>
          <a:prstGeom prst="roundRect">
            <a:avLst>
              <a:gd name="adj" fmla="val 16667"/>
            </a:avLst>
          </a:prstGeom>
          <a:solidFill>
            <a:schemeClr val="accent1"/>
          </a:solidFill>
          <a:ln>
            <a:noFill/>
          </a:ln>
        </p:spPr>
        <p:txBody>
          <a:bodyPr spcFirstLastPara="1" wrap="square" lIns="77300" tIns="77300" rIns="77300" bIns="773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sng" strike="noStrike" kern="1200" cap="none" spc="0" normalizeH="0" baseline="0" noProof="0">
              <a:ln>
                <a:noFill/>
              </a:ln>
              <a:solidFill>
                <a:srgbClr val="002477"/>
              </a:solidFill>
              <a:effectLst/>
              <a:uLnTx/>
              <a:uFillTx/>
              <a:latin typeface="+mj-lt"/>
              <a:ea typeface="Arial"/>
              <a:cs typeface="Arial"/>
              <a:sym typeface="Arial"/>
            </a:endParaRPr>
          </a:p>
        </p:txBody>
      </p:sp>
      <p:sp>
        <p:nvSpPr>
          <p:cNvPr id="108" name="Google Shape;1645;p96">
            <a:extLst>
              <a:ext uri="{FF2B5EF4-FFF2-40B4-BE49-F238E27FC236}">
                <a16:creationId xmlns:a16="http://schemas.microsoft.com/office/drawing/2014/main" id="{992ABA5A-22CA-9C26-7800-807A5928967B}"/>
              </a:ext>
            </a:extLst>
          </p:cNvPr>
          <p:cNvSpPr txBox="1"/>
          <p:nvPr/>
        </p:nvSpPr>
        <p:spPr>
          <a:xfrm>
            <a:off x="884854" y="5307442"/>
            <a:ext cx="1903774" cy="309638"/>
          </a:xfrm>
          <a:prstGeom prst="rect">
            <a:avLst/>
          </a:prstGeom>
          <a:noFill/>
          <a:ln>
            <a:noFill/>
          </a:ln>
        </p:spPr>
        <p:txBody>
          <a:bodyPr spcFirstLastPara="1" wrap="square" lIns="77300" tIns="77300" rIns="77300" bIns="773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 sz="1200" b="0" i="0" strike="noStrike" kern="1200" cap="none" spc="0" normalizeH="0" baseline="0" noProof="0" dirty="0">
                <a:ln>
                  <a:noFill/>
                </a:ln>
                <a:solidFill>
                  <a:schemeClr val="bg1"/>
                </a:solidFill>
                <a:effectLst/>
                <a:uLnTx/>
                <a:uFillTx/>
                <a:latin typeface="+mj-lt"/>
                <a:ea typeface="Red Hat Display"/>
                <a:cs typeface="Red Hat Display"/>
                <a:sym typeface="Red Hat Display"/>
              </a:rPr>
              <a:t>Prod Coordination</a:t>
            </a:r>
            <a:endParaRPr kumimoji="0" sz="1200" b="0" i="0" strike="noStrike" kern="1200" cap="none" spc="0" normalizeH="0" baseline="0" noProof="0" dirty="0">
              <a:ln>
                <a:noFill/>
              </a:ln>
              <a:solidFill>
                <a:schemeClr val="bg1"/>
              </a:solidFill>
              <a:effectLst/>
              <a:uLnTx/>
              <a:uFillTx/>
              <a:latin typeface="+mj-lt"/>
              <a:ea typeface="Red Hat Display"/>
              <a:cs typeface="Red Hat Display"/>
              <a:sym typeface="Red Hat Display"/>
            </a:endParaRPr>
          </a:p>
        </p:txBody>
      </p:sp>
      <p:sp>
        <p:nvSpPr>
          <p:cNvPr id="109" name="Google Shape;1662;p96">
            <a:extLst>
              <a:ext uri="{FF2B5EF4-FFF2-40B4-BE49-F238E27FC236}">
                <a16:creationId xmlns:a16="http://schemas.microsoft.com/office/drawing/2014/main" id="{68B231C8-76A6-5B8F-FAE9-9090B965874A}"/>
              </a:ext>
            </a:extLst>
          </p:cNvPr>
          <p:cNvSpPr/>
          <p:nvPr/>
        </p:nvSpPr>
        <p:spPr>
          <a:xfrm>
            <a:off x="4820357" y="5314589"/>
            <a:ext cx="1338028" cy="338328"/>
          </a:xfrm>
          <a:prstGeom prst="flowChartDocument">
            <a:avLst/>
          </a:prstGeom>
          <a:solidFill>
            <a:schemeClr val="bg1"/>
          </a:solidFill>
          <a:ln w="9525" cap="flat" cmpd="sng">
            <a:solidFill>
              <a:schemeClr val="tx1"/>
            </a:solidFill>
            <a:prstDash val="solid"/>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lang="en-US" sz="900" dirty="0">
                <a:solidFill>
                  <a:srgbClr val="0070C0"/>
                </a:solidFill>
                <a:latin typeface="+mj-lt"/>
                <a:ea typeface="Red Hat Display"/>
                <a:cs typeface="Red Hat Display"/>
                <a:sym typeface="Red Hat Display"/>
                <a:hlinkClick r:id="rId8">
                  <a:extLst>
                    <a:ext uri="{A12FA001-AC4F-418D-AE19-62706E023703}">
                      <ahyp:hlinkClr xmlns:ahyp="http://schemas.microsoft.com/office/drawing/2018/hyperlinkcolor" val="tx"/>
                    </a:ext>
                  </a:extLst>
                </a:hlinkClick>
              </a:rPr>
              <a:t>If yes, develop </a:t>
            </a:r>
            <a:br>
              <a:rPr lang="en-US" sz="900" dirty="0">
                <a:solidFill>
                  <a:srgbClr val="0070C0"/>
                </a:solidFill>
                <a:latin typeface="+mj-lt"/>
                <a:ea typeface="Red Hat Display"/>
                <a:cs typeface="Red Hat Display"/>
                <a:sym typeface="Red Hat Display"/>
                <a:hlinkClick r:id="rId8">
                  <a:extLst>
                    <a:ext uri="{A12FA001-AC4F-418D-AE19-62706E023703}">
                      <ahyp:hlinkClr xmlns:ahyp="http://schemas.microsoft.com/office/drawing/2018/hyperlinkcolor" val="tx"/>
                    </a:ext>
                  </a:extLst>
                </a:hlinkClick>
              </a:rPr>
            </a:br>
            <a:r>
              <a:rPr lang="en-US" sz="900" dirty="0">
                <a:solidFill>
                  <a:srgbClr val="0070C0"/>
                </a:solidFill>
                <a:latin typeface="+mj-lt"/>
                <a:ea typeface="Red Hat Display"/>
                <a:cs typeface="Red Hat Display"/>
                <a:sym typeface="Red Hat Display"/>
                <a:hlinkClick r:id="rId8">
                  <a:extLst>
                    <a:ext uri="{A12FA001-AC4F-418D-AE19-62706E023703}">
                      <ahyp:hlinkClr xmlns:ahyp="http://schemas.microsoft.com/office/drawing/2018/hyperlinkcolor" val="tx"/>
                    </a:ext>
                  </a:extLst>
                </a:hlinkClick>
              </a:rPr>
              <a:t>prod transfer request </a:t>
            </a:r>
            <a:endParaRPr kumimoji="0" sz="900" b="0" i="0" u="none" strike="noStrike" kern="1200" cap="none" spc="0" normalizeH="0" baseline="0" noProof="0" dirty="0">
              <a:ln>
                <a:noFill/>
              </a:ln>
              <a:solidFill>
                <a:srgbClr val="0070C0"/>
              </a:solidFill>
              <a:effectLst/>
              <a:uLnTx/>
              <a:uFillTx/>
              <a:latin typeface="+mj-lt"/>
              <a:ea typeface="Red Hat Display"/>
              <a:cs typeface="Red Hat Display"/>
              <a:sym typeface="Red Hat Display"/>
            </a:endParaRPr>
          </a:p>
        </p:txBody>
      </p:sp>
      <p:sp>
        <p:nvSpPr>
          <p:cNvPr id="110" name="Google Shape;1658;p96">
            <a:extLst>
              <a:ext uri="{FF2B5EF4-FFF2-40B4-BE49-F238E27FC236}">
                <a16:creationId xmlns:a16="http://schemas.microsoft.com/office/drawing/2014/main" id="{069C72EA-5D89-5201-4602-30C51794187C}"/>
              </a:ext>
            </a:extLst>
          </p:cNvPr>
          <p:cNvSpPr/>
          <p:nvPr/>
        </p:nvSpPr>
        <p:spPr>
          <a:xfrm>
            <a:off x="2606560" y="5314594"/>
            <a:ext cx="1930462" cy="338328"/>
          </a:xfrm>
          <a:prstGeom prst="flowChartPredefinedProcess">
            <a:avLst/>
          </a:prstGeom>
          <a:solidFill>
            <a:schemeClr val="bg1"/>
          </a:solidFill>
          <a:ln w="9525" cap="flat" cmpd="sng">
            <a:solidFill>
              <a:schemeClr val="tx1"/>
            </a:solidFill>
            <a:prstDash val="solid"/>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dirty="0">
                <a:ln>
                  <a:noFill/>
                </a:ln>
                <a:effectLst/>
                <a:uLnTx/>
                <a:uFillTx/>
                <a:latin typeface="+mj-lt"/>
                <a:ea typeface="Red Hat Display"/>
                <a:cs typeface="Red Hat Display"/>
                <a:sym typeface="Red Hat Display"/>
              </a:rPr>
              <a:t>Determine if winning element qualifies for AEM</a:t>
            </a:r>
            <a:endParaRPr kumimoji="0" sz="900" b="0" i="0" u="none" strike="noStrike" kern="1200" cap="none" spc="0" normalizeH="0" baseline="0" noProof="0" dirty="0">
              <a:ln>
                <a:noFill/>
              </a:ln>
              <a:effectLst/>
              <a:uLnTx/>
              <a:uFillTx/>
              <a:latin typeface="+mj-lt"/>
              <a:ea typeface="Red Hat Display"/>
              <a:cs typeface="Red Hat Display"/>
              <a:sym typeface="Red Hat Display"/>
            </a:endParaRPr>
          </a:p>
        </p:txBody>
      </p:sp>
      <p:sp>
        <p:nvSpPr>
          <p:cNvPr id="111" name="Google Shape;1640;p96">
            <a:extLst>
              <a:ext uri="{FF2B5EF4-FFF2-40B4-BE49-F238E27FC236}">
                <a16:creationId xmlns:a16="http://schemas.microsoft.com/office/drawing/2014/main" id="{6AAA00E4-21CB-B5EA-0450-0F864AA8BF17}"/>
              </a:ext>
            </a:extLst>
          </p:cNvPr>
          <p:cNvSpPr/>
          <p:nvPr/>
        </p:nvSpPr>
        <p:spPr>
          <a:xfrm>
            <a:off x="8003822" y="5314598"/>
            <a:ext cx="1415203" cy="338328"/>
          </a:xfrm>
          <a:prstGeom prst="flowChartProcess">
            <a:avLst/>
          </a:prstGeom>
          <a:solidFill>
            <a:schemeClr val="accent2">
              <a:lumMod val="40000"/>
              <a:lumOff val="60000"/>
            </a:schemeClr>
          </a:solidFill>
          <a:ln w="9525" cap="flat" cmpd="sng">
            <a:solidFill>
              <a:schemeClr val="tx1"/>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500"/>
              <a:buFont typeface="Arial"/>
              <a:buNone/>
            </a:pPr>
            <a:r>
              <a:rPr lang="en" sz="900" b="0" i="0" u="none" strike="noStrike" cap="none" dirty="0">
                <a:latin typeface="+mj-lt"/>
                <a:ea typeface="Red Hat Display"/>
                <a:cs typeface="Red Hat Display"/>
                <a:sym typeface="Red Hat Display"/>
              </a:rPr>
              <a:t>Prod team alerts w</a:t>
            </a:r>
            <a:r>
              <a:rPr lang="en-US" sz="900" b="0" i="0" u="none" strike="noStrike" cap="none" dirty="0">
                <a:latin typeface="+mj-lt"/>
                <a:ea typeface="Red Hat Display"/>
                <a:cs typeface="Red Hat Display"/>
                <a:sym typeface="Red Hat Display"/>
              </a:rPr>
              <a:t>he</a:t>
            </a:r>
            <a:r>
              <a:rPr lang="en" sz="900" dirty="0">
                <a:latin typeface="+mj-lt"/>
                <a:ea typeface="Red Hat Display"/>
                <a:cs typeface="Red Hat Display"/>
                <a:sym typeface="Red Hat Display"/>
              </a:rPr>
              <a:t>n request work ends</a:t>
            </a:r>
            <a:endParaRPr sz="900" b="0" i="0" u="none" strike="noStrike" cap="none" dirty="0">
              <a:latin typeface="+mj-lt"/>
              <a:ea typeface="Red Hat Display"/>
              <a:cs typeface="Red Hat Display"/>
              <a:sym typeface="Red Hat Display"/>
            </a:endParaRPr>
          </a:p>
        </p:txBody>
      </p:sp>
      <p:cxnSp>
        <p:nvCxnSpPr>
          <p:cNvPr id="112" name="Google Shape;1657;p96">
            <a:extLst>
              <a:ext uri="{FF2B5EF4-FFF2-40B4-BE49-F238E27FC236}">
                <a16:creationId xmlns:a16="http://schemas.microsoft.com/office/drawing/2014/main" id="{F134260C-4B25-8505-5DF0-C99B01C05B52}"/>
              </a:ext>
            </a:extLst>
          </p:cNvPr>
          <p:cNvCxnSpPr>
            <a:cxnSpLocks/>
            <a:stCxn id="110" idx="3"/>
            <a:endCxn id="109" idx="1"/>
          </p:cNvCxnSpPr>
          <p:nvPr/>
        </p:nvCxnSpPr>
        <p:spPr>
          <a:xfrm flipV="1">
            <a:off x="4537022" y="5483753"/>
            <a:ext cx="283335" cy="5"/>
          </a:xfrm>
          <a:prstGeom prst="straightConnector1">
            <a:avLst/>
          </a:prstGeom>
          <a:solidFill>
            <a:schemeClr val="tx1"/>
          </a:solidFill>
          <a:ln w="28575" cap="flat" cmpd="sng">
            <a:solidFill>
              <a:srgbClr val="FFFFFF"/>
            </a:solidFill>
            <a:prstDash val="solid"/>
            <a:round/>
            <a:headEnd type="none" w="sm" len="sm"/>
            <a:tailEnd type="triangle" w="med" len="med"/>
          </a:ln>
        </p:spPr>
      </p:cxnSp>
      <p:sp>
        <p:nvSpPr>
          <p:cNvPr id="113" name="Google Shape;1640;p96">
            <a:extLst>
              <a:ext uri="{FF2B5EF4-FFF2-40B4-BE49-F238E27FC236}">
                <a16:creationId xmlns:a16="http://schemas.microsoft.com/office/drawing/2014/main" id="{E57C8F60-444E-D6AA-163C-BC52D260E069}"/>
              </a:ext>
            </a:extLst>
          </p:cNvPr>
          <p:cNvSpPr/>
          <p:nvPr/>
        </p:nvSpPr>
        <p:spPr>
          <a:xfrm>
            <a:off x="9745249" y="5314598"/>
            <a:ext cx="1377097" cy="338328"/>
          </a:xfrm>
          <a:prstGeom prst="flowChartProcess">
            <a:avLst/>
          </a:prstGeom>
          <a:solidFill>
            <a:schemeClr val="bg1"/>
          </a:solidFill>
          <a:ln w="9525" cap="flat" cmpd="sng">
            <a:solidFill>
              <a:schemeClr val="tx1"/>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500"/>
              <a:buFont typeface="Arial"/>
              <a:buNone/>
            </a:pPr>
            <a:r>
              <a:rPr lang="en-US" sz="900" b="0" i="0" u="none" strike="noStrike" cap="none">
                <a:latin typeface="+mj-lt"/>
                <a:ea typeface="Red Hat Display"/>
                <a:cs typeface="Red Hat Display"/>
                <a:sym typeface="Red Hat Display"/>
              </a:rPr>
              <a:t>CRO coordinates Target experience shut off</a:t>
            </a:r>
            <a:endParaRPr sz="900" b="0" i="0" u="none" strike="noStrike" cap="none">
              <a:latin typeface="+mj-lt"/>
              <a:ea typeface="Red Hat Display"/>
              <a:cs typeface="Red Hat Display"/>
              <a:sym typeface="Red Hat Display"/>
            </a:endParaRPr>
          </a:p>
        </p:txBody>
      </p:sp>
      <p:cxnSp>
        <p:nvCxnSpPr>
          <p:cNvPr id="114" name="Google Shape;1657;p96">
            <a:extLst>
              <a:ext uri="{FF2B5EF4-FFF2-40B4-BE49-F238E27FC236}">
                <a16:creationId xmlns:a16="http://schemas.microsoft.com/office/drawing/2014/main" id="{2DEAEB82-357E-E617-EA56-365D98B6D720}"/>
              </a:ext>
            </a:extLst>
          </p:cNvPr>
          <p:cNvCxnSpPr>
            <a:cxnSpLocks/>
            <a:stCxn id="109" idx="3"/>
            <a:endCxn id="105" idx="1"/>
          </p:cNvCxnSpPr>
          <p:nvPr/>
        </p:nvCxnSpPr>
        <p:spPr>
          <a:xfrm flipV="1">
            <a:off x="6158385" y="5480299"/>
            <a:ext cx="317313" cy="3454"/>
          </a:xfrm>
          <a:prstGeom prst="straightConnector1">
            <a:avLst/>
          </a:prstGeom>
          <a:solidFill>
            <a:schemeClr val="tx1"/>
          </a:solidFill>
          <a:ln w="28575" cap="flat" cmpd="sng">
            <a:solidFill>
              <a:srgbClr val="FFFFFF"/>
            </a:solidFill>
            <a:prstDash val="solid"/>
            <a:round/>
            <a:headEnd type="none" w="sm" len="sm"/>
            <a:tailEnd type="triangle" w="med" len="med"/>
          </a:ln>
        </p:spPr>
      </p:cxnSp>
      <p:cxnSp>
        <p:nvCxnSpPr>
          <p:cNvPr id="115" name="Google Shape;1657;p96">
            <a:extLst>
              <a:ext uri="{FF2B5EF4-FFF2-40B4-BE49-F238E27FC236}">
                <a16:creationId xmlns:a16="http://schemas.microsoft.com/office/drawing/2014/main" id="{0A35E5E4-B3F1-BE1B-984B-E6EA88A1D4AF}"/>
              </a:ext>
            </a:extLst>
          </p:cNvPr>
          <p:cNvCxnSpPr>
            <a:cxnSpLocks/>
            <a:stCxn id="111" idx="3"/>
            <a:endCxn id="113" idx="1"/>
          </p:cNvCxnSpPr>
          <p:nvPr/>
        </p:nvCxnSpPr>
        <p:spPr>
          <a:xfrm>
            <a:off x="9419025" y="5483762"/>
            <a:ext cx="326224" cy="0"/>
          </a:xfrm>
          <a:prstGeom prst="straightConnector1">
            <a:avLst/>
          </a:prstGeom>
          <a:solidFill>
            <a:schemeClr val="tx1"/>
          </a:solidFill>
          <a:ln w="28575" cap="flat" cmpd="sng">
            <a:solidFill>
              <a:srgbClr val="FFFFFF"/>
            </a:solidFill>
            <a:prstDash val="solid"/>
            <a:round/>
            <a:headEnd type="none" w="sm" len="sm"/>
            <a:tailEnd type="triangle" w="med" len="med"/>
          </a:ln>
        </p:spPr>
      </p:cxnSp>
      <p:sp>
        <p:nvSpPr>
          <p:cNvPr id="105" name="Google Shape;1640;p96">
            <a:extLst>
              <a:ext uri="{FF2B5EF4-FFF2-40B4-BE49-F238E27FC236}">
                <a16:creationId xmlns:a16="http://schemas.microsoft.com/office/drawing/2014/main" id="{4B132EA4-E500-7EB0-8061-4A4B8E994869}"/>
              </a:ext>
            </a:extLst>
          </p:cNvPr>
          <p:cNvSpPr/>
          <p:nvPr/>
        </p:nvSpPr>
        <p:spPr>
          <a:xfrm>
            <a:off x="6475698" y="5311135"/>
            <a:ext cx="1252942" cy="338328"/>
          </a:xfrm>
          <a:prstGeom prst="flowChartProcess">
            <a:avLst/>
          </a:prstGeom>
          <a:solidFill>
            <a:schemeClr val="accent2">
              <a:lumMod val="40000"/>
              <a:lumOff val="60000"/>
            </a:schemeClr>
          </a:solidFill>
          <a:ln w="9525" cap="flat" cmpd="sng">
            <a:solidFill>
              <a:schemeClr val="tx1"/>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500"/>
              <a:buFont typeface="Arial"/>
              <a:buNone/>
            </a:pPr>
            <a:r>
              <a:rPr lang="en-US" sz="900" b="0" i="0" u="none" strike="noStrike" cap="none" dirty="0">
                <a:latin typeface="+mj-lt"/>
                <a:ea typeface="Red Hat Display"/>
                <a:cs typeface="Red Hat Display"/>
                <a:sym typeface="Red Hat Display"/>
              </a:rPr>
              <a:t>Submit transfer Request</a:t>
            </a:r>
            <a:endParaRPr sz="900" b="0" i="0" u="none" strike="noStrike" cap="none" dirty="0">
              <a:latin typeface="+mj-lt"/>
              <a:ea typeface="Red Hat Display"/>
              <a:cs typeface="Red Hat Display"/>
              <a:sym typeface="Red Hat Display"/>
            </a:endParaRPr>
          </a:p>
        </p:txBody>
      </p:sp>
      <p:cxnSp>
        <p:nvCxnSpPr>
          <p:cNvPr id="106" name="Google Shape;1657;p96">
            <a:extLst>
              <a:ext uri="{FF2B5EF4-FFF2-40B4-BE49-F238E27FC236}">
                <a16:creationId xmlns:a16="http://schemas.microsoft.com/office/drawing/2014/main" id="{A583BF81-504B-C097-E636-E682BD8D2ACC}"/>
              </a:ext>
            </a:extLst>
          </p:cNvPr>
          <p:cNvCxnSpPr>
            <a:cxnSpLocks/>
            <a:stCxn id="105" idx="3"/>
            <a:endCxn id="111" idx="1"/>
          </p:cNvCxnSpPr>
          <p:nvPr/>
        </p:nvCxnSpPr>
        <p:spPr>
          <a:xfrm>
            <a:off x="7728640" y="5480299"/>
            <a:ext cx="275182" cy="3463"/>
          </a:xfrm>
          <a:prstGeom prst="straightConnector1">
            <a:avLst/>
          </a:prstGeom>
          <a:solidFill>
            <a:schemeClr val="tx1"/>
          </a:solidFill>
          <a:ln w="28575" cap="flat" cmpd="sng">
            <a:solidFill>
              <a:srgbClr val="FFFFFF"/>
            </a:solidFill>
            <a:prstDash val="solid"/>
            <a:round/>
            <a:headEnd type="none" w="sm" len="sm"/>
            <a:tailEnd type="triangle" w="med" len="med"/>
          </a:ln>
        </p:spPr>
      </p:cxnSp>
      <p:sp>
        <p:nvSpPr>
          <p:cNvPr id="116" name="Google Shape;1646;p96">
            <a:extLst>
              <a:ext uri="{FF2B5EF4-FFF2-40B4-BE49-F238E27FC236}">
                <a16:creationId xmlns:a16="http://schemas.microsoft.com/office/drawing/2014/main" id="{A1810152-F9D3-719A-857E-B1A563D720D6}"/>
              </a:ext>
            </a:extLst>
          </p:cNvPr>
          <p:cNvSpPr/>
          <p:nvPr/>
        </p:nvSpPr>
        <p:spPr>
          <a:xfrm>
            <a:off x="7742679" y="6403511"/>
            <a:ext cx="887700" cy="250800"/>
          </a:xfrm>
          <a:prstGeom prst="rect">
            <a:avLst/>
          </a:prstGeom>
          <a:solidFill>
            <a:schemeClr val="accent5">
              <a:lumMod val="40000"/>
              <a:lumOff val="60000"/>
            </a:schemeClr>
          </a:solidFill>
          <a:ln w="3175" cap="flat" cmpd="sng">
            <a:solidFill>
              <a:schemeClr val="tx2"/>
            </a:solidFill>
            <a:prstDash val="solid"/>
            <a:round/>
            <a:headEnd type="none" w="sm" len="sm"/>
            <a:tailEnd type="none" w="sm" len="sm"/>
          </a:ln>
        </p:spPr>
        <p:txBody>
          <a:bodyPr spcFirstLastPara="1" wrap="square" lIns="77300" tIns="77300" rIns="77300" bIns="773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Tx/>
              <a:buNone/>
              <a:tabLst/>
              <a:defRPr/>
            </a:pPr>
            <a:r>
              <a:rPr kumimoji="0" lang="en" sz="700" b="1" i="0" u="none" strike="noStrike" kern="1200" cap="none" spc="0" normalizeH="0" baseline="0" noProof="0" dirty="0">
                <a:ln>
                  <a:noFill/>
                </a:ln>
                <a:effectLst/>
                <a:uLnTx/>
                <a:uFillTx/>
                <a:latin typeface="+mj-lt"/>
                <a:ea typeface="Red Hat Display"/>
                <a:cs typeface="Poppins"/>
                <a:sym typeface="Red Hat Display"/>
              </a:rPr>
              <a:t>HC CX</a:t>
            </a:r>
            <a:endParaRPr kumimoji="0" sz="700" b="1" i="0" u="none" strike="noStrike" kern="1200" cap="none" spc="0" normalizeH="0" baseline="0" noProof="0" dirty="0">
              <a:ln>
                <a:noFill/>
              </a:ln>
              <a:effectLst/>
              <a:uLnTx/>
              <a:uFillTx/>
              <a:latin typeface="+mj-lt"/>
              <a:ea typeface="Red Hat Display"/>
              <a:cs typeface="Poppins"/>
              <a:sym typeface="Red Hat Display"/>
            </a:endParaRPr>
          </a:p>
        </p:txBody>
      </p:sp>
      <p:sp>
        <p:nvSpPr>
          <p:cNvPr id="117" name="Google Shape;1646;p96">
            <a:extLst>
              <a:ext uri="{FF2B5EF4-FFF2-40B4-BE49-F238E27FC236}">
                <a16:creationId xmlns:a16="http://schemas.microsoft.com/office/drawing/2014/main" id="{02B27E83-9836-DDCC-D08C-EF6B4CDC8FFB}"/>
              </a:ext>
            </a:extLst>
          </p:cNvPr>
          <p:cNvSpPr/>
          <p:nvPr/>
        </p:nvSpPr>
        <p:spPr>
          <a:xfrm>
            <a:off x="8809479" y="6403511"/>
            <a:ext cx="887700" cy="250800"/>
          </a:xfrm>
          <a:prstGeom prst="rect">
            <a:avLst/>
          </a:prstGeom>
          <a:solidFill>
            <a:schemeClr val="accent6">
              <a:lumMod val="50000"/>
              <a:lumOff val="50000"/>
            </a:schemeClr>
          </a:solidFill>
          <a:ln w="3175" cap="flat" cmpd="sng">
            <a:solidFill>
              <a:schemeClr val="tx2"/>
            </a:solidFill>
            <a:prstDash val="solid"/>
            <a:round/>
            <a:headEnd type="none" w="sm" len="sm"/>
            <a:tailEnd type="none" w="sm" len="sm"/>
          </a:ln>
        </p:spPr>
        <p:txBody>
          <a:bodyPr spcFirstLastPara="1" wrap="square" lIns="77300" tIns="77300" rIns="77300" bIns="773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Tx/>
              <a:buNone/>
              <a:tabLst/>
              <a:defRPr/>
            </a:pPr>
            <a:r>
              <a:rPr kumimoji="0" lang="en" sz="700" b="1" i="0" u="none" strike="noStrike" kern="1200" cap="none" spc="0" normalizeH="0" baseline="0" noProof="0" dirty="0">
                <a:ln>
                  <a:noFill/>
                </a:ln>
                <a:solidFill>
                  <a:schemeClr val="bg1"/>
                </a:solidFill>
                <a:effectLst/>
                <a:uLnTx/>
                <a:uFillTx/>
                <a:latin typeface="+mj-lt"/>
                <a:ea typeface="Red Hat Display"/>
                <a:cs typeface="Poppins"/>
                <a:sym typeface="Red Hat Display"/>
              </a:rPr>
              <a:t>HC Analytics</a:t>
            </a:r>
            <a:endParaRPr kumimoji="0" sz="700" b="1" i="0" u="none" strike="noStrike" kern="1200" cap="none" spc="0" normalizeH="0" baseline="0" noProof="0" dirty="0">
              <a:ln>
                <a:noFill/>
              </a:ln>
              <a:solidFill>
                <a:schemeClr val="bg1"/>
              </a:solidFill>
              <a:effectLst/>
              <a:uLnTx/>
              <a:uFillTx/>
              <a:latin typeface="+mj-lt"/>
              <a:ea typeface="Red Hat Display"/>
              <a:cs typeface="Poppins"/>
              <a:sym typeface="Red Hat Display"/>
            </a:endParaRPr>
          </a:p>
        </p:txBody>
      </p:sp>
      <p:sp>
        <p:nvSpPr>
          <p:cNvPr id="118" name="Google Shape;1619;p96">
            <a:extLst>
              <a:ext uri="{FF2B5EF4-FFF2-40B4-BE49-F238E27FC236}">
                <a16:creationId xmlns:a16="http://schemas.microsoft.com/office/drawing/2014/main" id="{AE2D19E3-6B8B-5B41-BCE1-652CB5EE5AB1}"/>
              </a:ext>
            </a:extLst>
          </p:cNvPr>
          <p:cNvSpPr/>
          <p:nvPr/>
        </p:nvSpPr>
        <p:spPr>
          <a:xfrm>
            <a:off x="2101005" y="1193129"/>
            <a:ext cx="912206" cy="334200"/>
          </a:xfrm>
          <a:prstGeom prst="rect">
            <a:avLst/>
          </a:prstGeom>
          <a:solidFill>
            <a:srgbClr val="FFFFFF"/>
          </a:solidFill>
          <a:ln w="9525" cap="flat" cmpd="sng">
            <a:solidFill>
              <a:schemeClr val="tx1"/>
            </a:solidFill>
            <a:prstDash val="solid"/>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dirty="0">
                <a:ln>
                  <a:noFill/>
                </a:ln>
                <a:effectLst/>
                <a:uLnTx/>
                <a:uFillTx/>
                <a:latin typeface="+mj-lt"/>
                <a:ea typeface="Red Hat Display"/>
                <a:cs typeface="Red Hat Display"/>
                <a:sym typeface="Red Hat Display"/>
              </a:rPr>
              <a:t>Competitive Research</a:t>
            </a:r>
            <a:endParaRPr kumimoji="0" sz="900" b="0" i="0" u="none" strike="noStrike" kern="1200" cap="none" spc="0" normalizeH="0" baseline="0" noProof="0" dirty="0">
              <a:ln>
                <a:noFill/>
              </a:ln>
              <a:effectLst/>
              <a:uLnTx/>
              <a:uFillTx/>
              <a:latin typeface="+mj-lt"/>
              <a:ea typeface="Red Hat Display"/>
              <a:cs typeface="Red Hat Display"/>
              <a:sym typeface="Red Hat Display"/>
            </a:endParaRPr>
          </a:p>
        </p:txBody>
      </p:sp>
      <p:cxnSp>
        <p:nvCxnSpPr>
          <p:cNvPr id="119" name="Google Shape;1621;p96">
            <a:extLst>
              <a:ext uri="{FF2B5EF4-FFF2-40B4-BE49-F238E27FC236}">
                <a16:creationId xmlns:a16="http://schemas.microsoft.com/office/drawing/2014/main" id="{939A1094-2765-5834-6125-F926D1985727}"/>
              </a:ext>
            </a:extLst>
          </p:cNvPr>
          <p:cNvCxnSpPr>
            <a:cxnSpLocks/>
            <a:stCxn id="118" idx="3"/>
            <a:endCxn id="127" idx="1"/>
          </p:cNvCxnSpPr>
          <p:nvPr/>
        </p:nvCxnSpPr>
        <p:spPr>
          <a:xfrm>
            <a:off x="3013211" y="1360229"/>
            <a:ext cx="226699" cy="3827"/>
          </a:xfrm>
          <a:prstGeom prst="straightConnector1">
            <a:avLst/>
          </a:prstGeom>
          <a:noFill/>
          <a:ln w="28575" cap="flat" cmpd="sng">
            <a:solidFill>
              <a:srgbClr val="FFFFFF"/>
            </a:solidFill>
            <a:prstDash val="solid"/>
            <a:round/>
            <a:headEnd type="none" w="sm" len="sm"/>
            <a:tailEnd type="triangle" w="med" len="med"/>
          </a:ln>
        </p:spPr>
      </p:cxnSp>
      <p:cxnSp>
        <p:nvCxnSpPr>
          <p:cNvPr id="120" name="Google Shape;1621;p96">
            <a:extLst>
              <a:ext uri="{FF2B5EF4-FFF2-40B4-BE49-F238E27FC236}">
                <a16:creationId xmlns:a16="http://schemas.microsoft.com/office/drawing/2014/main" id="{09F02133-5C4F-7290-B874-735DAB506326}"/>
              </a:ext>
            </a:extLst>
          </p:cNvPr>
          <p:cNvCxnSpPr>
            <a:cxnSpLocks/>
            <a:stCxn id="101" idx="3"/>
            <a:endCxn id="98" idx="1"/>
          </p:cNvCxnSpPr>
          <p:nvPr/>
        </p:nvCxnSpPr>
        <p:spPr>
          <a:xfrm>
            <a:off x="7154827" y="1358608"/>
            <a:ext cx="178633" cy="0"/>
          </a:xfrm>
          <a:prstGeom prst="straightConnector1">
            <a:avLst/>
          </a:prstGeom>
          <a:noFill/>
          <a:ln w="28575" cap="flat" cmpd="sng">
            <a:solidFill>
              <a:srgbClr val="FFFFFF"/>
            </a:solidFill>
            <a:prstDash val="solid"/>
            <a:round/>
            <a:headEnd type="none" w="sm" len="sm"/>
            <a:tailEnd type="triangle" w="med" len="med"/>
          </a:ln>
        </p:spPr>
      </p:cxnSp>
      <p:sp>
        <p:nvSpPr>
          <p:cNvPr id="121" name="Google Shape;1615;p96">
            <a:extLst>
              <a:ext uri="{FF2B5EF4-FFF2-40B4-BE49-F238E27FC236}">
                <a16:creationId xmlns:a16="http://schemas.microsoft.com/office/drawing/2014/main" id="{DE7E041B-A4B6-E954-B629-D8EE29EFFEBD}"/>
              </a:ext>
            </a:extLst>
          </p:cNvPr>
          <p:cNvSpPr/>
          <p:nvPr/>
        </p:nvSpPr>
        <p:spPr>
          <a:xfrm>
            <a:off x="6979538" y="2963298"/>
            <a:ext cx="1254292" cy="333909"/>
          </a:xfrm>
          <a:prstGeom prst="flowChartProcess">
            <a:avLst/>
          </a:prstGeom>
          <a:solidFill>
            <a:schemeClr val="bg1"/>
          </a:solidFill>
          <a:ln w="9525" cap="flat" cmpd="sng">
            <a:solidFill>
              <a:schemeClr val="tx1"/>
            </a:solidFill>
            <a:prstDash val="solid"/>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Tx/>
              <a:buNone/>
              <a:tabLst/>
              <a:defRPr/>
            </a:pPr>
            <a:r>
              <a:rPr kumimoji="0" lang="en" sz="900" b="0" i="0" u="none" strike="noStrike" kern="1200" cap="none" spc="0" normalizeH="0" baseline="0" noProof="0">
                <a:ln>
                  <a:noFill/>
                </a:ln>
                <a:effectLst/>
                <a:uLnTx/>
                <a:uFillTx/>
                <a:latin typeface="+mj-lt"/>
                <a:ea typeface="+mn-ea"/>
                <a:cs typeface="+mn-cs"/>
                <a:sym typeface="Red Hat Display"/>
              </a:rPr>
              <a:t>Stakeholder Review</a:t>
            </a:r>
            <a:endParaRPr kumimoji="0" sz="900" b="0" i="0" u="none" strike="noStrike" kern="1200" cap="none" spc="0" normalizeH="0" baseline="0" noProof="0">
              <a:ln>
                <a:noFill/>
              </a:ln>
              <a:effectLst/>
              <a:uLnTx/>
              <a:uFillTx/>
              <a:latin typeface="+mj-lt"/>
              <a:ea typeface="+mn-ea"/>
              <a:cs typeface="+mn-cs"/>
              <a:sym typeface="Red Hat Display"/>
            </a:endParaRPr>
          </a:p>
        </p:txBody>
      </p:sp>
      <p:cxnSp>
        <p:nvCxnSpPr>
          <p:cNvPr id="122" name="Google Shape;1636;p96">
            <a:extLst>
              <a:ext uri="{FF2B5EF4-FFF2-40B4-BE49-F238E27FC236}">
                <a16:creationId xmlns:a16="http://schemas.microsoft.com/office/drawing/2014/main" id="{D3914396-B8DD-8EDE-FF39-393B192E2EF1}"/>
              </a:ext>
            </a:extLst>
          </p:cNvPr>
          <p:cNvCxnSpPr>
            <a:cxnSpLocks/>
            <a:stCxn id="121" idx="3"/>
            <a:endCxn id="34" idx="1"/>
          </p:cNvCxnSpPr>
          <p:nvPr/>
        </p:nvCxnSpPr>
        <p:spPr>
          <a:xfrm>
            <a:off x="8233830" y="3130253"/>
            <a:ext cx="266610" cy="1825"/>
          </a:xfrm>
          <a:prstGeom prst="straightConnector1">
            <a:avLst/>
          </a:prstGeom>
          <a:noFill/>
          <a:ln w="28575" cap="flat" cmpd="sng">
            <a:solidFill>
              <a:srgbClr val="FFFFFF"/>
            </a:solidFill>
            <a:prstDash val="solid"/>
            <a:round/>
            <a:headEnd type="none" w="sm" len="sm"/>
            <a:tailEnd type="triangle" w="med" len="med"/>
          </a:ln>
        </p:spPr>
      </p:cxnSp>
      <p:sp>
        <p:nvSpPr>
          <p:cNvPr id="123" name="Google Shape;1605;p96">
            <a:extLst>
              <a:ext uri="{FF2B5EF4-FFF2-40B4-BE49-F238E27FC236}">
                <a16:creationId xmlns:a16="http://schemas.microsoft.com/office/drawing/2014/main" id="{2772044A-6969-348A-5E81-CA849E121DE8}"/>
              </a:ext>
            </a:extLst>
          </p:cNvPr>
          <p:cNvSpPr/>
          <p:nvPr/>
        </p:nvSpPr>
        <p:spPr>
          <a:xfrm>
            <a:off x="3972004" y="1781325"/>
            <a:ext cx="1058100" cy="334200"/>
          </a:xfrm>
          <a:prstGeom prst="rect">
            <a:avLst/>
          </a:prstGeom>
          <a:gradFill>
            <a:gsLst>
              <a:gs pos="0">
                <a:schemeClr val="accent1"/>
              </a:gs>
              <a:gs pos="100000">
                <a:schemeClr val="bg1"/>
              </a:gs>
            </a:gsLst>
            <a:lin ang="0" scaled="1"/>
          </a:gradFill>
          <a:ln w="9525" cap="flat" cmpd="sng">
            <a:solidFill>
              <a:schemeClr val="tx1"/>
            </a:solidFill>
            <a:prstDash val="solid"/>
            <a:round/>
            <a:headEnd type="none" w="sm" len="sm"/>
            <a:tailEnd type="none" w="sm" len="sm"/>
          </a:ln>
        </p:spPr>
        <p:txBody>
          <a:bodyPr spcFirstLastPara="1" wrap="square" lIns="77300" tIns="0" rIns="7730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dirty="0">
                <a:ln>
                  <a:noFill/>
                </a:ln>
                <a:effectLst/>
                <a:uLnTx/>
                <a:uFillTx/>
                <a:latin typeface="+mj-lt"/>
                <a:ea typeface="Red Hat Display"/>
                <a:cs typeface="Red Hat Display"/>
                <a:sym typeface="Red Hat Display"/>
              </a:rPr>
              <a:t>Internal Brief Approval</a:t>
            </a:r>
            <a:endParaRPr kumimoji="0" sz="900" b="0" i="0" u="none" strike="noStrike" kern="1200" cap="none" spc="0" normalizeH="0" baseline="0" noProof="0" dirty="0">
              <a:ln>
                <a:noFill/>
              </a:ln>
              <a:effectLst/>
              <a:uLnTx/>
              <a:uFillTx/>
              <a:latin typeface="+mj-lt"/>
              <a:ea typeface="Red Hat Display"/>
              <a:cs typeface="Red Hat Display"/>
              <a:sym typeface="Red Hat Display"/>
            </a:endParaRPr>
          </a:p>
        </p:txBody>
      </p:sp>
      <p:cxnSp>
        <p:nvCxnSpPr>
          <p:cNvPr id="124" name="Google Shape;1621;p96">
            <a:extLst>
              <a:ext uri="{FF2B5EF4-FFF2-40B4-BE49-F238E27FC236}">
                <a16:creationId xmlns:a16="http://schemas.microsoft.com/office/drawing/2014/main" id="{BA8C2DA1-595A-09D5-6D7E-B14F6F8CC2D0}"/>
              </a:ext>
            </a:extLst>
          </p:cNvPr>
          <p:cNvCxnSpPr>
            <a:cxnSpLocks/>
            <a:stCxn id="45" idx="3"/>
            <a:endCxn id="123" idx="1"/>
          </p:cNvCxnSpPr>
          <p:nvPr/>
        </p:nvCxnSpPr>
        <p:spPr>
          <a:xfrm flipV="1">
            <a:off x="3690620" y="1948425"/>
            <a:ext cx="281384" cy="2748"/>
          </a:xfrm>
          <a:prstGeom prst="straightConnector1">
            <a:avLst/>
          </a:prstGeom>
          <a:noFill/>
          <a:ln w="28575" cap="flat" cmpd="sng">
            <a:solidFill>
              <a:srgbClr val="FFFFFF"/>
            </a:solidFill>
            <a:prstDash val="solid"/>
            <a:round/>
            <a:headEnd type="none" w="sm" len="sm"/>
            <a:tailEnd type="triangle" w="med" len="med"/>
          </a:ln>
        </p:spPr>
      </p:cxnSp>
      <p:sp>
        <p:nvSpPr>
          <p:cNvPr id="127" name="Google Shape;1619;p96">
            <a:extLst>
              <a:ext uri="{FF2B5EF4-FFF2-40B4-BE49-F238E27FC236}">
                <a16:creationId xmlns:a16="http://schemas.microsoft.com/office/drawing/2014/main" id="{76C43A49-6429-814A-EFED-83E3959A38A7}"/>
              </a:ext>
            </a:extLst>
          </p:cNvPr>
          <p:cNvSpPr/>
          <p:nvPr/>
        </p:nvSpPr>
        <p:spPr>
          <a:xfrm>
            <a:off x="3239910" y="1196956"/>
            <a:ext cx="1333477" cy="334200"/>
          </a:xfrm>
          <a:prstGeom prst="rect">
            <a:avLst/>
          </a:prstGeom>
          <a:gradFill flip="none" rotWithShape="1">
            <a:gsLst>
              <a:gs pos="0">
                <a:schemeClr val="accent6">
                  <a:lumMod val="50000"/>
                  <a:lumOff val="50000"/>
                </a:schemeClr>
              </a:gs>
              <a:gs pos="33000">
                <a:schemeClr val="accent5">
                  <a:lumMod val="40000"/>
                  <a:lumOff val="60000"/>
                </a:schemeClr>
              </a:gs>
              <a:gs pos="60000">
                <a:schemeClr val="bg1"/>
              </a:gs>
              <a:gs pos="100000">
                <a:schemeClr val="accent1"/>
              </a:gs>
            </a:gsLst>
            <a:lin ang="0" scaled="1"/>
            <a:tileRect/>
          </a:gradFill>
          <a:ln w="9525" cap="flat" cmpd="sng">
            <a:solidFill>
              <a:schemeClr val="tx1"/>
            </a:solidFill>
            <a:prstDash val="solid"/>
            <a:round/>
            <a:headEnd type="none" w="sm" len="sm"/>
            <a:tailEnd type="none" w="sm" len="sm"/>
          </a:ln>
        </p:spPr>
        <p:txBody>
          <a:bodyPr spcFirstLastPara="1" wrap="square" lIns="0" tIns="0" rIns="0" bIns="0" anchor="ctr" anchorCtr="0">
            <a:noAutofit/>
          </a:bodyPr>
          <a:lstStyle/>
          <a:p>
            <a:pPr algn="ctr">
              <a:buClr>
                <a:srgbClr val="000000"/>
              </a:buClr>
              <a:buSzPts val="500"/>
            </a:pPr>
            <a:r>
              <a:rPr lang="en" sz="900" dirty="0">
                <a:latin typeface="+mj-lt"/>
                <a:sym typeface="Red Hat Display"/>
              </a:rPr>
              <a:t>Internal Whiteboarding Session</a:t>
            </a:r>
            <a:endParaRPr sz="900" dirty="0">
              <a:latin typeface="+mj-lt"/>
              <a:sym typeface="Red Hat Display"/>
            </a:endParaRPr>
          </a:p>
        </p:txBody>
      </p:sp>
      <p:cxnSp>
        <p:nvCxnSpPr>
          <p:cNvPr id="128" name="Google Shape;1621;p96">
            <a:extLst>
              <a:ext uri="{FF2B5EF4-FFF2-40B4-BE49-F238E27FC236}">
                <a16:creationId xmlns:a16="http://schemas.microsoft.com/office/drawing/2014/main" id="{A4E959C7-8DEB-8588-BE97-DE2FB31FC10E}"/>
              </a:ext>
            </a:extLst>
          </p:cNvPr>
          <p:cNvCxnSpPr>
            <a:cxnSpLocks/>
            <a:stCxn id="127" idx="3"/>
            <a:endCxn id="129" idx="1"/>
          </p:cNvCxnSpPr>
          <p:nvPr/>
        </p:nvCxnSpPr>
        <p:spPr>
          <a:xfrm flipV="1">
            <a:off x="4573387" y="1360817"/>
            <a:ext cx="223889" cy="3239"/>
          </a:xfrm>
          <a:prstGeom prst="straightConnector1">
            <a:avLst/>
          </a:prstGeom>
          <a:noFill/>
          <a:ln w="28575" cap="flat" cmpd="sng">
            <a:solidFill>
              <a:srgbClr val="FFFFFF"/>
            </a:solidFill>
            <a:prstDash val="solid"/>
            <a:round/>
            <a:headEnd type="none" w="sm" len="sm"/>
            <a:tailEnd type="triangle" w="med" len="med"/>
          </a:ln>
        </p:spPr>
      </p:cxnSp>
      <p:sp>
        <p:nvSpPr>
          <p:cNvPr id="129" name="Google Shape;1619;p96">
            <a:extLst>
              <a:ext uri="{FF2B5EF4-FFF2-40B4-BE49-F238E27FC236}">
                <a16:creationId xmlns:a16="http://schemas.microsoft.com/office/drawing/2014/main" id="{EC788FA7-8DD3-0381-4761-6B7CD554D331}"/>
              </a:ext>
            </a:extLst>
          </p:cNvPr>
          <p:cNvSpPr/>
          <p:nvPr/>
        </p:nvSpPr>
        <p:spPr>
          <a:xfrm>
            <a:off x="4797276" y="1193717"/>
            <a:ext cx="1264859" cy="334200"/>
          </a:xfrm>
          <a:prstGeom prst="rect">
            <a:avLst/>
          </a:prstGeom>
          <a:gradFill flip="none" rotWithShape="1">
            <a:gsLst>
              <a:gs pos="0">
                <a:schemeClr val="accent6">
                  <a:lumMod val="50000"/>
                  <a:lumOff val="50000"/>
                </a:schemeClr>
              </a:gs>
              <a:gs pos="33000">
                <a:schemeClr val="bg1"/>
              </a:gs>
              <a:gs pos="67000">
                <a:schemeClr val="accent5">
                  <a:lumMod val="40000"/>
                  <a:lumOff val="60000"/>
                </a:schemeClr>
              </a:gs>
              <a:gs pos="100000">
                <a:schemeClr val="accent2">
                  <a:lumMod val="40000"/>
                  <a:lumOff val="60000"/>
                </a:schemeClr>
              </a:gs>
            </a:gsLst>
            <a:lin ang="0" scaled="1"/>
            <a:tileRect/>
          </a:gradFill>
          <a:ln w="9525" cap="flat" cmpd="sng">
            <a:solidFill>
              <a:schemeClr val="tx1"/>
            </a:solidFill>
            <a:prstDash val="solid"/>
            <a:round/>
            <a:headEnd type="none" w="sm" len="sm"/>
            <a:tailEnd type="none" w="sm" len="sm"/>
          </a:ln>
        </p:spPr>
        <p:txBody>
          <a:bodyPr spcFirstLastPara="1" wrap="square" lIns="0" tIns="0" rIns="0" bIns="0" anchor="ctr" anchorCtr="0">
            <a:noAutofit/>
          </a:bodyPr>
          <a:lstStyle/>
          <a:p>
            <a:pPr algn="ctr">
              <a:buClr>
                <a:srgbClr val="000000"/>
              </a:buClr>
              <a:buSzPts val="500"/>
            </a:pPr>
            <a:r>
              <a:rPr lang="en" sz="900" dirty="0">
                <a:latin typeface="+mj-lt"/>
                <a:sym typeface="Red Hat Display"/>
              </a:rPr>
              <a:t>Client Whiteboarding Session</a:t>
            </a:r>
            <a:endParaRPr sz="900" dirty="0">
              <a:latin typeface="+mj-lt"/>
              <a:sym typeface="Red Hat Display"/>
            </a:endParaRPr>
          </a:p>
        </p:txBody>
      </p:sp>
      <p:cxnSp>
        <p:nvCxnSpPr>
          <p:cNvPr id="130" name="Google Shape;1621;p96">
            <a:extLst>
              <a:ext uri="{FF2B5EF4-FFF2-40B4-BE49-F238E27FC236}">
                <a16:creationId xmlns:a16="http://schemas.microsoft.com/office/drawing/2014/main" id="{27F3FBA1-43B4-2FB7-3413-CB6712CD7E58}"/>
              </a:ext>
            </a:extLst>
          </p:cNvPr>
          <p:cNvCxnSpPr>
            <a:cxnSpLocks/>
            <a:stCxn id="129" idx="3"/>
            <a:endCxn id="101" idx="1"/>
          </p:cNvCxnSpPr>
          <p:nvPr/>
        </p:nvCxnSpPr>
        <p:spPr>
          <a:xfrm flipV="1">
            <a:off x="6062135" y="1358608"/>
            <a:ext cx="206196" cy="2209"/>
          </a:xfrm>
          <a:prstGeom prst="straightConnector1">
            <a:avLst/>
          </a:prstGeom>
          <a:noFill/>
          <a:ln w="28575" cap="flat" cmpd="sng">
            <a:solidFill>
              <a:srgbClr val="FFFFFF"/>
            </a:solidFill>
            <a:prstDash val="solid"/>
            <a:round/>
            <a:headEnd type="none" w="sm" len="sm"/>
            <a:tailEnd type="triangle" w="med" len="med"/>
          </a:ln>
        </p:spPr>
      </p:cxnSp>
      <p:sp>
        <p:nvSpPr>
          <p:cNvPr id="131" name="Rectangle: Folded Corner 130">
            <a:extLst>
              <a:ext uri="{FF2B5EF4-FFF2-40B4-BE49-F238E27FC236}">
                <a16:creationId xmlns:a16="http://schemas.microsoft.com/office/drawing/2014/main" id="{1EE584EC-D7F2-0DCB-1EC4-5089DC5605AD}"/>
              </a:ext>
            </a:extLst>
          </p:cNvPr>
          <p:cNvSpPr/>
          <p:nvPr/>
        </p:nvSpPr>
        <p:spPr>
          <a:xfrm>
            <a:off x="36306" y="5830583"/>
            <a:ext cx="1056769" cy="774612"/>
          </a:xfrm>
          <a:prstGeom prst="foldedCorner">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800" dirty="0">
                <a:solidFill>
                  <a:schemeClr val="bg1"/>
                </a:solidFill>
                <a:latin typeface="+mj-lt"/>
              </a:rPr>
              <a:t>If yes AND it’s a new component, then creative team creates component</a:t>
            </a:r>
          </a:p>
        </p:txBody>
      </p:sp>
      <p:cxnSp>
        <p:nvCxnSpPr>
          <p:cNvPr id="132" name="Straight Arrow Connector 131">
            <a:extLst>
              <a:ext uri="{FF2B5EF4-FFF2-40B4-BE49-F238E27FC236}">
                <a16:creationId xmlns:a16="http://schemas.microsoft.com/office/drawing/2014/main" id="{063458A9-CA75-08F3-491B-9AAF4AF3D58B}"/>
              </a:ext>
            </a:extLst>
          </p:cNvPr>
          <p:cNvCxnSpPr>
            <a:cxnSpLocks/>
            <a:stCxn id="131" idx="3"/>
            <a:endCxn id="110" idx="2"/>
          </p:cNvCxnSpPr>
          <p:nvPr/>
        </p:nvCxnSpPr>
        <p:spPr>
          <a:xfrm flipV="1">
            <a:off x="1093075" y="5652922"/>
            <a:ext cx="2478716" cy="564967"/>
          </a:xfrm>
          <a:prstGeom prst="straightConnector1">
            <a:avLst/>
          </a:prstGeom>
          <a:ln w="952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10" name="Google Shape;1642;p96">
            <a:extLst>
              <a:ext uri="{FF2B5EF4-FFF2-40B4-BE49-F238E27FC236}">
                <a16:creationId xmlns:a16="http://schemas.microsoft.com/office/drawing/2014/main" id="{17FA9BC9-D921-3517-E126-3B49866914DA}"/>
              </a:ext>
            </a:extLst>
          </p:cNvPr>
          <p:cNvSpPr txBox="1"/>
          <p:nvPr/>
        </p:nvSpPr>
        <p:spPr>
          <a:xfrm>
            <a:off x="940281" y="584864"/>
            <a:ext cx="1709604" cy="350100"/>
          </a:xfrm>
          <a:prstGeom prst="rect">
            <a:avLst/>
          </a:prstGeom>
          <a:noFill/>
          <a:ln>
            <a:noFill/>
          </a:ln>
        </p:spPr>
        <p:txBody>
          <a:bodyPr spcFirstLastPara="1" wrap="square" lIns="77300" tIns="77300" rIns="77300" bIns="773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 sz="1200" b="0" i="0" u="none" strike="noStrike" kern="1200" cap="none" spc="0" normalizeH="0" baseline="0" noProof="0" dirty="0">
                <a:ln>
                  <a:noFill/>
                </a:ln>
                <a:solidFill>
                  <a:srgbClr val="FFFFFF"/>
                </a:solidFill>
                <a:effectLst/>
                <a:uLnTx/>
                <a:uFillTx/>
                <a:latin typeface="+mj-lt"/>
                <a:ea typeface="Red Hat Display"/>
                <a:cs typeface="Red Hat Display"/>
                <a:sym typeface="Red Hat Display"/>
              </a:rPr>
              <a:t>Strategic Alignment</a:t>
            </a:r>
            <a:endParaRPr kumimoji="0" sz="1200" b="0" i="0" u="none" strike="noStrike" kern="1200" cap="none" spc="0" normalizeH="0" baseline="0" noProof="0" dirty="0">
              <a:ln>
                <a:noFill/>
              </a:ln>
              <a:solidFill>
                <a:srgbClr val="FFFFFF"/>
              </a:solidFill>
              <a:effectLst/>
              <a:uLnTx/>
              <a:uFillTx/>
              <a:latin typeface="+mj-lt"/>
              <a:ea typeface="Red Hat Display"/>
              <a:cs typeface="Red Hat Display"/>
              <a:sym typeface="Red Hat Display"/>
            </a:endParaRPr>
          </a:p>
        </p:txBody>
      </p:sp>
    </p:spTree>
    <p:extLst>
      <p:ext uri="{BB962C8B-B14F-4D97-AF65-F5344CB8AC3E}">
        <p14:creationId xmlns:p14="http://schemas.microsoft.com/office/powerpoint/2010/main" val="12352296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2E0659-D5DB-D72E-6C89-13590277579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D2A558D-73B2-1854-E83E-CD93DD426024}"/>
              </a:ext>
            </a:extLst>
          </p:cNvPr>
          <p:cNvSpPr/>
          <p:nvPr/>
        </p:nvSpPr>
        <p:spPr>
          <a:xfrm>
            <a:off x="0" y="1207911"/>
            <a:ext cx="12191998" cy="5650089"/>
          </a:xfrm>
          <a:prstGeom prst="rect">
            <a:avLst/>
          </a:prstGeom>
          <a:solidFill>
            <a:srgbClr val="6699CC">
              <a:alpha val="12941"/>
            </a:srgb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91440" r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j-lt"/>
              <a:ea typeface="+mn-ea"/>
              <a:cs typeface="+mn-cs"/>
            </a:endParaRPr>
          </a:p>
        </p:txBody>
      </p:sp>
      <p:pic>
        <p:nvPicPr>
          <p:cNvPr id="3" name="Picture 2">
            <a:extLst>
              <a:ext uri="{FF2B5EF4-FFF2-40B4-BE49-F238E27FC236}">
                <a16:creationId xmlns:a16="http://schemas.microsoft.com/office/drawing/2014/main" id="{5774A484-F52A-710D-CDF8-7939F4BB5C3F}"/>
              </a:ext>
            </a:extLst>
          </p:cNvPr>
          <p:cNvPicPr>
            <a:picLocks noChangeAspect="1"/>
          </p:cNvPicPr>
          <p:nvPr/>
        </p:nvPicPr>
        <p:blipFill>
          <a:blip r:embed="rId3"/>
          <a:stretch>
            <a:fillRect/>
          </a:stretch>
        </p:blipFill>
        <p:spPr>
          <a:xfrm>
            <a:off x="431221" y="6141617"/>
            <a:ext cx="5016677" cy="563652"/>
          </a:xfrm>
          <a:prstGeom prst="rect">
            <a:avLst/>
          </a:prstGeom>
        </p:spPr>
      </p:pic>
      <p:sp>
        <p:nvSpPr>
          <p:cNvPr id="36" name="Title 1">
            <a:extLst>
              <a:ext uri="{FF2B5EF4-FFF2-40B4-BE49-F238E27FC236}">
                <a16:creationId xmlns:a16="http://schemas.microsoft.com/office/drawing/2014/main" id="{BCE79D9F-FFE8-D52A-2536-D25C7FD11E86}"/>
              </a:ext>
            </a:extLst>
          </p:cNvPr>
          <p:cNvSpPr txBox="1">
            <a:spLocks/>
          </p:cNvSpPr>
          <p:nvPr/>
        </p:nvSpPr>
        <p:spPr>
          <a:xfrm>
            <a:off x="0" y="362187"/>
            <a:ext cx="12192000" cy="540923"/>
          </a:xfrm>
          <a:prstGeom prst="rect">
            <a:avLst/>
          </a:prstGeom>
        </p:spPr>
        <p:txBody>
          <a:bodyPr lIns="91440" tIns="45720" rIns="91440" bIns="45720" anchor="t"/>
          <a:lstStyle>
            <a:lvl1pPr algn="l" defTabSz="914377" rtl="0" eaLnBrk="1" latinLnBrk="0" hangingPunct="1">
              <a:lnSpc>
                <a:spcPct val="100000"/>
              </a:lnSpc>
              <a:spcBef>
                <a:spcPct val="0"/>
              </a:spcBef>
              <a:buNone/>
              <a:defRPr sz="3200" b="1" i="0" kern="1200" spc="0" baseline="0">
                <a:solidFill>
                  <a:schemeClr val="accent1"/>
                </a:solidFill>
                <a:latin typeface="+mj-lt"/>
                <a:ea typeface="+mj-ea"/>
                <a:cs typeface="+mj-cs"/>
              </a:defRPr>
            </a:lvl1pPr>
          </a:lstStyle>
          <a:p>
            <a:pPr algn="ctr"/>
            <a:r>
              <a:rPr lang="en-MY" sz="2800" dirty="0"/>
              <a:t>CRO Flash Process</a:t>
            </a:r>
          </a:p>
        </p:txBody>
      </p:sp>
      <p:sp>
        <p:nvSpPr>
          <p:cNvPr id="76" name="Google Shape;1646;p96">
            <a:extLst>
              <a:ext uri="{FF2B5EF4-FFF2-40B4-BE49-F238E27FC236}">
                <a16:creationId xmlns:a16="http://schemas.microsoft.com/office/drawing/2014/main" id="{094FC0E5-3241-A4E5-0383-2A57DF75D875}"/>
              </a:ext>
            </a:extLst>
          </p:cNvPr>
          <p:cNvSpPr/>
          <p:nvPr/>
        </p:nvSpPr>
        <p:spPr>
          <a:xfrm>
            <a:off x="3611622" y="5590545"/>
            <a:ext cx="887700" cy="250800"/>
          </a:xfrm>
          <a:prstGeom prst="rect">
            <a:avLst/>
          </a:prstGeom>
          <a:solidFill>
            <a:srgbClr val="FFFFFF"/>
          </a:solidFill>
          <a:ln w="9525" cap="flat" cmpd="sng">
            <a:solidFill>
              <a:schemeClr val="tx1"/>
            </a:solidFill>
            <a:prstDash val="solid"/>
            <a:round/>
            <a:headEnd type="none" w="sm" len="sm"/>
            <a:tailEnd type="none" w="sm" len="sm"/>
          </a:ln>
        </p:spPr>
        <p:txBody>
          <a:bodyPr spcFirstLastPara="1" wrap="square" lIns="77300" tIns="77300" rIns="77300" bIns="773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800" b="1" i="0" u="none" strike="noStrike" kern="1200" cap="none" spc="0" normalizeH="0" baseline="0" noProof="0" dirty="0">
                <a:ln>
                  <a:noFill/>
                </a:ln>
                <a:effectLst/>
                <a:uLnTx/>
                <a:uFillTx/>
                <a:latin typeface="+mj-lt"/>
                <a:ea typeface="Red Hat Display"/>
                <a:cs typeface="Red Hat Display"/>
                <a:sym typeface="Red Hat Display"/>
              </a:rPr>
              <a:t>Process Step</a:t>
            </a:r>
            <a:endParaRPr kumimoji="0" sz="800" b="1" i="0" u="none" strike="noStrike" kern="1200" cap="none" spc="0" normalizeH="0" baseline="0" noProof="0" dirty="0">
              <a:ln>
                <a:noFill/>
              </a:ln>
              <a:effectLst/>
              <a:uLnTx/>
              <a:uFillTx/>
              <a:latin typeface="+mj-lt"/>
              <a:ea typeface="Red Hat Display"/>
              <a:cs typeface="Red Hat Display"/>
              <a:sym typeface="Red Hat Display"/>
            </a:endParaRPr>
          </a:p>
        </p:txBody>
      </p:sp>
      <p:sp>
        <p:nvSpPr>
          <p:cNvPr id="77" name="Google Shape;1647;p96">
            <a:extLst>
              <a:ext uri="{FF2B5EF4-FFF2-40B4-BE49-F238E27FC236}">
                <a16:creationId xmlns:a16="http://schemas.microsoft.com/office/drawing/2014/main" id="{A363A4C0-40FC-6161-70D1-4E6ECD896C55}"/>
              </a:ext>
            </a:extLst>
          </p:cNvPr>
          <p:cNvSpPr/>
          <p:nvPr/>
        </p:nvSpPr>
        <p:spPr>
          <a:xfrm>
            <a:off x="4641121" y="5590545"/>
            <a:ext cx="732888" cy="250938"/>
          </a:xfrm>
          <a:prstGeom prst="flowChartDocument">
            <a:avLst/>
          </a:prstGeom>
          <a:solidFill>
            <a:srgbClr val="FFFFFF"/>
          </a:solidFill>
          <a:ln w="9525" cap="flat" cmpd="sng">
            <a:solidFill>
              <a:schemeClr val="tx1"/>
            </a:solidFill>
            <a:prstDash val="solid"/>
            <a:round/>
            <a:headEnd type="none" w="sm" len="sm"/>
            <a:tailEnd type="none" w="sm" len="sm"/>
          </a:ln>
        </p:spPr>
        <p:txBody>
          <a:bodyPr spcFirstLastPara="1" wrap="square" lIns="77300" tIns="77300" rIns="77300" bIns="773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800" b="1" i="0" u="none" strike="noStrike" kern="1200" cap="none" spc="0" normalizeH="0" baseline="0" noProof="0">
                <a:ln>
                  <a:noFill/>
                </a:ln>
                <a:effectLst/>
                <a:uLnTx/>
                <a:uFillTx/>
                <a:latin typeface="+mj-lt"/>
                <a:ea typeface="Red Hat Display"/>
                <a:cs typeface="Red Hat Display"/>
                <a:sym typeface="Red Hat Display"/>
              </a:rPr>
              <a:t>Document</a:t>
            </a:r>
            <a:endParaRPr kumimoji="0" sz="800" b="1" i="0" u="none" strike="noStrike" kern="1200" cap="none" spc="0" normalizeH="0" baseline="0" noProof="0">
              <a:ln>
                <a:noFill/>
              </a:ln>
              <a:effectLst/>
              <a:uLnTx/>
              <a:uFillTx/>
              <a:latin typeface="+mj-lt"/>
              <a:ea typeface="Red Hat Display"/>
              <a:cs typeface="Red Hat Display"/>
              <a:sym typeface="Red Hat Display"/>
            </a:endParaRPr>
          </a:p>
        </p:txBody>
      </p:sp>
      <p:sp>
        <p:nvSpPr>
          <p:cNvPr id="78" name="Google Shape;1648;p96">
            <a:extLst>
              <a:ext uri="{FF2B5EF4-FFF2-40B4-BE49-F238E27FC236}">
                <a16:creationId xmlns:a16="http://schemas.microsoft.com/office/drawing/2014/main" id="{54F4C78C-346C-DA05-EF63-1CCD259B92D0}"/>
              </a:ext>
            </a:extLst>
          </p:cNvPr>
          <p:cNvSpPr/>
          <p:nvPr/>
        </p:nvSpPr>
        <p:spPr>
          <a:xfrm>
            <a:off x="5515808" y="5590544"/>
            <a:ext cx="1135972" cy="250949"/>
          </a:xfrm>
          <a:prstGeom prst="flowChartPredefinedProcess">
            <a:avLst/>
          </a:prstGeom>
          <a:solidFill>
            <a:srgbClr val="FFFFFF"/>
          </a:solidFill>
          <a:ln w="9525" cap="flat" cmpd="sng">
            <a:solidFill>
              <a:schemeClr val="tx1"/>
            </a:solidFill>
            <a:prstDash val="solid"/>
            <a:round/>
            <a:headEnd type="none" w="sm" len="sm"/>
            <a:tailEnd type="none" w="sm" len="sm"/>
          </a:ln>
        </p:spPr>
        <p:txBody>
          <a:bodyPr spcFirstLastPara="1" wrap="square" lIns="77300" tIns="77300" rIns="77300" bIns="773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800" b="1" i="0" u="none" strike="noStrike" kern="1200" cap="none" spc="0" normalizeH="0" baseline="0" noProof="0">
                <a:ln>
                  <a:noFill/>
                </a:ln>
                <a:effectLst/>
                <a:uLnTx/>
                <a:uFillTx/>
                <a:latin typeface="+mj-lt"/>
                <a:ea typeface="Red Hat Display"/>
                <a:cs typeface="Red Hat Display"/>
                <a:sym typeface="Red Hat Display"/>
              </a:rPr>
              <a:t>Decision</a:t>
            </a:r>
            <a:endParaRPr kumimoji="0" sz="800" b="1" i="0" u="none" strike="noStrike" kern="1200" cap="none" spc="0" normalizeH="0" baseline="0" noProof="0">
              <a:ln>
                <a:noFill/>
              </a:ln>
              <a:effectLst/>
              <a:uLnTx/>
              <a:uFillTx/>
              <a:latin typeface="+mj-lt"/>
              <a:ea typeface="Red Hat Display"/>
              <a:cs typeface="Red Hat Display"/>
              <a:sym typeface="Red Hat Display"/>
            </a:endParaRPr>
          </a:p>
        </p:txBody>
      </p:sp>
      <p:sp>
        <p:nvSpPr>
          <p:cNvPr id="79" name="Google Shape;1649;p96">
            <a:extLst>
              <a:ext uri="{FF2B5EF4-FFF2-40B4-BE49-F238E27FC236}">
                <a16:creationId xmlns:a16="http://schemas.microsoft.com/office/drawing/2014/main" id="{92A99E23-CDF8-EC9D-3492-16CF0879847E}"/>
              </a:ext>
            </a:extLst>
          </p:cNvPr>
          <p:cNvSpPr/>
          <p:nvPr/>
        </p:nvSpPr>
        <p:spPr>
          <a:xfrm>
            <a:off x="6793579" y="5590543"/>
            <a:ext cx="923700" cy="250800"/>
          </a:xfrm>
          <a:prstGeom prst="rect">
            <a:avLst/>
          </a:prstGeom>
          <a:solidFill>
            <a:srgbClr val="FFFFFF"/>
          </a:solidFill>
          <a:ln w="9525" cap="flat" cmpd="sng">
            <a:solidFill>
              <a:schemeClr val="tx1"/>
            </a:solidFill>
            <a:prstDash val="dash"/>
            <a:round/>
            <a:headEnd type="none" w="sm" len="sm"/>
            <a:tailEnd type="none" w="sm" len="sm"/>
          </a:ln>
        </p:spPr>
        <p:txBody>
          <a:bodyPr spcFirstLastPara="1" wrap="square" lIns="77300" tIns="77300" rIns="77300" bIns="773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800" b="1" i="0" u="none" strike="noStrike" kern="1200" cap="none" spc="0" normalizeH="0" baseline="0" noProof="0" dirty="0">
                <a:ln>
                  <a:noFill/>
                </a:ln>
                <a:effectLst/>
                <a:uLnTx/>
                <a:uFillTx/>
                <a:latin typeface="+mj-lt"/>
                <a:ea typeface="Red Hat Display"/>
                <a:cs typeface="Red Hat Display"/>
                <a:sym typeface="Red Hat Display"/>
              </a:rPr>
              <a:t>Optional / as needed step</a:t>
            </a:r>
            <a:endParaRPr kumimoji="0" sz="800" b="1" i="0" u="none" strike="noStrike" kern="1200" cap="none" spc="0" normalizeH="0" baseline="0" noProof="0" dirty="0">
              <a:ln>
                <a:noFill/>
              </a:ln>
              <a:effectLst/>
              <a:uLnTx/>
              <a:uFillTx/>
              <a:latin typeface="+mj-lt"/>
              <a:ea typeface="Red Hat Display"/>
              <a:cs typeface="Red Hat Display"/>
              <a:sym typeface="Red Hat Display"/>
            </a:endParaRPr>
          </a:p>
        </p:txBody>
      </p:sp>
      <p:sp>
        <p:nvSpPr>
          <p:cNvPr id="80" name="Google Shape;1650;p96">
            <a:extLst>
              <a:ext uri="{FF2B5EF4-FFF2-40B4-BE49-F238E27FC236}">
                <a16:creationId xmlns:a16="http://schemas.microsoft.com/office/drawing/2014/main" id="{13730A49-B380-355B-B7E4-167C865931AF}"/>
              </a:ext>
            </a:extLst>
          </p:cNvPr>
          <p:cNvSpPr txBox="1"/>
          <p:nvPr/>
        </p:nvSpPr>
        <p:spPr>
          <a:xfrm>
            <a:off x="2213894" y="5591259"/>
            <a:ext cx="1650300" cy="175200"/>
          </a:xfrm>
          <a:prstGeom prst="rect">
            <a:avLst/>
          </a:prstGeom>
          <a:noFill/>
          <a:ln>
            <a:noFill/>
          </a:ln>
        </p:spPr>
        <p:txBody>
          <a:bodyPr spcFirstLastPara="1" wrap="square" lIns="75575" tIns="75575" rIns="75575" bIns="7557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 sz="800" b="0" i="0" u="none" strike="noStrike" kern="1200" cap="none" spc="0" normalizeH="0" baseline="0" noProof="0" dirty="0">
                <a:ln>
                  <a:noFill/>
                </a:ln>
                <a:effectLst/>
                <a:uLnTx/>
                <a:uFillTx/>
                <a:latin typeface="+mj-lt"/>
                <a:ea typeface="Red Hat Display"/>
                <a:cs typeface="Red Hat Display"/>
                <a:sym typeface="Red Hat Display"/>
              </a:rPr>
              <a:t>Process flow shape key:</a:t>
            </a:r>
            <a:endParaRPr kumimoji="0" sz="800" b="0" i="0" u="none" strike="noStrike" kern="1200" cap="none" spc="0" normalizeH="0" baseline="0" noProof="0" dirty="0">
              <a:ln>
                <a:noFill/>
              </a:ln>
              <a:effectLst/>
              <a:uLnTx/>
              <a:uFillTx/>
              <a:latin typeface="+mj-lt"/>
              <a:ea typeface="Red Hat Display"/>
              <a:cs typeface="Red Hat Display"/>
              <a:sym typeface="Red Hat Display"/>
            </a:endParaRPr>
          </a:p>
        </p:txBody>
      </p:sp>
      <p:sp>
        <p:nvSpPr>
          <p:cNvPr id="82" name="Google Shape;1646;p96">
            <a:extLst>
              <a:ext uri="{FF2B5EF4-FFF2-40B4-BE49-F238E27FC236}">
                <a16:creationId xmlns:a16="http://schemas.microsoft.com/office/drawing/2014/main" id="{BA9B22EF-3B23-BE91-C579-DB6CA76CCD83}"/>
              </a:ext>
            </a:extLst>
          </p:cNvPr>
          <p:cNvSpPr/>
          <p:nvPr/>
        </p:nvSpPr>
        <p:spPr>
          <a:xfrm>
            <a:off x="6710086" y="5951951"/>
            <a:ext cx="887700" cy="250800"/>
          </a:xfrm>
          <a:prstGeom prst="rect">
            <a:avLst/>
          </a:prstGeom>
          <a:solidFill>
            <a:schemeClr val="accent2">
              <a:lumMod val="40000"/>
              <a:lumOff val="60000"/>
            </a:schemeClr>
          </a:solidFill>
          <a:ln w="3175" cap="flat" cmpd="sng">
            <a:solidFill>
              <a:schemeClr val="tx2"/>
            </a:solidFill>
            <a:prstDash val="solid"/>
            <a:round/>
            <a:headEnd type="none" w="sm" len="sm"/>
            <a:tailEnd type="none" w="sm" len="sm"/>
          </a:ln>
        </p:spPr>
        <p:txBody>
          <a:bodyPr spcFirstLastPara="1" wrap="square" lIns="77300" tIns="77300" rIns="77300" bIns="773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Tx/>
              <a:buNone/>
              <a:tabLst/>
              <a:defRPr/>
            </a:pPr>
            <a:r>
              <a:rPr kumimoji="0" lang="en-US" sz="700" b="1" i="0" u="none" strike="noStrike" kern="1200" cap="none" spc="0" normalizeH="0" baseline="0" noProof="0" dirty="0">
                <a:ln>
                  <a:noFill/>
                </a:ln>
                <a:effectLst/>
                <a:uLnTx/>
                <a:uFillTx/>
                <a:latin typeface="+mj-lt"/>
                <a:ea typeface="Red Hat Display"/>
                <a:cs typeface="Poppins"/>
                <a:sym typeface="Red Hat Display"/>
              </a:rPr>
              <a:t>Client</a:t>
            </a:r>
            <a:endParaRPr kumimoji="0" lang="en-US" sz="700" b="1" i="0" u="none" strike="noStrike" kern="1200" cap="none" spc="0" normalizeH="0" baseline="0" noProof="0" dirty="0">
              <a:ln>
                <a:noFill/>
              </a:ln>
              <a:effectLst/>
              <a:uLnTx/>
              <a:uFillTx/>
              <a:latin typeface="+mj-lt"/>
              <a:ea typeface="Red Hat Display"/>
              <a:cs typeface="Poppins" panose="00000500000000000000" pitchFamily="2" charset="0"/>
              <a:sym typeface="Red Hat Display"/>
            </a:endParaRPr>
          </a:p>
        </p:txBody>
      </p:sp>
      <p:sp>
        <p:nvSpPr>
          <p:cNvPr id="83" name="Google Shape;1646;p96">
            <a:extLst>
              <a:ext uri="{FF2B5EF4-FFF2-40B4-BE49-F238E27FC236}">
                <a16:creationId xmlns:a16="http://schemas.microsoft.com/office/drawing/2014/main" id="{837EC51F-739D-94E3-CFC2-5EDFF19D2BB5}"/>
              </a:ext>
            </a:extLst>
          </p:cNvPr>
          <p:cNvSpPr/>
          <p:nvPr/>
        </p:nvSpPr>
        <p:spPr>
          <a:xfrm>
            <a:off x="5677493" y="5951951"/>
            <a:ext cx="887700" cy="250800"/>
          </a:xfrm>
          <a:prstGeom prst="rect">
            <a:avLst/>
          </a:prstGeom>
          <a:solidFill>
            <a:schemeClr val="accent3">
              <a:lumMod val="60000"/>
              <a:lumOff val="40000"/>
            </a:schemeClr>
          </a:solidFill>
          <a:ln w="3175" cap="flat" cmpd="sng">
            <a:solidFill>
              <a:schemeClr val="tx2"/>
            </a:solidFill>
            <a:prstDash val="solid"/>
            <a:round/>
            <a:headEnd type="none" w="sm" len="sm"/>
            <a:tailEnd type="none" w="sm" len="sm"/>
          </a:ln>
        </p:spPr>
        <p:txBody>
          <a:bodyPr spcFirstLastPara="1" wrap="square" lIns="77300" tIns="77300" rIns="77300" bIns="773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Tx/>
              <a:buNone/>
              <a:tabLst/>
              <a:defRPr/>
            </a:pPr>
            <a:r>
              <a:rPr kumimoji="0" lang="en" sz="700" b="1" i="0" u="none" strike="noStrike" kern="1200" cap="none" spc="0" normalizeH="0" baseline="0" noProof="0" dirty="0">
                <a:ln>
                  <a:noFill/>
                </a:ln>
                <a:solidFill>
                  <a:schemeClr val="bg1"/>
                </a:solidFill>
                <a:effectLst/>
                <a:uLnTx/>
                <a:uFillTx/>
                <a:latin typeface="+mj-lt"/>
                <a:ea typeface="Red Hat Display"/>
                <a:cs typeface="Poppins"/>
                <a:sym typeface="Red Hat Display"/>
              </a:rPr>
              <a:t>HC Dev / Analytics</a:t>
            </a:r>
            <a:endParaRPr kumimoji="0" sz="700" b="1" i="0" u="none" strike="noStrike" kern="1200" cap="none" spc="0" normalizeH="0" baseline="0" noProof="0" dirty="0">
              <a:ln>
                <a:noFill/>
              </a:ln>
              <a:solidFill>
                <a:schemeClr val="bg1"/>
              </a:solidFill>
              <a:effectLst/>
              <a:uLnTx/>
              <a:uFillTx/>
              <a:latin typeface="+mj-lt"/>
              <a:ea typeface="Red Hat Display"/>
              <a:cs typeface="Poppins"/>
              <a:sym typeface="Red Hat Display"/>
            </a:endParaRPr>
          </a:p>
        </p:txBody>
      </p:sp>
      <p:sp>
        <p:nvSpPr>
          <p:cNvPr id="84" name="Google Shape;1646;p96">
            <a:extLst>
              <a:ext uri="{FF2B5EF4-FFF2-40B4-BE49-F238E27FC236}">
                <a16:creationId xmlns:a16="http://schemas.microsoft.com/office/drawing/2014/main" id="{47727B02-4473-4874-12BE-18D2798CFB04}"/>
              </a:ext>
            </a:extLst>
          </p:cNvPr>
          <p:cNvSpPr/>
          <p:nvPr/>
        </p:nvSpPr>
        <p:spPr>
          <a:xfrm>
            <a:off x="4644899" y="5951951"/>
            <a:ext cx="887700" cy="250800"/>
          </a:xfrm>
          <a:prstGeom prst="rect">
            <a:avLst/>
          </a:prstGeom>
          <a:solidFill>
            <a:schemeClr val="accent1"/>
          </a:solidFill>
          <a:ln w="3175" cap="flat" cmpd="sng">
            <a:solidFill>
              <a:schemeClr val="tx2"/>
            </a:solidFill>
            <a:prstDash val="solid"/>
            <a:round/>
            <a:headEnd type="none" w="sm" len="sm"/>
            <a:tailEnd type="none" w="sm" len="sm"/>
          </a:ln>
        </p:spPr>
        <p:txBody>
          <a:bodyPr spcFirstLastPara="1" wrap="square" lIns="77300" tIns="77300" rIns="77300" bIns="773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Tx/>
              <a:buNone/>
              <a:tabLst/>
              <a:defRPr/>
            </a:pPr>
            <a:r>
              <a:rPr kumimoji="0" lang="en" sz="700" b="1" i="0" u="none" strike="noStrike" kern="1200" cap="none" spc="0" normalizeH="0" baseline="0" noProof="0" dirty="0">
                <a:ln>
                  <a:noFill/>
                </a:ln>
                <a:solidFill>
                  <a:schemeClr val="bg1"/>
                </a:solidFill>
                <a:effectLst/>
                <a:uLnTx/>
                <a:uFillTx/>
                <a:latin typeface="+mj-lt"/>
                <a:ea typeface="Red Hat Display"/>
                <a:cs typeface="Poppins"/>
                <a:sym typeface="Red Hat Display"/>
              </a:rPr>
              <a:t>HC Design</a:t>
            </a:r>
            <a:endParaRPr kumimoji="0" sz="700" b="1" i="0" u="none" strike="noStrike" kern="1200" cap="none" spc="0" normalizeH="0" baseline="0" noProof="0" dirty="0">
              <a:ln>
                <a:noFill/>
              </a:ln>
              <a:solidFill>
                <a:schemeClr val="bg1"/>
              </a:solidFill>
              <a:effectLst/>
              <a:uLnTx/>
              <a:uFillTx/>
              <a:latin typeface="+mj-lt"/>
              <a:ea typeface="Red Hat Display"/>
              <a:cs typeface="Poppins"/>
              <a:sym typeface="Red Hat Display"/>
            </a:endParaRPr>
          </a:p>
        </p:txBody>
      </p:sp>
      <p:sp>
        <p:nvSpPr>
          <p:cNvPr id="85" name="Google Shape;1646;p96">
            <a:extLst>
              <a:ext uri="{FF2B5EF4-FFF2-40B4-BE49-F238E27FC236}">
                <a16:creationId xmlns:a16="http://schemas.microsoft.com/office/drawing/2014/main" id="{FD92454B-5EE2-ADAB-A81A-DC1977707900}"/>
              </a:ext>
            </a:extLst>
          </p:cNvPr>
          <p:cNvSpPr/>
          <p:nvPr/>
        </p:nvSpPr>
        <p:spPr>
          <a:xfrm>
            <a:off x="3612305" y="5951951"/>
            <a:ext cx="887700" cy="250800"/>
          </a:xfrm>
          <a:prstGeom prst="rect">
            <a:avLst/>
          </a:prstGeom>
          <a:solidFill>
            <a:schemeClr val="bg1"/>
          </a:solidFill>
          <a:ln w="3175" cap="flat" cmpd="sng">
            <a:solidFill>
              <a:schemeClr val="tx2"/>
            </a:solidFill>
            <a:prstDash val="solid"/>
            <a:round/>
            <a:headEnd type="none" w="sm" len="sm"/>
            <a:tailEnd type="none" w="sm" len="sm"/>
          </a:ln>
        </p:spPr>
        <p:txBody>
          <a:bodyPr spcFirstLastPara="1" wrap="square" lIns="77300" tIns="77300" rIns="77300" bIns="773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Tx/>
              <a:buNone/>
              <a:tabLst/>
              <a:defRPr/>
            </a:pPr>
            <a:r>
              <a:rPr kumimoji="0" lang="en" sz="700" b="1" i="0" u="none" strike="noStrike" kern="1200" cap="none" spc="0" normalizeH="0" baseline="0" noProof="0" dirty="0">
                <a:ln>
                  <a:noFill/>
                </a:ln>
                <a:effectLst/>
                <a:uLnTx/>
                <a:uFillTx/>
                <a:latin typeface="+mj-lt"/>
                <a:ea typeface="Red Hat Display"/>
                <a:cs typeface="Poppins"/>
                <a:sym typeface="Red Hat Display"/>
              </a:rPr>
              <a:t>HC CRO</a:t>
            </a:r>
            <a:endParaRPr kumimoji="0" sz="700" b="1" i="0" u="none" strike="noStrike" kern="1200" cap="none" spc="0" normalizeH="0" baseline="0" noProof="0" dirty="0">
              <a:ln>
                <a:noFill/>
              </a:ln>
              <a:effectLst/>
              <a:uLnTx/>
              <a:uFillTx/>
              <a:latin typeface="+mj-lt"/>
              <a:ea typeface="Red Hat Display"/>
              <a:cs typeface="Poppins"/>
              <a:sym typeface="Red Hat Display"/>
            </a:endParaRPr>
          </a:p>
        </p:txBody>
      </p:sp>
      <p:sp>
        <p:nvSpPr>
          <p:cNvPr id="86" name="Google Shape;1650;p96">
            <a:extLst>
              <a:ext uri="{FF2B5EF4-FFF2-40B4-BE49-F238E27FC236}">
                <a16:creationId xmlns:a16="http://schemas.microsoft.com/office/drawing/2014/main" id="{E9C6564C-CE8C-14C9-F943-B4CEDAE52005}"/>
              </a:ext>
            </a:extLst>
          </p:cNvPr>
          <p:cNvSpPr txBox="1"/>
          <p:nvPr/>
        </p:nvSpPr>
        <p:spPr>
          <a:xfrm>
            <a:off x="2203007" y="5956090"/>
            <a:ext cx="1650300" cy="175200"/>
          </a:xfrm>
          <a:prstGeom prst="rect">
            <a:avLst/>
          </a:prstGeom>
          <a:noFill/>
          <a:ln>
            <a:noFill/>
          </a:ln>
        </p:spPr>
        <p:txBody>
          <a:bodyPr spcFirstLastPara="1" wrap="square" lIns="75575" tIns="75575" rIns="75575" bIns="7557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 sz="800" b="0" i="0" u="none" strike="noStrike" kern="1200" cap="none" spc="0" normalizeH="0" baseline="0" noProof="0" dirty="0">
                <a:ln>
                  <a:noFill/>
                </a:ln>
                <a:effectLst/>
                <a:uLnTx/>
                <a:uFillTx/>
                <a:latin typeface="+mj-lt"/>
                <a:ea typeface="Red Hat Display"/>
                <a:cs typeface="Red Hat Display"/>
                <a:sym typeface="Red Hat Display"/>
              </a:rPr>
              <a:t>Process step owner key:</a:t>
            </a:r>
            <a:endParaRPr kumimoji="0" sz="800" b="0" i="0" u="none" strike="noStrike" kern="1200" cap="none" spc="0" normalizeH="0" baseline="0" noProof="0" dirty="0">
              <a:ln>
                <a:noFill/>
              </a:ln>
              <a:effectLst/>
              <a:uLnTx/>
              <a:uFillTx/>
              <a:latin typeface="+mj-lt"/>
              <a:ea typeface="Red Hat Display"/>
              <a:cs typeface="Red Hat Display"/>
              <a:sym typeface="Red Hat Display"/>
            </a:endParaRPr>
          </a:p>
        </p:txBody>
      </p:sp>
      <p:sp>
        <p:nvSpPr>
          <p:cNvPr id="116" name="Google Shape;1646;p96">
            <a:extLst>
              <a:ext uri="{FF2B5EF4-FFF2-40B4-BE49-F238E27FC236}">
                <a16:creationId xmlns:a16="http://schemas.microsoft.com/office/drawing/2014/main" id="{F7E953EB-8521-B6F5-AEA0-3532ED24AB20}"/>
              </a:ext>
            </a:extLst>
          </p:cNvPr>
          <p:cNvSpPr/>
          <p:nvPr/>
        </p:nvSpPr>
        <p:spPr>
          <a:xfrm>
            <a:off x="7742679" y="5951951"/>
            <a:ext cx="887700" cy="250800"/>
          </a:xfrm>
          <a:prstGeom prst="rect">
            <a:avLst/>
          </a:prstGeom>
          <a:solidFill>
            <a:schemeClr val="accent5">
              <a:lumMod val="40000"/>
              <a:lumOff val="60000"/>
            </a:schemeClr>
          </a:solidFill>
          <a:ln w="3175" cap="flat" cmpd="sng">
            <a:solidFill>
              <a:schemeClr val="tx2"/>
            </a:solidFill>
            <a:prstDash val="solid"/>
            <a:round/>
            <a:headEnd type="none" w="sm" len="sm"/>
            <a:tailEnd type="none" w="sm" len="sm"/>
          </a:ln>
        </p:spPr>
        <p:txBody>
          <a:bodyPr spcFirstLastPara="1" wrap="square" lIns="77300" tIns="77300" rIns="77300" bIns="773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Tx/>
              <a:buNone/>
              <a:tabLst/>
              <a:defRPr/>
            </a:pPr>
            <a:r>
              <a:rPr kumimoji="0" lang="en" sz="700" b="1" i="0" u="none" strike="noStrike" kern="1200" cap="none" spc="0" normalizeH="0" baseline="0" noProof="0" dirty="0">
                <a:ln>
                  <a:noFill/>
                </a:ln>
                <a:effectLst/>
                <a:uLnTx/>
                <a:uFillTx/>
                <a:latin typeface="+mj-lt"/>
                <a:ea typeface="Red Hat Display"/>
                <a:cs typeface="Poppins"/>
                <a:sym typeface="Red Hat Display"/>
              </a:rPr>
              <a:t>HC CX</a:t>
            </a:r>
            <a:endParaRPr kumimoji="0" sz="700" b="1" i="0" u="none" strike="noStrike" kern="1200" cap="none" spc="0" normalizeH="0" baseline="0" noProof="0" dirty="0">
              <a:ln>
                <a:noFill/>
              </a:ln>
              <a:effectLst/>
              <a:uLnTx/>
              <a:uFillTx/>
              <a:latin typeface="+mj-lt"/>
              <a:ea typeface="Red Hat Display"/>
              <a:cs typeface="Poppins"/>
              <a:sym typeface="Red Hat Display"/>
            </a:endParaRPr>
          </a:p>
        </p:txBody>
      </p:sp>
      <p:sp>
        <p:nvSpPr>
          <p:cNvPr id="15" name="Google Shape;1607;p96">
            <a:extLst>
              <a:ext uri="{FF2B5EF4-FFF2-40B4-BE49-F238E27FC236}">
                <a16:creationId xmlns:a16="http://schemas.microsoft.com/office/drawing/2014/main" id="{8DCC9540-9AE9-D6F0-2F34-3ED03E06B0DD}"/>
              </a:ext>
            </a:extLst>
          </p:cNvPr>
          <p:cNvSpPr/>
          <p:nvPr/>
        </p:nvSpPr>
        <p:spPr>
          <a:xfrm>
            <a:off x="855012" y="3925853"/>
            <a:ext cx="10422000" cy="548640"/>
          </a:xfrm>
          <a:prstGeom prst="roundRect">
            <a:avLst>
              <a:gd name="adj" fmla="val 16667"/>
            </a:avLst>
          </a:prstGeom>
          <a:solidFill>
            <a:schemeClr val="bg1">
              <a:lumMod val="65000"/>
            </a:schemeClr>
          </a:solidFill>
          <a:ln>
            <a:noFill/>
          </a:ln>
        </p:spPr>
        <p:txBody>
          <a:bodyPr spcFirstLastPara="1" wrap="square" lIns="77300" tIns="77300" rIns="77300" bIns="773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002477"/>
              </a:solidFill>
              <a:effectLst/>
              <a:uLnTx/>
              <a:uFillTx/>
              <a:latin typeface="+mj-lt"/>
              <a:ea typeface="Arial"/>
              <a:cs typeface="Arial"/>
              <a:sym typeface="Arial"/>
            </a:endParaRPr>
          </a:p>
        </p:txBody>
      </p:sp>
      <p:sp>
        <p:nvSpPr>
          <p:cNvPr id="16" name="Google Shape;1645;p96">
            <a:extLst>
              <a:ext uri="{FF2B5EF4-FFF2-40B4-BE49-F238E27FC236}">
                <a16:creationId xmlns:a16="http://schemas.microsoft.com/office/drawing/2014/main" id="{789BA953-831D-7468-A549-ED2BED2F9113}"/>
              </a:ext>
            </a:extLst>
          </p:cNvPr>
          <p:cNvSpPr txBox="1"/>
          <p:nvPr/>
        </p:nvSpPr>
        <p:spPr>
          <a:xfrm>
            <a:off x="910328" y="4025123"/>
            <a:ext cx="1895400" cy="350100"/>
          </a:xfrm>
          <a:prstGeom prst="rect">
            <a:avLst/>
          </a:prstGeom>
          <a:noFill/>
          <a:ln>
            <a:noFill/>
          </a:ln>
        </p:spPr>
        <p:txBody>
          <a:bodyPr spcFirstLastPara="1" wrap="square" lIns="77300" tIns="77300" rIns="77300" bIns="773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 sz="1200" b="0" i="0" u="none" strike="noStrike" kern="1200" cap="none" spc="0" normalizeH="0" baseline="0" noProof="0">
                <a:ln>
                  <a:noFill/>
                </a:ln>
                <a:effectLst/>
                <a:uLnTx/>
                <a:uFillTx/>
                <a:latin typeface="+mj-lt"/>
                <a:ea typeface="Red Hat Display"/>
                <a:cs typeface="Red Hat Display"/>
                <a:sym typeface="Red Hat Display"/>
              </a:rPr>
              <a:t>Analysis</a:t>
            </a:r>
            <a:endParaRPr kumimoji="0" sz="1200" b="0" i="0" u="none" strike="noStrike" kern="1200" cap="none" spc="0" normalizeH="0" baseline="0" noProof="0">
              <a:ln>
                <a:noFill/>
              </a:ln>
              <a:effectLst/>
              <a:uLnTx/>
              <a:uFillTx/>
              <a:latin typeface="+mj-lt"/>
              <a:ea typeface="Red Hat Display"/>
              <a:cs typeface="Red Hat Display"/>
              <a:sym typeface="Red Hat Display"/>
            </a:endParaRPr>
          </a:p>
        </p:txBody>
      </p:sp>
      <p:sp>
        <p:nvSpPr>
          <p:cNvPr id="18" name="Google Shape;1655;p96">
            <a:extLst>
              <a:ext uri="{FF2B5EF4-FFF2-40B4-BE49-F238E27FC236}">
                <a16:creationId xmlns:a16="http://schemas.microsoft.com/office/drawing/2014/main" id="{CF3C1CB0-173D-AED8-8B7E-0DCF5FAC350A}"/>
              </a:ext>
            </a:extLst>
          </p:cNvPr>
          <p:cNvSpPr/>
          <p:nvPr/>
        </p:nvSpPr>
        <p:spPr>
          <a:xfrm>
            <a:off x="9780647" y="4033073"/>
            <a:ext cx="1281811" cy="334200"/>
          </a:xfrm>
          <a:prstGeom prst="rect">
            <a:avLst/>
          </a:prstGeom>
          <a:solidFill>
            <a:srgbClr val="FFFFFF"/>
          </a:solidFill>
          <a:ln w="9525" cap="flat" cmpd="sng">
            <a:solidFill>
              <a:schemeClr val="tx1"/>
            </a:solidFill>
            <a:prstDash val="solid"/>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dirty="0">
                <a:ln>
                  <a:noFill/>
                </a:ln>
                <a:effectLst/>
                <a:uLnTx/>
                <a:uFillTx/>
                <a:latin typeface="+mj-lt"/>
                <a:ea typeface="Red Hat Display"/>
                <a:cs typeface="Red Hat Display"/>
                <a:sym typeface="Red Hat Display"/>
              </a:rPr>
              <a:t>Learnings Captured To Inform Iteration</a:t>
            </a:r>
            <a:endParaRPr kumimoji="0" sz="900" b="0" i="0" u="none" strike="noStrike" kern="1200" cap="none" spc="0" normalizeH="0" baseline="0" noProof="0" dirty="0">
              <a:ln>
                <a:noFill/>
              </a:ln>
              <a:effectLst/>
              <a:uLnTx/>
              <a:uFillTx/>
              <a:latin typeface="+mj-lt"/>
              <a:ea typeface="Red Hat Display"/>
              <a:cs typeface="Red Hat Display"/>
              <a:sym typeface="Red Hat Display"/>
            </a:endParaRPr>
          </a:p>
        </p:txBody>
      </p:sp>
      <p:cxnSp>
        <p:nvCxnSpPr>
          <p:cNvPr id="19" name="Google Shape;1657;p96">
            <a:extLst>
              <a:ext uri="{FF2B5EF4-FFF2-40B4-BE49-F238E27FC236}">
                <a16:creationId xmlns:a16="http://schemas.microsoft.com/office/drawing/2014/main" id="{F515E08C-D0B9-2612-D8C8-D71B49C0DD58}"/>
              </a:ext>
            </a:extLst>
          </p:cNvPr>
          <p:cNvCxnSpPr>
            <a:cxnSpLocks/>
            <a:endCxn id="25" idx="1"/>
          </p:cNvCxnSpPr>
          <p:nvPr/>
        </p:nvCxnSpPr>
        <p:spPr>
          <a:xfrm>
            <a:off x="2954117" y="4200173"/>
            <a:ext cx="2205870" cy="0"/>
          </a:xfrm>
          <a:prstGeom prst="straightConnector1">
            <a:avLst/>
          </a:prstGeom>
          <a:noFill/>
          <a:ln w="28575" cap="flat" cmpd="sng">
            <a:solidFill>
              <a:srgbClr val="FFFFFF"/>
            </a:solidFill>
            <a:prstDash val="solid"/>
            <a:round/>
            <a:headEnd type="none" w="sm" len="sm"/>
            <a:tailEnd type="triangle" w="med" len="med"/>
          </a:ln>
        </p:spPr>
      </p:cxnSp>
      <p:cxnSp>
        <p:nvCxnSpPr>
          <p:cNvPr id="20" name="Google Shape;1661;p96">
            <a:extLst>
              <a:ext uri="{FF2B5EF4-FFF2-40B4-BE49-F238E27FC236}">
                <a16:creationId xmlns:a16="http://schemas.microsoft.com/office/drawing/2014/main" id="{F19F7DD5-C02D-7643-437C-0F5FA970914F}"/>
              </a:ext>
            </a:extLst>
          </p:cNvPr>
          <p:cNvCxnSpPr>
            <a:cxnSpLocks/>
            <a:stCxn id="23" idx="3"/>
            <a:endCxn id="18" idx="1"/>
          </p:cNvCxnSpPr>
          <p:nvPr/>
        </p:nvCxnSpPr>
        <p:spPr>
          <a:xfrm>
            <a:off x="8716040" y="4200173"/>
            <a:ext cx="1064607" cy="0"/>
          </a:xfrm>
          <a:prstGeom prst="straightConnector1">
            <a:avLst/>
          </a:prstGeom>
          <a:noFill/>
          <a:ln w="28575" cap="flat" cmpd="sng">
            <a:solidFill>
              <a:srgbClr val="FFFFFF"/>
            </a:solidFill>
            <a:prstDash val="solid"/>
            <a:round/>
            <a:headEnd type="none" w="sm" len="sm"/>
            <a:tailEnd type="triangle" w="med" len="med"/>
          </a:ln>
        </p:spPr>
      </p:cxnSp>
      <p:sp>
        <p:nvSpPr>
          <p:cNvPr id="22" name="Google Shape;1658;p96">
            <a:extLst>
              <a:ext uri="{FF2B5EF4-FFF2-40B4-BE49-F238E27FC236}">
                <a16:creationId xmlns:a16="http://schemas.microsoft.com/office/drawing/2014/main" id="{AC07AE2C-5A3B-EB9B-3364-F2D09634EE6F}"/>
              </a:ext>
            </a:extLst>
          </p:cNvPr>
          <p:cNvSpPr/>
          <p:nvPr/>
        </p:nvSpPr>
        <p:spPr>
          <a:xfrm>
            <a:off x="2631031" y="4033210"/>
            <a:ext cx="1325064" cy="333926"/>
          </a:xfrm>
          <a:prstGeom prst="flowChartPredefinedProcess">
            <a:avLst/>
          </a:prstGeom>
          <a:solidFill>
            <a:srgbClr val="FFFFFF"/>
          </a:solidFill>
          <a:ln w="9525" cap="flat" cmpd="sng">
            <a:solidFill>
              <a:schemeClr val="tx1"/>
            </a:solidFill>
            <a:prstDash val="solid"/>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dirty="0">
                <a:ln>
                  <a:noFill/>
                </a:ln>
                <a:effectLst/>
                <a:uLnTx/>
                <a:uFillTx/>
                <a:latin typeface="+mj-lt"/>
                <a:ea typeface="Red Hat Display"/>
                <a:cs typeface="Red Hat Display"/>
                <a:sym typeface="Red Hat Display"/>
              </a:rPr>
              <a:t>Win/Loss Assessment</a:t>
            </a:r>
            <a:endParaRPr kumimoji="0" sz="900" b="0" i="0" u="none" strike="noStrike" kern="1200" cap="none" spc="0" normalizeH="0" baseline="0" noProof="0" dirty="0">
              <a:ln>
                <a:noFill/>
              </a:ln>
              <a:effectLst/>
              <a:uLnTx/>
              <a:uFillTx/>
              <a:latin typeface="+mj-lt"/>
              <a:ea typeface="Red Hat Display"/>
              <a:cs typeface="Red Hat Display"/>
              <a:sym typeface="Red Hat Display"/>
            </a:endParaRPr>
          </a:p>
        </p:txBody>
      </p:sp>
      <p:sp>
        <p:nvSpPr>
          <p:cNvPr id="23" name="Google Shape;1614;p96">
            <a:extLst>
              <a:ext uri="{FF2B5EF4-FFF2-40B4-BE49-F238E27FC236}">
                <a16:creationId xmlns:a16="http://schemas.microsoft.com/office/drawing/2014/main" id="{CB30B8F3-3FB3-7EC9-616B-69D1E5FDAEC9}"/>
              </a:ext>
            </a:extLst>
          </p:cNvPr>
          <p:cNvSpPr/>
          <p:nvPr/>
        </p:nvSpPr>
        <p:spPr>
          <a:xfrm>
            <a:off x="7383346" y="4033215"/>
            <a:ext cx="1332694" cy="333916"/>
          </a:xfrm>
          <a:prstGeom prst="rect">
            <a:avLst/>
          </a:prstGeom>
          <a:solidFill>
            <a:schemeClr val="bg1"/>
          </a:solidFill>
          <a:ln w="9525" cap="flat" cmpd="sng">
            <a:solidFill>
              <a:schemeClr val="tx1"/>
            </a:solidFill>
            <a:prstDash val="solid"/>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Tx/>
              <a:buNone/>
              <a:tabLst/>
              <a:defRPr/>
            </a:pPr>
            <a:r>
              <a:rPr kumimoji="0" lang="en" sz="900" b="0" i="0" u="none" strike="noStrike" kern="1200" cap="none" spc="0" normalizeH="0" baseline="0" noProof="0" dirty="0">
                <a:ln>
                  <a:noFill/>
                </a:ln>
                <a:effectLst/>
                <a:uLnTx/>
                <a:uFillTx/>
                <a:latin typeface="+mj-lt"/>
                <a:ea typeface="+mn-ea"/>
                <a:cs typeface="+mn-cs"/>
                <a:sym typeface="Red Hat Display"/>
              </a:rPr>
              <a:t>Winning Experience Maintained on Site</a:t>
            </a:r>
            <a:endParaRPr kumimoji="0" sz="900" b="0" i="0" u="none" strike="noStrike" kern="1200" cap="none" spc="0" normalizeH="0" baseline="0" noProof="0" dirty="0">
              <a:ln>
                <a:noFill/>
              </a:ln>
              <a:effectLst/>
              <a:uLnTx/>
              <a:uFillTx/>
              <a:latin typeface="+mj-lt"/>
              <a:ea typeface="+mn-ea"/>
              <a:cs typeface="+mn-cs"/>
              <a:sym typeface="Red Hat Display"/>
            </a:endParaRPr>
          </a:p>
        </p:txBody>
      </p:sp>
      <p:cxnSp>
        <p:nvCxnSpPr>
          <p:cNvPr id="24" name="Google Shape;1663;p96">
            <a:extLst>
              <a:ext uri="{FF2B5EF4-FFF2-40B4-BE49-F238E27FC236}">
                <a16:creationId xmlns:a16="http://schemas.microsoft.com/office/drawing/2014/main" id="{CEDADD9F-3580-C41A-2FFE-C5C07E95FCBD}"/>
              </a:ext>
            </a:extLst>
          </p:cNvPr>
          <p:cNvCxnSpPr>
            <a:cxnSpLocks/>
            <a:stCxn id="25" idx="3"/>
            <a:endCxn id="23" idx="1"/>
          </p:cNvCxnSpPr>
          <p:nvPr/>
        </p:nvCxnSpPr>
        <p:spPr>
          <a:xfrm>
            <a:off x="6149483" y="4200173"/>
            <a:ext cx="1233863" cy="0"/>
          </a:xfrm>
          <a:prstGeom prst="straightConnector1">
            <a:avLst/>
          </a:prstGeom>
          <a:noFill/>
          <a:ln w="28575" cap="flat" cmpd="sng">
            <a:solidFill>
              <a:srgbClr val="FFFFFF"/>
            </a:solidFill>
            <a:prstDash val="solid"/>
            <a:round/>
            <a:headEnd type="none" w="sm" len="sm"/>
            <a:tailEnd type="triangle" w="med" len="med"/>
          </a:ln>
        </p:spPr>
      </p:cxnSp>
      <p:sp>
        <p:nvSpPr>
          <p:cNvPr id="25" name="Google Shape;1662;p96">
            <a:extLst>
              <a:ext uri="{FF2B5EF4-FFF2-40B4-BE49-F238E27FC236}">
                <a16:creationId xmlns:a16="http://schemas.microsoft.com/office/drawing/2014/main" id="{B61F6651-8889-C7A6-278E-71F51CC97BB4}"/>
              </a:ext>
            </a:extLst>
          </p:cNvPr>
          <p:cNvSpPr/>
          <p:nvPr/>
        </p:nvSpPr>
        <p:spPr>
          <a:xfrm>
            <a:off x="5159987" y="4033205"/>
            <a:ext cx="989496" cy="333936"/>
          </a:xfrm>
          <a:prstGeom prst="flowChartDocument">
            <a:avLst/>
          </a:prstGeom>
          <a:solidFill>
            <a:srgbClr val="FFFFFF"/>
          </a:solidFill>
          <a:ln w="9525" cap="flat" cmpd="sng">
            <a:solidFill>
              <a:schemeClr val="tx1"/>
            </a:solidFill>
            <a:prstDash val="solid"/>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a:ln>
                  <a:noFill/>
                </a:ln>
                <a:solidFill>
                  <a:srgbClr val="0070C0"/>
                </a:solidFill>
                <a:effectLst/>
                <a:uLnTx/>
                <a:uFillTx/>
                <a:latin typeface="+mj-lt"/>
                <a:ea typeface="Red Hat Display"/>
                <a:cs typeface="Red Hat Display"/>
                <a:sym typeface="Red Hat Display"/>
                <a:hlinkClick r:id="rId4">
                  <a:extLst>
                    <a:ext uri="{A12FA001-AC4F-418D-AE19-62706E023703}">
                      <ahyp:hlinkClr xmlns:ahyp="http://schemas.microsoft.com/office/drawing/2018/hyperlinkcolor" val="tx"/>
                    </a:ext>
                  </a:extLst>
                </a:hlinkClick>
              </a:rPr>
              <a:t>Test Results Delivered</a:t>
            </a:r>
            <a:endParaRPr kumimoji="0" sz="900" b="0" i="0" u="none" strike="noStrike" kern="1200" cap="none" spc="0" normalizeH="0" baseline="0" noProof="0">
              <a:ln>
                <a:noFill/>
              </a:ln>
              <a:solidFill>
                <a:srgbClr val="0070C0"/>
              </a:solidFill>
              <a:effectLst/>
              <a:uLnTx/>
              <a:uFillTx/>
              <a:latin typeface="+mj-lt"/>
              <a:ea typeface="Red Hat Display"/>
              <a:cs typeface="Red Hat Display"/>
              <a:sym typeface="Red Hat Display"/>
            </a:endParaRPr>
          </a:p>
        </p:txBody>
      </p:sp>
      <p:sp>
        <p:nvSpPr>
          <p:cNvPr id="66" name="Google Shape;1608;p96">
            <a:extLst>
              <a:ext uri="{FF2B5EF4-FFF2-40B4-BE49-F238E27FC236}">
                <a16:creationId xmlns:a16="http://schemas.microsoft.com/office/drawing/2014/main" id="{572D4984-18C1-0637-737F-056AB561C3B1}"/>
              </a:ext>
            </a:extLst>
          </p:cNvPr>
          <p:cNvSpPr/>
          <p:nvPr/>
        </p:nvSpPr>
        <p:spPr>
          <a:xfrm>
            <a:off x="855012" y="3323821"/>
            <a:ext cx="10396500" cy="548640"/>
          </a:xfrm>
          <a:prstGeom prst="roundRect">
            <a:avLst>
              <a:gd name="adj" fmla="val 16667"/>
            </a:avLst>
          </a:prstGeom>
          <a:solidFill>
            <a:schemeClr val="accent1"/>
          </a:solidFill>
          <a:ln>
            <a:noFill/>
          </a:ln>
        </p:spPr>
        <p:txBody>
          <a:bodyPr spcFirstLastPara="1" wrap="square" lIns="77300" tIns="77300" rIns="77300" bIns="773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sng" strike="noStrike" kern="1200" cap="none" spc="0" normalizeH="0" baseline="0" noProof="0">
              <a:ln>
                <a:noFill/>
              </a:ln>
              <a:solidFill>
                <a:srgbClr val="002477"/>
              </a:solidFill>
              <a:effectLst/>
              <a:uLnTx/>
              <a:uFillTx/>
              <a:latin typeface="+mj-lt"/>
              <a:ea typeface="Arial"/>
              <a:cs typeface="Arial"/>
              <a:sym typeface="Arial"/>
            </a:endParaRPr>
          </a:p>
        </p:txBody>
      </p:sp>
      <p:sp>
        <p:nvSpPr>
          <p:cNvPr id="67" name="Google Shape;1617;p96">
            <a:extLst>
              <a:ext uri="{FF2B5EF4-FFF2-40B4-BE49-F238E27FC236}">
                <a16:creationId xmlns:a16="http://schemas.microsoft.com/office/drawing/2014/main" id="{D580831F-391D-3455-C228-BF4DEB90289F}"/>
              </a:ext>
            </a:extLst>
          </p:cNvPr>
          <p:cNvSpPr/>
          <p:nvPr/>
        </p:nvSpPr>
        <p:spPr>
          <a:xfrm>
            <a:off x="5102713" y="3431041"/>
            <a:ext cx="1065062" cy="334200"/>
          </a:xfrm>
          <a:prstGeom prst="rect">
            <a:avLst/>
          </a:prstGeom>
          <a:solidFill>
            <a:srgbClr val="FFFFFF"/>
          </a:solidFill>
          <a:ln w="9525" cap="flat" cmpd="sng">
            <a:solidFill>
              <a:schemeClr val="tx1"/>
            </a:solidFill>
            <a:prstDash val="solid"/>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US" sz="900" b="0" i="0" u="none" strike="noStrike" kern="1200" cap="none" spc="0" normalizeH="0" baseline="0" noProof="0" dirty="0">
                <a:ln>
                  <a:noFill/>
                </a:ln>
                <a:effectLst/>
                <a:uLnTx/>
                <a:uFillTx/>
                <a:latin typeface="+mj-lt"/>
                <a:ea typeface="Red Hat Display"/>
                <a:cs typeface="Red Hat Display"/>
                <a:sym typeface="Red Hat Display"/>
              </a:rPr>
              <a:t>Monitor Guardrail Metrics</a:t>
            </a:r>
          </a:p>
        </p:txBody>
      </p:sp>
      <p:cxnSp>
        <p:nvCxnSpPr>
          <p:cNvPr id="68" name="Google Shape;1639;p96">
            <a:extLst>
              <a:ext uri="{FF2B5EF4-FFF2-40B4-BE49-F238E27FC236}">
                <a16:creationId xmlns:a16="http://schemas.microsoft.com/office/drawing/2014/main" id="{999EC5B4-715F-EFA4-33B3-F4D63E3F4943}"/>
              </a:ext>
            </a:extLst>
          </p:cNvPr>
          <p:cNvCxnSpPr>
            <a:cxnSpLocks/>
            <a:stCxn id="67" idx="3"/>
            <a:endCxn id="70" idx="1"/>
          </p:cNvCxnSpPr>
          <p:nvPr/>
        </p:nvCxnSpPr>
        <p:spPr>
          <a:xfrm>
            <a:off x="6167775" y="3598141"/>
            <a:ext cx="1502126" cy="0"/>
          </a:xfrm>
          <a:prstGeom prst="straightConnector1">
            <a:avLst/>
          </a:prstGeom>
          <a:noFill/>
          <a:ln w="28575" cap="flat" cmpd="sng">
            <a:solidFill>
              <a:srgbClr val="FFFFFF"/>
            </a:solidFill>
            <a:prstDash val="solid"/>
            <a:round/>
            <a:headEnd type="none" w="sm" len="sm"/>
            <a:tailEnd type="triangle" w="med" len="med"/>
          </a:ln>
        </p:spPr>
      </p:cxnSp>
      <p:sp>
        <p:nvSpPr>
          <p:cNvPr id="69" name="Google Shape;1644;p96">
            <a:extLst>
              <a:ext uri="{FF2B5EF4-FFF2-40B4-BE49-F238E27FC236}">
                <a16:creationId xmlns:a16="http://schemas.microsoft.com/office/drawing/2014/main" id="{9701BE32-6B34-4BDD-D4E4-7767F063A0B6}"/>
              </a:ext>
            </a:extLst>
          </p:cNvPr>
          <p:cNvSpPr txBox="1"/>
          <p:nvPr/>
        </p:nvSpPr>
        <p:spPr>
          <a:xfrm>
            <a:off x="910328" y="3423091"/>
            <a:ext cx="1895400" cy="350100"/>
          </a:xfrm>
          <a:prstGeom prst="rect">
            <a:avLst/>
          </a:prstGeom>
          <a:noFill/>
          <a:ln>
            <a:noFill/>
          </a:ln>
        </p:spPr>
        <p:txBody>
          <a:bodyPr spcFirstLastPara="1" wrap="square" lIns="77300" tIns="77300" rIns="77300" bIns="773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 sz="1200" b="0" i="0" u="none" strike="noStrike" kern="1200" cap="none" spc="0" normalizeH="0" baseline="0" noProof="0">
                <a:ln>
                  <a:noFill/>
                </a:ln>
                <a:solidFill>
                  <a:schemeClr val="bg1"/>
                </a:solidFill>
                <a:effectLst/>
                <a:uLnTx/>
                <a:uFillTx/>
                <a:latin typeface="+mj-lt"/>
                <a:ea typeface="Red Hat Display"/>
                <a:cs typeface="Red Hat Display"/>
                <a:sym typeface="Red Hat Display"/>
              </a:rPr>
              <a:t>Launch</a:t>
            </a:r>
            <a:endParaRPr kumimoji="0" sz="1200" b="0" i="0" u="none" strike="noStrike" kern="1200" cap="none" spc="0" normalizeH="0" baseline="0" noProof="0">
              <a:ln>
                <a:noFill/>
              </a:ln>
              <a:solidFill>
                <a:schemeClr val="bg1"/>
              </a:solidFill>
              <a:effectLst/>
              <a:uLnTx/>
              <a:uFillTx/>
              <a:latin typeface="+mj-lt"/>
              <a:ea typeface="Red Hat Display"/>
              <a:cs typeface="Red Hat Display"/>
              <a:sym typeface="Red Hat Display"/>
            </a:endParaRPr>
          </a:p>
        </p:txBody>
      </p:sp>
      <p:sp>
        <p:nvSpPr>
          <p:cNvPr id="70" name="Google Shape;1640;p96">
            <a:extLst>
              <a:ext uri="{FF2B5EF4-FFF2-40B4-BE49-F238E27FC236}">
                <a16:creationId xmlns:a16="http://schemas.microsoft.com/office/drawing/2014/main" id="{4D547923-6D5F-7770-BFA4-401B51DA913A}"/>
              </a:ext>
            </a:extLst>
          </p:cNvPr>
          <p:cNvSpPr/>
          <p:nvPr/>
        </p:nvSpPr>
        <p:spPr>
          <a:xfrm>
            <a:off x="7669901" y="3431183"/>
            <a:ext cx="863342" cy="333916"/>
          </a:xfrm>
          <a:prstGeom prst="flowChartProcess">
            <a:avLst/>
          </a:prstGeom>
          <a:solidFill>
            <a:srgbClr val="FFFFFF"/>
          </a:solidFill>
          <a:ln w="9525" cap="flat" cmpd="sng">
            <a:solidFill>
              <a:schemeClr val="tx1"/>
            </a:solidFill>
            <a:prstDash val="solid"/>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dirty="0">
                <a:ln>
                  <a:noFill/>
                </a:ln>
                <a:effectLst/>
                <a:uLnTx/>
                <a:uFillTx/>
                <a:latin typeface="+mj-lt"/>
                <a:ea typeface="Red Hat Display"/>
                <a:cs typeface="Red Hat Display"/>
                <a:sym typeface="Red Hat Display"/>
              </a:rPr>
              <a:t>Run Test</a:t>
            </a:r>
            <a:endParaRPr kumimoji="0" sz="900" b="0" i="0" u="none" strike="noStrike" kern="1200" cap="none" spc="0" normalizeH="0" baseline="0" noProof="0" dirty="0">
              <a:ln>
                <a:noFill/>
              </a:ln>
              <a:effectLst/>
              <a:uLnTx/>
              <a:uFillTx/>
              <a:latin typeface="+mj-lt"/>
              <a:ea typeface="Red Hat Display"/>
              <a:cs typeface="Red Hat Display"/>
              <a:sym typeface="Red Hat Display"/>
            </a:endParaRPr>
          </a:p>
        </p:txBody>
      </p:sp>
      <p:sp>
        <p:nvSpPr>
          <p:cNvPr id="71" name="Google Shape;1652;p96">
            <a:extLst>
              <a:ext uri="{FF2B5EF4-FFF2-40B4-BE49-F238E27FC236}">
                <a16:creationId xmlns:a16="http://schemas.microsoft.com/office/drawing/2014/main" id="{E23E079A-9EFD-D31F-CBFB-35CB468E30C1}"/>
              </a:ext>
            </a:extLst>
          </p:cNvPr>
          <p:cNvSpPr/>
          <p:nvPr/>
        </p:nvSpPr>
        <p:spPr>
          <a:xfrm>
            <a:off x="9947438" y="3431183"/>
            <a:ext cx="1115020" cy="333916"/>
          </a:xfrm>
          <a:prstGeom prst="flowChartPredefinedProcess">
            <a:avLst/>
          </a:prstGeom>
          <a:solidFill>
            <a:srgbClr val="FFFFFF"/>
          </a:solidFill>
          <a:ln w="9525" cap="flat" cmpd="sng">
            <a:solidFill>
              <a:schemeClr val="tx1"/>
            </a:solidFill>
            <a:prstDash val="solid"/>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a:ln>
                  <a:noFill/>
                </a:ln>
                <a:effectLst/>
                <a:uLnTx/>
                <a:uFillTx/>
                <a:latin typeface="+mj-lt"/>
                <a:ea typeface="Red Hat Display"/>
                <a:cs typeface="Red Hat Display"/>
                <a:sym typeface="Red Hat Display"/>
              </a:rPr>
              <a:t>End Test</a:t>
            </a:r>
            <a:endParaRPr kumimoji="0" sz="900" b="0" i="0" u="none" strike="noStrike" kern="1200" cap="none" spc="0" normalizeH="0" baseline="0" noProof="0">
              <a:ln>
                <a:noFill/>
              </a:ln>
              <a:effectLst/>
              <a:uLnTx/>
              <a:uFillTx/>
              <a:latin typeface="+mj-lt"/>
              <a:ea typeface="Red Hat Display"/>
              <a:cs typeface="Red Hat Display"/>
              <a:sym typeface="Red Hat Display"/>
            </a:endParaRPr>
          </a:p>
        </p:txBody>
      </p:sp>
      <p:cxnSp>
        <p:nvCxnSpPr>
          <p:cNvPr id="72" name="Google Shape;1653;p96">
            <a:extLst>
              <a:ext uri="{FF2B5EF4-FFF2-40B4-BE49-F238E27FC236}">
                <a16:creationId xmlns:a16="http://schemas.microsoft.com/office/drawing/2014/main" id="{4C8DDD0F-8509-52EB-64F4-386E026680C6}"/>
              </a:ext>
            </a:extLst>
          </p:cNvPr>
          <p:cNvCxnSpPr>
            <a:cxnSpLocks/>
            <a:stCxn id="70" idx="3"/>
            <a:endCxn id="71" idx="1"/>
          </p:cNvCxnSpPr>
          <p:nvPr/>
        </p:nvCxnSpPr>
        <p:spPr>
          <a:xfrm>
            <a:off x="8533243" y="3598141"/>
            <a:ext cx="1414195" cy="0"/>
          </a:xfrm>
          <a:prstGeom prst="straightConnector1">
            <a:avLst/>
          </a:prstGeom>
          <a:noFill/>
          <a:ln w="28575" cap="flat" cmpd="sng">
            <a:solidFill>
              <a:srgbClr val="FFFFFF"/>
            </a:solidFill>
            <a:prstDash val="solid"/>
            <a:round/>
            <a:headEnd type="none" w="sm" len="sm"/>
            <a:tailEnd type="triangle" w="med" len="med"/>
          </a:ln>
        </p:spPr>
      </p:cxnSp>
      <p:sp>
        <p:nvSpPr>
          <p:cNvPr id="73" name="Google Shape;1640;p96">
            <a:extLst>
              <a:ext uri="{FF2B5EF4-FFF2-40B4-BE49-F238E27FC236}">
                <a16:creationId xmlns:a16="http://schemas.microsoft.com/office/drawing/2014/main" id="{F9ADCCA2-6462-6711-9FF4-71D8E4F7C187}"/>
              </a:ext>
            </a:extLst>
          </p:cNvPr>
          <p:cNvSpPr/>
          <p:nvPr/>
        </p:nvSpPr>
        <p:spPr>
          <a:xfrm>
            <a:off x="2691627" y="3431183"/>
            <a:ext cx="945565" cy="333916"/>
          </a:xfrm>
          <a:prstGeom prst="flowChartProcess">
            <a:avLst/>
          </a:prstGeom>
          <a:solidFill>
            <a:srgbClr val="FFFFFF"/>
          </a:solidFill>
          <a:ln w="9525" cap="flat" cmpd="sng">
            <a:solidFill>
              <a:schemeClr val="tx1"/>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500"/>
              <a:buFont typeface="Arial"/>
              <a:buNone/>
            </a:pPr>
            <a:r>
              <a:rPr lang="en" sz="900" b="0" i="0" u="none" strike="noStrike" cap="none" dirty="0">
                <a:latin typeface="+mj-lt"/>
                <a:ea typeface="Red Hat Display"/>
                <a:cs typeface="Red Hat Display"/>
                <a:sym typeface="Red Hat Display"/>
              </a:rPr>
              <a:t>Launch Test</a:t>
            </a:r>
            <a:endParaRPr sz="900" b="0" i="0" u="none" strike="noStrike" cap="none" dirty="0">
              <a:latin typeface="+mj-lt"/>
              <a:ea typeface="Red Hat Display"/>
              <a:cs typeface="Red Hat Display"/>
              <a:sym typeface="Red Hat Display"/>
            </a:endParaRPr>
          </a:p>
        </p:txBody>
      </p:sp>
      <p:cxnSp>
        <p:nvCxnSpPr>
          <p:cNvPr id="74" name="Google Shape;1639;p96">
            <a:extLst>
              <a:ext uri="{FF2B5EF4-FFF2-40B4-BE49-F238E27FC236}">
                <a16:creationId xmlns:a16="http://schemas.microsoft.com/office/drawing/2014/main" id="{584728C2-B8FF-46FE-8122-46FFB709102D}"/>
              </a:ext>
            </a:extLst>
          </p:cNvPr>
          <p:cNvCxnSpPr>
            <a:cxnSpLocks/>
            <a:stCxn id="73" idx="3"/>
            <a:endCxn id="67" idx="1"/>
          </p:cNvCxnSpPr>
          <p:nvPr/>
        </p:nvCxnSpPr>
        <p:spPr>
          <a:xfrm>
            <a:off x="3637192" y="3598141"/>
            <a:ext cx="1465521" cy="0"/>
          </a:xfrm>
          <a:prstGeom prst="straightConnector1">
            <a:avLst/>
          </a:prstGeom>
          <a:noFill/>
          <a:ln w="28575" cap="flat" cmpd="sng">
            <a:solidFill>
              <a:srgbClr val="FFFFFF"/>
            </a:solidFill>
            <a:prstDash val="solid"/>
            <a:round/>
            <a:headEnd type="none" w="sm" len="sm"/>
            <a:tailEnd type="triangle" w="med" len="med"/>
          </a:ln>
        </p:spPr>
      </p:cxnSp>
      <p:sp>
        <p:nvSpPr>
          <p:cNvPr id="27" name="Google Shape;1608;p96">
            <a:extLst>
              <a:ext uri="{FF2B5EF4-FFF2-40B4-BE49-F238E27FC236}">
                <a16:creationId xmlns:a16="http://schemas.microsoft.com/office/drawing/2014/main" id="{1167A0C3-1809-ECEB-2701-F87895071055}"/>
              </a:ext>
            </a:extLst>
          </p:cNvPr>
          <p:cNvSpPr/>
          <p:nvPr/>
        </p:nvSpPr>
        <p:spPr>
          <a:xfrm>
            <a:off x="855012" y="2688430"/>
            <a:ext cx="10396500" cy="548640"/>
          </a:xfrm>
          <a:prstGeom prst="roundRect">
            <a:avLst>
              <a:gd name="adj" fmla="val 16667"/>
            </a:avLst>
          </a:prstGeom>
          <a:solidFill>
            <a:schemeClr val="bg1">
              <a:lumMod val="65000"/>
            </a:schemeClr>
          </a:solidFill>
          <a:ln>
            <a:noFill/>
          </a:ln>
        </p:spPr>
        <p:txBody>
          <a:bodyPr spcFirstLastPara="1" wrap="square" lIns="77300" tIns="77300" rIns="77300" bIns="773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sng" strike="noStrike" kern="1200" cap="none" spc="0" normalizeH="0" baseline="0" noProof="0">
              <a:ln>
                <a:noFill/>
              </a:ln>
              <a:solidFill>
                <a:srgbClr val="002477"/>
              </a:solidFill>
              <a:effectLst/>
              <a:uLnTx/>
              <a:uFillTx/>
              <a:latin typeface="+mj-lt"/>
              <a:ea typeface="Arial"/>
              <a:cs typeface="Arial"/>
              <a:sym typeface="Arial"/>
            </a:endParaRPr>
          </a:p>
        </p:txBody>
      </p:sp>
      <p:sp>
        <p:nvSpPr>
          <p:cNvPr id="30" name="Google Shape;1643;p96">
            <a:extLst>
              <a:ext uri="{FF2B5EF4-FFF2-40B4-BE49-F238E27FC236}">
                <a16:creationId xmlns:a16="http://schemas.microsoft.com/office/drawing/2014/main" id="{52A85DB6-FE69-AF53-6AE5-EFDFBACDDEDA}"/>
              </a:ext>
            </a:extLst>
          </p:cNvPr>
          <p:cNvSpPr txBox="1"/>
          <p:nvPr/>
        </p:nvSpPr>
        <p:spPr>
          <a:xfrm>
            <a:off x="962260" y="2787700"/>
            <a:ext cx="1644300" cy="350100"/>
          </a:xfrm>
          <a:prstGeom prst="rect">
            <a:avLst/>
          </a:prstGeom>
          <a:noFill/>
          <a:ln>
            <a:noFill/>
          </a:ln>
        </p:spPr>
        <p:txBody>
          <a:bodyPr spcFirstLastPara="1" wrap="square" lIns="77300" tIns="77300" rIns="77300" bIns="773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 sz="1200" b="0" i="0" u="none" strike="noStrike" kern="1200" cap="none" spc="0" normalizeH="0" baseline="0" noProof="0" dirty="0">
                <a:ln>
                  <a:noFill/>
                </a:ln>
                <a:effectLst/>
                <a:uLnTx/>
                <a:uFillTx/>
                <a:latin typeface="+mj-lt"/>
                <a:ea typeface="Red Hat Display"/>
                <a:cs typeface="Red Hat Display"/>
                <a:sym typeface="Red Hat Display"/>
              </a:rPr>
              <a:t>Dev Fulfillment</a:t>
            </a:r>
            <a:endParaRPr kumimoji="0" sz="1200" b="0" i="0" u="none" strike="noStrike" kern="1200" cap="none" spc="0" normalizeH="0" baseline="0" noProof="0" dirty="0">
              <a:ln>
                <a:noFill/>
              </a:ln>
              <a:effectLst/>
              <a:uLnTx/>
              <a:uFillTx/>
              <a:latin typeface="+mj-lt"/>
              <a:ea typeface="Red Hat Display"/>
              <a:cs typeface="Red Hat Display"/>
              <a:sym typeface="Red Hat Display"/>
            </a:endParaRPr>
          </a:p>
        </p:txBody>
      </p:sp>
      <p:sp>
        <p:nvSpPr>
          <p:cNvPr id="31" name="Google Shape;1615;p96">
            <a:extLst>
              <a:ext uri="{FF2B5EF4-FFF2-40B4-BE49-F238E27FC236}">
                <a16:creationId xmlns:a16="http://schemas.microsoft.com/office/drawing/2014/main" id="{244DE714-C979-7FB0-E8BD-7559B53E82CB}"/>
              </a:ext>
            </a:extLst>
          </p:cNvPr>
          <p:cNvSpPr/>
          <p:nvPr/>
        </p:nvSpPr>
        <p:spPr>
          <a:xfrm>
            <a:off x="4498859" y="2795796"/>
            <a:ext cx="1254292" cy="333909"/>
          </a:xfrm>
          <a:prstGeom prst="flowChartProcess">
            <a:avLst/>
          </a:prstGeom>
          <a:solidFill>
            <a:schemeClr val="accent3">
              <a:lumMod val="60000"/>
              <a:lumOff val="40000"/>
            </a:schemeClr>
          </a:solidFill>
          <a:ln w="9525" cap="flat" cmpd="sng">
            <a:solidFill>
              <a:schemeClr val="tx1"/>
            </a:solidFill>
            <a:prstDash val="solid"/>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Tx/>
              <a:buNone/>
              <a:tabLst/>
              <a:defRPr/>
            </a:pPr>
            <a:r>
              <a:rPr kumimoji="0" lang="en" sz="900" b="0" i="0" u="none" strike="noStrike" kern="1200" cap="none" spc="0" normalizeH="0" baseline="0" noProof="0" dirty="0">
                <a:ln>
                  <a:noFill/>
                </a:ln>
                <a:solidFill>
                  <a:schemeClr val="bg1"/>
                </a:solidFill>
                <a:effectLst/>
                <a:uLnTx/>
                <a:uFillTx/>
                <a:latin typeface="+mj-lt"/>
                <a:ea typeface="+mn-ea"/>
                <a:cs typeface="+mn-cs"/>
                <a:sym typeface="Red Hat Display"/>
              </a:rPr>
              <a:t>QA</a:t>
            </a:r>
            <a:endParaRPr kumimoji="0" sz="900" b="0" i="0" u="none" strike="noStrike" kern="1200" cap="none" spc="0" normalizeH="0" baseline="0" noProof="0" dirty="0">
              <a:ln>
                <a:noFill/>
              </a:ln>
              <a:solidFill>
                <a:schemeClr val="bg1"/>
              </a:solidFill>
              <a:effectLst/>
              <a:uLnTx/>
              <a:uFillTx/>
              <a:latin typeface="+mj-lt"/>
              <a:ea typeface="+mn-ea"/>
              <a:cs typeface="+mn-cs"/>
              <a:sym typeface="Red Hat Display"/>
            </a:endParaRPr>
          </a:p>
        </p:txBody>
      </p:sp>
      <p:cxnSp>
        <p:nvCxnSpPr>
          <p:cNvPr id="32" name="Google Shape;1636;p96">
            <a:extLst>
              <a:ext uri="{FF2B5EF4-FFF2-40B4-BE49-F238E27FC236}">
                <a16:creationId xmlns:a16="http://schemas.microsoft.com/office/drawing/2014/main" id="{3DF505EC-E1B0-0FB5-2383-BA0EFCC1C88A}"/>
              </a:ext>
            </a:extLst>
          </p:cNvPr>
          <p:cNvCxnSpPr>
            <a:cxnSpLocks/>
            <a:stCxn id="33" idx="3"/>
            <a:endCxn id="31" idx="1"/>
          </p:cNvCxnSpPr>
          <p:nvPr/>
        </p:nvCxnSpPr>
        <p:spPr>
          <a:xfrm>
            <a:off x="3907167" y="2962750"/>
            <a:ext cx="591692" cy="1"/>
          </a:xfrm>
          <a:prstGeom prst="straightConnector1">
            <a:avLst/>
          </a:prstGeom>
          <a:noFill/>
          <a:ln w="28575" cap="flat" cmpd="sng">
            <a:solidFill>
              <a:srgbClr val="FFFFFF"/>
            </a:solidFill>
            <a:prstDash val="solid"/>
            <a:round/>
            <a:headEnd type="none" w="sm" len="sm"/>
            <a:tailEnd type="triangle" w="med" len="med"/>
          </a:ln>
        </p:spPr>
      </p:cxnSp>
      <p:sp>
        <p:nvSpPr>
          <p:cNvPr id="33" name="Google Shape;1634;p96">
            <a:extLst>
              <a:ext uri="{FF2B5EF4-FFF2-40B4-BE49-F238E27FC236}">
                <a16:creationId xmlns:a16="http://schemas.microsoft.com/office/drawing/2014/main" id="{BB692313-3567-869D-B745-0E4C3A06D550}"/>
              </a:ext>
            </a:extLst>
          </p:cNvPr>
          <p:cNvSpPr/>
          <p:nvPr/>
        </p:nvSpPr>
        <p:spPr>
          <a:xfrm>
            <a:off x="2746689" y="2795792"/>
            <a:ext cx="1160478" cy="333916"/>
          </a:xfrm>
          <a:prstGeom prst="flowChartProcess">
            <a:avLst/>
          </a:prstGeom>
          <a:solidFill>
            <a:schemeClr val="bg1"/>
          </a:solidFill>
          <a:ln w="9525" cap="flat" cmpd="sng">
            <a:solidFill>
              <a:schemeClr val="tx1"/>
            </a:solidFill>
            <a:prstDash val="solid"/>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dirty="0">
                <a:ln>
                  <a:noFill/>
                </a:ln>
                <a:effectLst/>
                <a:uLnTx/>
                <a:uFillTx/>
                <a:latin typeface="+mj-lt"/>
                <a:ea typeface="Red Hat Display"/>
                <a:cs typeface="Red Hat Display"/>
                <a:sym typeface="Red Hat Display"/>
              </a:rPr>
              <a:t>Test Builds</a:t>
            </a:r>
            <a:endParaRPr kumimoji="0" sz="900" b="0" i="0" u="none" strike="noStrike" kern="1200" cap="none" spc="0" normalizeH="0" baseline="0" noProof="0" dirty="0">
              <a:ln>
                <a:noFill/>
              </a:ln>
              <a:effectLst/>
              <a:uLnTx/>
              <a:uFillTx/>
              <a:latin typeface="+mj-lt"/>
              <a:ea typeface="Red Hat Display"/>
              <a:cs typeface="Red Hat Display"/>
              <a:sym typeface="Red Hat Display"/>
            </a:endParaRPr>
          </a:p>
        </p:txBody>
      </p:sp>
      <p:sp>
        <p:nvSpPr>
          <p:cNvPr id="87" name="Google Shape;1620;p96">
            <a:extLst>
              <a:ext uri="{FF2B5EF4-FFF2-40B4-BE49-F238E27FC236}">
                <a16:creationId xmlns:a16="http://schemas.microsoft.com/office/drawing/2014/main" id="{473E405F-9E69-2DCA-6224-B49570D765BA}"/>
              </a:ext>
            </a:extLst>
          </p:cNvPr>
          <p:cNvSpPr/>
          <p:nvPr/>
        </p:nvSpPr>
        <p:spPr>
          <a:xfrm>
            <a:off x="6342051" y="2793943"/>
            <a:ext cx="878732" cy="333936"/>
          </a:xfrm>
          <a:prstGeom prst="flowChartDocument">
            <a:avLst/>
          </a:prstGeom>
          <a:solidFill>
            <a:schemeClr val="bg1"/>
          </a:solidFill>
          <a:ln w="9525" cap="flat" cmpd="sng">
            <a:solidFill>
              <a:schemeClr val="tx1"/>
            </a:solidFill>
            <a:prstDash val="solid"/>
            <a:round/>
            <a:headEnd type="none" w="sm" len="sm"/>
            <a:tailEnd type="none" w="sm" len="sm"/>
          </a:ln>
        </p:spPr>
        <p:txBody>
          <a:bodyPr spcFirstLastPara="1" wrap="square" lIns="77300" tIns="0" rIns="7730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dirty="0">
                <a:ln>
                  <a:noFill/>
                </a:ln>
                <a:effectLst/>
                <a:uLnTx/>
                <a:uFillTx/>
                <a:latin typeface="+mj-lt"/>
                <a:ea typeface="Red Hat Display"/>
                <a:cs typeface="Red Hat Display"/>
                <a:sym typeface="Red Hat Display"/>
              </a:rPr>
              <a:t>QA Links</a:t>
            </a:r>
          </a:p>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dirty="0">
                <a:ln>
                  <a:noFill/>
                </a:ln>
                <a:effectLst/>
                <a:uLnTx/>
                <a:uFillTx/>
                <a:latin typeface="+mj-lt"/>
                <a:ea typeface="Red Hat Display"/>
                <a:cs typeface="Red Hat Display"/>
                <a:sym typeface="Red Hat Display"/>
              </a:rPr>
              <a:t>Delivered</a:t>
            </a:r>
            <a:endParaRPr kumimoji="0" sz="900" b="0" i="0" u="none" strike="noStrike" kern="1200" cap="none" spc="0" normalizeH="0" baseline="0" noProof="0" dirty="0">
              <a:ln>
                <a:noFill/>
              </a:ln>
              <a:effectLst/>
              <a:uLnTx/>
              <a:uFillTx/>
              <a:latin typeface="+mj-lt"/>
              <a:ea typeface="Red Hat Display"/>
              <a:cs typeface="Red Hat Display"/>
              <a:sym typeface="Red Hat Display"/>
            </a:endParaRPr>
          </a:p>
        </p:txBody>
      </p:sp>
      <p:cxnSp>
        <p:nvCxnSpPr>
          <p:cNvPr id="88" name="Google Shape;1621;p96">
            <a:extLst>
              <a:ext uri="{FF2B5EF4-FFF2-40B4-BE49-F238E27FC236}">
                <a16:creationId xmlns:a16="http://schemas.microsoft.com/office/drawing/2014/main" id="{DFD1DE0E-44D1-B210-1258-67F503660DDA}"/>
              </a:ext>
            </a:extLst>
          </p:cNvPr>
          <p:cNvCxnSpPr>
            <a:cxnSpLocks/>
            <a:stCxn id="31" idx="3"/>
            <a:endCxn id="87" idx="1"/>
          </p:cNvCxnSpPr>
          <p:nvPr/>
        </p:nvCxnSpPr>
        <p:spPr>
          <a:xfrm flipV="1">
            <a:off x="5753151" y="2960911"/>
            <a:ext cx="588900" cy="1840"/>
          </a:xfrm>
          <a:prstGeom prst="straightConnector1">
            <a:avLst/>
          </a:prstGeom>
          <a:noFill/>
          <a:ln w="28575" cap="flat" cmpd="sng">
            <a:solidFill>
              <a:srgbClr val="FFFFFF"/>
            </a:solidFill>
            <a:prstDash val="solid"/>
            <a:round/>
            <a:headEnd type="none" w="sm" len="sm"/>
            <a:tailEnd type="triangle" w="med" len="med"/>
          </a:ln>
        </p:spPr>
      </p:cxnSp>
      <p:sp>
        <p:nvSpPr>
          <p:cNvPr id="107" name="Google Shape;1607;p96">
            <a:extLst>
              <a:ext uri="{FF2B5EF4-FFF2-40B4-BE49-F238E27FC236}">
                <a16:creationId xmlns:a16="http://schemas.microsoft.com/office/drawing/2014/main" id="{A4547FE3-4845-FBFE-9FAA-98B2FFEAB3D2}"/>
              </a:ext>
            </a:extLst>
          </p:cNvPr>
          <p:cNvSpPr/>
          <p:nvPr/>
        </p:nvSpPr>
        <p:spPr>
          <a:xfrm>
            <a:off x="839734" y="4497155"/>
            <a:ext cx="10468044" cy="548640"/>
          </a:xfrm>
          <a:prstGeom prst="roundRect">
            <a:avLst>
              <a:gd name="adj" fmla="val 16667"/>
            </a:avLst>
          </a:prstGeom>
          <a:solidFill>
            <a:schemeClr val="accent1"/>
          </a:solidFill>
          <a:ln>
            <a:noFill/>
          </a:ln>
        </p:spPr>
        <p:txBody>
          <a:bodyPr spcFirstLastPara="1" wrap="square" lIns="77300" tIns="77300" rIns="77300" bIns="773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sng" strike="noStrike" kern="1200" cap="none" spc="0" normalizeH="0" baseline="0" noProof="0">
              <a:ln>
                <a:noFill/>
              </a:ln>
              <a:solidFill>
                <a:srgbClr val="002477"/>
              </a:solidFill>
              <a:effectLst/>
              <a:uLnTx/>
              <a:uFillTx/>
              <a:latin typeface="+mj-lt"/>
              <a:ea typeface="Arial"/>
              <a:cs typeface="Arial"/>
              <a:sym typeface="Arial"/>
            </a:endParaRPr>
          </a:p>
        </p:txBody>
      </p:sp>
      <p:sp>
        <p:nvSpPr>
          <p:cNvPr id="108" name="Google Shape;1645;p96">
            <a:extLst>
              <a:ext uri="{FF2B5EF4-FFF2-40B4-BE49-F238E27FC236}">
                <a16:creationId xmlns:a16="http://schemas.microsoft.com/office/drawing/2014/main" id="{111BEA92-9510-BA22-2308-61AD1D0AB746}"/>
              </a:ext>
            </a:extLst>
          </p:cNvPr>
          <p:cNvSpPr txBox="1"/>
          <p:nvPr/>
        </p:nvSpPr>
        <p:spPr>
          <a:xfrm>
            <a:off x="884854" y="4584953"/>
            <a:ext cx="1903774" cy="309638"/>
          </a:xfrm>
          <a:prstGeom prst="rect">
            <a:avLst/>
          </a:prstGeom>
          <a:noFill/>
          <a:ln>
            <a:noFill/>
          </a:ln>
        </p:spPr>
        <p:txBody>
          <a:bodyPr spcFirstLastPara="1" wrap="square" lIns="77300" tIns="77300" rIns="77300" bIns="773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 sz="1200" b="0" i="0" strike="noStrike" kern="1200" cap="none" spc="0" normalizeH="0" baseline="0" noProof="0" dirty="0">
                <a:ln>
                  <a:noFill/>
                </a:ln>
                <a:solidFill>
                  <a:schemeClr val="bg1"/>
                </a:solidFill>
                <a:effectLst/>
                <a:uLnTx/>
                <a:uFillTx/>
                <a:latin typeface="+mj-lt"/>
                <a:ea typeface="Red Hat Display"/>
                <a:cs typeface="Red Hat Display"/>
                <a:sym typeface="Red Hat Display"/>
              </a:rPr>
              <a:t>Prod Coordination</a:t>
            </a:r>
            <a:endParaRPr kumimoji="0" sz="1200" b="0" i="0" strike="noStrike" kern="1200" cap="none" spc="0" normalizeH="0" baseline="0" noProof="0" dirty="0">
              <a:ln>
                <a:noFill/>
              </a:ln>
              <a:solidFill>
                <a:schemeClr val="bg1"/>
              </a:solidFill>
              <a:effectLst/>
              <a:uLnTx/>
              <a:uFillTx/>
              <a:latin typeface="+mj-lt"/>
              <a:ea typeface="Red Hat Display"/>
              <a:cs typeface="Red Hat Display"/>
              <a:sym typeface="Red Hat Display"/>
            </a:endParaRPr>
          </a:p>
        </p:txBody>
      </p:sp>
      <p:sp>
        <p:nvSpPr>
          <p:cNvPr id="111" name="Google Shape;1640;p96">
            <a:extLst>
              <a:ext uri="{FF2B5EF4-FFF2-40B4-BE49-F238E27FC236}">
                <a16:creationId xmlns:a16="http://schemas.microsoft.com/office/drawing/2014/main" id="{61F5D8CB-BF96-9654-5363-C4FD4BB76052}"/>
              </a:ext>
            </a:extLst>
          </p:cNvPr>
          <p:cNvSpPr/>
          <p:nvPr/>
        </p:nvSpPr>
        <p:spPr>
          <a:xfrm>
            <a:off x="6028266" y="4592109"/>
            <a:ext cx="1415203" cy="338328"/>
          </a:xfrm>
          <a:prstGeom prst="flowChartProcess">
            <a:avLst/>
          </a:prstGeom>
          <a:solidFill>
            <a:schemeClr val="accent2">
              <a:lumMod val="40000"/>
              <a:lumOff val="60000"/>
            </a:schemeClr>
          </a:solidFill>
          <a:ln w="9525" cap="flat" cmpd="sng">
            <a:solidFill>
              <a:schemeClr val="tx1"/>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500"/>
              <a:buFont typeface="Arial"/>
              <a:buNone/>
            </a:pPr>
            <a:r>
              <a:rPr lang="en" sz="900" b="0" i="0" u="none" strike="noStrike" cap="none" dirty="0">
                <a:latin typeface="+mj-lt"/>
                <a:ea typeface="Red Hat Display"/>
                <a:cs typeface="Red Hat Display"/>
                <a:sym typeface="Red Hat Display"/>
              </a:rPr>
              <a:t>Prod team alerts w</a:t>
            </a:r>
            <a:r>
              <a:rPr lang="en-US" sz="900" b="0" i="0" u="none" strike="noStrike" cap="none" dirty="0">
                <a:latin typeface="+mj-lt"/>
                <a:ea typeface="Red Hat Display"/>
                <a:cs typeface="Red Hat Display"/>
                <a:sym typeface="Red Hat Display"/>
              </a:rPr>
              <a:t>he</a:t>
            </a:r>
            <a:r>
              <a:rPr lang="en" sz="900" dirty="0">
                <a:latin typeface="+mj-lt"/>
                <a:ea typeface="Red Hat Display"/>
                <a:cs typeface="Red Hat Display"/>
                <a:sym typeface="Red Hat Display"/>
              </a:rPr>
              <a:t>n request work ends</a:t>
            </a:r>
            <a:endParaRPr sz="900" b="0" i="0" u="none" strike="noStrike" cap="none" dirty="0">
              <a:latin typeface="+mj-lt"/>
              <a:ea typeface="Red Hat Display"/>
              <a:cs typeface="Red Hat Display"/>
              <a:sym typeface="Red Hat Display"/>
            </a:endParaRPr>
          </a:p>
        </p:txBody>
      </p:sp>
      <p:sp>
        <p:nvSpPr>
          <p:cNvPr id="113" name="Google Shape;1640;p96">
            <a:extLst>
              <a:ext uri="{FF2B5EF4-FFF2-40B4-BE49-F238E27FC236}">
                <a16:creationId xmlns:a16="http://schemas.microsoft.com/office/drawing/2014/main" id="{3F1FF0EE-3E5D-DD65-B622-8D63643ED36C}"/>
              </a:ext>
            </a:extLst>
          </p:cNvPr>
          <p:cNvSpPr/>
          <p:nvPr/>
        </p:nvSpPr>
        <p:spPr>
          <a:xfrm>
            <a:off x="9745249" y="4592109"/>
            <a:ext cx="1377097" cy="338328"/>
          </a:xfrm>
          <a:prstGeom prst="flowChartProcess">
            <a:avLst/>
          </a:prstGeom>
          <a:solidFill>
            <a:schemeClr val="bg1"/>
          </a:solidFill>
          <a:ln w="9525" cap="flat" cmpd="sng">
            <a:solidFill>
              <a:schemeClr val="tx1"/>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500"/>
              <a:buFont typeface="Arial"/>
              <a:buNone/>
            </a:pPr>
            <a:r>
              <a:rPr lang="en-US" sz="900" b="0" i="0" u="none" strike="noStrike" cap="none">
                <a:latin typeface="+mj-lt"/>
                <a:ea typeface="Red Hat Display"/>
                <a:cs typeface="Red Hat Display"/>
                <a:sym typeface="Red Hat Display"/>
              </a:rPr>
              <a:t>CRO coordinates Target experience shut off</a:t>
            </a:r>
            <a:endParaRPr sz="900" b="0" i="0" u="none" strike="noStrike" cap="none">
              <a:latin typeface="+mj-lt"/>
              <a:ea typeface="Red Hat Display"/>
              <a:cs typeface="Red Hat Display"/>
              <a:sym typeface="Red Hat Display"/>
            </a:endParaRPr>
          </a:p>
        </p:txBody>
      </p:sp>
      <p:cxnSp>
        <p:nvCxnSpPr>
          <p:cNvPr id="115" name="Google Shape;1657;p96">
            <a:extLst>
              <a:ext uri="{FF2B5EF4-FFF2-40B4-BE49-F238E27FC236}">
                <a16:creationId xmlns:a16="http://schemas.microsoft.com/office/drawing/2014/main" id="{9B9A7AAF-6C08-3FFD-A2FC-2804D47EBF57}"/>
              </a:ext>
            </a:extLst>
          </p:cNvPr>
          <p:cNvCxnSpPr>
            <a:cxnSpLocks/>
            <a:stCxn id="111" idx="3"/>
            <a:endCxn id="113" idx="1"/>
          </p:cNvCxnSpPr>
          <p:nvPr/>
        </p:nvCxnSpPr>
        <p:spPr>
          <a:xfrm>
            <a:off x="7443469" y="4761273"/>
            <a:ext cx="2301780" cy="0"/>
          </a:xfrm>
          <a:prstGeom prst="straightConnector1">
            <a:avLst/>
          </a:prstGeom>
          <a:solidFill>
            <a:schemeClr val="tx1"/>
          </a:solidFill>
          <a:ln w="28575" cap="flat" cmpd="sng">
            <a:solidFill>
              <a:srgbClr val="FFFFFF"/>
            </a:solidFill>
            <a:prstDash val="solid"/>
            <a:round/>
            <a:headEnd type="none" w="sm" len="sm"/>
            <a:tailEnd type="triangle" w="med" len="med"/>
          </a:ln>
        </p:spPr>
      </p:cxnSp>
      <p:sp>
        <p:nvSpPr>
          <p:cNvPr id="105" name="Google Shape;1640;p96">
            <a:extLst>
              <a:ext uri="{FF2B5EF4-FFF2-40B4-BE49-F238E27FC236}">
                <a16:creationId xmlns:a16="http://schemas.microsoft.com/office/drawing/2014/main" id="{1AB39830-0E3F-887D-9238-0813040E97DE}"/>
              </a:ext>
            </a:extLst>
          </p:cNvPr>
          <p:cNvSpPr/>
          <p:nvPr/>
        </p:nvSpPr>
        <p:spPr>
          <a:xfrm>
            <a:off x="2648762" y="4588646"/>
            <a:ext cx="1252942" cy="338328"/>
          </a:xfrm>
          <a:prstGeom prst="flowChartProcess">
            <a:avLst/>
          </a:prstGeom>
          <a:solidFill>
            <a:schemeClr val="accent2">
              <a:lumMod val="40000"/>
              <a:lumOff val="60000"/>
            </a:schemeClr>
          </a:solidFill>
          <a:ln w="9525" cap="flat" cmpd="sng">
            <a:solidFill>
              <a:schemeClr val="tx1"/>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500"/>
              <a:buFont typeface="Arial"/>
              <a:buNone/>
            </a:pPr>
            <a:r>
              <a:rPr lang="en-US" sz="900" b="0" i="0" u="none" strike="noStrike" cap="none" dirty="0">
                <a:latin typeface="+mj-lt"/>
                <a:ea typeface="Red Hat Display"/>
                <a:cs typeface="Red Hat Display"/>
                <a:sym typeface="Red Hat Display"/>
              </a:rPr>
              <a:t>Submit prod transfer Request</a:t>
            </a:r>
            <a:endParaRPr sz="900" b="0" i="0" u="none" strike="noStrike" cap="none" dirty="0">
              <a:latin typeface="+mj-lt"/>
              <a:ea typeface="Red Hat Display"/>
              <a:cs typeface="Red Hat Display"/>
              <a:sym typeface="Red Hat Display"/>
            </a:endParaRPr>
          </a:p>
        </p:txBody>
      </p:sp>
      <p:cxnSp>
        <p:nvCxnSpPr>
          <p:cNvPr id="106" name="Google Shape;1657;p96">
            <a:extLst>
              <a:ext uri="{FF2B5EF4-FFF2-40B4-BE49-F238E27FC236}">
                <a16:creationId xmlns:a16="http://schemas.microsoft.com/office/drawing/2014/main" id="{6AD893E3-EFA0-3E76-57E7-D8955BD8E732}"/>
              </a:ext>
            </a:extLst>
          </p:cNvPr>
          <p:cNvCxnSpPr>
            <a:cxnSpLocks/>
            <a:stCxn id="105" idx="3"/>
            <a:endCxn id="111" idx="1"/>
          </p:cNvCxnSpPr>
          <p:nvPr/>
        </p:nvCxnSpPr>
        <p:spPr>
          <a:xfrm>
            <a:off x="3901704" y="4757810"/>
            <a:ext cx="2126562" cy="3463"/>
          </a:xfrm>
          <a:prstGeom prst="straightConnector1">
            <a:avLst/>
          </a:prstGeom>
          <a:solidFill>
            <a:schemeClr val="tx1"/>
          </a:solidFill>
          <a:ln w="28575" cap="flat" cmpd="sng">
            <a:solidFill>
              <a:srgbClr val="FFFFFF"/>
            </a:solidFill>
            <a:prstDash val="solid"/>
            <a:round/>
            <a:headEnd type="none" w="sm" len="sm"/>
            <a:tailEnd type="triangle" w="med" len="med"/>
          </a:ln>
        </p:spPr>
      </p:cxnSp>
      <p:sp>
        <p:nvSpPr>
          <p:cNvPr id="38" name="Google Shape;1602;p96">
            <a:extLst>
              <a:ext uri="{FF2B5EF4-FFF2-40B4-BE49-F238E27FC236}">
                <a16:creationId xmlns:a16="http://schemas.microsoft.com/office/drawing/2014/main" id="{AA2F6530-1780-30A0-B873-6A7B7279A5E2}"/>
              </a:ext>
            </a:extLst>
          </p:cNvPr>
          <p:cNvSpPr/>
          <p:nvPr/>
        </p:nvSpPr>
        <p:spPr>
          <a:xfrm>
            <a:off x="855012" y="2105840"/>
            <a:ext cx="10396500" cy="548640"/>
          </a:xfrm>
          <a:prstGeom prst="roundRect">
            <a:avLst>
              <a:gd name="adj" fmla="val 16667"/>
            </a:avLst>
          </a:prstGeom>
          <a:solidFill>
            <a:schemeClr val="accent1"/>
          </a:solidFill>
          <a:ln>
            <a:noFill/>
          </a:ln>
        </p:spPr>
        <p:txBody>
          <a:bodyPr spcFirstLastPara="1" wrap="square" lIns="77300" tIns="77300" rIns="77300" bIns="773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002477"/>
              </a:solidFill>
              <a:effectLst/>
              <a:uLnTx/>
              <a:uFillTx/>
              <a:latin typeface="+mj-lt"/>
              <a:ea typeface="Arial"/>
              <a:cs typeface="Arial"/>
              <a:sym typeface="Arial"/>
            </a:endParaRPr>
          </a:p>
        </p:txBody>
      </p:sp>
      <p:sp>
        <p:nvSpPr>
          <p:cNvPr id="40" name="Google Shape;1606;p96">
            <a:extLst>
              <a:ext uri="{FF2B5EF4-FFF2-40B4-BE49-F238E27FC236}">
                <a16:creationId xmlns:a16="http://schemas.microsoft.com/office/drawing/2014/main" id="{7BB2CA17-3F38-A344-23AE-D1E3E36ACA64}"/>
              </a:ext>
            </a:extLst>
          </p:cNvPr>
          <p:cNvSpPr txBox="1"/>
          <p:nvPr/>
        </p:nvSpPr>
        <p:spPr>
          <a:xfrm>
            <a:off x="910328" y="2205110"/>
            <a:ext cx="1644300" cy="350100"/>
          </a:xfrm>
          <a:prstGeom prst="rect">
            <a:avLst/>
          </a:prstGeom>
          <a:noFill/>
          <a:ln>
            <a:noFill/>
          </a:ln>
        </p:spPr>
        <p:txBody>
          <a:bodyPr spcFirstLastPara="1" wrap="square" lIns="77300" tIns="77300" rIns="77300" bIns="773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 sz="1200" b="0" i="0" u="none" strike="noStrike" kern="1200" cap="none" spc="0" normalizeH="0" baseline="0" noProof="0">
                <a:ln>
                  <a:noFill/>
                </a:ln>
                <a:solidFill>
                  <a:schemeClr val="bg1"/>
                </a:solidFill>
                <a:effectLst/>
                <a:uLnTx/>
                <a:uFillTx/>
                <a:latin typeface="+mj-lt"/>
                <a:ea typeface="Red Hat Display"/>
                <a:cs typeface="Red Hat Display"/>
                <a:sym typeface="Red Hat Display"/>
              </a:rPr>
              <a:t>Creative Fulfillment</a:t>
            </a:r>
            <a:endParaRPr kumimoji="0" sz="1200" b="0" i="0" u="none" strike="noStrike" kern="1200" cap="none" spc="0" normalizeH="0" baseline="0" noProof="0">
              <a:ln>
                <a:noFill/>
              </a:ln>
              <a:solidFill>
                <a:schemeClr val="bg1"/>
              </a:solidFill>
              <a:effectLst/>
              <a:uLnTx/>
              <a:uFillTx/>
              <a:latin typeface="+mj-lt"/>
              <a:ea typeface="Red Hat Display"/>
              <a:cs typeface="Red Hat Display"/>
              <a:sym typeface="Red Hat Display"/>
            </a:endParaRPr>
          </a:p>
        </p:txBody>
      </p:sp>
      <p:sp>
        <p:nvSpPr>
          <p:cNvPr id="45" name="Google Shape;1619;p96">
            <a:extLst>
              <a:ext uri="{FF2B5EF4-FFF2-40B4-BE49-F238E27FC236}">
                <a16:creationId xmlns:a16="http://schemas.microsoft.com/office/drawing/2014/main" id="{167B1AE0-41EF-D894-82C2-359DF8699D09}"/>
              </a:ext>
            </a:extLst>
          </p:cNvPr>
          <p:cNvSpPr/>
          <p:nvPr/>
        </p:nvSpPr>
        <p:spPr>
          <a:xfrm>
            <a:off x="3964609" y="2213060"/>
            <a:ext cx="1058100" cy="334200"/>
          </a:xfrm>
          <a:prstGeom prst="flowChartDocument">
            <a:avLst/>
          </a:prstGeom>
          <a:solidFill>
            <a:schemeClr val="accent5">
              <a:lumMod val="40000"/>
              <a:lumOff val="60000"/>
            </a:schemeClr>
          </a:solidFill>
          <a:ln w="9525" cap="flat" cmpd="sng">
            <a:solidFill>
              <a:schemeClr val="tx2">
                <a:lumMod val="60000"/>
                <a:lumOff val="40000"/>
              </a:schemeClr>
            </a:solidFill>
            <a:prstDash val="solid"/>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dirty="0">
                <a:ln>
                  <a:noFill/>
                </a:ln>
                <a:effectLst/>
                <a:uLnTx/>
                <a:uFillTx/>
                <a:latin typeface="+mj-lt"/>
                <a:ea typeface="Red Hat Display"/>
                <a:cs typeface="Red Hat Display"/>
                <a:sym typeface="Red Hat Display"/>
              </a:rPr>
              <a:t>Simplified Brief Developed</a:t>
            </a:r>
            <a:endParaRPr kumimoji="0" sz="900" b="0" i="0" u="none" strike="noStrike" kern="1200" cap="none" spc="0" normalizeH="0" baseline="0" noProof="0" dirty="0">
              <a:ln>
                <a:noFill/>
              </a:ln>
              <a:effectLst/>
              <a:uLnTx/>
              <a:uFillTx/>
              <a:latin typeface="+mj-lt"/>
              <a:ea typeface="Red Hat Display"/>
              <a:cs typeface="Red Hat Display"/>
              <a:sym typeface="Red Hat Display"/>
            </a:endParaRPr>
          </a:p>
        </p:txBody>
      </p:sp>
      <p:sp>
        <p:nvSpPr>
          <p:cNvPr id="123" name="Google Shape;1605;p96">
            <a:extLst>
              <a:ext uri="{FF2B5EF4-FFF2-40B4-BE49-F238E27FC236}">
                <a16:creationId xmlns:a16="http://schemas.microsoft.com/office/drawing/2014/main" id="{D688CCD2-BEDC-C401-6206-747F802BBF8F}"/>
              </a:ext>
            </a:extLst>
          </p:cNvPr>
          <p:cNvSpPr/>
          <p:nvPr/>
        </p:nvSpPr>
        <p:spPr>
          <a:xfrm>
            <a:off x="7415120" y="2210312"/>
            <a:ext cx="1058100" cy="334200"/>
          </a:xfrm>
          <a:prstGeom prst="rect">
            <a:avLst/>
          </a:prstGeom>
          <a:gradFill>
            <a:gsLst>
              <a:gs pos="0">
                <a:schemeClr val="accent1"/>
              </a:gs>
              <a:gs pos="100000">
                <a:schemeClr val="bg1"/>
              </a:gs>
            </a:gsLst>
            <a:lin ang="0" scaled="1"/>
          </a:gradFill>
          <a:ln w="9525" cap="flat" cmpd="sng">
            <a:solidFill>
              <a:schemeClr val="tx1"/>
            </a:solidFill>
            <a:prstDash val="solid"/>
            <a:round/>
            <a:headEnd type="none" w="sm" len="sm"/>
            <a:tailEnd type="none" w="sm" len="sm"/>
          </a:ln>
        </p:spPr>
        <p:txBody>
          <a:bodyPr spcFirstLastPara="1" wrap="square" lIns="77300" tIns="0" rIns="7730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dirty="0">
                <a:ln>
                  <a:noFill/>
                </a:ln>
                <a:effectLst/>
                <a:uLnTx/>
                <a:uFillTx/>
                <a:latin typeface="+mj-lt"/>
                <a:ea typeface="Red Hat Display"/>
                <a:cs typeface="Red Hat Display"/>
                <a:sym typeface="Red Hat Display"/>
              </a:rPr>
              <a:t>Creative Input</a:t>
            </a:r>
            <a:endParaRPr kumimoji="0" sz="900" b="0" i="0" u="none" strike="noStrike" kern="1200" cap="none" spc="0" normalizeH="0" baseline="0" noProof="0" dirty="0">
              <a:ln>
                <a:noFill/>
              </a:ln>
              <a:effectLst/>
              <a:uLnTx/>
              <a:uFillTx/>
              <a:latin typeface="+mj-lt"/>
              <a:ea typeface="Red Hat Display"/>
              <a:cs typeface="Red Hat Display"/>
              <a:sym typeface="Red Hat Display"/>
            </a:endParaRPr>
          </a:p>
        </p:txBody>
      </p:sp>
      <p:cxnSp>
        <p:nvCxnSpPr>
          <p:cNvPr id="124" name="Google Shape;1621;p96">
            <a:extLst>
              <a:ext uri="{FF2B5EF4-FFF2-40B4-BE49-F238E27FC236}">
                <a16:creationId xmlns:a16="http://schemas.microsoft.com/office/drawing/2014/main" id="{7114569C-BD7D-FB1B-F20E-351F2007AEA5}"/>
              </a:ext>
            </a:extLst>
          </p:cNvPr>
          <p:cNvCxnSpPr>
            <a:cxnSpLocks/>
            <a:endCxn id="123" idx="1"/>
          </p:cNvCxnSpPr>
          <p:nvPr/>
        </p:nvCxnSpPr>
        <p:spPr>
          <a:xfrm flipV="1">
            <a:off x="5022709" y="2377412"/>
            <a:ext cx="2392411" cy="2748"/>
          </a:xfrm>
          <a:prstGeom prst="straightConnector1">
            <a:avLst/>
          </a:prstGeom>
          <a:noFill/>
          <a:ln w="28575" cap="flat" cmpd="sng">
            <a:solidFill>
              <a:srgbClr val="FFFFFF"/>
            </a:solidFill>
            <a:prstDash val="solid"/>
            <a:round/>
            <a:headEnd type="none" w="sm" len="sm"/>
            <a:tailEnd type="triangle" w="med" len="med"/>
          </a:ln>
        </p:spPr>
      </p:cxnSp>
      <p:sp>
        <p:nvSpPr>
          <p:cNvPr id="95" name="Google Shape;1601;p96">
            <a:extLst>
              <a:ext uri="{FF2B5EF4-FFF2-40B4-BE49-F238E27FC236}">
                <a16:creationId xmlns:a16="http://schemas.microsoft.com/office/drawing/2014/main" id="{885C92DE-965A-F3E2-A5AE-B08A01EC97F5}"/>
              </a:ext>
            </a:extLst>
          </p:cNvPr>
          <p:cNvSpPr/>
          <p:nvPr/>
        </p:nvSpPr>
        <p:spPr>
          <a:xfrm>
            <a:off x="850575" y="1513275"/>
            <a:ext cx="10396500" cy="548640"/>
          </a:xfrm>
          <a:prstGeom prst="roundRect">
            <a:avLst>
              <a:gd name="adj" fmla="val 16667"/>
            </a:avLst>
          </a:prstGeom>
          <a:solidFill>
            <a:schemeClr val="bg1">
              <a:lumMod val="65000"/>
            </a:schemeClr>
          </a:solidFill>
          <a:ln>
            <a:noFill/>
          </a:ln>
        </p:spPr>
        <p:txBody>
          <a:bodyPr spcFirstLastPara="1" wrap="square" lIns="77300" tIns="77300" rIns="77300" bIns="773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002477"/>
              </a:solidFill>
              <a:effectLst/>
              <a:uLnTx/>
              <a:uFillTx/>
              <a:latin typeface="+mj-lt"/>
              <a:ea typeface="Arial"/>
              <a:cs typeface="Arial"/>
              <a:sym typeface="Arial"/>
            </a:endParaRPr>
          </a:p>
        </p:txBody>
      </p:sp>
      <p:sp>
        <p:nvSpPr>
          <p:cNvPr id="100" name="Google Shape;1642;p96">
            <a:extLst>
              <a:ext uri="{FF2B5EF4-FFF2-40B4-BE49-F238E27FC236}">
                <a16:creationId xmlns:a16="http://schemas.microsoft.com/office/drawing/2014/main" id="{1B8F6DF1-872E-183B-25A4-7B8A8D6D2243}"/>
              </a:ext>
            </a:extLst>
          </p:cNvPr>
          <p:cNvSpPr txBox="1"/>
          <p:nvPr/>
        </p:nvSpPr>
        <p:spPr>
          <a:xfrm>
            <a:off x="993423" y="1612545"/>
            <a:ext cx="1090058" cy="350100"/>
          </a:xfrm>
          <a:prstGeom prst="rect">
            <a:avLst/>
          </a:prstGeom>
          <a:noFill/>
          <a:ln>
            <a:noFill/>
          </a:ln>
        </p:spPr>
        <p:txBody>
          <a:bodyPr spcFirstLastPara="1" wrap="square" lIns="77300" tIns="77300" rIns="77300" bIns="773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 sz="1200" b="0" i="0" u="none" strike="noStrike" kern="1200" cap="none" spc="0" normalizeH="0" baseline="0" noProof="0" dirty="0">
                <a:ln>
                  <a:noFill/>
                </a:ln>
                <a:effectLst/>
                <a:uLnTx/>
                <a:uFillTx/>
                <a:latin typeface="+mj-lt"/>
                <a:ea typeface="Red Hat Display"/>
                <a:cs typeface="Red Hat Display"/>
                <a:sym typeface="Red Hat Display"/>
              </a:rPr>
              <a:t>Ideation</a:t>
            </a:r>
            <a:endParaRPr kumimoji="0" sz="1200" b="0" i="0" u="none" strike="noStrike" kern="1200" cap="none" spc="0" normalizeH="0" baseline="0" noProof="0" dirty="0">
              <a:ln>
                <a:noFill/>
              </a:ln>
              <a:effectLst/>
              <a:uLnTx/>
              <a:uFillTx/>
              <a:latin typeface="+mj-lt"/>
              <a:ea typeface="Red Hat Display"/>
              <a:cs typeface="Red Hat Display"/>
              <a:sym typeface="Red Hat Display"/>
            </a:endParaRPr>
          </a:p>
        </p:txBody>
      </p:sp>
      <p:sp>
        <p:nvSpPr>
          <p:cNvPr id="101" name="Google Shape;1619;p96">
            <a:extLst>
              <a:ext uri="{FF2B5EF4-FFF2-40B4-BE49-F238E27FC236}">
                <a16:creationId xmlns:a16="http://schemas.microsoft.com/office/drawing/2014/main" id="{44515EF2-6B3C-2FE4-6376-F373E464A439}"/>
              </a:ext>
            </a:extLst>
          </p:cNvPr>
          <p:cNvSpPr/>
          <p:nvPr/>
        </p:nvSpPr>
        <p:spPr>
          <a:xfrm>
            <a:off x="7780527" y="1620495"/>
            <a:ext cx="886496" cy="334200"/>
          </a:xfrm>
          <a:prstGeom prst="flowChartDocument">
            <a:avLst/>
          </a:prstGeom>
          <a:solidFill>
            <a:srgbClr val="FFFFFF"/>
          </a:solidFill>
          <a:ln w="9525" cap="flat" cmpd="sng">
            <a:solidFill>
              <a:schemeClr val="tx1"/>
            </a:solidFill>
            <a:prstDash val="solid"/>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dirty="0">
                <a:ln>
                  <a:noFill/>
                </a:ln>
                <a:effectLst/>
                <a:uLnTx/>
                <a:uFillTx/>
                <a:latin typeface="+mj-lt"/>
                <a:ea typeface="Red Hat Display"/>
                <a:cs typeface="Red Hat Display"/>
                <a:sym typeface="Red Hat Display"/>
              </a:rPr>
              <a:t>Test Concept Delivered</a:t>
            </a:r>
            <a:endParaRPr kumimoji="0" sz="900" b="0" i="0" u="none" strike="noStrike" kern="1200" cap="none" spc="0" normalizeH="0" baseline="0" noProof="0" dirty="0">
              <a:ln>
                <a:noFill/>
              </a:ln>
              <a:effectLst/>
              <a:uLnTx/>
              <a:uFillTx/>
              <a:latin typeface="+mj-lt"/>
              <a:ea typeface="Red Hat Display"/>
              <a:cs typeface="Red Hat Display"/>
              <a:sym typeface="Red Hat Display"/>
            </a:endParaRPr>
          </a:p>
        </p:txBody>
      </p:sp>
      <p:sp>
        <p:nvSpPr>
          <p:cNvPr id="118" name="Google Shape;1619;p96">
            <a:extLst>
              <a:ext uri="{FF2B5EF4-FFF2-40B4-BE49-F238E27FC236}">
                <a16:creationId xmlns:a16="http://schemas.microsoft.com/office/drawing/2014/main" id="{B02EE527-2B77-E022-7E13-FBE967FA2080}"/>
              </a:ext>
            </a:extLst>
          </p:cNvPr>
          <p:cNvSpPr/>
          <p:nvPr/>
        </p:nvSpPr>
        <p:spPr>
          <a:xfrm>
            <a:off x="2561721" y="1620495"/>
            <a:ext cx="1291586" cy="334200"/>
          </a:xfrm>
          <a:prstGeom prst="rect">
            <a:avLst/>
          </a:prstGeom>
          <a:solidFill>
            <a:srgbClr val="FFFFFF"/>
          </a:solidFill>
          <a:ln w="9525" cap="flat" cmpd="sng">
            <a:solidFill>
              <a:schemeClr val="tx1"/>
            </a:solidFill>
            <a:prstDash val="dash"/>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dirty="0">
                <a:ln>
                  <a:noFill/>
                </a:ln>
                <a:effectLst/>
                <a:uLnTx/>
                <a:uFillTx/>
                <a:latin typeface="+mj-lt"/>
                <a:ea typeface="Red Hat Display"/>
                <a:cs typeface="Red Hat Display"/>
                <a:sym typeface="Red Hat Display"/>
              </a:rPr>
              <a:t>Competitive Research  Client Request</a:t>
            </a:r>
            <a:endParaRPr kumimoji="0" sz="900" b="0" i="0" u="none" strike="noStrike" kern="1200" cap="none" spc="0" normalizeH="0" baseline="0" noProof="0" dirty="0">
              <a:ln>
                <a:noFill/>
              </a:ln>
              <a:effectLst/>
              <a:uLnTx/>
              <a:uFillTx/>
              <a:latin typeface="+mj-lt"/>
              <a:ea typeface="Red Hat Display"/>
              <a:cs typeface="Red Hat Display"/>
              <a:sym typeface="Red Hat Display"/>
            </a:endParaRPr>
          </a:p>
        </p:txBody>
      </p:sp>
      <p:cxnSp>
        <p:nvCxnSpPr>
          <p:cNvPr id="4" name="Google Shape;1621;p96">
            <a:extLst>
              <a:ext uri="{FF2B5EF4-FFF2-40B4-BE49-F238E27FC236}">
                <a16:creationId xmlns:a16="http://schemas.microsoft.com/office/drawing/2014/main" id="{43FB9862-0193-139B-FC68-CA70E645F123}"/>
              </a:ext>
            </a:extLst>
          </p:cNvPr>
          <p:cNvCxnSpPr>
            <a:cxnSpLocks/>
            <a:stCxn id="118" idx="3"/>
            <a:endCxn id="6" idx="1"/>
          </p:cNvCxnSpPr>
          <p:nvPr/>
        </p:nvCxnSpPr>
        <p:spPr>
          <a:xfrm flipV="1">
            <a:off x="3853307" y="1786419"/>
            <a:ext cx="1384739" cy="1176"/>
          </a:xfrm>
          <a:prstGeom prst="straightConnector1">
            <a:avLst/>
          </a:prstGeom>
          <a:noFill/>
          <a:ln w="28575" cap="flat" cmpd="sng">
            <a:solidFill>
              <a:srgbClr val="FFFFFF"/>
            </a:solidFill>
            <a:prstDash val="solid"/>
            <a:round/>
            <a:headEnd type="none" w="sm" len="sm"/>
            <a:tailEnd type="triangle" w="med" len="med"/>
          </a:ln>
        </p:spPr>
      </p:cxnSp>
      <p:sp>
        <p:nvSpPr>
          <p:cNvPr id="6" name="Google Shape;1619;p96">
            <a:extLst>
              <a:ext uri="{FF2B5EF4-FFF2-40B4-BE49-F238E27FC236}">
                <a16:creationId xmlns:a16="http://schemas.microsoft.com/office/drawing/2014/main" id="{A41555E1-00A5-4D45-4BE3-7697FE05CAAB}"/>
              </a:ext>
            </a:extLst>
          </p:cNvPr>
          <p:cNvSpPr/>
          <p:nvPr/>
        </p:nvSpPr>
        <p:spPr>
          <a:xfrm>
            <a:off x="5238046" y="1619319"/>
            <a:ext cx="1291586" cy="334200"/>
          </a:xfrm>
          <a:prstGeom prst="rect">
            <a:avLst/>
          </a:prstGeom>
          <a:solidFill>
            <a:srgbClr val="FFFFFF"/>
          </a:solidFill>
          <a:ln w="9525" cap="flat" cmpd="sng">
            <a:solidFill>
              <a:schemeClr val="tx1"/>
            </a:solidFill>
            <a:prstDash val="solid"/>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dirty="0">
                <a:ln>
                  <a:noFill/>
                </a:ln>
                <a:effectLst/>
                <a:uLnTx/>
                <a:uFillTx/>
                <a:latin typeface="+mj-lt"/>
                <a:ea typeface="Red Hat Display"/>
                <a:cs typeface="Red Hat Display"/>
                <a:sym typeface="Red Hat Display"/>
              </a:rPr>
              <a:t>Test Concept Developed</a:t>
            </a:r>
            <a:endParaRPr kumimoji="0" sz="900" b="0" i="0" u="none" strike="noStrike" kern="1200" cap="none" spc="0" normalizeH="0" baseline="0" noProof="0" dirty="0">
              <a:ln>
                <a:noFill/>
              </a:ln>
              <a:effectLst/>
              <a:uLnTx/>
              <a:uFillTx/>
              <a:latin typeface="+mj-lt"/>
              <a:ea typeface="Red Hat Display"/>
              <a:cs typeface="Red Hat Display"/>
              <a:sym typeface="Red Hat Display"/>
            </a:endParaRPr>
          </a:p>
        </p:txBody>
      </p:sp>
      <p:cxnSp>
        <p:nvCxnSpPr>
          <p:cNvPr id="8" name="Google Shape;1621;p96">
            <a:extLst>
              <a:ext uri="{FF2B5EF4-FFF2-40B4-BE49-F238E27FC236}">
                <a16:creationId xmlns:a16="http://schemas.microsoft.com/office/drawing/2014/main" id="{BE02CAED-E7ED-6B07-E9CD-222EFA326A78}"/>
              </a:ext>
            </a:extLst>
          </p:cNvPr>
          <p:cNvCxnSpPr>
            <a:cxnSpLocks/>
            <a:stCxn id="6" idx="3"/>
            <a:endCxn id="101" idx="1"/>
          </p:cNvCxnSpPr>
          <p:nvPr/>
        </p:nvCxnSpPr>
        <p:spPr>
          <a:xfrm>
            <a:off x="6529632" y="1786419"/>
            <a:ext cx="1250895" cy="1176"/>
          </a:xfrm>
          <a:prstGeom prst="straightConnector1">
            <a:avLst/>
          </a:prstGeom>
          <a:noFill/>
          <a:ln w="28575" cap="flat" cmpd="sng">
            <a:solidFill>
              <a:srgbClr val="FFFFFF"/>
            </a:solidFill>
            <a:prstDash val="solid"/>
            <a:round/>
            <a:headEnd type="none" w="sm" len="sm"/>
            <a:tailEnd type="triangle" w="med" len="med"/>
          </a:ln>
        </p:spPr>
      </p:cxnSp>
      <p:sp>
        <p:nvSpPr>
          <p:cNvPr id="11" name="Google Shape;1628;p96">
            <a:extLst>
              <a:ext uri="{FF2B5EF4-FFF2-40B4-BE49-F238E27FC236}">
                <a16:creationId xmlns:a16="http://schemas.microsoft.com/office/drawing/2014/main" id="{B1BA5175-C074-8AB0-FDF6-F245C889F595}"/>
              </a:ext>
            </a:extLst>
          </p:cNvPr>
          <p:cNvSpPr/>
          <p:nvPr/>
        </p:nvSpPr>
        <p:spPr>
          <a:xfrm>
            <a:off x="9815575" y="1606600"/>
            <a:ext cx="1246883" cy="373024"/>
          </a:xfrm>
          <a:prstGeom prst="flowChartPredefinedProcess">
            <a:avLst/>
          </a:prstGeom>
          <a:solidFill>
            <a:schemeClr val="accent2">
              <a:lumMod val="40000"/>
              <a:lumOff val="60000"/>
            </a:schemeClr>
          </a:solidFill>
          <a:ln w="3175" cap="flat" cmpd="sng">
            <a:solidFill>
              <a:schemeClr val="tx2"/>
            </a:solidFill>
            <a:prstDash val="solid"/>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dirty="0">
                <a:ln>
                  <a:noFill/>
                </a:ln>
                <a:effectLst/>
                <a:uLnTx/>
                <a:uFillTx/>
                <a:latin typeface="+mj-lt"/>
                <a:ea typeface="Red Hat Display"/>
                <a:cs typeface="Red Hat Display"/>
                <a:sym typeface="Red Hat Display"/>
              </a:rPr>
              <a:t>Concept Approved</a:t>
            </a:r>
            <a:endParaRPr kumimoji="0" sz="900" b="0" i="0" u="none" strike="noStrike" kern="1200" cap="none" spc="0" normalizeH="0" baseline="0" noProof="0" dirty="0">
              <a:ln>
                <a:noFill/>
              </a:ln>
              <a:effectLst/>
              <a:uLnTx/>
              <a:uFillTx/>
              <a:latin typeface="+mj-lt"/>
              <a:ea typeface="Red Hat Display"/>
              <a:cs typeface="Red Hat Display"/>
              <a:sym typeface="Red Hat Display"/>
            </a:endParaRPr>
          </a:p>
        </p:txBody>
      </p:sp>
      <p:cxnSp>
        <p:nvCxnSpPr>
          <p:cNvPr id="12" name="Google Shape;1621;p96">
            <a:extLst>
              <a:ext uri="{FF2B5EF4-FFF2-40B4-BE49-F238E27FC236}">
                <a16:creationId xmlns:a16="http://schemas.microsoft.com/office/drawing/2014/main" id="{EAC3FF8D-3BD2-EEA6-ED73-53E95870E426}"/>
              </a:ext>
            </a:extLst>
          </p:cNvPr>
          <p:cNvCxnSpPr>
            <a:cxnSpLocks/>
            <a:stCxn id="101" idx="3"/>
            <a:endCxn id="11" idx="1"/>
          </p:cNvCxnSpPr>
          <p:nvPr/>
        </p:nvCxnSpPr>
        <p:spPr>
          <a:xfrm>
            <a:off x="8667023" y="1787595"/>
            <a:ext cx="1148552" cy="5517"/>
          </a:xfrm>
          <a:prstGeom prst="straightConnector1">
            <a:avLst/>
          </a:prstGeom>
          <a:noFill/>
          <a:ln w="28575" cap="flat" cmpd="sng">
            <a:solidFill>
              <a:srgbClr val="FFFFFF"/>
            </a:solidFill>
            <a:prstDash val="solid"/>
            <a:round/>
            <a:headEnd type="none" w="sm" len="sm"/>
            <a:tailEnd type="triangle" w="med" len="med"/>
          </a:ln>
        </p:spPr>
      </p:cxnSp>
      <p:sp>
        <p:nvSpPr>
          <p:cNvPr id="21" name="Google Shape;1622;p96">
            <a:extLst>
              <a:ext uri="{FF2B5EF4-FFF2-40B4-BE49-F238E27FC236}">
                <a16:creationId xmlns:a16="http://schemas.microsoft.com/office/drawing/2014/main" id="{371C9A30-61A0-132E-4AF4-576F0368A16B}"/>
              </a:ext>
            </a:extLst>
          </p:cNvPr>
          <p:cNvSpPr/>
          <p:nvPr/>
        </p:nvSpPr>
        <p:spPr>
          <a:xfrm>
            <a:off x="8004599" y="2793291"/>
            <a:ext cx="1229482" cy="333926"/>
          </a:xfrm>
          <a:prstGeom prst="flowChartPredefinedProcess">
            <a:avLst/>
          </a:prstGeom>
          <a:solidFill>
            <a:schemeClr val="accent3">
              <a:lumMod val="40000"/>
              <a:lumOff val="60000"/>
            </a:schemeClr>
          </a:solidFill>
          <a:ln w="3175" cap="flat" cmpd="sng">
            <a:solidFill>
              <a:schemeClr val="tx1"/>
            </a:solidFill>
            <a:prstDash val="solid"/>
            <a:round/>
            <a:headEnd type="none" w="sm" len="sm"/>
            <a:tailEnd type="none" w="sm" len="sm"/>
          </a:ln>
        </p:spPr>
        <p:txBody>
          <a:bodyPr spcFirstLastPara="1" wrap="square" lIns="0" tIns="77300" rIns="0" bIns="773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dirty="0">
                <a:ln>
                  <a:noFill/>
                </a:ln>
                <a:effectLst/>
                <a:uLnTx/>
                <a:uFillTx/>
                <a:latin typeface="+mn-lt"/>
                <a:ea typeface="Red Hat Display"/>
                <a:cs typeface="Red Hat Display"/>
                <a:sym typeface="Red Hat Display"/>
              </a:rPr>
              <a:t>QA Links Approved</a:t>
            </a:r>
            <a:endParaRPr kumimoji="0" sz="900" b="0" i="0" u="none" strike="noStrike" kern="1200" cap="none" spc="0" normalizeH="0" baseline="0" noProof="0" dirty="0">
              <a:ln>
                <a:noFill/>
              </a:ln>
              <a:effectLst/>
              <a:uLnTx/>
              <a:uFillTx/>
              <a:latin typeface="+mn-lt"/>
              <a:ea typeface="Red Hat Display"/>
              <a:cs typeface="Red Hat Display"/>
              <a:sym typeface="Red Hat Display"/>
            </a:endParaRPr>
          </a:p>
        </p:txBody>
      </p:sp>
      <p:sp>
        <p:nvSpPr>
          <p:cNvPr id="28" name="Google Shape;1620;p96">
            <a:extLst>
              <a:ext uri="{FF2B5EF4-FFF2-40B4-BE49-F238E27FC236}">
                <a16:creationId xmlns:a16="http://schemas.microsoft.com/office/drawing/2014/main" id="{0F8ADFC4-5E33-CC45-04EF-66E15CC5F8DE}"/>
              </a:ext>
            </a:extLst>
          </p:cNvPr>
          <p:cNvSpPr/>
          <p:nvPr/>
        </p:nvSpPr>
        <p:spPr>
          <a:xfrm>
            <a:off x="10015100" y="2794451"/>
            <a:ext cx="1056648" cy="333936"/>
          </a:xfrm>
          <a:prstGeom prst="rect">
            <a:avLst/>
          </a:prstGeom>
          <a:solidFill>
            <a:srgbClr val="FFFFFF"/>
          </a:solidFill>
          <a:ln w="9525" cap="flat" cmpd="sng">
            <a:solidFill>
              <a:schemeClr val="tx1"/>
            </a:solidFill>
            <a:prstDash val="solid"/>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dirty="0">
                <a:ln>
                  <a:noFill/>
                </a:ln>
                <a:effectLst/>
                <a:uLnTx/>
                <a:uFillTx/>
                <a:latin typeface="+mn-lt"/>
                <a:ea typeface="Red Hat Display"/>
                <a:cs typeface="Red Hat Display"/>
                <a:sym typeface="Red Hat Display"/>
              </a:rPr>
              <a:t>Launch </a:t>
            </a:r>
          </a:p>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dirty="0">
                <a:ln>
                  <a:noFill/>
                </a:ln>
                <a:effectLst/>
                <a:uLnTx/>
                <a:uFillTx/>
                <a:latin typeface="+mn-lt"/>
                <a:ea typeface="Red Hat Display"/>
                <a:cs typeface="Red Hat Display"/>
                <a:sym typeface="Red Hat Display"/>
              </a:rPr>
              <a:t>Scheduled</a:t>
            </a:r>
            <a:endParaRPr kumimoji="0" sz="900" b="0" i="0" u="none" strike="noStrike" kern="1200" cap="none" spc="0" normalizeH="0" baseline="0" noProof="0" dirty="0">
              <a:ln>
                <a:noFill/>
              </a:ln>
              <a:effectLst/>
              <a:uLnTx/>
              <a:uFillTx/>
              <a:latin typeface="+mn-lt"/>
              <a:ea typeface="Red Hat Display"/>
              <a:cs typeface="Red Hat Display"/>
              <a:sym typeface="Red Hat Display"/>
            </a:endParaRPr>
          </a:p>
        </p:txBody>
      </p:sp>
      <p:cxnSp>
        <p:nvCxnSpPr>
          <p:cNvPr id="34" name="Google Shape;1621;p96">
            <a:extLst>
              <a:ext uri="{FF2B5EF4-FFF2-40B4-BE49-F238E27FC236}">
                <a16:creationId xmlns:a16="http://schemas.microsoft.com/office/drawing/2014/main" id="{75344A8B-A116-C7F7-288A-54A3D90BE2D5}"/>
              </a:ext>
            </a:extLst>
          </p:cNvPr>
          <p:cNvCxnSpPr>
            <a:cxnSpLocks/>
            <a:stCxn id="87" idx="3"/>
            <a:endCxn id="21" idx="1"/>
          </p:cNvCxnSpPr>
          <p:nvPr/>
        </p:nvCxnSpPr>
        <p:spPr>
          <a:xfrm flipV="1">
            <a:off x="7220783" y="2960254"/>
            <a:ext cx="783816" cy="657"/>
          </a:xfrm>
          <a:prstGeom prst="straightConnector1">
            <a:avLst/>
          </a:prstGeom>
          <a:noFill/>
          <a:ln w="28575" cap="flat" cmpd="sng">
            <a:solidFill>
              <a:srgbClr val="FFFFFF"/>
            </a:solidFill>
            <a:prstDash val="solid"/>
            <a:round/>
            <a:headEnd type="none" w="sm" len="sm"/>
            <a:tailEnd type="triangle" w="med" len="med"/>
          </a:ln>
        </p:spPr>
      </p:cxnSp>
      <p:cxnSp>
        <p:nvCxnSpPr>
          <p:cNvPr id="39" name="Google Shape;1621;p96">
            <a:extLst>
              <a:ext uri="{FF2B5EF4-FFF2-40B4-BE49-F238E27FC236}">
                <a16:creationId xmlns:a16="http://schemas.microsoft.com/office/drawing/2014/main" id="{1C95F24E-8984-6BBB-C01A-E20FF3D9902A}"/>
              </a:ext>
            </a:extLst>
          </p:cNvPr>
          <p:cNvCxnSpPr>
            <a:cxnSpLocks/>
            <a:stCxn id="21" idx="3"/>
            <a:endCxn id="28" idx="1"/>
          </p:cNvCxnSpPr>
          <p:nvPr/>
        </p:nvCxnSpPr>
        <p:spPr>
          <a:xfrm>
            <a:off x="9234081" y="2960254"/>
            <a:ext cx="781019" cy="1165"/>
          </a:xfrm>
          <a:prstGeom prst="straightConnector1">
            <a:avLst/>
          </a:prstGeom>
          <a:noFill/>
          <a:ln w="28575" cap="flat" cmpd="sng">
            <a:solidFill>
              <a:srgbClr val="FFFFFF"/>
            </a:solidFill>
            <a:prstDash val="solid"/>
            <a:round/>
            <a:headEnd type="none" w="sm" len="sm"/>
            <a:tailEnd type="triangle" w="med" len="med"/>
          </a:ln>
        </p:spPr>
      </p:cxnSp>
    </p:spTree>
    <p:extLst>
      <p:ext uri="{BB962C8B-B14F-4D97-AF65-F5344CB8AC3E}">
        <p14:creationId xmlns:p14="http://schemas.microsoft.com/office/powerpoint/2010/main" val="17170761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6623AA99-5DF2-D2D7-B63C-04333475C09B}"/>
              </a:ext>
            </a:extLst>
          </p:cNvPr>
          <p:cNvSpPr txBox="1">
            <a:spLocks/>
          </p:cNvSpPr>
          <p:nvPr/>
        </p:nvSpPr>
        <p:spPr>
          <a:xfrm>
            <a:off x="554989" y="771015"/>
            <a:ext cx="11082019" cy="982833"/>
          </a:xfrm>
          <a:prstGeom prst="rect">
            <a:avLst/>
          </a:prstGeom>
        </p:spPr>
        <p:txBody>
          <a:bodyPr vert="horz" lIns="91440" tIns="45720" rIns="91440" bIns="45720" rtlCol="0" anchor="t">
            <a:spAutoFit/>
          </a:bodyPr>
          <a:lstStyle>
            <a:lvl1pPr algn="l" defTabSz="914377" rtl="0" eaLnBrk="1" latinLnBrk="0" hangingPunct="1">
              <a:lnSpc>
                <a:spcPct val="90000"/>
              </a:lnSpc>
              <a:spcBef>
                <a:spcPct val="0"/>
              </a:spcBef>
              <a:buNone/>
              <a:defRPr sz="3200" b="1" kern="1200">
                <a:solidFill>
                  <a:schemeClr val="accent4"/>
                </a:solidFill>
                <a:latin typeface="Poppins" panose="00000500000000000000" pitchFamily="2" charset="0"/>
                <a:ea typeface="+mj-ea"/>
                <a:cs typeface="Poppins" panose="00000500000000000000" pitchFamily="2" charset="0"/>
              </a:defRPr>
            </a:lvl1pPr>
          </a:lstStyle>
          <a:p>
            <a:pPr algn="ctr"/>
            <a:r>
              <a:rPr lang="en-US" dirty="0">
                <a:solidFill>
                  <a:schemeClr val="accent1"/>
                </a:solidFill>
              </a:rPr>
              <a:t>X-Small test costs by execution phase: Current process</a:t>
            </a:r>
          </a:p>
        </p:txBody>
      </p:sp>
      <p:graphicFrame>
        <p:nvGraphicFramePr>
          <p:cNvPr id="4" name="Chart 3">
            <a:extLst>
              <a:ext uri="{FF2B5EF4-FFF2-40B4-BE49-F238E27FC236}">
                <a16:creationId xmlns:a16="http://schemas.microsoft.com/office/drawing/2014/main" id="{CB81D07E-469B-341E-8944-D64AEDCD8992}"/>
              </a:ext>
            </a:extLst>
          </p:cNvPr>
          <p:cNvGraphicFramePr>
            <a:graphicFrameLocks/>
          </p:cNvGraphicFramePr>
          <p:nvPr>
            <p:extLst>
              <p:ext uri="{D42A27DB-BD31-4B8C-83A1-F6EECF244321}">
                <p14:modId xmlns:p14="http://schemas.microsoft.com/office/powerpoint/2010/main" val="812779206"/>
              </p:ext>
            </p:extLst>
          </p:nvPr>
        </p:nvGraphicFramePr>
        <p:xfrm>
          <a:off x="3411605" y="-5414751"/>
          <a:ext cx="4942044" cy="410416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4">
            <a:extLst>
              <a:ext uri="{FF2B5EF4-FFF2-40B4-BE49-F238E27FC236}">
                <a16:creationId xmlns:a16="http://schemas.microsoft.com/office/drawing/2014/main" id="{31757AE9-773F-46C5-B030-3E31ED5E534A}"/>
              </a:ext>
            </a:extLst>
          </p:cNvPr>
          <p:cNvGraphicFramePr>
            <a:graphicFrameLocks/>
          </p:cNvGraphicFramePr>
          <p:nvPr>
            <p:extLst>
              <p:ext uri="{D42A27DB-BD31-4B8C-83A1-F6EECF244321}">
                <p14:modId xmlns:p14="http://schemas.microsoft.com/office/powerpoint/2010/main" val="3066991736"/>
              </p:ext>
            </p:extLst>
          </p:nvPr>
        </p:nvGraphicFramePr>
        <p:xfrm>
          <a:off x="255181" y="2176739"/>
          <a:ext cx="5840819" cy="4394181"/>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 name="Chart 5">
            <a:extLst>
              <a:ext uri="{FF2B5EF4-FFF2-40B4-BE49-F238E27FC236}">
                <a16:creationId xmlns:a16="http://schemas.microsoft.com/office/drawing/2014/main" id="{16F3A708-89B5-E7A3-C2B9-0C3D0C5E65E5}"/>
              </a:ext>
            </a:extLst>
          </p:cNvPr>
          <p:cNvGraphicFramePr>
            <a:graphicFrameLocks/>
          </p:cNvGraphicFramePr>
          <p:nvPr>
            <p:extLst>
              <p:ext uri="{D42A27DB-BD31-4B8C-83A1-F6EECF244321}">
                <p14:modId xmlns:p14="http://schemas.microsoft.com/office/powerpoint/2010/main" val="1339561991"/>
              </p:ext>
            </p:extLst>
          </p:nvPr>
        </p:nvGraphicFramePr>
        <p:xfrm>
          <a:off x="6123294" y="1972216"/>
          <a:ext cx="5081518" cy="3377708"/>
        </p:xfrm>
        <a:graphic>
          <a:graphicData uri="http://schemas.openxmlformats.org/drawingml/2006/chart">
            <c:chart xmlns:c="http://schemas.openxmlformats.org/drawingml/2006/chart" xmlns:r="http://schemas.openxmlformats.org/officeDocument/2006/relationships" r:id="rId5"/>
          </a:graphicData>
        </a:graphic>
      </p:graphicFrame>
      <p:sp>
        <p:nvSpPr>
          <p:cNvPr id="7" name="TextBox 6">
            <a:extLst>
              <a:ext uri="{FF2B5EF4-FFF2-40B4-BE49-F238E27FC236}">
                <a16:creationId xmlns:a16="http://schemas.microsoft.com/office/drawing/2014/main" id="{44773CC6-CC59-EF5C-D8B5-04675DD6F733}"/>
              </a:ext>
            </a:extLst>
          </p:cNvPr>
          <p:cNvSpPr txBox="1"/>
          <p:nvPr/>
        </p:nvSpPr>
        <p:spPr>
          <a:xfrm>
            <a:off x="5634990" y="9315450"/>
            <a:ext cx="914400" cy="369332"/>
          </a:xfrm>
          <a:prstGeom prst="rect">
            <a:avLst/>
          </a:prstGeom>
          <a:noFill/>
        </p:spPr>
        <p:txBody>
          <a:bodyPr wrap="square" rtlCol="0">
            <a:spAutoFit/>
          </a:bodyPr>
          <a:lstStyle/>
          <a:p>
            <a:r>
              <a:rPr lang="en-US" dirty="0"/>
              <a:t>a</a:t>
            </a:r>
          </a:p>
        </p:txBody>
      </p:sp>
    </p:spTree>
    <p:extLst>
      <p:ext uri="{BB962C8B-B14F-4D97-AF65-F5344CB8AC3E}">
        <p14:creationId xmlns:p14="http://schemas.microsoft.com/office/powerpoint/2010/main" val="13818628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0A7892-B2E4-B897-7E63-3C33187F3F75}"/>
            </a:ext>
          </a:extLst>
        </p:cNvPr>
        <p:cNvGrpSpPr/>
        <p:nvPr/>
      </p:nvGrpSpPr>
      <p:grpSpPr>
        <a:xfrm>
          <a:off x="0" y="0"/>
          <a:ext cx="0" cy="0"/>
          <a:chOff x="0" y="0"/>
          <a:chExt cx="0" cy="0"/>
        </a:xfrm>
      </p:grpSpPr>
      <p:graphicFrame>
        <p:nvGraphicFramePr>
          <p:cNvPr id="10" name="Chart 9">
            <a:extLst>
              <a:ext uri="{FF2B5EF4-FFF2-40B4-BE49-F238E27FC236}">
                <a16:creationId xmlns:a16="http://schemas.microsoft.com/office/drawing/2014/main" id="{796EB39A-34C5-635A-E579-F200DF3432BC}"/>
              </a:ext>
            </a:extLst>
          </p:cNvPr>
          <p:cNvGraphicFramePr>
            <a:graphicFrameLocks/>
          </p:cNvGraphicFramePr>
          <p:nvPr>
            <p:extLst>
              <p:ext uri="{D42A27DB-BD31-4B8C-83A1-F6EECF244321}">
                <p14:modId xmlns:p14="http://schemas.microsoft.com/office/powerpoint/2010/main" val="423704348"/>
              </p:ext>
            </p:extLst>
          </p:nvPr>
        </p:nvGraphicFramePr>
        <p:xfrm>
          <a:off x="821120" y="2176737"/>
          <a:ext cx="5274878" cy="3415432"/>
        </p:xfrm>
        <a:graphic>
          <a:graphicData uri="http://schemas.openxmlformats.org/drawingml/2006/chart">
            <c:chart xmlns:c="http://schemas.openxmlformats.org/drawingml/2006/chart" xmlns:r="http://schemas.openxmlformats.org/officeDocument/2006/relationships" r:id="rId3"/>
          </a:graphicData>
        </a:graphic>
      </p:graphicFrame>
      <p:sp>
        <p:nvSpPr>
          <p:cNvPr id="3" name="Title 1">
            <a:extLst>
              <a:ext uri="{FF2B5EF4-FFF2-40B4-BE49-F238E27FC236}">
                <a16:creationId xmlns:a16="http://schemas.microsoft.com/office/drawing/2014/main" id="{97CB3EE2-C29F-C064-514F-EFA0A5DDFD51}"/>
              </a:ext>
            </a:extLst>
          </p:cNvPr>
          <p:cNvSpPr txBox="1">
            <a:spLocks/>
          </p:cNvSpPr>
          <p:nvPr/>
        </p:nvSpPr>
        <p:spPr>
          <a:xfrm>
            <a:off x="554989" y="771015"/>
            <a:ext cx="11082019" cy="982833"/>
          </a:xfrm>
          <a:prstGeom prst="rect">
            <a:avLst/>
          </a:prstGeom>
        </p:spPr>
        <p:txBody>
          <a:bodyPr vert="horz" lIns="91440" tIns="45720" rIns="91440" bIns="45720" rtlCol="0" anchor="t">
            <a:spAutoFit/>
          </a:bodyPr>
          <a:lstStyle>
            <a:lvl1pPr algn="l" defTabSz="914377" rtl="0" eaLnBrk="1" latinLnBrk="0" hangingPunct="1">
              <a:lnSpc>
                <a:spcPct val="90000"/>
              </a:lnSpc>
              <a:spcBef>
                <a:spcPct val="0"/>
              </a:spcBef>
              <a:buNone/>
              <a:defRPr sz="3200" b="1" kern="1200">
                <a:solidFill>
                  <a:schemeClr val="accent4"/>
                </a:solidFill>
                <a:latin typeface="Poppins" panose="00000500000000000000" pitchFamily="2" charset="0"/>
                <a:ea typeface="+mj-ea"/>
                <a:cs typeface="Poppins" panose="00000500000000000000" pitchFamily="2" charset="0"/>
              </a:defRPr>
            </a:lvl1pPr>
          </a:lstStyle>
          <a:p>
            <a:pPr algn="ctr"/>
            <a:r>
              <a:rPr lang="en-US" dirty="0">
                <a:solidFill>
                  <a:schemeClr val="accent1"/>
                </a:solidFill>
              </a:rPr>
              <a:t>X-Small test costs by execution phase: Flash process</a:t>
            </a:r>
          </a:p>
        </p:txBody>
      </p:sp>
      <p:graphicFrame>
        <p:nvGraphicFramePr>
          <p:cNvPr id="4" name="Chart 3">
            <a:extLst>
              <a:ext uri="{FF2B5EF4-FFF2-40B4-BE49-F238E27FC236}">
                <a16:creationId xmlns:a16="http://schemas.microsoft.com/office/drawing/2014/main" id="{C850B775-85AC-AA45-0DD2-AC741F964B8D}"/>
              </a:ext>
            </a:extLst>
          </p:cNvPr>
          <p:cNvGraphicFramePr>
            <a:graphicFrameLocks/>
          </p:cNvGraphicFramePr>
          <p:nvPr>
            <p:extLst>
              <p:ext uri="{D42A27DB-BD31-4B8C-83A1-F6EECF244321}">
                <p14:modId xmlns:p14="http://schemas.microsoft.com/office/powerpoint/2010/main" val="1346155403"/>
              </p:ext>
            </p:extLst>
          </p:nvPr>
        </p:nvGraphicFramePr>
        <p:xfrm>
          <a:off x="4007004" y="-5079609"/>
          <a:ext cx="4942044" cy="4104168"/>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9" name="Chart 8">
            <a:extLst>
              <a:ext uri="{FF2B5EF4-FFF2-40B4-BE49-F238E27FC236}">
                <a16:creationId xmlns:a16="http://schemas.microsoft.com/office/drawing/2014/main" id="{CEEF78F8-25A7-705D-B5F3-609054F3A140}"/>
              </a:ext>
            </a:extLst>
          </p:cNvPr>
          <p:cNvGraphicFramePr>
            <a:graphicFrameLocks/>
          </p:cNvGraphicFramePr>
          <p:nvPr>
            <p:extLst>
              <p:ext uri="{D42A27DB-BD31-4B8C-83A1-F6EECF244321}">
                <p14:modId xmlns:p14="http://schemas.microsoft.com/office/powerpoint/2010/main" val="1373654970"/>
              </p:ext>
            </p:extLst>
          </p:nvPr>
        </p:nvGraphicFramePr>
        <p:xfrm>
          <a:off x="6198357" y="2238231"/>
          <a:ext cx="5274877" cy="3353937"/>
        </p:xfrm>
        <a:graphic>
          <a:graphicData uri="http://schemas.openxmlformats.org/drawingml/2006/chart">
            <c:chart xmlns:c="http://schemas.openxmlformats.org/drawingml/2006/chart" xmlns:r="http://schemas.openxmlformats.org/officeDocument/2006/relationships" r:id="rId5"/>
          </a:graphicData>
        </a:graphic>
      </p:graphicFrame>
      <p:sp>
        <p:nvSpPr>
          <p:cNvPr id="11" name="TextBox 10">
            <a:extLst>
              <a:ext uri="{FF2B5EF4-FFF2-40B4-BE49-F238E27FC236}">
                <a16:creationId xmlns:a16="http://schemas.microsoft.com/office/drawing/2014/main" id="{3CAE23C9-1CDB-F1DD-7580-993917574706}"/>
              </a:ext>
            </a:extLst>
          </p:cNvPr>
          <p:cNvSpPr txBox="1"/>
          <p:nvPr/>
        </p:nvSpPr>
        <p:spPr>
          <a:xfrm>
            <a:off x="5638800" y="9095004"/>
            <a:ext cx="914400" cy="369332"/>
          </a:xfrm>
          <a:prstGeom prst="rect">
            <a:avLst/>
          </a:prstGeom>
          <a:noFill/>
        </p:spPr>
        <p:txBody>
          <a:bodyPr wrap="square" rtlCol="0">
            <a:spAutoFit/>
          </a:bodyPr>
          <a:lstStyle/>
          <a:p>
            <a:r>
              <a:rPr lang="en-US" dirty="0"/>
              <a:t>a</a:t>
            </a:r>
          </a:p>
        </p:txBody>
      </p:sp>
    </p:spTree>
    <p:extLst>
      <p:ext uri="{BB962C8B-B14F-4D97-AF65-F5344CB8AC3E}">
        <p14:creationId xmlns:p14="http://schemas.microsoft.com/office/powerpoint/2010/main" val="2669970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48F5D9-343E-79DD-7471-81EA338E9CFB}"/>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5430178D-1CBA-E5AB-1F03-A6B3762AB092}"/>
              </a:ext>
            </a:extLst>
          </p:cNvPr>
          <p:cNvSpPr txBox="1"/>
          <p:nvPr/>
        </p:nvSpPr>
        <p:spPr>
          <a:xfrm>
            <a:off x="843490" y="2010439"/>
            <a:ext cx="4556535" cy="2773323"/>
          </a:xfrm>
          <a:prstGeom prst="rect">
            <a:avLst/>
          </a:prstGeom>
          <a:noFill/>
        </p:spPr>
        <p:txBody>
          <a:bodyPr wrap="square" rtlCol="0" anchor="ctr">
            <a:spAutoFit/>
          </a:bodyPr>
          <a:lstStyle/>
          <a:p>
            <a:pPr>
              <a:lnSpc>
                <a:spcPct val="95000"/>
              </a:lnSpc>
              <a:spcBef>
                <a:spcPct val="0"/>
              </a:spcBef>
              <a:defRPr/>
            </a:pPr>
            <a:r>
              <a:rPr lang="en-US" sz="3200" b="1" dirty="0">
                <a:solidFill>
                  <a:schemeClr val="accent1"/>
                </a:solidFill>
                <a:latin typeface="+mj-lt"/>
                <a:ea typeface="+mj-ea"/>
                <a:cs typeface="+mj-cs"/>
              </a:rPr>
              <a:t>Gaining alignment on pre-approval details</a:t>
            </a:r>
          </a:p>
          <a:p>
            <a:pPr marL="342900" indent="-342900">
              <a:lnSpc>
                <a:spcPct val="112000"/>
              </a:lnSpc>
              <a:spcBef>
                <a:spcPts val="1200"/>
              </a:spcBef>
              <a:buAutoNum type="arabicPeriod"/>
              <a:defRPr/>
            </a:pPr>
            <a:r>
              <a:rPr lang="en-US" sz="1600" dirty="0">
                <a:latin typeface="+mj-lt"/>
              </a:rPr>
              <a:t>Defining risk</a:t>
            </a:r>
          </a:p>
          <a:p>
            <a:pPr marL="342900" indent="-342900">
              <a:lnSpc>
                <a:spcPct val="112000"/>
              </a:lnSpc>
              <a:spcBef>
                <a:spcPts val="1200"/>
              </a:spcBef>
              <a:buAutoNum type="arabicPeriod"/>
              <a:defRPr/>
            </a:pPr>
            <a:r>
              <a:rPr lang="en-US" sz="1600" dirty="0">
                <a:latin typeface="+mj-lt"/>
              </a:rPr>
              <a:t>Identifying </a:t>
            </a:r>
            <a:r>
              <a:rPr lang="en-US" sz="1600" b="1" dirty="0">
                <a:latin typeface="+mj-lt"/>
              </a:rPr>
              <a:t>[Client]</a:t>
            </a:r>
            <a:r>
              <a:rPr lang="en-US" sz="1600" dirty="0">
                <a:latin typeface="+mj-lt"/>
              </a:rPr>
              <a:t>’s concerns</a:t>
            </a:r>
          </a:p>
          <a:p>
            <a:pPr marL="342900" indent="-342900">
              <a:lnSpc>
                <a:spcPct val="112000"/>
              </a:lnSpc>
              <a:spcBef>
                <a:spcPts val="1200"/>
              </a:spcBef>
              <a:buAutoNum type="arabicPeriod"/>
              <a:defRPr/>
            </a:pPr>
            <a:endParaRPr lang="en-US" sz="1600" dirty="0">
              <a:latin typeface="+mj-lt"/>
            </a:endParaRPr>
          </a:p>
        </p:txBody>
      </p:sp>
      <p:pic>
        <p:nvPicPr>
          <p:cNvPr id="10" name="Graphic 9" descr="Clipboard Checked with solid fill">
            <a:extLst>
              <a:ext uri="{FF2B5EF4-FFF2-40B4-BE49-F238E27FC236}">
                <a16:creationId xmlns:a16="http://schemas.microsoft.com/office/drawing/2014/main" id="{244F3E38-2E84-EA2B-9E16-10BA4F250F6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424567" y="2102224"/>
            <a:ext cx="2063676" cy="2063676"/>
          </a:xfrm>
          <a:prstGeom prst="rect">
            <a:avLst/>
          </a:prstGeom>
        </p:spPr>
      </p:pic>
    </p:spTree>
    <p:extLst>
      <p:ext uri="{BB962C8B-B14F-4D97-AF65-F5344CB8AC3E}">
        <p14:creationId xmlns:p14="http://schemas.microsoft.com/office/powerpoint/2010/main" val="35669762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540F37-B60C-677C-5CD3-BC5B21926C94}"/>
            </a:ext>
          </a:extLst>
        </p:cNvPr>
        <p:cNvGrpSpPr/>
        <p:nvPr/>
      </p:nvGrpSpPr>
      <p:grpSpPr>
        <a:xfrm>
          <a:off x="0" y="0"/>
          <a:ext cx="0" cy="0"/>
          <a:chOff x="0" y="0"/>
          <a:chExt cx="0" cy="0"/>
        </a:xfrm>
      </p:grpSpPr>
      <p:pic>
        <p:nvPicPr>
          <p:cNvPr id="7" name="Picture 6" descr="A gold scale on a table&#10;&#10;AI-generated content may be incorrect.">
            <a:extLst>
              <a:ext uri="{FF2B5EF4-FFF2-40B4-BE49-F238E27FC236}">
                <a16:creationId xmlns:a16="http://schemas.microsoft.com/office/drawing/2014/main" id="{B378E099-FB31-DEFC-EEFF-006797A460DE}"/>
              </a:ext>
            </a:extLst>
          </p:cNvPr>
          <p:cNvPicPr>
            <a:picLocks noChangeAspect="1"/>
          </p:cNvPicPr>
          <p:nvPr/>
        </p:nvPicPr>
        <p:blipFill>
          <a:blip r:embed="rId2">
            <a:extLst>
              <a:ext uri="{837473B0-CC2E-450A-ABE3-18F120FF3D39}">
                <a1611:picAttrSrcUrl xmlns:a1611="http://schemas.microsoft.com/office/drawing/2016/11/main" r:id="rId3"/>
              </a:ext>
            </a:extLst>
          </a:blip>
          <a:srcRect t="10748" b="30780"/>
          <a:stretch>
            <a:fillRect/>
          </a:stretch>
        </p:blipFill>
        <p:spPr>
          <a:xfrm>
            <a:off x="-1" y="0"/>
            <a:ext cx="12192000" cy="3696790"/>
          </a:xfrm>
          <a:prstGeom prst="rect">
            <a:avLst/>
          </a:prstGeom>
        </p:spPr>
      </p:pic>
      <p:sp>
        <p:nvSpPr>
          <p:cNvPr id="3" name="Rectangle 2">
            <a:extLst>
              <a:ext uri="{FF2B5EF4-FFF2-40B4-BE49-F238E27FC236}">
                <a16:creationId xmlns:a16="http://schemas.microsoft.com/office/drawing/2014/main" id="{7FEA5F2E-0FF4-6132-843F-938D84951D59}"/>
              </a:ext>
            </a:extLst>
          </p:cNvPr>
          <p:cNvSpPr/>
          <p:nvPr/>
        </p:nvSpPr>
        <p:spPr>
          <a:xfrm>
            <a:off x="0" y="-1"/>
            <a:ext cx="12191999" cy="3517901"/>
          </a:xfrm>
          <a:prstGeom prst="rect">
            <a:avLst/>
          </a:prstGeom>
          <a:no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US" dirty="0">
              <a:solidFill>
                <a:schemeClr val="bg1">
                  <a:lumMod val="75000"/>
                </a:schemeClr>
              </a:solidFill>
            </a:endParaRPr>
          </a:p>
        </p:txBody>
      </p:sp>
      <p:grpSp>
        <p:nvGrpSpPr>
          <p:cNvPr id="14" name="Group 13">
            <a:extLst>
              <a:ext uri="{FF2B5EF4-FFF2-40B4-BE49-F238E27FC236}">
                <a16:creationId xmlns:a16="http://schemas.microsoft.com/office/drawing/2014/main" id="{B4AFABB2-73B2-C6FD-E399-79D795889F4B}"/>
              </a:ext>
            </a:extLst>
          </p:cNvPr>
          <p:cNvGrpSpPr/>
          <p:nvPr/>
        </p:nvGrpSpPr>
        <p:grpSpPr>
          <a:xfrm>
            <a:off x="838201" y="2414338"/>
            <a:ext cx="10515600" cy="3581190"/>
            <a:chOff x="662614" y="1977701"/>
            <a:chExt cx="8566655" cy="3355009"/>
          </a:xfrm>
        </p:grpSpPr>
        <p:sp>
          <p:nvSpPr>
            <p:cNvPr id="15" name="Rectangle: Rounded Corners 14">
              <a:extLst>
                <a:ext uri="{FF2B5EF4-FFF2-40B4-BE49-F238E27FC236}">
                  <a16:creationId xmlns:a16="http://schemas.microsoft.com/office/drawing/2014/main" id="{87BE96F7-944C-145C-343A-5A6DBF3683A6}"/>
                </a:ext>
              </a:extLst>
            </p:cNvPr>
            <p:cNvSpPr/>
            <p:nvPr/>
          </p:nvSpPr>
          <p:spPr>
            <a:xfrm>
              <a:off x="662614" y="1977701"/>
              <a:ext cx="2626685" cy="3355009"/>
            </a:xfrm>
            <a:prstGeom prst="roundRect">
              <a:avLst>
                <a:gd name="adj" fmla="val 0"/>
              </a:avLst>
            </a:prstGeom>
            <a:solidFill>
              <a:schemeClr val="bg1">
                <a:lumMod val="95000"/>
              </a:schemeClr>
            </a:solidFill>
            <a:ln w="12700">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US" err="1"/>
            </a:p>
          </p:txBody>
        </p:sp>
        <p:sp>
          <p:nvSpPr>
            <p:cNvPr id="16" name="Rectangle: Rounded Corners 15">
              <a:extLst>
                <a:ext uri="{FF2B5EF4-FFF2-40B4-BE49-F238E27FC236}">
                  <a16:creationId xmlns:a16="http://schemas.microsoft.com/office/drawing/2014/main" id="{4E40E4B7-76B3-10AE-C248-538A7053EFD4}"/>
                </a:ext>
              </a:extLst>
            </p:cNvPr>
            <p:cNvSpPr/>
            <p:nvPr/>
          </p:nvSpPr>
          <p:spPr>
            <a:xfrm>
              <a:off x="3632599" y="1977701"/>
              <a:ext cx="2626685" cy="3355009"/>
            </a:xfrm>
            <a:prstGeom prst="roundRect">
              <a:avLst>
                <a:gd name="adj" fmla="val 0"/>
              </a:avLst>
            </a:prstGeom>
            <a:solidFill>
              <a:schemeClr val="bg1">
                <a:lumMod val="95000"/>
              </a:schemeClr>
            </a:solidFill>
            <a:ln w="12700">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US" err="1"/>
            </a:p>
          </p:txBody>
        </p:sp>
        <p:sp>
          <p:nvSpPr>
            <p:cNvPr id="17" name="Rectangle: Rounded Corners 16">
              <a:extLst>
                <a:ext uri="{FF2B5EF4-FFF2-40B4-BE49-F238E27FC236}">
                  <a16:creationId xmlns:a16="http://schemas.microsoft.com/office/drawing/2014/main" id="{47E9AD14-EAFE-AD57-D3F0-4A3AAC7AF7AE}"/>
                </a:ext>
              </a:extLst>
            </p:cNvPr>
            <p:cNvSpPr/>
            <p:nvPr/>
          </p:nvSpPr>
          <p:spPr>
            <a:xfrm>
              <a:off x="6602584" y="1977701"/>
              <a:ext cx="2626685" cy="3355009"/>
            </a:xfrm>
            <a:prstGeom prst="roundRect">
              <a:avLst>
                <a:gd name="adj" fmla="val 0"/>
              </a:avLst>
            </a:prstGeom>
            <a:solidFill>
              <a:schemeClr val="bg1">
                <a:lumMod val="95000"/>
              </a:schemeClr>
            </a:solidFill>
            <a:ln w="12700">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US" err="1"/>
            </a:p>
          </p:txBody>
        </p:sp>
      </p:grpSp>
      <p:sp>
        <p:nvSpPr>
          <p:cNvPr id="4" name="Rectangle 3">
            <a:extLst>
              <a:ext uri="{FF2B5EF4-FFF2-40B4-BE49-F238E27FC236}">
                <a16:creationId xmlns:a16="http://schemas.microsoft.com/office/drawing/2014/main" id="{34ECE8BA-BCC2-1AE6-975E-51AA6FB106C4}"/>
              </a:ext>
            </a:extLst>
          </p:cNvPr>
          <p:cNvSpPr/>
          <p:nvPr/>
        </p:nvSpPr>
        <p:spPr>
          <a:xfrm>
            <a:off x="1015140" y="2836921"/>
            <a:ext cx="2889202" cy="2175275"/>
          </a:xfrm>
          <a:prstGeom prst="rect">
            <a:avLst/>
          </a:prstGeom>
        </p:spPr>
        <p:txBody>
          <a:bodyPr wrap="square">
            <a:spAutoFit/>
          </a:bodyPr>
          <a:lstStyle/>
          <a:p>
            <a:pPr algn="ctr" fontAlgn="base">
              <a:lnSpc>
                <a:spcPct val="125000"/>
              </a:lnSpc>
              <a:spcBef>
                <a:spcPct val="0"/>
              </a:spcBef>
              <a:spcAft>
                <a:spcPct val="0"/>
              </a:spcAft>
            </a:pPr>
            <a:r>
              <a:rPr lang="en-US" dirty="0">
                <a:solidFill>
                  <a:schemeClr val="accent1"/>
                </a:solidFill>
                <a:latin typeface="Poppins SemiBold" panose="00000700000000000000" pitchFamily="2" charset="0"/>
                <a:cs typeface="Poppins SemiBold" panose="00000700000000000000" pitchFamily="2" charset="0"/>
              </a:rPr>
              <a:t>Low Contrast</a:t>
            </a:r>
          </a:p>
          <a:p>
            <a:pPr algn="ctr" fontAlgn="base">
              <a:lnSpc>
                <a:spcPct val="125000"/>
              </a:lnSpc>
              <a:spcBef>
                <a:spcPct val="0"/>
              </a:spcBef>
              <a:spcAft>
                <a:spcPct val="0"/>
              </a:spcAft>
            </a:pPr>
            <a:endParaRPr lang="en-US" sz="300" dirty="0">
              <a:latin typeface="+mj-lt"/>
            </a:endParaRPr>
          </a:p>
          <a:p>
            <a:pPr algn="ctr" fontAlgn="base">
              <a:lnSpc>
                <a:spcPct val="112000"/>
              </a:lnSpc>
              <a:spcBef>
                <a:spcPct val="0"/>
              </a:spcBef>
              <a:spcAft>
                <a:spcPct val="0"/>
              </a:spcAft>
            </a:pPr>
            <a:r>
              <a:rPr lang="en-US" sz="1400" dirty="0">
                <a:latin typeface="+mj-lt"/>
              </a:rPr>
              <a:t>Low contrast changes are not substantially different from the current site. For example, a one might swap out a Hero image but wouldn’t touch the Hero layout to accommodate the new creative.</a:t>
            </a:r>
          </a:p>
        </p:txBody>
      </p:sp>
      <p:sp>
        <p:nvSpPr>
          <p:cNvPr id="5" name="Rectangle 4">
            <a:extLst>
              <a:ext uri="{FF2B5EF4-FFF2-40B4-BE49-F238E27FC236}">
                <a16:creationId xmlns:a16="http://schemas.microsoft.com/office/drawing/2014/main" id="{0C7114B9-FDCE-D71B-A63B-50F6F6878B2C}"/>
              </a:ext>
            </a:extLst>
          </p:cNvPr>
          <p:cNvSpPr/>
          <p:nvPr/>
        </p:nvSpPr>
        <p:spPr>
          <a:xfrm>
            <a:off x="4660069" y="2836921"/>
            <a:ext cx="2889202" cy="1692707"/>
          </a:xfrm>
          <a:prstGeom prst="rect">
            <a:avLst/>
          </a:prstGeom>
        </p:spPr>
        <p:txBody>
          <a:bodyPr wrap="square">
            <a:spAutoFit/>
          </a:bodyPr>
          <a:lstStyle/>
          <a:p>
            <a:pPr algn="ctr" fontAlgn="base">
              <a:lnSpc>
                <a:spcPct val="125000"/>
              </a:lnSpc>
              <a:spcBef>
                <a:spcPct val="0"/>
              </a:spcBef>
              <a:spcAft>
                <a:spcPct val="0"/>
              </a:spcAft>
            </a:pPr>
            <a:r>
              <a:rPr lang="en-US" dirty="0">
                <a:solidFill>
                  <a:schemeClr val="accent1"/>
                </a:solidFill>
                <a:latin typeface="Poppins SemiBold" panose="00000700000000000000" pitchFamily="2" charset="0"/>
                <a:cs typeface="Poppins SemiBold" panose="00000700000000000000" pitchFamily="2" charset="0"/>
              </a:rPr>
              <a:t>Low Cost</a:t>
            </a:r>
          </a:p>
          <a:p>
            <a:pPr algn="ctr" fontAlgn="base">
              <a:lnSpc>
                <a:spcPct val="125000"/>
              </a:lnSpc>
              <a:spcBef>
                <a:spcPct val="0"/>
              </a:spcBef>
              <a:spcAft>
                <a:spcPct val="0"/>
              </a:spcAft>
            </a:pPr>
            <a:endParaRPr lang="en-US" sz="300" dirty="0">
              <a:latin typeface="+mj-lt"/>
            </a:endParaRPr>
          </a:p>
          <a:p>
            <a:pPr algn="ctr" fontAlgn="base">
              <a:lnSpc>
                <a:spcPct val="112000"/>
              </a:lnSpc>
              <a:spcBef>
                <a:spcPct val="0"/>
              </a:spcBef>
              <a:spcAft>
                <a:spcPct val="0"/>
              </a:spcAft>
            </a:pPr>
            <a:r>
              <a:rPr lang="en-US" sz="1400" dirty="0">
                <a:latin typeface="+mj-lt"/>
              </a:rPr>
              <a:t>Low-cost tests are very easy to execute, meaning that failure, or potential vetoes, aren’t major blows to program ROI</a:t>
            </a:r>
          </a:p>
        </p:txBody>
      </p:sp>
      <p:sp>
        <p:nvSpPr>
          <p:cNvPr id="6" name="Rectangle 5">
            <a:extLst>
              <a:ext uri="{FF2B5EF4-FFF2-40B4-BE49-F238E27FC236}">
                <a16:creationId xmlns:a16="http://schemas.microsoft.com/office/drawing/2014/main" id="{BF464177-06A4-A6DE-37AE-FA68C0F59054}"/>
              </a:ext>
            </a:extLst>
          </p:cNvPr>
          <p:cNvSpPr/>
          <p:nvPr/>
        </p:nvSpPr>
        <p:spPr>
          <a:xfrm>
            <a:off x="8303530" y="2836921"/>
            <a:ext cx="2889202" cy="3004092"/>
          </a:xfrm>
          <a:prstGeom prst="rect">
            <a:avLst/>
          </a:prstGeom>
        </p:spPr>
        <p:txBody>
          <a:bodyPr wrap="square">
            <a:spAutoFit/>
          </a:bodyPr>
          <a:lstStyle/>
          <a:p>
            <a:pPr algn="ctr" fontAlgn="base">
              <a:lnSpc>
                <a:spcPct val="125000"/>
              </a:lnSpc>
              <a:spcBef>
                <a:spcPct val="0"/>
              </a:spcBef>
              <a:spcAft>
                <a:spcPct val="0"/>
              </a:spcAft>
            </a:pPr>
            <a:r>
              <a:rPr lang="en-US" dirty="0">
                <a:solidFill>
                  <a:schemeClr val="accent1"/>
                </a:solidFill>
                <a:latin typeface="Poppins SemiBold" panose="00000700000000000000" pitchFamily="2" charset="0"/>
                <a:cs typeface="Poppins SemiBold" panose="00000700000000000000" pitchFamily="2" charset="0"/>
              </a:rPr>
              <a:t>Pre-approved Changes</a:t>
            </a:r>
          </a:p>
          <a:p>
            <a:pPr algn="ctr" fontAlgn="base">
              <a:lnSpc>
                <a:spcPct val="125000"/>
              </a:lnSpc>
              <a:spcBef>
                <a:spcPct val="0"/>
              </a:spcBef>
              <a:spcAft>
                <a:spcPct val="0"/>
              </a:spcAft>
            </a:pPr>
            <a:endParaRPr lang="en-US" sz="300" dirty="0">
              <a:latin typeface="+mj-lt"/>
            </a:endParaRPr>
          </a:p>
          <a:p>
            <a:pPr algn="ctr" fontAlgn="base">
              <a:lnSpc>
                <a:spcPct val="112000"/>
              </a:lnSpc>
              <a:spcBef>
                <a:spcPct val="0"/>
              </a:spcBef>
              <a:spcAft>
                <a:spcPct val="0"/>
              </a:spcAft>
            </a:pPr>
            <a:r>
              <a:rPr lang="en-US" sz="1400" dirty="0">
                <a:latin typeface="+mj-lt"/>
              </a:rPr>
              <a:t>Aligning on the types of changes that </a:t>
            </a:r>
            <a:r>
              <a:rPr lang="en-US" sz="1400" b="1" dirty="0">
                <a:latin typeface="+mj-lt"/>
              </a:rPr>
              <a:t>[Client]</a:t>
            </a:r>
            <a:r>
              <a:rPr lang="en-US" sz="1400" dirty="0">
                <a:latin typeface="+mj-lt"/>
              </a:rPr>
              <a:t> is comfortable with up front allow Horizon Commerce stay within pre-set guidelines and improve the rate at which pre-approved concepts meet </a:t>
            </a:r>
            <a:r>
              <a:rPr lang="en-US" sz="1400" b="1" dirty="0">
                <a:latin typeface="+mj-lt"/>
              </a:rPr>
              <a:t>[Client]</a:t>
            </a:r>
            <a:r>
              <a:rPr lang="en-US" sz="1400" dirty="0">
                <a:latin typeface="+mj-lt"/>
              </a:rPr>
              <a:t> expectations &amp; launch</a:t>
            </a:r>
            <a:endParaRPr lang="en-US" sz="1400" b="1" dirty="0">
              <a:latin typeface="+mj-lt"/>
            </a:endParaRPr>
          </a:p>
        </p:txBody>
      </p:sp>
      <p:sp>
        <p:nvSpPr>
          <p:cNvPr id="9" name="Title 1">
            <a:extLst>
              <a:ext uri="{FF2B5EF4-FFF2-40B4-BE49-F238E27FC236}">
                <a16:creationId xmlns:a16="http://schemas.microsoft.com/office/drawing/2014/main" id="{F646472B-59F2-B524-178A-93FEA9FBECA8}"/>
              </a:ext>
            </a:extLst>
          </p:cNvPr>
          <p:cNvSpPr txBox="1">
            <a:spLocks/>
          </p:cNvSpPr>
          <p:nvPr/>
        </p:nvSpPr>
        <p:spPr>
          <a:xfrm>
            <a:off x="838201" y="955675"/>
            <a:ext cx="10515600" cy="661988"/>
          </a:xfrm>
          <a:prstGeom prst="rect">
            <a:avLst/>
          </a:prstGeom>
          <a:solidFill>
            <a:schemeClr val="accent1"/>
          </a:solidFill>
        </p:spPr>
        <p:txBody>
          <a:bodyPr vert="horz" lIns="91440" tIns="45720" rIns="91440" bIns="45720" rtlCol="0" anchor="t">
            <a:spAutoFit/>
          </a:bodyPr>
          <a:lstStyle>
            <a:lvl1pPr algn="l" defTabSz="914377" rtl="0" eaLnBrk="1" latinLnBrk="0" hangingPunct="1">
              <a:lnSpc>
                <a:spcPct val="90000"/>
              </a:lnSpc>
              <a:spcBef>
                <a:spcPct val="0"/>
              </a:spcBef>
              <a:buNone/>
              <a:defRPr sz="3200" b="1" kern="1200">
                <a:solidFill>
                  <a:schemeClr val="accent4"/>
                </a:solidFill>
                <a:latin typeface="Poppins" panose="00000500000000000000" pitchFamily="2" charset="0"/>
                <a:ea typeface="+mj-ea"/>
                <a:cs typeface="Poppins" panose="00000500000000000000" pitchFamily="2" charset="0"/>
              </a:defRPr>
            </a:lvl1pPr>
          </a:lstStyle>
          <a:p>
            <a:pPr algn="ctr"/>
            <a:r>
              <a:rPr lang="en-US" sz="4000" dirty="0">
                <a:solidFill>
                  <a:schemeClr val="bg1"/>
                </a:solidFill>
              </a:rPr>
              <a:t>What Makes A Test Low risk?</a:t>
            </a:r>
          </a:p>
        </p:txBody>
      </p:sp>
    </p:spTree>
    <p:extLst>
      <p:ext uri="{BB962C8B-B14F-4D97-AF65-F5344CB8AC3E}">
        <p14:creationId xmlns:p14="http://schemas.microsoft.com/office/powerpoint/2010/main" val="10500844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D191C9-A7E1-6385-E379-2871D422F2DA}"/>
            </a:ext>
          </a:extLst>
        </p:cNvPr>
        <p:cNvGrpSpPr/>
        <p:nvPr/>
      </p:nvGrpSpPr>
      <p:grpSpPr>
        <a:xfrm>
          <a:off x="0" y="0"/>
          <a:ext cx="0" cy="0"/>
          <a:chOff x="0" y="0"/>
          <a:chExt cx="0" cy="0"/>
        </a:xfrm>
      </p:grpSpPr>
      <p:graphicFrame>
        <p:nvGraphicFramePr>
          <p:cNvPr id="3" name="Table 6">
            <a:extLst>
              <a:ext uri="{FF2B5EF4-FFF2-40B4-BE49-F238E27FC236}">
                <a16:creationId xmlns:a16="http://schemas.microsoft.com/office/drawing/2014/main" id="{36A7D8B1-FBAA-8ECD-E6EB-4D7C5F68E30E}"/>
              </a:ext>
            </a:extLst>
          </p:cNvPr>
          <p:cNvGraphicFramePr>
            <a:graphicFrameLocks noGrp="1"/>
          </p:cNvGraphicFramePr>
          <p:nvPr>
            <p:extLst>
              <p:ext uri="{D42A27DB-BD31-4B8C-83A1-F6EECF244321}">
                <p14:modId xmlns:p14="http://schemas.microsoft.com/office/powerpoint/2010/main" val="1004897903"/>
              </p:ext>
            </p:extLst>
          </p:nvPr>
        </p:nvGraphicFramePr>
        <p:xfrm>
          <a:off x="554991" y="1747278"/>
          <a:ext cx="11082019" cy="4653153"/>
        </p:xfrm>
        <a:graphic>
          <a:graphicData uri="http://schemas.openxmlformats.org/drawingml/2006/table">
            <a:tbl>
              <a:tblPr firstRow="1" bandRow="1">
                <a:tableStyleId>{073A0DAA-6AF3-43AB-8588-CEC1D06C72B9}</a:tableStyleId>
              </a:tblPr>
              <a:tblGrid>
                <a:gridCol w="1534503">
                  <a:extLst>
                    <a:ext uri="{9D8B030D-6E8A-4147-A177-3AD203B41FA5}">
                      <a16:colId xmlns:a16="http://schemas.microsoft.com/office/drawing/2014/main" val="3214227377"/>
                    </a:ext>
                  </a:extLst>
                </a:gridCol>
                <a:gridCol w="2386879">
                  <a:extLst>
                    <a:ext uri="{9D8B030D-6E8A-4147-A177-3AD203B41FA5}">
                      <a16:colId xmlns:a16="http://schemas.microsoft.com/office/drawing/2014/main" val="3478323516"/>
                    </a:ext>
                  </a:extLst>
                </a:gridCol>
                <a:gridCol w="2386879">
                  <a:extLst>
                    <a:ext uri="{9D8B030D-6E8A-4147-A177-3AD203B41FA5}">
                      <a16:colId xmlns:a16="http://schemas.microsoft.com/office/drawing/2014/main" val="3634470519"/>
                    </a:ext>
                  </a:extLst>
                </a:gridCol>
                <a:gridCol w="2386879">
                  <a:extLst>
                    <a:ext uri="{9D8B030D-6E8A-4147-A177-3AD203B41FA5}">
                      <a16:colId xmlns:a16="http://schemas.microsoft.com/office/drawing/2014/main" val="1758720560"/>
                    </a:ext>
                  </a:extLst>
                </a:gridCol>
                <a:gridCol w="2386879">
                  <a:extLst>
                    <a:ext uri="{9D8B030D-6E8A-4147-A177-3AD203B41FA5}">
                      <a16:colId xmlns:a16="http://schemas.microsoft.com/office/drawing/2014/main" val="463973718"/>
                    </a:ext>
                  </a:extLst>
                </a:gridCol>
              </a:tblGrid>
              <a:tr h="0">
                <a:tc>
                  <a:txBody>
                    <a:bodyPr/>
                    <a:lstStyle/>
                    <a:p>
                      <a:pPr algn="l">
                        <a:lnSpc>
                          <a:spcPct val="110000"/>
                        </a:lnSpc>
                      </a:pPr>
                      <a:endParaRPr lang="en-US" sz="1400" b="1" i="0">
                        <a:latin typeface="Poppins SemiBold" pitchFamily="2" charset="77"/>
                        <a:cs typeface="Poppins SemiBold" pitchFamily="2" charset="77"/>
                      </a:endParaRPr>
                    </a:p>
                  </a:txBody>
                  <a:tcPr marL="111556" marR="111556" marT="137160" marB="137160" anchor="ctr">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10000"/>
                        </a:lnSpc>
                      </a:pPr>
                      <a:r>
                        <a:rPr lang="en-US" sz="1400" b="1" i="0" kern="1200" dirty="0">
                          <a:solidFill>
                            <a:schemeClr val="lt1"/>
                          </a:solidFill>
                          <a:latin typeface="Poppins SemiBold" pitchFamily="2" charset="77"/>
                          <a:ea typeface="+mn-ea"/>
                          <a:cs typeface="Poppins SemiBold" pitchFamily="2" charset="77"/>
                        </a:rPr>
                        <a:t>Image Swap</a:t>
                      </a:r>
                    </a:p>
                  </a:txBody>
                  <a:tcPr marL="111556" marR="111556" marT="137160" marB="137160" anchor="ctr">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l">
                        <a:lnSpc>
                          <a:spcPct val="110000"/>
                        </a:lnSpc>
                      </a:pPr>
                      <a:r>
                        <a:rPr lang="en-US" sz="1400" b="1" i="0" dirty="0">
                          <a:latin typeface="Poppins SemiBold" pitchFamily="2" charset="77"/>
                          <a:cs typeface="Poppins SemiBold" pitchFamily="2" charset="77"/>
                        </a:rPr>
                        <a:t>Copy Change (Color &amp; content)</a:t>
                      </a:r>
                    </a:p>
                  </a:txBody>
                  <a:tcPr marL="111556" marR="111556" marT="137160" marB="137160" anchor="ctr">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l">
                        <a:lnSpc>
                          <a:spcPct val="110000"/>
                        </a:lnSpc>
                      </a:pPr>
                      <a:r>
                        <a:rPr lang="en-US" sz="1400" b="1" i="0" dirty="0">
                          <a:latin typeface="Poppins SemiBold" pitchFamily="2" charset="77"/>
                          <a:cs typeface="Poppins SemiBold" pitchFamily="2" charset="77"/>
                        </a:rPr>
                        <a:t>Content Ordering</a:t>
                      </a:r>
                    </a:p>
                  </a:txBody>
                  <a:tcPr marL="111556" marR="111556" marT="137160" marB="137160" anchor="ctr">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l">
                        <a:lnSpc>
                          <a:spcPct val="110000"/>
                        </a:lnSpc>
                      </a:pPr>
                      <a:r>
                        <a:rPr lang="en-US" sz="1400" b="1" i="0" dirty="0">
                          <a:latin typeface="Poppins SemiBold" pitchFamily="2" charset="77"/>
                          <a:cs typeface="Poppins SemiBold" pitchFamily="2" charset="77"/>
                        </a:rPr>
                        <a:t>Element Removal</a:t>
                      </a:r>
                    </a:p>
                  </a:txBody>
                  <a:tcPr marL="111556" marR="111556" marT="137160" marB="137160" anchor="ctr">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672505719"/>
                  </a:ext>
                </a:extLst>
              </a:tr>
              <a:tr h="0">
                <a:tc>
                  <a:txBody>
                    <a:bodyPr/>
                    <a:lstStyle/>
                    <a:p>
                      <a:pPr marL="0" marR="0" lvl="0" indent="0" algn="l" defTabSz="914377"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Poppins SemiBold" pitchFamily="2" charset="77"/>
                          <a:ea typeface="+mn-ea"/>
                          <a:cs typeface="Poppins SemiBold" pitchFamily="2" charset="77"/>
                        </a:rPr>
                        <a:t>Pages</a:t>
                      </a:r>
                    </a:p>
                  </a:txBody>
                  <a:tcPr marL="111556" marR="111556" marT="137160" marB="13716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lnSpc>
                          <a:spcPct val="110000"/>
                        </a:lnSpc>
                      </a:pPr>
                      <a:r>
                        <a:rPr kumimoji="0" lang="en-US" sz="1100" b="0"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High traffic page 1, High traffic page 2, High traffic page 3 </a:t>
                      </a:r>
                      <a:endParaRPr lang="en-US" sz="1100" dirty="0">
                        <a:solidFill>
                          <a:schemeClr val="tx1"/>
                        </a:solidFill>
                        <a:latin typeface="Poppins" pitchFamily="2" charset="77"/>
                        <a:cs typeface="Poppins" pitchFamily="2" charset="77"/>
                      </a:endParaRPr>
                    </a:p>
                  </a:txBody>
                  <a:tcPr marL="111556" marR="111556" marT="137160" marB="13716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377"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High traffic page 1, High traffic page 2, High traffic page 3</a:t>
                      </a:r>
                    </a:p>
                  </a:txBody>
                  <a:tcPr marL="111556" marR="111556" marT="137160" marB="13716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377"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High traffic page 1, High traffic page 2, High traffic page 3</a:t>
                      </a:r>
                    </a:p>
                  </a:txBody>
                  <a:tcPr marL="111556" marR="111556" marT="137160" marB="13716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377"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High traffic page 1, High traffic page 2, High traffic page 3</a:t>
                      </a:r>
                    </a:p>
                  </a:txBody>
                  <a:tcPr marL="111556" marR="111556" marT="137160" marB="13716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244635319"/>
                  </a:ext>
                </a:extLst>
              </a:tr>
              <a:tr h="0">
                <a:tc>
                  <a:txBody>
                    <a:bodyPr/>
                    <a:lstStyle/>
                    <a:p>
                      <a:pPr marL="0" marR="0" lvl="0" indent="0" algn="l" defTabSz="914377"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Poppins SemiBold" pitchFamily="2" charset="77"/>
                          <a:ea typeface="+mn-ea"/>
                          <a:cs typeface="Poppins SemiBold" pitchFamily="2" charset="77"/>
                        </a:rPr>
                        <a:t>On-page locations</a:t>
                      </a:r>
                    </a:p>
                  </a:txBody>
                  <a:tcPr marL="111556" marR="111556" marT="137160" marB="13716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Hero, 1</a:t>
                      </a:r>
                      <a:r>
                        <a:rPr kumimoji="0" lang="en-US" sz="1100" b="0" i="0" u="none" strike="noStrike" kern="1200" cap="none" spc="0" normalizeH="0" baseline="30000" noProof="0" dirty="0">
                          <a:ln>
                            <a:noFill/>
                          </a:ln>
                          <a:solidFill>
                            <a:prstClr val="black"/>
                          </a:solidFill>
                          <a:effectLst/>
                          <a:uLnTx/>
                          <a:uFillTx/>
                          <a:latin typeface="Poppins" pitchFamily="2" charset="77"/>
                          <a:ea typeface="+mn-ea"/>
                          <a:cs typeface="Poppins" pitchFamily="2" charset="77"/>
                        </a:rPr>
                        <a:t>st</a:t>
                      </a:r>
                      <a:r>
                        <a:rPr kumimoji="0" lang="en-US" sz="1100" b="0"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 body section, 2</a:t>
                      </a:r>
                      <a:r>
                        <a:rPr kumimoji="0" lang="en-US" sz="1100" b="0" i="0" u="none" strike="noStrike" kern="1200" cap="none" spc="0" normalizeH="0" baseline="30000" noProof="0" dirty="0">
                          <a:ln>
                            <a:noFill/>
                          </a:ln>
                          <a:solidFill>
                            <a:prstClr val="black"/>
                          </a:solidFill>
                          <a:effectLst/>
                          <a:uLnTx/>
                          <a:uFillTx/>
                          <a:latin typeface="Poppins" pitchFamily="2" charset="77"/>
                          <a:ea typeface="+mn-ea"/>
                          <a:cs typeface="Poppins" pitchFamily="2" charset="77"/>
                        </a:rPr>
                        <a:t>nd</a:t>
                      </a:r>
                      <a:r>
                        <a:rPr kumimoji="0" lang="en-US" sz="1100" b="0"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 body section, bottom of page</a:t>
                      </a:r>
                    </a:p>
                  </a:txBody>
                  <a:tcPr marL="111556" marR="111556" marT="137160" marB="13716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Hero, 1</a:t>
                      </a:r>
                      <a:r>
                        <a:rPr kumimoji="0" lang="en-US" sz="1100" b="0" i="0" u="none" strike="noStrike" kern="1200" cap="none" spc="0" normalizeH="0" baseline="30000" noProof="0" dirty="0">
                          <a:ln>
                            <a:noFill/>
                          </a:ln>
                          <a:solidFill>
                            <a:prstClr val="black"/>
                          </a:solidFill>
                          <a:effectLst/>
                          <a:uLnTx/>
                          <a:uFillTx/>
                          <a:latin typeface="Poppins" pitchFamily="2" charset="77"/>
                          <a:ea typeface="+mn-ea"/>
                          <a:cs typeface="Poppins" pitchFamily="2" charset="77"/>
                        </a:rPr>
                        <a:t>st</a:t>
                      </a:r>
                      <a:r>
                        <a:rPr kumimoji="0" lang="en-US" sz="1100" b="0"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 body section, 2</a:t>
                      </a:r>
                      <a:r>
                        <a:rPr kumimoji="0" lang="en-US" sz="1100" b="0" i="0" u="none" strike="noStrike" kern="1200" cap="none" spc="0" normalizeH="0" baseline="30000" noProof="0" dirty="0">
                          <a:ln>
                            <a:noFill/>
                          </a:ln>
                          <a:solidFill>
                            <a:prstClr val="black"/>
                          </a:solidFill>
                          <a:effectLst/>
                          <a:uLnTx/>
                          <a:uFillTx/>
                          <a:latin typeface="Poppins" pitchFamily="2" charset="77"/>
                          <a:ea typeface="+mn-ea"/>
                          <a:cs typeface="Poppins" pitchFamily="2" charset="77"/>
                        </a:rPr>
                        <a:t>nd</a:t>
                      </a:r>
                      <a:r>
                        <a:rPr kumimoji="0" lang="en-US" sz="1100" b="0"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 body section, bottom of page</a:t>
                      </a:r>
                    </a:p>
                  </a:txBody>
                  <a:tcPr marL="111556" marR="111556" marT="137160" marB="13716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Multiple sections, Hero, 1</a:t>
                      </a:r>
                      <a:r>
                        <a:rPr kumimoji="0" lang="en-US" sz="1100" b="0" i="0" u="none" strike="noStrike" kern="1200" cap="none" spc="0" normalizeH="0" baseline="30000" noProof="0" dirty="0">
                          <a:ln>
                            <a:noFill/>
                          </a:ln>
                          <a:solidFill>
                            <a:prstClr val="black"/>
                          </a:solidFill>
                          <a:effectLst/>
                          <a:uLnTx/>
                          <a:uFillTx/>
                          <a:latin typeface="Poppins" pitchFamily="2" charset="77"/>
                          <a:ea typeface="+mn-ea"/>
                          <a:cs typeface="Poppins" pitchFamily="2" charset="77"/>
                        </a:rPr>
                        <a:t>st</a:t>
                      </a:r>
                      <a:r>
                        <a:rPr kumimoji="0" lang="en-US" sz="1100" b="0"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 body section, 2</a:t>
                      </a:r>
                      <a:r>
                        <a:rPr kumimoji="0" lang="en-US" sz="1100" b="0" i="0" u="none" strike="noStrike" kern="1200" cap="none" spc="0" normalizeH="0" baseline="30000" noProof="0" dirty="0">
                          <a:ln>
                            <a:noFill/>
                          </a:ln>
                          <a:solidFill>
                            <a:prstClr val="black"/>
                          </a:solidFill>
                          <a:effectLst/>
                          <a:uLnTx/>
                          <a:uFillTx/>
                          <a:latin typeface="Poppins" pitchFamily="2" charset="77"/>
                          <a:ea typeface="+mn-ea"/>
                          <a:cs typeface="Poppins" pitchFamily="2" charset="77"/>
                        </a:rPr>
                        <a:t>nd</a:t>
                      </a:r>
                      <a:r>
                        <a:rPr kumimoji="0" lang="en-US" sz="1100" b="0"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 body section, bottom of page</a:t>
                      </a:r>
                    </a:p>
                  </a:txBody>
                  <a:tcPr marL="111556" marR="111556" marT="137160" marB="13716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Multiple sections, Hero, 1</a:t>
                      </a:r>
                      <a:r>
                        <a:rPr kumimoji="0" lang="en-US" sz="1100" b="0" i="0" u="none" strike="noStrike" kern="1200" cap="none" spc="0" normalizeH="0" baseline="30000" noProof="0" dirty="0">
                          <a:ln>
                            <a:noFill/>
                          </a:ln>
                          <a:solidFill>
                            <a:prstClr val="black"/>
                          </a:solidFill>
                          <a:effectLst/>
                          <a:uLnTx/>
                          <a:uFillTx/>
                          <a:latin typeface="Poppins" pitchFamily="2" charset="77"/>
                          <a:ea typeface="+mn-ea"/>
                          <a:cs typeface="Poppins" pitchFamily="2" charset="77"/>
                        </a:rPr>
                        <a:t>st</a:t>
                      </a:r>
                      <a:r>
                        <a:rPr kumimoji="0" lang="en-US" sz="1100" b="0"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 body section, 2</a:t>
                      </a:r>
                      <a:r>
                        <a:rPr kumimoji="0" lang="en-US" sz="1100" b="0" i="0" u="none" strike="noStrike" kern="1200" cap="none" spc="0" normalizeH="0" baseline="30000" noProof="0" dirty="0">
                          <a:ln>
                            <a:noFill/>
                          </a:ln>
                          <a:solidFill>
                            <a:prstClr val="black"/>
                          </a:solidFill>
                          <a:effectLst/>
                          <a:uLnTx/>
                          <a:uFillTx/>
                          <a:latin typeface="Poppins" pitchFamily="2" charset="77"/>
                          <a:ea typeface="+mn-ea"/>
                          <a:cs typeface="Poppins" pitchFamily="2" charset="77"/>
                        </a:rPr>
                        <a:t>nd</a:t>
                      </a:r>
                      <a:r>
                        <a:rPr kumimoji="0" lang="en-US" sz="1100" b="0"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 body section, bottom of page</a:t>
                      </a:r>
                    </a:p>
                  </a:txBody>
                  <a:tcPr marL="111556" marR="111556" marT="137160" marB="13716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91722009"/>
                  </a:ext>
                </a:extLst>
              </a:tr>
              <a:tr h="0">
                <a:tc>
                  <a:txBody>
                    <a:bodyPr/>
                    <a:lstStyle/>
                    <a:p>
                      <a:pPr marL="0" marR="0" lvl="0" indent="0" algn="l" defTabSz="914377"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Poppins SemiBold" pitchFamily="2" charset="77"/>
                          <a:ea typeface="+mn-ea"/>
                          <a:cs typeface="Poppins SemiBold" pitchFamily="2" charset="77"/>
                        </a:rPr>
                        <a:t>Monitoring cadence</a:t>
                      </a:r>
                    </a:p>
                  </a:txBody>
                  <a:tcPr marL="111556" marR="111556" marT="137160" marB="137160" anchor="ctr">
                    <a:lnL w="12700" cmpd="sng">
                      <a:noFill/>
                    </a:lnL>
                    <a:lnR w="12700" cmpd="sng">
                      <a:noFill/>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First 2 days + weekly check-in</a:t>
                      </a:r>
                    </a:p>
                  </a:txBody>
                  <a:tcPr marL="111556" marR="111556" marT="137160" marB="137160" anchor="ctr">
                    <a:lnL w="12700" cmpd="sng">
                      <a:noFill/>
                    </a:lnL>
                    <a:lnR w="12700" cmpd="sng">
                      <a:noFill/>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First 2 days + weekly check-in</a:t>
                      </a:r>
                    </a:p>
                  </a:txBody>
                  <a:tcPr marL="111556" marR="111556" marT="137160" marB="137160" anchor="ctr">
                    <a:lnL w="12700" cmpd="sng">
                      <a:noFill/>
                    </a:lnL>
                    <a:lnR w="12700" cmpd="sng">
                      <a:noFill/>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First 2 days + weekly check-in</a:t>
                      </a:r>
                    </a:p>
                  </a:txBody>
                  <a:tcPr marL="111556" marR="111556" marT="137160" marB="137160" anchor="ctr">
                    <a:lnL w="12700" cmpd="sng">
                      <a:noFill/>
                    </a:lnL>
                    <a:lnR w="12700" cmpd="sng">
                      <a:noFill/>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First 2 days + weekly check-in</a:t>
                      </a:r>
                    </a:p>
                  </a:txBody>
                  <a:tcPr marL="111556" marR="111556" marT="137160" marB="137160" anchor="ctr">
                    <a:lnL w="12700" cmpd="sng">
                      <a:noFill/>
                    </a:lnL>
                    <a:lnR w="12700" cmpd="sng">
                      <a:noFill/>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24690203"/>
                  </a:ext>
                </a:extLst>
              </a:tr>
              <a:tr h="0">
                <a:tc>
                  <a:txBody>
                    <a:bodyPr/>
                    <a:lstStyle/>
                    <a:p>
                      <a:pPr marL="0" marR="0" lvl="0" indent="0" algn="l" defTabSz="914377"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Poppins SemiBold" pitchFamily="2" charset="77"/>
                          <a:ea typeface="+mn-ea"/>
                          <a:cs typeface="Poppins SemiBold" pitchFamily="2" charset="77"/>
                        </a:rPr>
                        <a:t>Negative delta tolerance pre stat sig</a:t>
                      </a:r>
                    </a:p>
                  </a:txBody>
                  <a:tcPr marL="111556" marR="111556" marT="137160" marB="137160" anchor="ctr">
                    <a:lnL w="12700" cmpd="sng">
                      <a:noFill/>
                    </a:lnL>
                    <a:lnR w="12700" cmpd="sng">
                      <a:noFill/>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5%, 10%, 15%</a:t>
                      </a:r>
                    </a:p>
                  </a:txBody>
                  <a:tcPr marL="111556" marR="111556" marT="137160" marB="137160" anchor="ctr">
                    <a:lnL w="12700" cmpd="sng">
                      <a:noFill/>
                    </a:lnL>
                    <a:lnR w="12700" cmpd="sng">
                      <a:noFill/>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5%, 10%, 15%</a:t>
                      </a:r>
                    </a:p>
                  </a:txBody>
                  <a:tcPr marL="111556" marR="111556" marT="137160" marB="137160" anchor="ctr">
                    <a:lnL w="12700" cmpd="sng">
                      <a:noFill/>
                    </a:lnL>
                    <a:lnR w="12700" cmpd="sng">
                      <a:noFill/>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5%, 10%, 15%</a:t>
                      </a:r>
                    </a:p>
                  </a:txBody>
                  <a:tcPr marL="111556" marR="111556" marT="137160" marB="137160" anchor="ctr">
                    <a:lnL w="12700" cmpd="sng">
                      <a:noFill/>
                    </a:lnL>
                    <a:lnR w="12700" cmpd="sng">
                      <a:noFill/>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5%, 10%, 15%</a:t>
                      </a:r>
                    </a:p>
                  </a:txBody>
                  <a:tcPr marL="111556" marR="111556" marT="137160" marB="137160" anchor="ctr">
                    <a:lnL w="12700" cmpd="sng">
                      <a:noFill/>
                    </a:lnL>
                    <a:lnR w="12700" cmpd="sng">
                      <a:noFill/>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38405630"/>
                  </a:ext>
                </a:extLst>
              </a:tr>
              <a:tr h="0">
                <a:tc>
                  <a:txBody>
                    <a:bodyPr/>
                    <a:lstStyle/>
                    <a:p>
                      <a:pPr marL="0" marR="0" lvl="0" indent="0" algn="l" defTabSz="914377"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Poppins SemiBold" pitchFamily="2" charset="77"/>
                          <a:ea typeface="+mn-ea"/>
                          <a:cs typeface="Poppins SemiBold" pitchFamily="2" charset="77"/>
                        </a:rPr>
                        <a:t>Specific guidance?</a:t>
                      </a:r>
                    </a:p>
                  </a:txBody>
                  <a:tcPr marL="111556" marR="111556" marT="137160" marB="137160" anchor="ctr">
                    <a:lnL w="12700" cmpd="sng">
                      <a:noFill/>
                    </a:lnL>
                    <a:lnR w="12700" cmpd="sng">
                      <a:noFill/>
                    </a:lnR>
                    <a:lnT w="12700" cap="flat" cmpd="sng" algn="ctr">
                      <a:solidFill>
                        <a:schemeClr val="bg1">
                          <a:lumMod val="75000"/>
                        </a:schemeClr>
                      </a:solidFill>
                      <a:prstDash val="sysDot"/>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[Client]</a:t>
                      </a:r>
                      <a:r>
                        <a:rPr kumimoji="0" lang="en-US" sz="1100" b="0"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 Feedback:</a:t>
                      </a:r>
                    </a:p>
                    <a:p>
                      <a:pPr marL="228600" marR="0" lvl="0" indent="-228600" algn="l" defTabSz="914400" rtl="0" eaLnBrk="1" fontAlgn="auto" latinLnBrk="0" hangingPunct="1">
                        <a:lnSpc>
                          <a:spcPct val="110000"/>
                        </a:lnSpc>
                        <a:spcBef>
                          <a:spcPts val="0"/>
                        </a:spcBef>
                        <a:spcAft>
                          <a:spcPts val="0"/>
                        </a:spcAft>
                        <a:buClrTx/>
                        <a:buSzTx/>
                        <a:buFontTx/>
                        <a:buAutoNum type="arabicPeriod"/>
                        <a:tabLst/>
                        <a:defRPr/>
                      </a:pPr>
                      <a:r>
                        <a:rPr kumimoji="0" lang="en-US" sz="1100" b="0"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A</a:t>
                      </a:r>
                    </a:p>
                    <a:p>
                      <a:pPr marL="228600" marR="0" lvl="0" indent="-228600" algn="l" defTabSz="914400" rtl="0" eaLnBrk="1" fontAlgn="auto" latinLnBrk="0" hangingPunct="1">
                        <a:lnSpc>
                          <a:spcPct val="110000"/>
                        </a:lnSpc>
                        <a:spcBef>
                          <a:spcPts val="0"/>
                        </a:spcBef>
                        <a:spcAft>
                          <a:spcPts val="0"/>
                        </a:spcAft>
                        <a:buClrTx/>
                        <a:buSzTx/>
                        <a:buFontTx/>
                        <a:buAutoNum type="arabicPeriod"/>
                        <a:tabLst/>
                        <a:defRPr/>
                      </a:pPr>
                      <a:r>
                        <a:rPr kumimoji="0" lang="en-US" sz="1100" b="0"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B</a:t>
                      </a:r>
                    </a:p>
                    <a:p>
                      <a:pPr marL="228600" marR="0" lvl="0" indent="-228600" algn="l" defTabSz="914400" rtl="0" eaLnBrk="1" fontAlgn="auto" latinLnBrk="0" hangingPunct="1">
                        <a:lnSpc>
                          <a:spcPct val="110000"/>
                        </a:lnSpc>
                        <a:spcBef>
                          <a:spcPts val="0"/>
                        </a:spcBef>
                        <a:spcAft>
                          <a:spcPts val="0"/>
                        </a:spcAft>
                        <a:buClrTx/>
                        <a:buSzTx/>
                        <a:buFontTx/>
                        <a:buAutoNum type="arabicPeriod"/>
                        <a:tabLst/>
                        <a:defRPr/>
                      </a:pPr>
                      <a:r>
                        <a:rPr kumimoji="0" lang="en-US" sz="1100" b="0"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C</a:t>
                      </a:r>
                    </a:p>
                  </a:txBody>
                  <a:tcPr marL="111556" marR="111556" marT="137160" marB="137160" anchor="ctr">
                    <a:lnL w="12700" cmpd="sng">
                      <a:noFill/>
                    </a:lnL>
                    <a:lnR w="12700" cmpd="sng">
                      <a:noFill/>
                    </a:lnR>
                    <a:lnT w="12700" cap="flat" cmpd="sng" algn="ctr">
                      <a:solidFill>
                        <a:schemeClr val="bg1">
                          <a:lumMod val="75000"/>
                        </a:schemeClr>
                      </a:solidFill>
                      <a:prstDash val="sysDot"/>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[Client]</a:t>
                      </a:r>
                      <a:r>
                        <a:rPr kumimoji="0" lang="en-US" sz="1100" b="0"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 Feedback:</a:t>
                      </a:r>
                    </a:p>
                    <a:p>
                      <a:pPr marL="228600" marR="0" lvl="0" indent="-228600" algn="l" defTabSz="914400" rtl="0" eaLnBrk="1" fontAlgn="auto" latinLnBrk="0" hangingPunct="1">
                        <a:lnSpc>
                          <a:spcPct val="110000"/>
                        </a:lnSpc>
                        <a:spcBef>
                          <a:spcPts val="0"/>
                        </a:spcBef>
                        <a:spcAft>
                          <a:spcPts val="0"/>
                        </a:spcAft>
                        <a:buClrTx/>
                        <a:buSzTx/>
                        <a:buFontTx/>
                        <a:buAutoNum type="arabicPeriod"/>
                        <a:tabLst/>
                        <a:defRPr/>
                      </a:pPr>
                      <a:r>
                        <a:rPr kumimoji="0" lang="en-US" sz="1100" b="0"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A</a:t>
                      </a:r>
                    </a:p>
                    <a:p>
                      <a:pPr marL="228600" marR="0" lvl="0" indent="-228600" algn="l" defTabSz="914400" rtl="0" eaLnBrk="1" fontAlgn="auto" latinLnBrk="0" hangingPunct="1">
                        <a:lnSpc>
                          <a:spcPct val="110000"/>
                        </a:lnSpc>
                        <a:spcBef>
                          <a:spcPts val="0"/>
                        </a:spcBef>
                        <a:spcAft>
                          <a:spcPts val="0"/>
                        </a:spcAft>
                        <a:buClrTx/>
                        <a:buSzTx/>
                        <a:buFontTx/>
                        <a:buAutoNum type="arabicPeriod"/>
                        <a:tabLst/>
                        <a:defRPr/>
                      </a:pPr>
                      <a:r>
                        <a:rPr kumimoji="0" lang="en-US" sz="1100" b="0"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B</a:t>
                      </a:r>
                    </a:p>
                    <a:p>
                      <a:pPr marL="228600" marR="0" lvl="0" indent="-228600" algn="l" defTabSz="914400" rtl="0" eaLnBrk="1" fontAlgn="auto" latinLnBrk="0" hangingPunct="1">
                        <a:lnSpc>
                          <a:spcPct val="110000"/>
                        </a:lnSpc>
                        <a:spcBef>
                          <a:spcPts val="0"/>
                        </a:spcBef>
                        <a:spcAft>
                          <a:spcPts val="0"/>
                        </a:spcAft>
                        <a:buClrTx/>
                        <a:buSzTx/>
                        <a:buFontTx/>
                        <a:buAutoNum type="arabicPeriod"/>
                        <a:tabLst/>
                        <a:defRPr/>
                      </a:pPr>
                      <a:r>
                        <a:rPr kumimoji="0" lang="en-US" sz="1100" b="0"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C</a:t>
                      </a:r>
                    </a:p>
                  </a:txBody>
                  <a:tcPr marL="111556" marR="111556" marT="137160" marB="137160" anchor="ctr">
                    <a:lnL w="12700" cmpd="sng">
                      <a:noFill/>
                    </a:lnL>
                    <a:lnR w="12700" cmpd="sng">
                      <a:noFill/>
                    </a:lnR>
                    <a:lnT w="12700" cap="flat" cmpd="sng" algn="ctr">
                      <a:solidFill>
                        <a:schemeClr val="bg1">
                          <a:lumMod val="75000"/>
                        </a:schemeClr>
                      </a:solidFill>
                      <a:prstDash val="sysDot"/>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[Client]</a:t>
                      </a:r>
                      <a:r>
                        <a:rPr kumimoji="0" lang="en-US" sz="1100" b="0"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 Feedback:</a:t>
                      </a:r>
                    </a:p>
                    <a:p>
                      <a:pPr marL="228600" marR="0" lvl="0" indent="-228600" algn="l" defTabSz="914400" rtl="0" eaLnBrk="1" fontAlgn="auto" latinLnBrk="0" hangingPunct="1">
                        <a:lnSpc>
                          <a:spcPct val="110000"/>
                        </a:lnSpc>
                        <a:spcBef>
                          <a:spcPts val="0"/>
                        </a:spcBef>
                        <a:spcAft>
                          <a:spcPts val="0"/>
                        </a:spcAft>
                        <a:buClrTx/>
                        <a:buSzTx/>
                        <a:buFontTx/>
                        <a:buAutoNum type="arabicPeriod"/>
                        <a:tabLst/>
                        <a:defRPr/>
                      </a:pPr>
                      <a:r>
                        <a:rPr kumimoji="0" lang="en-US" sz="1100" b="0"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A</a:t>
                      </a:r>
                    </a:p>
                    <a:p>
                      <a:pPr marL="228600" marR="0" lvl="0" indent="-228600" algn="l" defTabSz="914400" rtl="0" eaLnBrk="1" fontAlgn="auto" latinLnBrk="0" hangingPunct="1">
                        <a:lnSpc>
                          <a:spcPct val="110000"/>
                        </a:lnSpc>
                        <a:spcBef>
                          <a:spcPts val="0"/>
                        </a:spcBef>
                        <a:spcAft>
                          <a:spcPts val="0"/>
                        </a:spcAft>
                        <a:buClrTx/>
                        <a:buSzTx/>
                        <a:buFontTx/>
                        <a:buAutoNum type="arabicPeriod"/>
                        <a:tabLst/>
                        <a:defRPr/>
                      </a:pPr>
                      <a:r>
                        <a:rPr kumimoji="0" lang="en-US" sz="1100" b="0"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B</a:t>
                      </a:r>
                    </a:p>
                    <a:p>
                      <a:pPr marL="228600" marR="0" lvl="0" indent="-228600" algn="l" defTabSz="914400" rtl="0" eaLnBrk="1" fontAlgn="auto" latinLnBrk="0" hangingPunct="1">
                        <a:lnSpc>
                          <a:spcPct val="110000"/>
                        </a:lnSpc>
                        <a:spcBef>
                          <a:spcPts val="0"/>
                        </a:spcBef>
                        <a:spcAft>
                          <a:spcPts val="0"/>
                        </a:spcAft>
                        <a:buClrTx/>
                        <a:buSzTx/>
                        <a:buFontTx/>
                        <a:buAutoNum type="arabicPeriod"/>
                        <a:tabLst/>
                        <a:defRPr/>
                      </a:pPr>
                      <a:r>
                        <a:rPr kumimoji="0" lang="en-US" sz="1100" b="0"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C</a:t>
                      </a:r>
                    </a:p>
                  </a:txBody>
                  <a:tcPr marL="111556" marR="111556" marT="137160" marB="137160" anchor="ctr">
                    <a:lnL w="12700" cmpd="sng">
                      <a:noFill/>
                    </a:lnL>
                    <a:lnR w="12700" cmpd="sng">
                      <a:noFill/>
                    </a:lnR>
                    <a:lnT w="12700" cap="flat" cmpd="sng" algn="ctr">
                      <a:solidFill>
                        <a:schemeClr val="bg1">
                          <a:lumMod val="75000"/>
                        </a:schemeClr>
                      </a:solidFill>
                      <a:prstDash val="sysDot"/>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[Client]</a:t>
                      </a:r>
                      <a:r>
                        <a:rPr kumimoji="0" lang="en-US" sz="1100" b="0"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 Feedback:</a:t>
                      </a:r>
                    </a:p>
                    <a:p>
                      <a:pPr marL="228600" marR="0" lvl="0" indent="-228600" algn="l" defTabSz="914400" rtl="0" eaLnBrk="1" fontAlgn="auto" latinLnBrk="0" hangingPunct="1">
                        <a:lnSpc>
                          <a:spcPct val="110000"/>
                        </a:lnSpc>
                        <a:spcBef>
                          <a:spcPts val="0"/>
                        </a:spcBef>
                        <a:spcAft>
                          <a:spcPts val="0"/>
                        </a:spcAft>
                        <a:buClrTx/>
                        <a:buSzTx/>
                        <a:buFontTx/>
                        <a:buAutoNum type="arabicPeriod"/>
                        <a:tabLst/>
                        <a:defRPr/>
                      </a:pPr>
                      <a:r>
                        <a:rPr kumimoji="0" lang="en-US" sz="1100" b="0"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A</a:t>
                      </a:r>
                    </a:p>
                    <a:p>
                      <a:pPr marL="228600" marR="0" lvl="0" indent="-228600" algn="l" defTabSz="914400" rtl="0" eaLnBrk="1" fontAlgn="auto" latinLnBrk="0" hangingPunct="1">
                        <a:lnSpc>
                          <a:spcPct val="110000"/>
                        </a:lnSpc>
                        <a:spcBef>
                          <a:spcPts val="0"/>
                        </a:spcBef>
                        <a:spcAft>
                          <a:spcPts val="0"/>
                        </a:spcAft>
                        <a:buClrTx/>
                        <a:buSzTx/>
                        <a:buFontTx/>
                        <a:buAutoNum type="arabicPeriod"/>
                        <a:tabLst/>
                        <a:defRPr/>
                      </a:pPr>
                      <a:r>
                        <a:rPr kumimoji="0" lang="en-US" sz="1100" b="0"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B</a:t>
                      </a:r>
                    </a:p>
                    <a:p>
                      <a:pPr marL="228600" marR="0" lvl="0" indent="-228600" algn="l" defTabSz="914400" rtl="0" eaLnBrk="1" fontAlgn="auto" latinLnBrk="0" hangingPunct="1">
                        <a:lnSpc>
                          <a:spcPct val="110000"/>
                        </a:lnSpc>
                        <a:spcBef>
                          <a:spcPts val="0"/>
                        </a:spcBef>
                        <a:spcAft>
                          <a:spcPts val="0"/>
                        </a:spcAft>
                        <a:buClrTx/>
                        <a:buSzTx/>
                        <a:buFontTx/>
                        <a:buAutoNum type="arabicPeriod"/>
                        <a:tabLst/>
                        <a:defRPr/>
                      </a:pPr>
                      <a:r>
                        <a:rPr kumimoji="0" lang="en-US" sz="1100" b="0"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C</a:t>
                      </a:r>
                    </a:p>
                  </a:txBody>
                  <a:tcPr marL="111556" marR="111556" marT="137160" marB="137160" anchor="ctr">
                    <a:lnL w="12700" cmpd="sng">
                      <a:noFill/>
                    </a:lnL>
                    <a:lnR w="12700" cmpd="sng">
                      <a:noFill/>
                    </a:lnR>
                    <a:lnT w="12700" cap="flat" cmpd="sng" algn="ctr">
                      <a:solidFill>
                        <a:schemeClr val="bg1">
                          <a:lumMod val="75000"/>
                        </a:schemeClr>
                      </a:solidFill>
                      <a:prstDash val="sysDot"/>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73905573"/>
                  </a:ext>
                </a:extLst>
              </a:tr>
            </a:tbl>
          </a:graphicData>
        </a:graphic>
      </p:graphicFrame>
      <p:sp>
        <p:nvSpPr>
          <p:cNvPr id="5" name="Title 1">
            <a:extLst>
              <a:ext uri="{FF2B5EF4-FFF2-40B4-BE49-F238E27FC236}">
                <a16:creationId xmlns:a16="http://schemas.microsoft.com/office/drawing/2014/main" id="{A0374B98-B3F6-1FF2-F97F-C5742CCDE03A}"/>
              </a:ext>
            </a:extLst>
          </p:cNvPr>
          <p:cNvSpPr txBox="1">
            <a:spLocks/>
          </p:cNvSpPr>
          <p:nvPr/>
        </p:nvSpPr>
        <p:spPr>
          <a:xfrm>
            <a:off x="554989" y="771015"/>
            <a:ext cx="11082019" cy="547842"/>
          </a:xfrm>
          <a:prstGeom prst="rect">
            <a:avLst/>
          </a:prstGeom>
        </p:spPr>
        <p:txBody>
          <a:bodyPr vert="horz" lIns="91440" tIns="45720" rIns="91440" bIns="45720" rtlCol="0" anchor="t">
            <a:spAutoFit/>
          </a:bodyPr>
          <a:lstStyle>
            <a:lvl1pPr algn="l" defTabSz="914377" rtl="0" eaLnBrk="1" latinLnBrk="0" hangingPunct="1">
              <a:lnSpc>
                <a:spcPct val="90000"/>
              </a:lnSpc>
              <a:spcBef>
                <a:spcPct val="0"/>
              </a:spcBef>
              <a:buNone/>
              <a:defRPr sz="3200" b="1" kern="1200">
                <a:solidFill>
                  <a:schemeClr val="accent4"/>
                </a:solidFill>
                <a:latin typeface="Poppins" panose="00000500000000000000" pitchFamily="2" charset="0"/>
                <a:ea typeface="+mj-ea"/>
                <a:cs typeface="Poppins" panose="00000500000000000000" pitchFamily="2" charset="0"/>
              </a:defRPr>
            </a:lvl1pPr>
          </a:lstStyle>
          <a:p>
            <a:pPr algn="ctr"/>
            <a:r>
              <a:rPr lang="en-US" dirty="0">
                <a:solidFill>
                  <a:schemeClr val="accent1"/>
                </a:solidFill>
              </a:rPr>
              <a:t>How Does [Client] Perceive Low Risk?</a:t>
            </a:r>
          </a:p>
        </p:txBody>
      </p:sp>
    </p:spTree>
    <p:extLst>
      <p:ext uri="{BB962C8B-B14F-4D97-AF65-F5344CB8AC3E}">
        <p14:creationId xmlns:p14="http://schemas.microsoft.com/office/powerpoint/2010/main" val="21188004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33FE44-4CD4-F1B5-4D87-E18F384FA31F}"/>
            </a:ext>
          </a:extLst>
        </p:cNvPr>
        <p:cNvGrpSpPr/>
        <p:nvPr/>
      </p:nvGrpSpPr>
      <p:grpSpPr>
        <a:xfrm>
          <a:off x="0" y="0"/>
          <a:ext cx="0" cy="0"/>
          <a:chOff x="0" y="0"/>
          <a:chExt cx="0" cy="0"/>
        </a:xfrm>
      </p:grpSpPr>
      <p:graphicFrame>
        <p:nvGraphicFramePr>
          <p:cNvPr id="3" name="Table 6">
            <a:extLst>
              <a:ext uri="{FF2B5EF4-FFF2-40B4-BE49-F238E27FC236}">
                <a16:creationId xmlns:a16="http://schemas.microsoft.com/office/drawing/2014/main" id="{8870E06A-0378-E54B-F79D-169B44ED88A0}"/>
              </a:ext>
            </a:extLst>
          </p:cNvPr>
          <p:cNvGraphicFramePr>
            <a:graphicFrameLocks noGrp="1"/>
          </p:cNvGraphicFramePr>
          <p:nvPr>
            <p:extLst>
              <p:ext uri="{D42A27DB-BD31-4B8C-83A1-F6EECF244321}">
                <p14:modId xmlns:p14="http://schemas.microsoft.com/office/powerpoint/2010/main" val="2494189967"/>
              </p:ext>
            </p:extLst>
          </p:nvPr>
        </p:nvGraphicFramePr>
        <p:xfrm>
          <a:off x="554991" y="1919291"/>
          <a:ext cx="10924803" cy="3846703"/>
        </p:xfrm>
        <a:graphic>
          <a:graphicData uri="http://schemas.openxmlformats.org/drawingml/2006/table">
            <a:tbl>
              <a:tblPr firstRow="1" bandRow="1">
                <a:tableStyleId>{073A0DAA-6AF3-43AB-8588-CEC1D06C72B9}</a:tableStyleId>
              </a:tblPr>
              <a:tblGrid>
                <a:gridCol w="4275058">
                  <a:extLst>
                    <a:ext uri="{9D8B030D-6E8A-4147-A177-3AD203B41FA5}">
                      <a16:colId xmlns:a16="http://schemas.microsoft.com/office/drawing/2014/main" val="3214227377"/>
                    </a:ext>
                  </a:extLst>
                </a:gridCol>
                <a:gridCol w="6649745">
                  <a:extLst>
                    <a:ext uri="{9D8B030D-6E8A-4147-A177-3AD203B41FA5}">
                      <a16:colId xmlns:a16="http://schemas.microsoft.com/office/drawing/2014/main" val="3478323516"/>
                    </a:ext>
                  </a:extLst>
                </a:gridCol>
              </a:tblGrid>
              <a:tr h="0">
                <a:tc gridSpan="2">
                  <a:txBody>
                    <a:bodyPr/>
                    <a:lstStyle/>
                    <a:p>
                      <a:pPr algn="l">
                        <a:lnSpc>
                          <a:spcPct val="110000"/>
                        </a:lnSpc>
                      </a:pPr>
                      <a:r>
                        <a:rPr lang="en-US" sz="1400" b="1" i="0" kern="1200" dirty="0">
                          <a:solidFill>
                            <a:schemeClr val="lt1"/>
                          </a:solidFill>
                          <a:latin typeface="Poppins SemiBold" pitchFamily="2" charset="77"/>
                          <a:ea typeface="+mn-ea"/>
                          <a:cs typeface="Poppins SemiBold" pitchFamily="2" charset="77"/>
                        </a:rPr>
                        <a:t>Information to Collect</a:t>
                      </a:r>
                    </a:p>
                  </a:txBody>
                  <a:tcPr marL="111556" marR="111556" marT="137160" marB="137160" anchor="ctr">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hMerge="1">
                  <a:txBody>
                    <a:bodyPr/>
                    <a:lstStyle/>
                    <a:p>
                      <a:endParaRPr dirty="0"/>
                    </a:p>
                  </a:txBody>
                  <a:tcPr marL="111556" marR="111556" marT="137160" marB="137160" anchor="ctr">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672505719"/>
                  </a:ext>
                </a:extLst>
              </a:tr>
              <a:tr h="0">
                <a:tc>
                  <a:txBody>
                    <a:bodyPr/>
                    <a:lstStyle/>
                    <a:p>
                      <a:pPr marL="0" marR="0" lvl="0" indent="0" algn="l" defTabSz="914377"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Poppins SemiBold" pitchFamily="2" charset="77"/>
                          <a:ea typeface="+mn-ea"/>
                          <a:cs typeface="Poppins SemiBold" pitchFamily="2" charset="77"/>
                        </a:rPr>
                        <a:t>Documentation Categories</a:t>
                      </a:r>
                    </a:p>
                  </a:txBody>
                  <a:tcPr marL="111556" marR="111556" marT="137160" marB="13716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lnSpc>
                          <a:spcPct val="110000"/>
                        </a:lnSpc>
                      </a:pPr>
                      <a:r>
                        <a:rPr kumimoji="0" lang="en-US" sz="1100" b="1"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Potential category values</a:t>
                      </a:r>
                      <a:endParaRPr lang="en-US" sz="1100" b="1" dirty="0">
                        <a:solidFill>
                          <a:schemeClr val="tx1"/>
                        </a:solidFill>
                        <a:latin typeface="Poppins" pitchFamily="2" charset="77"/>
                        <a:cs typeface="Poppins" pitchFamily="2" charset="77"/>
                      </a:endParaRPr>
                    </a:p>
                  </a:txBody>
                  <a:tcPr marL="111556" marR="111556" marT="137160" marB="13716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244635319"/>
                  </a:ext>
                </a:extLst>
              </a:tr>
              <a:tr h="0">
                <a:tc>
                  <a:txBody>
                    <a:bodyPr/>
                    <a:lstStyle/>
                    <a:p>
                      <a:pPr marL="0" marR="0" lvl="0" indent="0" algn="l" defTabSz="914377"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Poppins SemiBold" pitchFamily="2" charset="77"/>
                          <a:ea typeface="+mn-ea"/>
                          <a:cs typeface="Poppins SemiBold" pitchFamily="2" charset="77"/>
                        </a:rPr>
                        <a:t>Client Revenue Model</a:t>
                      </a:r>
                    </a:p>
                  </a:txBody>
                  <a:tcPr marL="111556" marR="111556" marT="137160" marB="13716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Ecom, Lead Gen, Mixed</a:t>
                      </a:r>
                    </a:p>
                  </a:txBody>
                  <a:tcPr marL="111556" marR="111556" marT="137160" marB="13716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91722009"/>
                  </a:ext>
                </a:extLst>
              </a:tr>
              <a:tr h="0">
                <a:tc>
                  <a:txBody>
                    <a:bodyPr/>
                    <a:lstStyle/>
                    <a:p>
                      <a:pPr marL="0" marR="0" lvl="0" indent="0" algn="l" defTabSz="914377"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Poppins SemiBold" pitchFamily="2" charset="77"/>
                          <a:ea typeface="+mn-ea"/>
                          <a:cs typeface="Poppins SemiBold" pitchFamily="2" charset="77"/>
                        </a:rPr>
                        <a:t>Client Requires Legal Involvement For Content</a:t>
                      </a:r>
                    </a:p>
                  </a:txBody>
                  <a:tcPr marL="111556" marR="111556" marT="137160" marB="137160" anchor="ctr">
                    <a:lnL w="12700" cmpd="sng">
                      <a:noFill/>
                    </a:lnL>
                    <a:lnR w="12700" cmpd="sng">
                      <a:noFill/>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Yes, No</a:t>
                      </a:r>
                    </a:p>
                  </a:txBody>
                  <a:tcPr marL="111556" marR="111556" marT="137160" marB="137160" anchor="ctr">
                    <a:lnL w="12700" cmpd="sng">
                      <a:noFill/>
                    </a:lnL>
                    <a:lnR w="12700" cmpd="sng">
                      <a:noFill/>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24690203"/>
                  </a:ext>
                </a:extLst>
              </a:tr>
              <a:tr h="0">
                <a:tc>
                  <a:txBody>
                    <a:bodyPr/>
                    <a:lstStyle/>
                    <a:p>
                      <a:pPr marL="0" marR="0" lvl="0" indent="0" algn="l" defTabSz="914377"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Poppins SemiBold" pitchFamily="2" charset="77"/>
                          <a:ea typeface="+mn-ea"/>
                          <a:cs typeface="Poppins SemiBold" pitchFamily="2" charset="77"/>
                        </a:rPr>
                        <a:t>Test Idea Types</a:t>
                      </a:r>
                    </a:p>
                  </a:txBody>
                  <a:tcPr marL="111556" marR="111556" marT="137160" marB="137160" anchor="ctr">
                    <a:lnL w="12700" cmpd="sng">
                      <a:noFill/>
                    </a:lnL>
                    <a:lnR w="12700" cmpd="sng">
                      <a:noFill/>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Image Swap, Copy Change, Page or List Ordering, Colors, Element Removal, Other</a:t>
                      </a:r>
                    </a:p>
                  </a:txBody>
                  <a:tcPr marL="111556" marR="111556" marT="137160" marB="137160" anchor="ctr">
                    <a:lnL w="12700" cmpd="sng">
                      <a:noFill/>
                    </a:lnL>
                    <a:lnR w="12700" cmpd="sng">
                      <a:noFill/>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38405630"/>
                  </a:ext>
                </a:extLst>
              </a:tr>
              <a:tr h="0">
                <a:tc>
                  <a:txBody>
                    <a:bodyPr/>
                    <a:lstStyle/>
                    <a:p>
                      <a:pPr marL="0" marR="0" lvl="0" indent="0" algn="l" defTabSz="914377"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Poppins SemiBold" pitchFamily="2" charset="77"/>
                          <a:ea typeface="+mn-ea"/>
                          <a:cs typeface="Poppins SemiBold" pitchFamily="2" charset="77"/>
                        </a:rPr>
                        <a:t>Individuals Succeeding Most Often</a:t>
                      </a:r>
                    </a:p>
                  </a:txBody>
                  <a:tcPr marL="111556" marR="111556" marT="137160" marB="137160" anchor="ctr">
                    <a:lnL w="12700" cmpd="sng">
                      <a:noFill/>
                    </a:lnL>
                    <a:lnR w="12700" cmpd="sng">
                      <a:noFill/>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Done by team</a:t>
                      </a:r>
                      <a:r>
                        <a:rPr kumimoji="0" lang="en-US" sz="1100" b="0"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 Account Lead, CRO Lead &amp; PM</a:t>
                      </a:r>
                    </a:p>
                  </a:txBody>
                  <a:tcPr marL="111556" marR="111556" marT="137160" marB="137160" anchor="ctr">
                    <a:lnL w="12700" cmpd="sng">
                      <a:noFill/>
                    </a:lnL>
                    <a:lnR w="12700" cmpd="sng">
                      <a:noFill/>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83758312"/>
                  </a:ext>
                </a:extLst>
              </a:tr>
              <a:tr h="0">
                <a:tc>
                  <a:txBody>
                    <a:bodyPr/>
                    <a:lstStyle/>
                    <a:p>
                      <a:pPr marL="0" marR="0" lvl="0" indent="0" algn="l" defTabSz="914377"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Poppins SemiBold" pitchFamily="2" charset="77"/>
                          <a:ea typeface="+mn-ea"/>
                          <a:cs typeface="Poppins SemiBold" pitchFamily="2" charset="77"/>
                        </a:rPr>
                        <a:t>Hours Spent</a:t>
                      </a:r>
                    </a:p>
                  </a:txBody>
                  <a:tcPr marL="111556" marR="111556" marT="137160" marB="137160" anchor="ctr">
                    <a:lnL w="12700" cmpd="sng">
                      <a:noFill/>
                    </a:lnL>
                    <a:lnR w="12700" cmpd="sng">
                      <a:noFill/>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Done by team</a:t>
                      </a:r>
                      <a:r>
                        <a:rPr kumimoji="0" lang="en-US" sz="1100" b="0"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 Accounts, CRO, PM, Design, Dev, QA</a:t>
                      </a:r>
                    </a:p>
                  </a:txBody>
                  <a:tcPr marL="111556" marR="111556" marT="137160" marB="137160" anchor="ctr">
                    <a:lnL w="12700" cmpd="sng">
                      <a:noFill/>
                    </a:lnL>
                    <a:lnR w="12700" cmpd="sng">
                      <a:noFill/>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73905573"/>
                  </a:ext>
                </a:extLst>
              </a:tr>
              <a:tr h="0">
                <a:tc>
                  <a:txBody>
                    <a:bodyPr/>
                    <a:lstStyle/>
                    <a:p>
                      <a:pPr marL="0" marR="0" lvl="0" indent="0" algn="l" defTabSz="914377"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Poppins SemiBold" pitchFamily="2" charset="77"/>
                          <a:ea typeface="+mn-ea"/>
                          <a:cs typeface="Poppins SemiBold" pitchFamily="2" charset="77"/>
                        </a:rPr>
                        <a:t>Turnaround Time</a:t>
                      </a:r>
                    </a:p>
                  </a:txBody>
                  <a:tcPr marL="111556" marR="111556" marT="137160" marB="137160" anchor="ctr">
                    <a:lnL w="12700" cmpd="sng">
                      <a:noFill/>
                    </a:lnL>
                    <a:lnR w="12700" cmpd="sng">
                      <a:noFill/>
                    </a:lnR>
                    <a:lnT w="12700" cap="flat" cmpd="sng" algn="ctr">
                      <a:solidFill>
                        <a:schemeClr val="bg1">
                          <a:lumMod val="75000"/>
                        </a:schemeClr>
                      </a:solidFill>
                      <a:prstDash val="sysDot"/>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Workdays spent completing the project</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Done by phase</a:t>
                      </a:r>
                      <a:r>
                        <a:rPr kumimoji="0" lang="en-US" sz="1100" b="0" i="0" u="none" strike="noStrike" kern="1200" cap="none" spc="0" normalizeH="0" baseline="0" noProof="0" dirty="0">
                          <a:ln>
                            <a:noFill/>
                          </a:ln>
                          <a:solidFill>
                            <a:prstClr val="black"/>
                          </a:solidFill>
                          <a:effectLst/>
                          <a:uLnTx/>
                          <a:uFillTx/>
                          <a:latin typeface="Poppins" pitchFamily="2" charset="77"/>
                          <a:ea typeface="+mn-ea"/>
                          <a:cs typeface="Poppins" pitchFamily="2" charset="77"/>
                        </a:rPr>
                        <a:t>: Briefing, design input, dev, QA, client alignment, test run, analysis</a:t>
                      </a:r>
                    </a:p>
                  </a:txBody>
                  <a:tcPr marL="111556" marR="111556" marT="137160" marB="137160" anchor="ctr">
                    <a:lnL w="12700" cmpd="sng">
                      <a:noFill/>
                    </a:lnL>
                    <a:lnR w="12700" cmpd="sng">
                      <a:noFill/>
                    </a:lnR>
                    <a:lnT w="12700" cap="flat" cmpd="sng" algn="ctr">
                      <a:solidFill>
                        <a:schemeClr val="bg1">
                          <a:lumMod val="75000"/>
                        </a:schemeClr>
                      </a:solidFill>
                      <a:prstDash val="sysDot"/>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233788"/>
                  </a:ext>
                </a:extLst>
              </a:tr>
            </a:tbl>
          </a:graphicData>
        </a:graphic>
      </p:graphicFrame>
      <p:sp>
        <p:nvSpPr>
          <p:cNvPr id="2" name="Title 1">
            <a:extLst>
              <a:ext uri="{FF2B5EF4-FFF2-40B4-BE49-F238E27FC236}">
                <a16:creationId xmlns:a16="http://schemas.microsoft.com/office/drawing/2014/main" id="{C41801B8-1CFB-4187-778E-134075F6795B}"/>
              </a:ext>
            </a:extLst>
          </p:cNvPr>
          <p:cNvSpPr txBox="1">
            <a:spLocks/>
          </p:cNvSpPr>
          <p:nvPr/>
        </p:nvSpPr>
        <p:spPr>
          <a:xfrm>
            <a:off x="554989" y="505194"/>
            <a:ext cx="11082019" cy="982833"/>
          </a:xfrm>
          <a:prstGeom prst="rect">
            <a:avLst/>
          </a:prstGeom>
        </p:spPr>
        <p:txBody>
          <a:bodyPr vert="horz" lIns="91440" tIns="45720" rIns="91440" bIns="45720" rtlCol="0" anchor="t">
            <a:spAutoFit/>
          </a:bodyPr>
          <a:lstStyle>
            <a:lvl1pPr algn="l" defTabSz="914377" rtl="0" eaLnBrk="1" latinLnBrk="0" hangingPunct="1">
              <a:lnSpc>
                <a:spcPct val="90000"/>
              </a:lnSpc>
              <a:spcBef>
                <a:spcPct val="0"/>
              </a:spcBef>
              <a:buNone/>
              <a:defRPr sz="3200" b="1" kern="1200">
                <a:solidFill>
                  <a:schemeClr val="accent4"/>
                </a:solidFill>
                <a:latin typeface="Poppins" panose="00000500000000000000" pitchFamily="2" charset="0"/>
                <a:ea typeface="+mj-ea"/>
                <a:cs typeface="Poppins" panose="00000500000000000000" pitchFamily="2" charset="0"/>
              </a:defRPr>
            </a:lvl1pPr>
          </a:lstStyle>
          <a:p>
            <a:pPr algn="ctr"/>
            <a:r>
              <a:rPr lang="en-US" dirty="0">
                <a:solidFill>
                  <a:schemeClr val="accent1"/>
                </a:solidFill>
              </a:rPr>
              <a:t>Document Successes To Refine Flash Process Criteria: </a:t>
            </a:r>
            <a:r>
              <a:rPr lang="en-US" altLang="en-US" b="0" dirty="0">
                <a:solidFill>
                  <a:srgbClr val="0070C0"/>
                </a:solidFill>
                <a:latin typeface="Arial" panose="020B0604020202020204" pitchFamily="34" charset="0"/>
                <a:hlinkClick r:id="rId2">
                  <a:extLst>
                    <a:ext uri="{A12FA001-AC4F-418D-AE19-62706E023703}">
                      <ahyp:hlinkClr xmlns:ahyp="http://schemas.microsoft.com/office/drawing/2018/hyperlinkcolor" val="tx"/>
                    </a:ext>
                  </a:extLst>
                </a:hlinkClick>
              </a:rPr>
              <a:t>CRO - Flash Process Attempt Tracking.xlsx</a:t>
            </a:r>
            <a:endParaRPr lang="en-US" dirty="0">
              <a:solidFill>
                <a:schemeClr val="accent1"/>
              </a:solidFill>
            </a:endParaRPr>
          </a:p>
        </p:txBody>
      </p:sp>
    </p:spTree>
    <p:extLst>
      <p:ext uri="{BB962C8B-B14F-4D97-AF65-F5344CB8AC3E}">
        <p14:creationId xmlns:p14="http://schemas.microsoft.com/office/powerpoint/2010/main" val="31460706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a:extLst>
            <a:ext uri="{FF2B5EF4-FFF2-40B4-BE49-F238E27FC236}">
              <a16:creationId xmlns:a16="http://schemas.microsoft.com/office/drawing/2014/main" id="{3DF16F7D-CB50-F451-2E7D-A934B17B7BD0}"/>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C41DAC42-3A34-090E-E1AC-B60F703E92E6}"/>
              </a:ext>
            </a:extLst>
          </p:cNvPr>
          <p:cNvSpPr txBox="1">
            <a:spLocks/>
          </p:cNvSpPr>
          <p:nvPr/>
        </p:nvSpPr>
        <p:spPr>
          <a:xfrm>
            <a:off x="838200" y="2675973"/>
            <a:ext cx="10515600" cy="1506053"/>
          </a:xfrm>
          <a:prstGeom prst="rect">
            <a:avLst/>
          </a:prstGeom>
        </p:spPr>
        <p:txBody>
          <a:bodyPr vert="horz" lIns="91440" tIns="91440" rIns="91440" bIns="91440" rtlCol="0" anchor="ctr">
            <a:spAutoFit/>
          </a:bodyPr>
          <a:lstStyle>
            <a:lvl1pPr algn="l" defTabSz="914377" rtl="0" eaLnBrk="1" latinLnBrk="0" hangingPunct="1">
              <a:lnSpc>
                <a:spcPct val="95000"/>
              </a:lnSpc>
              <a:spcBef>
                <a:spcPct val="0"/>
              </a:spcBef>
              <a:buNone/>
              <a:defRPr sz="3200" b="1" kern="1200">
                <a:solidFill>
                  <a:schemeClr val="accent4"/>
                </a:solidFill>
                <a:latin typeface="Poppins" panose="00000500000000000000" pitchFamily="2" charset="0"/>
                <a:ea typeface="+mj-ea"/>
                <a:cs typeface="Poppins" panose="00000500000000000000" pitchFamily="2" charset="0"/>
              </a:defRPr>
            </a:lvl1pPr>
          </a:lstStyle>
          <a:p>
            <a:pPr algn="ctr">
              <a:lnSpc>
                <a:spcPct val="112000"/>
              </a:lnSpc>
            </a:pPr>
            <a:r>
              <a:rPr lang="en-US" sz="8000" dirty="0">
                <a:solidFill>
                  <a:schemeClr val="bg1"/>
                </a:solidFill>
                <a:latin typeface="Poppins (Headings)"/>
                <a:cs typeface="Poppins SemiBold" pitchFamily="2" charset="77"/>
              </a:rPr>
              <a:t>Thank you!</a:t>
            </a:r>
            <a:endParaRPr lang="en-US" sz="8000" dirty="0">
              <a:solidFill>
                <a:schemeClr val="bg1"/>
              </a:solidFill>
              <a:latin typeface="Poppins (Headings)"/>
              <a:cs typeface="Poppins" pitchFamily="2" charset="77"/>
            </a:endParaRPr>
          </a:p>
        </p:txBody>
      </p:sp>
    </p:spTree>
    <p:extLst>
      <p:ext uri="{BB962C8B-B14F-4D97-AF65-F5344CB8AC3E}">
        <p14:creationId xmlns:p14="http://schemas.microsoft.com/office/powerpoint/2010/main" val="10165266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F1B8EF-BCB8-187D-8748-84EC5747120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6A1DC8C-C5DB-84C0-DDC2-5A50110D8A8F}"/>
              </a:ext>
            </a:extLst>
          </p:cNvPr>
          <p:cNvSpPr/>
          <p:nvPr/>
        </p:nvSpPr>
        <p:spPr>
          <a:xfrm>
            <a:off x="0" y="914401"/>
            <a:ext cx="12191998" cy="5943600"/>
          </a:xfrm>
          <a:prstGeom prst="rect">
            <a:avLst/>
          </a:prstGeom>
          <a:solidFill>
            <a:schemeClr val="tx2">
              <a:alpha val="12941"/>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91440" r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j-lt"/>
              <a:ea typeface="+mn-ea"/>
              <a:cs typeface="+mn-cs"/>
            </a:endParaRPr>
          </a:p>
        </p:txBody>
      </p:sp>
      <p:sp>
        <p:nvSpPr>
          <p:cNvPr id="2" name="Rectangle 1">
            <a:extLst>
              <a:ext uri="{FF2B5EF4-FFF2-40B4-BE49-F238E27FC236}">
                <a16:creationId xmlns:a16="http://schemas.microsoft.com/office/drawing/2014/main" id="{E3246B93-ECF0-3985-7E76-570CA6482B33}"/>
              </a:ext>
            </a:extLst>
          </p:cNvPr>
          <p:cNvSpPr/>
          <p:nvPr/>
        </p:nvSpPr>
        <p:spPr>
          <a:xfrm>
            <a:off x="0" y="0"/>
            <a:ext cx="12192000" cy="9144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Poppins" pitchFamily="2" charset="77"/>
              <a:cs typeface="Poppins" pitchFamily="2" charset="77"/>
            </a:endParaRPr>
          </a:p>
        </p:txBody>
      </p:sp>
      <p:sp>
        <p:nvSpPr>
          <p:cNvPr id="10" name="Title 9">
            <a:extLst>
              <a:ext uri="{FF2B5EF4-FFF2-40B4-BE49-F238E27FC236}">
                <a16:creationId xmlns:a16="http://schemas.microsoft.com/office/drawing/2014/main" id="{9ED07608-B645-6143-D138-7A9EC6E19FAD}"/>
              </a:ext>
            </a:extLst>
          </p:cNvPr>
          <p:cNvSpPr>
            <a:spLocks noGrp="1"/>
          </p:cNvSpPr>
          <p:nvPr>
            <p:ph type="title"/>
          </p:nvPr>
        </p:nvSpPr>
        <p:spPr>
          <a:xfrm>
            <a:off x="496956" y="265250"/>
            <a:ext cx="10515600" cy="604012"/>
          </a:xfrm>
        </p:spPr>
        <p:txBody>
          <a:bodyPr wrap="square" tIns="91440" bIns="91440">
            <a:spAutoFit/>
          </a:bodyPr>
          <a:lstStyle/>
          <a:p>
            <a:pPr algn="l"/>
            <a:r>
              <a:rPr lang="en-US">
                <a:solidFill>
                  <a:schemeClr val="bg1"/>
                </a:solidFill>
              </a:rPr>
              <a:t>LPO Process</a:t>
            </a:r>
          </a:p>
        </p:txBody>
      </p:sp>
      <p:pic>
        <p:nvPicPr>
          <p:cNvPr id="3" name="Graphic 2">
            <a:extLst>
              <a:ext uri="{FF2B5EF4-FFF2-40B4-BE49-F238E27FC236}">
                <a16:creationId xmlns:a16="http://schemas.microsoft.com/office/drawing/2014/main" id="{C4DF4EFC-A5BE-BA34-9B1A-7EBB798F7EB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560985" y="-212020"/>
            <a:ext cx="1326216" cy="1338439"/>
          </a:xfrm>
          <a:prstGeom prst="rect">
            <a:avLst/>
          </a:prstGeom>
        </p:spPr>
      </p:pic>
      <p:sp>
        <p:nvSpPr>
          <p:cNvPr id="7" name="Google Shape;1646;p96">
            <a:extLst>
              <a:ext uri="{FF2B5EF4-FFF2-40B4-BE49-F238E27FC236}">
                <a16:creationId xmlns:a16="http://schemas.microsoft.com/office/drawing/2014/main" id="{82636600-565C-53DD-D34E-D981E97EC8D2}"/>
              </a:ext>
            </a:extLst>
          </p:cNvPr>
          <p:cNvSpPr/>
          <p:nvPr/>
        </p:nvSpPr>
        <p:spPr>
          <a:xfrm>
            <a:off x="3611622" y="5590545"/>
            <a:ext cx="887700" cy="250800"/>
          </a:xfrm>
          <a:prstGeom prst="rect">
            <a:avLst/>
          </a:prstGeom>
          <a:solidFill>
            <a:srgbClr val="FFFFFF"/>
          </a:solidFill>
          <a:ln w="9525" cap="flat" cmpd="sng">
            <a:solidFill>
              <a:schemeClr val="tx1"/>
            </a:solidFill>
            <a:prstDash val="solid"/>
            <a:round/>
            <a:headEnd type="none" w="sm" len="sm"/>
            <a:tailEnd type="none" w="sm" len="sm"/>
          </a:ln>
        </p:spPr>
        <p:txBody>
          <a:bodyPr spcFirstLastPara="1" wrap="square" lIns="77300" tIns="77300" rIns="77300" bIns="773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800" b="1" i="0" u="none" strike="noStrike" kern="1200" cap="none" spc="0" normalizeH="0" baseline="0" noProof="0">
                <a:ln>
                  <a:noFill/>
                </a:ln>
                <a:effectLst/>
                <a:uLnTx/>
                <a:uFillTx/>
                <a:latin typeface="+mj-lt"/>
                <a:ea typeface="Red Hat Display"/>
                <a:cs typeface="Red Hat Display"/>
                <a:sym typeface="Red Hat Display"/>
              </a:rPr>
              <a:t>Process Step</a:t>
            </a:r>
            <a:endParaRPr kumimoji="0" sz="800" b="1" i="0" u="none" strike="noStrike" kern="1200" cap="none" spc="0" normalizeH="0" baseline="0" noProof="0">
              <a:ln>
                <a:noFill/>
              </a:ln>
              <a:effectLst/>
              <a:uLnTx/>
              <a:uFillTx/>
              <a:latin typeface="+mj-lt"/>
              <a:ea typeface="Red Hat Display"/>
              <a:cs typeface="Red Hat Display"/>
              <a:sym typeface="Red Hat Display"/>
            </a:endParaRPr>
          </a:p>
        </p:txBody>
      </p:sp>
      <p:sp>
        <p:nvSpPr>
          <p:cNvPr id="8" name="Google Shape;1647;p96">
            <a:extLst>
              <a:ext uri="{FF2B5EF4-FFF2-40B4-BE49-F238E27FC236}">
                <a16:creationId xmlns:a16="http://schemas.microsoft.com/office/drawing/2014/main" id="{46D86142-597C-EC5E-5779-F06A6CD0DD38}"/>
              </a:ext>
            </a:extLst>
          </p:cNvPr>
          <p:cNvSpPr/>
          <p:nvPr/>
        </p:nvSpPr>
        <p:spPr>
          <a:xfrm>
            <a:off x="4641121" y="5590545"/>
            <a:ext cx="732888" cy="250938"/>
          </a:xfrm>
          <a:prstGeom prst="flowChartDocument">
            <a:avLst/>
          </a:prstGeom>
          <a:solidFill>
            <a:srgbClr val="FFFFFF"/>
          </a:solidFill>
          <a:ln w="9525" cap="flat" cmpd="sng">
            <a:solidFill>
              <a:schemeClr val="tx1"/>
            </a:solidFill>
            <a:prstDash val="solid"/>
            <a:round/>
            <a:headEnd type="none" w="sm" len="sm"/>
            <a:tailEnd type="none" w="sm" len="sm"/>
          </a:ln>
        </p:spPr>
        <p:txBody>
          <a:bodyPr spcFirstLastPara="1" wrap="square" lIns="77300" tIns="77300" rIns="77300" bIns="773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800" b="1" i="0" u="none" strike="noStrike" kern="1200" cap="none" spc="0" normalizeH="0" baseline="0" noProof="0">
                <a:ln>
                  <a:noFill/>
                </a:ln>
                <a:effectLst/>
                <a:uLnTx/>
                <a:uFillTx/>
                <a:latin typeface="+mj-lt"/>
                <a:ea typeface="Red Hat Display"/>
                <a:cs typeface="Red Hat Display"/>
                <a:sym typeface="Red Hat Display"/>
              </a:rPr>
              <a:t>Document</a:t>
            </a:r>
            <a:endParaRPr kumimoji="0" sz="800" b="1" i="0" u="none" strike="noStrike" kern="1200" cap="none" spc="0" normalizeH="0" baseline="0" noProof="0">
              <a:ln>
                <a:noFill/>
              </a:ln>
              <a:effectLst/>
              <a:uLnTx/>
              <a:uFillTx/>
              <a:latin typeface="+mj-lt"/>
              <a:ea typeface="Red Hat Display"/>
              <a:cs typeface="Red Hat Display"/>
              <a:sym typeface="Red Hat Display"/>
            </a:endParaRPr>
          </a:p>
        </p:txBody>
      </p:sp>
      <p:sp>
        <p:nvSpPr>
          <p:cNvPr id="9" name="Google Shape;1648;p96">
            <a:extLst>
              <a:ext uri="{FF2B5EF4-FFF2-40B4-BE49-F238E27FC236}">
                <a16:creationId xmlns:a16="http://schemas.microsoft.com/office/drawing/2014/main" id="{18F7CE2C-901E-231E-B755-0A39076C3F9A}"/>
              </a:ext>
            </a:extLst>
          </p:cNvPr>
          <p:cNvSpPr/>
          <p:nvPr/>
        </p:nvSpPr>
        <p:spPr>
          <a:xfrm>
            <a:off x="5515808" y="5590544"/>
            <a:ext cx="1135972" cy="250949"/>
          </a:xfrm>
          <a:prstGeom prst="flowChartPredefinedProcess">
            <a:avLst/>
          </a:prstGeom>
          <a:solidFill>
            <a:srgbClr val="FFFFFF"/>
          </a:solidFill>
          <a:ln w="9525" cap="flat" cmpd="sng">
            <a:solidFill>
              <a:schemeClr val="tx1"/>
            </a:solidFill>
            <a:prstDash val="solid"/>
            <a:round/>
            <a:headEnd type="none" w="sm" len="sm"/>
            <a:tailEnd type="none" w="sm" len="sm"/>
          </a:ln>
        </p:spPr>
        <p:txBody>
          <a:bodyPr spcFirstLastPara="1" wrap="square" lIns="77300" tIns="77300" rIns="77300" bIns="773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800" b="1" i="0" u="none" strike="noStrike" kern="1200" cap="none" spc="0" normalizeH="0" baseline="0" noProof="0">
                <a:ln>
                  <a:noFill/>
                </a:ln>
                <a:effectLst/>
                <a:uLnTx/>
                <a:uFillTx/>
                <a:latin typeface="+mj-lt"/>
                <a:ea typeface="Red Hat Display"/>
                <a:cs typeface="Red Hat Display"/>
                <a:sym typeface="Red Hat Display"/>
              </a:rPr>
              <a:t>Decision</a:t>
            </a:r>
            <a:endParaRPr kumimoji="0" sz="800" b="1" i="0" u="none" strike="noStrike" kern="1200" cap="none" spc="0" normalizeH="0" baseline="0" noProof="0">
              <a:ln>
                <a:noFill/>
              </a:ln>
              <a:effectLst/>
              <a:uLnTx/>
              <a:uFillTx/>
              <a:latin typeface="+mj-lt"/>
              <a:ea typeface="Red Hat Display"/>
              <a:cs typeface="Red Hat Display"/>
              <a:sym typeface="Red Hat Display"/>
            </a:endParaRPr>
          </a:p>
        </p:txBody>
      </p:sp>
      <p:sp>
        <p:nvSpPr>
          <p:cNvPr id="11" name="Google Shape;1649;p96">
            <a:extLst>
              <a:ext uri="{FF2B5EF4-FFF2-40B4-BE49-F238E27FC236}">
                <a16:creationId xmlns:a16="http://schemas.microsoft.com/office/drawing/2014/main" id="{951ED55D-4CEF-1D32-F06C-61306832964A}"/>
              </a:ext>
            </a:extLst>
          </p:cNvPr>
          <p:cNvSpPr/>
          <p:nvPr/>
        </p:nvSpPr>
        <p:spPr>
          <a:xfrm>
            <a:off x="6793579" y="5590543"/>
            <a:ext cx="923700" cy="250800"/>
          </a:xfrm>
          <a:prstGeom prst="rect">
            <a:avLst/>
          </a:prstGeom>
          <a:solidFill>
            <a:srgbClr val="FFFFFF"/>
          </a:solidFill>
          <a:ln w="9525" cap="flat" cmpd="sng">
            <a:solidFill>
              <a:schemeClr val="tx1"/>
            </a:solidFill>
            <a:prstDash val="dash"/>
            <a:round/>
            <a:headEnd type="none" w="sm" len="sm"/>
            <a:tailEnd type="none" w="sm" len="sm"/>
          </a:ln>
        </p:spPr>
        <p:txBody>
          <a:bodyPr spcFirstLastPara="1" wrap="square" lIns="77300" tIns="77300" rIns="77300" bIns="773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800" b="1" i="0" u="none" strike="noStrike" kern="1200" cap="none" spc="0" normalizeH="0" baseline="0" noProof="0">
                <a:ln>
                  <a:noFill/>
                </a:ln>
                <a:effectLst/>
                <a:uLnTx/>
                <a:uFillTx/>
                <a:latin typeface="+mj-lt"/>
                <a:ea typeface="Red Hat Display"/>
                <a:cs typeface="Red Hat Display"/>
                <a:sym typeface="Red Hat Display"/>
              </a:rPr>
              <a:t>Optional / as needed step</a:t>
            </a:r>
            <a:endParaRPr kumimoji="0" sz="800" b="1" i="0" u="none" strike="noStrike" kern="1200" cap="none" spc="0" normalizeH="0" baseline="0" noProof="0">
              <a:ln>
                <a:noFill/>
              </a:ln>
              <a:effectLst/>
              <a:uLnTx/>
              <a:uFillTx/>
              <a:latin typeface="+mj-lt"/>
              <a:ea typeface="Red Hat Display"/>
              <a:cs typeface="Red Hat Display"/>
              <a:sym typeface="Red Hat Display"/>
            </a:endParaRPr>
          </a:p>
        </p:txBody>
      </p:sp>
      <p:sp>
        <p:nvSpPr>
          <p:cNvPr id="12" name="Google Shape;1650;p96">
            <a:extLst>
              <a:ext uri="{FF2B5EF4-FFF2-40B4-BE49-F238E27FC236}">
                <a16:creationId xmlns:a16="http://schemas.microsoft.com/office/drawing/2014/main" id="{3B3D314C-5439-889E-3F90-8698DCE94E1C}"/>
              </a:ext>
            </a:extLst>
          </p:cNvPr>
          <p:cNvSpPr txBox="1"/>
          <p:nvPr/>
        </p:nvSpPr>
        <p:spPr>
          <a:xfrm>
            <a:off x="2213894" y="5591259"/>
            <a:ext cx="1650300" cy="175200"/>
          </a:xfrm>
          <a:prstGeom prst="rect">
            <a:avLst/>
          </a:prstGeom>
          <a:noFill/>
          <a:ln>
            <a:noFill/>
          </a:ln>
        </p:spPr>
        <p:txBody>
          <a:bodyPr spcFirstLastPara="1" wrap="square" lIns="75575" tIns="75575" rIns="75575" bIns="7557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 sz="800" b="0" i="0" u="none" strike="noStrike" kern="1200" cap="none" spc="0" normalizeH="0" baseline="0" noProof="0">
                <a:ln>
                  <a:noFill/>
                </a:ln>
                <a:effectLst/>
                <a:uLnTx/>
                <a:uFillTx/>
                <a:latin typeface="+mj-lt"/>
                <a:ea typeface="Red Hat Display"/>
                <a:cs typeface="Red Hat Display"/>
                <a:sym typeface="Red Hat Display"/>
              </a:rPr>
              <a:t>Process flow shape key:</a:t>
            </a:r>
            <a:endParaRPr kumimoji="0" sz="800" b="0" i="0" u="none" strike="noStrike" kern="1200" cap="none" spc="0" normalizeH="0" baseline="0" noProof="0">
              <a:ln>
                <a:noFill/>
              </a:ln>
              <a:effectLst/>
              <a:uLnTx/>
              <a:uFillTx/>
              <a:latin typeface="+mj-lt"/>
              <a:ea typeface="Red Hat Display"/>
              <a:cs typeface="Red Hat Display"/>
              <a:sym typeface="Red Hat Display"/>
            </a:endParaRPr>
          </a:p>
        </p:txBody>
      </p:sp>
      <p:sp>
        <p:nvSpPr>
          <p:cNvPr id="15" name="Google Shape;1646;p96">
            <a:extLst>
              <a:ext uri="{FF2B5EF4-FFF2-40B4-BE49-F238E27FC236}">
                <a16:creationId xmlns:a16="http://schemas.microsoft.com/office/drawing/2014/main" id="{2C0E819E-DD79-5689-3D84-2BA57A3F7CFD}"/>
              </a:ext>
            </a:extLst>
          </p:cNvPr>
          <p:cNvSpPr/>
          <p:nvPr/>
        </p:nvSpPr>
        <p:spPr>
          <a:xfrm>
            <a:off x="4644899" y="5951951"/>
            <a:ext cx="887700" cy="250800"/>
          </a:xfrm>
          <a:prstGeom prst="rect">
            <a:avLst/>
          </a:prstGeom>
          <a:solidFill>
            <a:schemeClr val="accent1"/>
          </a:solidFill>
          <a:ln w="3175" cap="flat" cmpd="sng">
            <a:solidFill>
              <a:schemeClr val="tx2"/>
            </a:solidFill>
            <a:prstDash val="solid"/>
            <a:round/>
            <a:headEnd type="none" w="sm" len="sm"/>
            <a:tailEnd type="none" w="sm" len="sm"/>
          </a:ln>
        </p:spPr>
        <p:txBody>
          <a:bodyPr spcFirstLastPara="1" wrap="square" lIns="77300" tIns="77300" rIns="77300" bIns="773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Tx/>
              <a:buNone/>
              <a:tabLst/>
              <a:defRPr/>
            </a:pPr>
            <a:r>
              <a:rPr kumimoji="0" lang="en" sz="700" b="1" i="0" u="none" strike="noStrike" kern="1200" cap="none" spc="0" normalizeH="0" baseline="0" noProof="0">
                <a:ln>
                  <a:noFill/>
                </a:ln>
                <a:effectLst/>
                <a:uLnTx/>
                <a:uFillTx/>
                <a:latin typeface="+mj-lt"/>
                <a:ea typeface="Red Hat Display"/>
                <a:cs typeface="Poppins"/>
                <a:sym typeface="Red Hat Display"/>
              </a:rPr>
              <a:t>Goddard</a:t>
            </a:r>
            <a:endParaRPr kumimoji="0" sz="700" b="1" i="0" u="none" strike="noStrike" kern="1200" cap="none" spc="0" normalizeH="0" baseline="0" noProof="0">
              <a:ln>
                <a:noFill/>
              </a:ln>
              <a:effectLst/>
              <a:uLnTx/>
              <a:uFillTx/>
              <a:latin typeface="+mj-lt"/>
              <a:ea typeface="Red Hat Display"/>
              <a:cs typeface="Poppins"/>
              <a:sym typeface="Red Hat Display"/>
            </a:endParaRPr>
          </a:p>
        </p:txBody>
      </p:sp>
      <p:sp>
        <p:nvSpPr>
          <p:cNvPr id="16" name="Google Shape;1646;p96">
            <a:extLst>
              <a:ext uri="{FF2B5EF4-FFF2-40B4-BE49-F238E27FC236}">
                <a16:creationId xmlns:a16="http://schemas.microsoft.com/office/drawing/2014/main" id="{3BF7F9EB-9B52-0159-F898-8A75D3FAAD07}"/>
              </a:ext>
            </a:extLst>
          </p:cNvPr>
          <p:cNvSpPr/>
          <p:nvPr/>
        </p:nvSpPr>
        <p:spPr>
          <a:xfrm>
            <a:off x="3612305" y="5951951"/>
            <a:ext cx="887700" cy="250800"/>
          </a:xfrm>
          <a:prstGeom prst="rect">
            <a:avLst/>
          </a:prstGeom>
          <a:solidFill>
            <a:schemeClr val="bg1"/>
          </a:solidFill>
          <a:ln w="3175" cap="flat" cmpd="sng">
            <a:solidFill>
              <a:schemeClr val="tx2"/>
            </a:solidFill>
            <a:prstDash val="solid"/>
            <a:round/>
            <a:headEnd type="none" w="sm" len="sm"/>
            <a:tailEnd type="none" w="sm" len="sm"/>
          </a:ln>
        </p:spPr>
        <p:txBody>
          <a:bodyPr spcFirstLastPara="1" wrap="square" lIns="77300" tIns="77300" rIns="77300" bIns="773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Tx/>
              <a:buNone/>
              <a:tabLst/>
              <a:defRPr/>
            </a:pPr>
            <a:r>
              <a:rPr kumimoji="0" lang="en" sz="700" b="1" i="0" u="none" strike="noStrike" kern="1200" cap="none" spc="0" normalizeH="0" baseline="0" noProof="0">
                <a:ln>
                  <a:noFill/>
                </a:ln>
                <a:effectLst/>
                <a:uLnTx/>
                <a:uFillTx/>
                <a:latin typeface="+mj-lt"/>
                <a:ea typeface="Red Hat Display"/>
                <a:cs typeface="Poppins"/>
                <a:sym typeface="Red Hat Display"/>
              </a:rPr>
              <a:t>Horizon Commerce</a:t>
            </a:r>
            <a:endParaRPr kumimoji="0" sz="700" b="1" i="0" u="none" strike="noStrike" kern="1200" cap="none" spc="0" normalizeH="0" baseline="0" noProof="0">
              <a:ln>
                <a:noFill/>
              </a:ln>
              <a:effectLst/>
              <a:uLnTx/>
              <a:uFillTx/>
              <a:latin typeface="+mj-lt"/>
              <a:ea typeface="Red Hat Display"/>
              <a:cs typeface="Poppins"/>
              <a:sym typeface="Red Hat Display"/>
            </a:endParaRPr>
          </a:p>
        </p:txBody>
      </p:sp>
      <p:sp>
        <p:nvSpPr>
          <p:cNvPr id="17" name="Google Shape;1650;p96">
            <a:extLst>
              <a:ext uri="{FF2B5EF4-FFF2-40B4-BE49-F238E27FC236}">
                <a16:creationId xmlns:a16="http://schemas.microsoft.com/office/drawing/2014/main" id="{B0A12869-7437-8C87-03A9-B72ADEABC774}"/>
              </a:ext>
            </a:extLst>
          </p:cNvPr>
          <p:cNvSpPr txBox="1"/>
          <p:nvPr/>
        </p:nvSpPr>
        <p:spPr>
          <a:xfrm>
            <a:off x="2203007" y="5956090"/>
            <a:ext cx="1650300" cy="175200"/>
          </a:xfrm>
          <a:prstGeom prst="rect">
            <a:avLst/>
          </a:prstGeom>
          <a:noFill/>
          <a:ln>
            <a:noFill/>
          </a:ln>
        </p:spPr>
        <p:txBody>
          <a:bodyPr spcFirstLastPara="1" wrap="square" lIns="75575" tIns="75575" rIns="75575" bIns="7557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 sz="800" b="0" i="0" u="none" strike="noStrike" kern="1200" cap="none" spc="0" normalizeH="0" baseline="0" noProof="0">
                <a:ln>
                  <a:noFill/>
                </a:ln>
                <a:effectLst/>
                <a:uLnTx/>
                <a:uFillTx/>
                <a:latin typeface="+mj-lt"/>
                <a:ea typeface="Red Hat Display"/>
                <a:cs typeface="Red Hat Display"/>
                <a:sym typeface="Red Hat Display"/>
              </a:rPr>
              <a:t>Process step owner key:</a:t>
            </a:r>
            <a:endParaRPr kumimoji="0" sz="800" b="0" i="0" u="none" strike="noStrike" kern="1200" cap="none" spc="0" normalizeH="0" baseline="0" noProof="0">
              <a:ln>
                <a:noFill/>
              </a:ln>
              <a:effectLst/>
              <a:uLnTx/>
              <a:uFillTx/>
              <a:latin typeface="+mj-lt"/>
              <a:ea typeface="Red Hat Display"/>
              <a:cs typeface="Red Hat Display"/>
              <a:sym typeface="Red Hat Display"/>
            </a:endParaRPr>
          </a:p>
        </p:txBody>
      </p:sp>
      <p:sp>
        <p:nvSpPr>
          <p:cNvPr id="19" name="Google Shape;1607;p96">
            <a:extLst>
              <a:ext uri="{FF2B5EF4-FFF2-40B4-BE49-F238E27FC236}">
                <a16:creationId xmlns:a16="http://schemas.microsoft.com/office/drawing/2014/main" id="{64CCAFB7-E5CE-CA5F-E1AC-5BAF8F5A6F08}"/>
              </a:ext>
            </a:extLst>
          </p:cNvPr>
          <p:cNvSpPr/>
          <p:nvPr/>
        </p:nvSpPr>
        <p:spPr>
          <a:xfrm>
            <a:off x="855012" y="3925853"/>
            <a:ext cx="10422000" cy="548640"/>
          </a:xfrm>
          <a:prstGeom prst="roundRect">
            <a:avLst>
              <a:gd name="adj" fmla="val 16667"/>
            </a:avLst>
          </a:prstGeom>
          <a:solidFill>
            <a:schemeClr val="bg1">
              <a:lumMod val="65000"/>
            </a:schemeClr>
          </a:solidFill>
          <a:ln>
            <a:noFill/>
          </a:ln>
        </p:spPr>
        <p:txBody>
          <a:bodyPr spcFirstLastPara="1" wrap="square" lIns="77300" tIns="77300" rIns="77300" bIns="773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002477"/>
              </a:solidFill>
              <a:effectLst/>
              <a:uLnTx/>
              <a:uFillTx/>
              <a:latin typeface="+mj-lt"/>
              <a:ea typeface="Arial"/>
              <a:cs typeface="Arial"/>
              <a:sym typeface="Arial"/>
            </a:endParaRPr>
          </a:p>
        </p:txBody>
      </p:sp>
      <p:sp>
        <p:nvSpPr>
          <p:cNvPr id="20" name="Google Shape;1645;p96">
            <a:extLst>
              <a:ext uri="{FF2B5EF4-FFF2-40B4-BE49-F238E27FC236}">
                <a16:creationId xmlns:a16="http://schemas.microsoft.com/office/drawing/2014/main" id="{C08354D2-BA33-71A1-DB2B-87912A95D708}"/>
              </a:ext>
            </a:extLst>
          </p:cNvPr>
          <p:cNvSpPr txBox="1"/>
          <p:nvPr/>
        </p:nvSpPr>
        <p:spPr>
          <a:xfrm>
            <a:off x="910328" y="4025123"/>
            <a:ext cx="1895400" cy="350100"/>
          </a:xfrm>
          <a:prstGeom prst="rect">
            <a:avLst/>
          </a:prstGeom>
          <a:noFill/>
          <a:ln>
            <a:noFill/>
          </a:ln>
        </p:spPr>
        <p:txBody>
          <a:bodyPr spcFirstLastPara="1" wrap="square" lIns="77300" tIns="77300" rIns="77300" bIns="773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 sz="1200" b="0" i="0" u="none" strike="noStrike" kern="1200" cap="none" spc="0" normalizeH="0" baseline="0" noProof="0">
                <a:ln>
                  <a:noFill/>
                </a:ln>
                <a:effectLst/>
                <a:uLnTx/>
                <a:uFillTx/>
                <a:latin typeface="+mj-lt"/>
                <a:ea typeface="Red Hat Display"/>
                <a:cs typeface="Red Hat Display"/>
                <a:sym typeface="Red Hat Display"/>
              </a:rPr>
              <a:t>Analysis</a:t>
            </a:r>
            <a:endParaRPr kumimoji="0" sz="1200" b="0" i="0" u="none" strike="noStrike" kern="1200" cap="none" spc="0" normalizeH="0" baseline="0" noProof="0">
              <a:ln>
                <a:noFill/>
              </a:ln>
              <a:effectLst/>
              <a:uLnTx/>
              <a:uFillTx/>
              <a:latin typeface="+mj-lt"/>
              <a:ea typeface="Red Hat Display"/>
              <a:cs typeface="Red Hat Display"/>
              <a:sym typeface="Red Hat Display"/>
            </a:endParaRPr>
          </a:p>
        </p:txBody>
      </p:sp>
      <p:sp>
        <p:nvSpPr>
          <p:cNvPr id="25" name="Google Shape;1614;p96">
            <a:extLst>
              <a:ext uri="{FF2B5EF4-FFF2-40B4-BE49-F238E27FC236}">
                <a16:creationId xmlns:a16="http://schemas.microsoft.com/office/drawing/2014/main" id="{FE2B7065-4FC0-76CF-108F-D362549A9E2B}"/>
              </a:ext>
            </a:extLst>
          </p:cNvPr>
          <p:cNvSpPr/>
          <p:nvPr/>
        </p:nvSpPr>
        <p:spPr>
          <a:xfrm>
            <a:off x="9740466" y="4033215"/>
            <a:ext cx="1332694" cy="333916"/>
          </a:xfrm>
          <a:prstGeom prst="rect">
            <a:avLst/>
          </a:prstGeom>
          <a:solidFill>
            <a:schemeClr val="bg1"/>
          </a:solidFill>
          <a:ln w="9525" cap="flat" cmpd="sng">
            <a:solidFill>
              <a:schemeClr val="tx1"/>
            </a:solidFill>
            <a:prstDash val="solid"/>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Tx/>
              <a:buNone/>
              <a:tabLst/>
              <a:defRPr/>
            </a:pPr>
            <a:r>
              <a:rPr kumimoji="0" lang="en" sz="900" b="0" i="0" u="none" strike="noStrike" kern="1200" cap="none" spc="0" normalizeH="0" baseline="0" noProof="0">
                <a:ln>
                  <a:noFill/>
                </a:ln>
                <a:effectLst/>
                <a:uLnTx/>
                <a:uFillTx/>
                <a:latin typeface="+mj-lt"/>
                <a:ea typeface="+mn-ea"/>
                <a:cs typeface="+mn-cs"/>
                <a:sym typeface="Red Hat Display"/>
              </a:rPr>
              <a:t>Winning Experience Maintained on Site</a:t>
            </a:r>
            <a:endParaRPr kumimoji="0" sz="900" b="0" i="0" u="none" strike="noStrike" kern="1200" cap="none" spc="0" normalizeH="0" baseline="0" noProof="0">
              <a:ln>
                <a:noFill/>
              </a:ln>
              <a:effectLst/>
              <a:uLnTx/>
              <a:uFillTx/>
              <a:latin typeface="+mj-lt"/>
              <a:ea typeface="+mn-ea"/>
              <a:cs typeface="+mn-cs"/>
              <a:sym typeface="Red Hat Display"/>
            </a:endParaRPr>
          </a:p>
        </p:txBody>
      </p:sp>
      <p:cxnSp>
        <p:nvCxnSpPr>
          <p:cNvPr id="26" name="Google Shape;1663;p96">
            <a:extLst>
              <a:ext uri="{FF2B5EF4-FFF2-40B4-BE49-F238E27FC236}">
                <a16:creationId xmlns:a16="http://schemas.microsoft.com/office/drawing/2014/main" id="{AEB35CCA-F91F-D543-CD21-DE56852A60E1}"/>
              </a:ext>
            </a:extLst>
          </p:cNvPr>
          <p:cNvCxnSpPr>
            <a:cxnSpLocks/>
            <a:stCxn id="27" idx="3"/>
            <a:endCxn id="25" idx="1"/>
          </p:cNvCxnSpPr>
          <p:nvPr/>
        </p:nvCxnSpPr>
        <p:spPr>
          <a:xfrm>
            <a:off x="4970923" y="4200173"/>
            <a:ext cx="4769543" cy="0"/>
          </a:xfrm>
          <a:prstGeom prst="straightConnector1">
            <a:avLst/>
          </a:prstGeom>
          <a:noFill/>
          <a:ln w="28575" cap="flat" cmpd="sng">
            <a:solidFill>
              <a:srgbClr val="FFFFFF"/>
            </a:solidFill>
            <a:prstDash val="solid"/>
            <a:round/>
            <a:headEnd type="none" w="sm" len="sm"/>
            <a:tailEnd type="triangle" w="med" len="med"/>
          </a:ln>
        </p:spPr>
      </p:cxnSp>
      <p:sp>
        <p:nvSpPr>
          <p:cNvPr id="27" name="Google Shape;1662;p96">
            <a:extLst>
              <a:ext uri="{FF2B5EF4-FFF2-40B4-BE49-F238E27FC236}">
                <a16:creationId xmlns:a16="http://schemas.microsoft.com/office/drawing/2014/main" id="{DE81F902-2AA0-6103-F24A-CB70ADD0519C}"/>
              </a:ext>
            </a:extLst>
          </p:cNvPr>
          <p:cNvSpPr/>
          <p:nvPr/>
        </p:nvSpPr>
        <p:spPr>
          <a:xfrm>
            <a:off x="2674747" y="4033205"/>
            <a:ext cx="2296176" cy="333936"/>
          </a:xfrm>
          <a:prstGeom prst="flowChartDocument">
            <a:avLst/>
          </a:prstGeom>
          <a:solidFill>
            <a:srgbClr val="FFFFFF"/>
          </a:solidFill>
          <a:ln w="9525" cap="flat" cmpd="sng">
            <a:solidFill>
              <a:schemeClr val="tx1"/>
            </a:solidFill>
            <a:prstDash val="solid"/>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a:ln>
                  <a:noFill/>
                </a:ln>
                <a:solidFill>
                  <a:srgbClr val="0070C0"/>
                </a:solidFill>
                <a:effectLst/>
                <a:uLnTx/>
                <a:uFillTx/>
                <a:latin typeface="+mj-lt"/>
                <a:ea typeface="Red Hat Display"/>
                <a:cs typeface="Red Hat Display"/>
                <a:sym typeface="Red Hat Display"/>
                <a:hlinkClick r:id="rId4">
                  <a:extLst>
                    <a:ext uri="{A12FA001-AC4F-418D-AE19-62706E023703}">
                      <ahyp:hlinkClr xmlns:ahyp="http://schemas.microsoft.com/office/drawing/2018/hyperlinkcolor" val="tx"/>
                    </a:ext>
                  </a:extLst>
                </a:hlinkClick>
              </a:rPr>
              <a:t>Test Results With Impact Asssessment Delivered</a:t>
            </a:r>
            <a:endParaRPr kumimoji="0" sz="900" b="0" i="0" u="none" strike="noStrike" kern="1200" cap="none" spc="0" normalizeH="0" baseline="0" noProof="0">
              <a:ln>
                <a:noFill/>
              </a:ln>
              <a:solidFill>
                <a:srgbClr val="0070C0"/>
              </a:solidFill>
              <a:effectLst/>
              <a:uLnTx/>
              <a:uFillTx/>
              <a:latin typeface="+mj-lt"/>
              <a:ea typeface="Red Hat Display"/>
              <a:cs typeface="Red Hat Display"/>
              <a:sym typeface="Red Hat Display"/>
            </a:endParaRPr>
          </a:p>
        </p:txBody>
      </p:sp>
      <p:sp>
        <p:nvSpPr>
          <p:cNvPr id="28" name="Google Shape;1608;p96">
            <a:extLst>
              <a:ext uri="{FF2B5EF4-FFF2-40B4-BE49-F238E27FC236}">
                <a16:creationId xmlns:a16="http://schemas.microsoft.com/office/drawing/2014/main" id="{7C8CA61E-AB39-91E3-5E70-034385D4197E}"/>
              </a:ext>
            </a:extLst>
          </p:cNvPr>
          <p:cNvSpPr/>
          <p:nvPr/>
        </p:nvSpPr>
        <p:spPr>
          <a:xfrm>
            <a:off x="855012" y="3323821"/>
            <a:ext cx="10396500" cy="548640"/>
          </a:xfrm>
          <a:prstGeom prst="roundRect">
            <a:avLst>
              <a:gd name="adj" fmla="val 16667"/>
            </a:avLst>
          </a:prstGeom>
          <a:solidFill>
            <a:schemeClr val="accent2">
              <a:lumMod val="20000"/>
              <a:lumOff val="80000"/>
            </a:schemeClr>
          </a:solidFill>
          <a:ln>
            <a:noFill/>
          </a:ln>
        </p:spPr>
        <p:txBody>
          <a:bodyPr spcFirstLastPara="1" wrap="square" lIns="77300" tIns="77300" rIns="77300" bIns="773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sng" strike="noStrike" kern="1200" cap="none" spc="0" normalizeH="0" baseline="0" noProof="0">
              <a:ln>
                <a:noFill/>
              </a:ln>
              <a:solidFill>
                <a:srgbClr val="002477"/>
              </a:solidFill>
              <a:effectLst/>
              <a:uLnTx/>
              <a:uFillTx/>
              <a:latin typeface="+mj-lt"/>
              <a:ea typeface="Arial"/>
              <a:cs typeface="Arial"/>
              <a:sym typeface="Arial"/>
            </a:endParaRPr>
          </a:p>
        </p:txBody>
      </p:sp>
      <p:sp>
        <p:nvSpPr>
          <p:cNvPr id="29" name="Google Shape;1617;p96">
            <a:extLst>
              <a:ext uri="{FF2B5EF4-FFF2-40B4-BE49-F238E27FC236}">
                <a16:creationId xmlns:a16="http://schemas.microsoft.com/office/drawing/2014/main" id="{16E46627-0C2B-DC8E-1925-C63FAF44F634}"/>
              </a:ext>
            </a:extLst>
          </p:cNvPr>
          <p:cNvSpPr/>
          <p:nvPr/>
        </p:nvSpPr>
        <p:spPr>
          <a:xfrm>
            <a:off x="5102713" y="3431041"/>
            <a:ext cx="1065062" cy="334200"/>
          </a:xfrm>
          <a:prstGeom prst="rect">
            <a:avLst/>
          </a:prstGeom>
          <a:solidFill>
            <a:srgbClr val="FFFFFF"/>
          </a:solidFill>
          <a:ln w="9525" cap="flat" cmpd="sng">
            <a:solidFill>
              <a:schemeClr val="tx1"/>
            </a:solidFill>
            <a:prstDash val="solid"/>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US" sz="900" b="0" i="0" u="none" strike="noStrike" kern="1200" cap="none" spc="0" normalizeH="0" baseline="0" noProof="0">
                <a:ln>
                  <a:noFill/>
                </a:ln>
                <a:effectLst/>
                <a:uLnTx/>
                <a:uFillTx/>
                <a:latin typeface="+mj-lt"/>
                <a:ea typeface="Red Hat Display"/>
                <a:cs typeface="Red Hat Display"/>
                <a:sym typeface="Red Hat Display"/>
              </a:rPr>
              <a:t>Monitor Guardrail Metrics</a:t>
            </a:r>
          </a:p>
        </p:txBody>
      </p:sp>
      <p:cxnSp>
        <p:nvCxnSpPr>
          <p:cNvPr id="30" name="Google Shape;1639;p96">
            <a:extLst>
              <a:ext uri="{FF2B5EF4-FFF2-40B4-BE49-F238E27FC236}">
                <a16:creationId xmlns:a16="http://schemas.microsoft.com/office/drawing/2014/main" id="{AEA8E228-D958-BAF9-07EB-0ABF0C53766D}"/>
              </a:ext>
            </a:extLst>
          </p:cNvPr>
          <p:cNvCxnSpPr>
            <a:cxnSpLocks/>
            <a:stCxn id="29" idx="3"/>
            <a:endCxn id="32" idx="1"/>
          </p:cNvCxnSpPr>
          <p:nvPr/>
        </p:nvCxnSpPr>
        <p:spPr>
          <a:xfrm>
            <a:off x="6167775" y="3598141"/>
            <a:ext cx="1502126" cy="0"/>
          </a:xfrm>
          <a:prstGeom prst="straightConnector1">
            <a:avLst/>
          </a:prstGeom>
          <a:noFill/>
          <a:ln w="28575" cap="flat" cmpd="sng">
            <a:solidFill>
              <a:schemeClr val="tx1"/>
            </a:solidFill>
            <a:prstDash val="solid"/>
            <a:round/>
            <a:headEnd type="none" w="sm" len="sm"/>
            <a:tailEnd type="triangle" w="med" len="med"/>
          </a:ln>
        </p:spPr>
      </p:cxnSp>
      <p:sp>
        <p:nvSpPr>
          <p:cNvPr id="31" name="Google Shape;1644;p96">
            <a:extLst>
              <a:ext uri="{FF2B5EF4-FFF2-40B4-BE49-F238E27FC236}">
                <a16:creationId xmlns:a16="http://schemas.microsoft.com/office/drawing/2014/main" id="{1754F9C1-C622-DDEC-5D48-2F5CB41D852F}"/>
              </a:ext>
            </a:extLst>
          </p:cNvPr>
          <p:cNvSpPr txBox="1"/>
          <p:nvPr/>
        </p:nvSpPr>
        <p:spPr>
          <a:xfrm>
            <a:off x="910328" y="3423091"/>
            <a:ext cx="1895400" cy="350100"/>
          </a:xfrm>
          <a:prstGeom prst="rect">
            <a:avLst/>
          </a:prstGeom>
          <a:noFill/>
          <a:ln>
            <a:noFill/>
          </a:ln>
        </p:spPr>
        <p:txBody>
          <a:bodyPr spcFirstLastPara="1" wrap="square" lIns="77300" tIns="77300" rIns="77300" bIns="773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 sz="1200" b="0" i="0" u="none" strike="noStrike" kern="1200" cap="none" spc="0" normalizeH="0" baseline="0" noProof="0">
                <a:ln>
                  <a:noFill/>
                </a:ln>
                <a:effectLst/>
                <a:uLnTx/>
                <a:uFillTx/>
                <a:latin typeface="+mj-lt"/>
                <a:ea typeface="Red Hat Display"/>
                <a:cs typeface="Red Hat Display"/>
                <a:sym typeface="Red Hat Display"/>
              </a:rPr>
              <a:t>Launch</a:t>
            </a:r>
            <a:endParaRPr kumimoji="0" sz="1200" b="0" i="0" u="none" strike="noStrike" kern="1200" cap="none" spc="0" normalizeH="0" baseline="0" noProof="0">
              <a:ln>
                <a:noFill/>
              </a:ln>
              <a:effectLst/>
              <a:uLnTx/>
              <a:uFillTx/>
              <a:latin typeface="+mj-lt"/>
              <a:ea typeface="Red Hat Display"/>
              <a:cs typeface="Red Hat Display"/>
              <a:sym typeface="Red Hat Display"/>
            </a:endParaRPr>
          </a:p>
        </p:txBody>
      </p:sp>
      <p:sp>
        <p:nvSpPr>
          <p:cNvPr id="32" name="Google Shape;1640;p96">
            <a:extLst>
              <a:ext uri="{FF2B5EF4-FFF2-40B4-BE49-F238E27FC236}">
                <a16:creationId xmlns:a16="http://schemas.microsoft.com/office/drawing/2014/main" id="{52D891E9-BF52-BE0B-9C1D-B3761723B2D4}"/>
              </a:ext>
            </a:extLst>
          </p:cNvPr>
          <p:cNvSpPr/>
          <p:nvPr/>
        </p:nvSpPr>
        <p:spPr>
          <a:xfrm>
            <a:off x="7669901" y="3431183"/>
            <a:ext cx="863342" cy="333916"/>
          </a:xfrm>
          <a:prstGeom prst="flowChartProcess">
            <a:avLst/>
          </a:prstGeom>
          <a:solidFill>
            <a:srgbClr val="FFFFFF"/>
          </a:solidFill>
          <a:ln w="9525" cap="flat" cmpd="sng">
            <a:solidFill>
              <a:schemeClr val="tx1"/>
            </a:solidFill>
            <a:prstDash val="solid"/>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a:ln>
                  <a:noFill/>
                </a:ln>
                <a:effectLst/>
                <a:uLnTx/>
                <a:uFillTx/>
                <a:latin typeface="+mj-lt"/>
                <a:ea typeface="Red Hat Display"/>
                <a:cs typeface="Red Hat Display"/>
                <a:sym typeface="Red Hat Display"/>
              </a:rPr>
              <a:t>Run Test</a:t>
            </a:r>
            <a:endParaRPr kumimoji="0" sz="900" b="0" i="0" u="none" strike="noStrike" kern="1200" cap="none" spc="0" normalizeH="0" baseline="0" noProof="0">
              <a:ln>
                <a:noFill/>
              </a:ln>
              <a:effectLst/>
              <a:uLnTx/>
              <a:uFillTx/>
              <a:latin typeface="+mj-lt"/>
              <a:ea typeface="Red Hat Display"/>
              <a:cs typeface="Red Hat Display"/>
              <a:sym typeface="Red Hat Display"/>
            </a:endParaRPr>
          </a:p>
        </p:txBody>
      </p:sp>
      <p:sp>
        <p:nvSpPr>
          <p:cNvPr id="33" name="Google Shape;1652;p96">
            <a:extLst>
              <a:ext uri="{FF2B5EF4-FFF2-40B4-BE49-F238E27FC236}">
                <a16:creationId xmlns:a16="http://schemas.microsoft.com/office/drawing/2014/main" id="{78C1D7B3-6FA4-CBA8-5FA9-246C7AC9C062}"/>
              </a:ext>
            </a:extLst>
          </p:cNvPr>
          <p:cNvSpPr/>
          <p:nvPr/>
        </p:nvSpPr>
        <p:spPr>
          <a:xfrm>
            <a:off x="9947438" y="3431183"/>
            <a:ext cx="1115020" cy="333916"/>
          </a:xfrm>
          <a:prstGeom prst="flowChartPredefinedProcess">
            <a:avLst/>
          </a:prstGeom>
          <a:solidFill>
            <a:srgbClr val="FFFFFF"/>
          </a:solidFill>
          <a:ln w="9525" cap="flat" cmpd="sng">
            <a:solidFill>
              <a:schemeClr val="tx1"/>
            </a:solidFill>
            <a:prstDash val="solid"/>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a:ln>
                  <a:noFill/>
                </a:ln>
                <a:effectLst/>
                <a:uLnTx/>
                <a:uFillTx/>
                <a:latin typeface="+mj-lt"/>
                <a:ea typeface="Red Hat Display"/>
                <a:cs typeface="Red Hat Display"/>
                <a:sym typeface="Red Hat Display"/>
              </a:rPr>
              <a:t>End Test</a:t>
            </a:r>
            <a:endParaRPr kumimoji="0" sz="900" b="0" i="0" u="none" strike="noStrike" kern="1200" cap="none" spc="0" normalizeH="0" baseline="0" noProof="0">
              <a:ln>
                <a:noFill/>
              </a:ln>
              <a:effectLst/>
              <a:uLnTx/>
              <a:uFillTx/>
              <a:latin typeface="+mj-lt"/>
              <a:ea typeface="Red Hat Display"/>
              <a:cs typeface="Red Hat Display"/>
              <a:sym typeface="Red Hat Display"/>
            </a:endParaRPr>
          </a:p>
        </p:txBody>
      </p:sp>
      <p:cxnSp>
        <p:nvCxnSpPr>
          <p:cNvPr id="34" name="Google Shape;1653;p96">
            <a:extLst>
              <a:ext uri="{FF2B5EF4-FFF2-40B4-BE49-F238E27FC236}">
                <a16:creationId xmlns:a16="http://schemas.microsoft.com/office/drawing/2014/main" id="{A0B144E9-A032-96BD-E021-6867B3473D6C}"/>
              </a:ext>
            </a:extLst>
          </p:cNvPr>
          <p:cNvCxnSpPr>
            <a:cxnSpLocks/>
            <a:stCxn id="32" idx="3"/>
            <a:endCxn id="33" idx="1"/>
          </p:cNvCxnSpPr>
          <p:nvPr/>
        </p:nvCxnSpPr>
        <p:spPr>
          <a:xfrm>
            <a:off x="8533243" y="3598141"/>
            <a:ext cx="1414195" cy="0"/>
          </a:xfrm>
          <a:prstGeom prst="straightConnector1">
            <a:avLst/>
          </a:prstGeom>
          <a:noFill/>
          <a:ln w="28575" cap="flat" cmpd="sng">
            <a:solidFill>
              <a:schemeClr val="tx1"/>
            </a:solidFill>
            <a:prstDash val="solid"/>
            <a:round/>
            <a:headEnd type="none" w="sm" len="sm"/>
            <a:tailEnd type="triangle" w="med" len="med"/>
          </a:ln>
        </p:spPr>
      </p:cxnSp>
      <p:sp>
        <p:nvSpPr>
          <p:cNvPr id="35" name="Google Shape;1640;p96">
            <a:extLst>
              <a:ext uri="{FF2B5EF4-FFF2-40B4-BE49-F238E27FC236}">
                <a16:creationId xmlns:a16="http://schemas.microsoft.com/office/drawing/2014/main" id="{1D8F5E51-06E7-8665-CF1A-F6917CC1B484}"/>
              </a:ext>
            </a:extLst>
          </p:cNvPr>
          <p:cNvSpPr/>
          <p:nvPr/>
        </p:nvSpPr>
        <p:spPr>
          <a:xfrm>
            <a:off x="2691627" y="3431183"/>
            <a:ext cx="945565" cy="333916"/>
          </a:xfrm>
          <a:prstGeom prst="flowChartProcess">
            <a:avLst/>
          </a:prstGeom>
          <a:solidFill>
            <a:srgbClr val="FFFFFF"/>
          </a:solidFill>
          <a:ln w="9525" cap="flat" cmpd="sng">
            <a:solidFill>
              <a:schemeClr val="tx1"/>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500"/>
              <a:buFont typeface="Arial"/>
              <a:buNone/>
            </a:pPr>
            <a:r>
              <a:rPr lang="en" sz="900" b="0" i="0" u="none" strike="noStrike" cap="none">
                <a:latin typeface="+mj-lt"/>
                <a:ea typeface="Red Hat Display"/>
                <a:cs typeface="Red Hat Display"/>
                <a:sym typeface="Red Hat Display"/>
              </a:rPr>
              <a:t>Launch Test</a:t>
            </a:r>
            <a:endParaRPr sz="900" b="0" i="0" u="none" strike="noStrike" cap="none">
              <a:latin typeface="+mj-lt"/>
              <a:ea typeface="Red Hat Display"/>
              <a:cs typeface="Red Hat Display"/>
              <a:sym typeface="Red Hat Display"/>
            </a:endParaRPr>
          </a:p>
        </p:txBody>
      </p:sp>
      <p:cxnSp>
        <p:nvCxnSpPr>
          <p:cNvPr id="36" name="Google Shape;1639;p96">
            <a:extLst>
              <a:ext uri="{FF2B5EF4-FFF2-40B4-BE49-F238E27FC236}">
                <a16:creationId xmlns:a16="http://schemas.microsoft.com/office/drawing/2014/main" id="{98C32BF3-B5DD-CC9A-FC5A-16CFF7FE3181}"/>
              </a:ext>
            </a:extLst>
          </p:cNvPr>
          <p:cNvCxnSpPr>
            <a:cxnSpLocks/>
            <a:stCxn id="35" idx="3"/>
            <a:endCxn id="29" idx="1"/>
          </p:cNvCxnSpPr>
          <p:nvPr/>
        </p:nvCxnSpPr>
        <p:spPr>
          <a:xfrm>
            <a:off x="3637192" y="3598141"/>
            <a:ext cx="1465521" cy="0"/>
          </a:xfrm>
          <a:prstGeom prst="straightConnector1">
            <a:avLst/>
          </a:prstGeom>
          <a:noFill/>
          <a:ln w="28575" cap="flat" cmpd="sng">
            <a:solidFill>
              <a:schemeClr val="tx1"/>
            </a:solidFill>
            <a:prstDash val="solid"/>
            <a:round/>
            <a:headEnd type="none" w="sm" len="sm"/>
            <a:tailEnd type="triangle" w="med" len="med"/>
          </a:ln>
        </p:spPr>
      </p:cxnSp>
      <p:sp>
        <p:nvSpPr>
          <p:cNvPr id="37" name="Google Shape;1608;p96">
            <a:extLst>
              <a:ext uri="{FF2B5EF4-FFF2-40B4-BE49-F238E27FC236}">
                <a16:creationId xmlns:a16="http://schemas.microsoft.com/office/drawing/2014/main" id="{8A15DAD7-79CD-8EF1-D7A6-11639E511D1E}"/>
              </a:ext>
            </a:extLst>
          </p:cNvPr>
          <p:cNvSpPr/>
          <p:nvPr/>
        </p:nvSpPr>
        <p:spPr>
          <a:xfrm>
            <a:off x="855012" y="2688430"/>
            <a:ext cx="10396500" cy="548640"/>
          </a:xfrm>
          <a:prstGeom prst="roundRect">
            <a:avLst>
              <a:gd name="adj" fmla="val 16667"/>
            </a:avLst>
          </a:prstGeom>
          <a:solidFill>
            <a:schemeClr val="bg1">
              <a:lumMod val="65000"/>
            </a:schemeClr>
          </a:solidFill>
          <a:ln>
            <a:noFill/>
          </a:ln>
        </p:spPr>
        <p:txBody>
          <a:bodyPr spcFirstLastPara="1" wrap="square" lIns="77300" tIns="77300" rIns="77300" bIns="773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sng" strike="noStrike" kern="1200" cap="none" spc="0" normalizeH="0" baseline="0" noProof="0">
              <a:ln>
                <a:noFill/>
              </a:ln>
              <a:solidFill>
                <a:srgbClr val="002477"/>
              </a:solidFill>
              <a:effectLst/>
              <a:uLnTx/>
              <a:uFillTx/>
              <a:latin typeface="+mj-lt"/>
              <a:ea typeface="Arial"/>
              <a:cs typeface="Arial"/>
              <a:sym typeface="Arial"/>
            </a:endParaRPr>
          </a:p>
        </p:txBody>
      </p:sp>
      <p:sp>
        <p:nvSpPr>
          <p:cNvPr id="38" name="Google Shape;1643;p96">
            <a:extLst>
              <a:ext uri="{FF2B5EF4-FFF2-40B4-BE49-F238E27FC236}">
                <a16:creationId xmlns:a16="http://schemas.microsoft.com/office/drawing/2014/main" id="{84AB1C81-73FB-FC98-0EE9-67C5E6880AAC}"/>
              </a:ext>
            </a:extLst>
          </p:cNvPr>
          <p:cNvSpPr txBox="1"/>
          <p:nvPr/>
        </p:nvSpPr>
        <p:spPr>
          <a:xfrm>
            <a:off x="962260" y="2787700"/>
            <a:ext cx="1644300" cy="350100"/>
          </a:xfrm>
          <a:prstGeom prst="rect">
            <a:avLst/>
          </a:prstGeom>
          <a:noFill/>
          <a:ln>
            <a:noFill/>
          </a:ln>
        </p:spPr>
        <p:txBody>
          <a:bodyPr spcFirstLastPara="1" wrap="square" lIns="77300" tIns="77300" rIns="77300" bIns="773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 sz="1200" b="0" i="0" u="none" strike="noStrike" kern="1200" cap="none" spc="0" normalizeH="0" baseline="0" noProof="0">
                <a:ln>
                  <a:noFill/>
                </a:ln>
                <a:effectLst/>
                <a:uLnTx/>
                <a:uFillTx/>
                <a:latin typeface="+mj-lt"/>
                <a:ea typeface="Red Hat Display"/>
                <a:cs typeface="Red Hat Display"/>
                <a:sym typeface="Red Hat Display"/>
              </a:rPr>
              <a:t>Dev Fulfillment</a:t>
            </a:r>
            <a:endParaRPr kumimoji="0" sz="1200" b="0" i="0" u="none" strike="noStrike" kern="1200" cap="none" spc="0" normalizeH="0" baseline="0" noProof="0">
              <a:ln>
                <a:noFill/>
              </a:ln>
              <a:effectLst/>
              <a:uLnTx/>
              <a:uFillTx/>
              <a:latin typeface="+mj-lt"/>
              <a:ea typeface="Red Hat Display"/>
              <a:cs typeface="Red Hat Display"/>
              <a:sym typeface="Red Hat Display"/>
            </a:endParaRPr>
          </a:p>
        </p:txBody>
      </p:sp>
      <p:sp>
        <p:nvSpPr>
          <p:cNvPr id="39" name="Google Shape;1615;p96">
            <a:extLst>
              <a:ext uri="{FF2B5EF4-FFF2-40B4-BE49-F238E27FC236}">
                <a16:creationId xmlns:a16="http://schemas.microsoft.com/office/drawing/2014/main" id="{AC3CECE7-94F5-8ABA-04BB-FBC3B76C3D47}"/>
              </a:ext>
            </a:extLst>
          </p:cNvPr>
          <p:cNvSpPr/>
          <p:nvPr/>
        </p:nvSpPr>
        <p:spPr>
          <a:xfrm>
            <a:off x="4498859" y="2795796"/>
            <a:ext cx="1254292" cy="333909"/>
          </a:xfrm>
          <a:prstGeom prst="flowChartProcess">
            <a:avLst/>
          </a:prstGeom>
          <a:solidFill>
            <a:schemeClr val="bg1"/>
          </a:solidFill>
          <a:ln w="9525" cap="flat" cmpd="sng">
            <a:solidFill>
              <a:schemeClr val="tx1"/>
            </a:solidFill>
            <a:prstDash val="solid"/>
            <a:round/>
            <a:headEnd type="none" w="sm" len="sm"/>
            <a:tailEnd type="none" w="sm" len="sm"/>
          </a:ln>
        </p:spPr>
        <p:txBody>
          <a:bodyPr spcFirstLastPara="1" wrap="square" lIns="0" tIns="0" rIns="0" bIns="0" anchor="ctr" anchorCtr="0">
            <a:noAutofit/>
          </a:bodyPr>
          <a:lstStyle/>
          <a:p>
            <a:pPr algn="ctr">
              <a:buClr>
                <a:srgbClr val="000000"/>
              </a:buClr>
              <a:buSzPts val="500"/>
            </a:pPr>
            <a:r>
              <a:rPr lang="en" sz="900">
                <a:latin typeface="+mj-lt"/>
                <a:sym typeface="Red Hat Display"/>
              </a:rPr>
              <a:t>QA</a:t>
            </a:r>
            <a:endParaRPr sz="900">
              <a:latin typeface="+mj-lt"/>
              <a:sym typeface="Red Hat Display"/>
            </a:endParaRPr>
          </a:p>
        </p:txBody>
      </p:sp>
      <p:cxnSp>
        <p:nvCxnSpPr>
          <p:cNvPr id="40" name="Google Shape;1636;p96">
            <a:extLst>
              <a:ext uri="{FF2B5EF4-FFF2-40B4-BE49-F238E27FC236}">
                <a16:creationId xmlns:a16="http://schemas.microsoft.com/office/drawing/2014/main" id="{0914796D-BF8A-A8D8-85B6-15D4B2DC4410}"/>
              </a:ext>
            </a:extLst>
          </p:cNvPr>
          <p:cNvCxnSpPr>
            <a:cxnSpLocks/>
            <a:stCxn id="41" idx="3"/>
            <a:endCxn id="39" idx="1"/>
          </p:cNvCxnSpPr>
          <p:nvPr/>
        </p:nvCxnSpPr>
        <p:spPr>
          <a:xfrm>
            <a:off x="3907167" y="2962750"/>
            <a:ext cx="591692" cy="1"/>
          </a:xfrm>
          <a:prstGeom prst="straightConnector1">
            <a:avLst/>
          </a:prstGeom>
          <a:noFill/>
          <a:ln w="28575" cap="flat" cmpd="sng">
            <a:solidFill>
              <a:srgbClr val="FFFFFF"/>
            </a:solidFill>
            <a:prstDash val="solid"/>
            <a:round/>
            <a:headEnd type="none" w="sm" len="sm"/>
            <a:tailEnd type="triangle" w="med" len="med"/>
          </a:ln>
        </p:spPr>
      </p:cxnSp>
      <p:sp>
        <p:nvSpPr>
          <p:cNvPr id="41" name="Google Shape;1634;p96">
            <a:extLst>
              <a:ext uri="{FF2B5EF4-FFF2-40B4-BE49-F238E27FC236}">
                <a16:creationId xmlns:a16="http://schemas.microsoft.com/office/drawing/2014/main" id="{2D121C86-D8B2-8F86-DC88-A628D7A861BE}"/>
              </a:ext>
            </a:extLst>
          </p:cNvPr>
          <p:cNvSpPr/>
          <p:nvPr/>
        </p:nvSpPr>
        <p:spPr>
          <a:xfrm>
            <a:off x="2746689" y="2795792"/>
            <a:ext cx="1160478" cy="333916"/>
          </a:xfrm>
          <a:prstGeom prst="flowChartProcess">
            <a:avLst/>
          </a:prstGeom>
          <a:solidFill>
            <a:schemeClr val="bg1"/>
          </a:solidFill>
          <a:ln w="9525" cap="flat" cmpd="sng">
            <a:solidFill>
              <a:schemeClr val="tx1"/>
            </a:solidFill>
            <a:prstDash val="solid"/>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a:ln>
                  <a:noFill/>
                </a:ln>
                <a:effectLst/>
                <a:uLnTx/>
                <a:uFillTx/>
                <a:latin typeface="+mj-lt"/>
                <a:ea typeface="Red Hat Display"/>
                <a:cs typeface="Red Hat Display"/>
                <a:sym typeface="Red Hat Display"/>
              </a:rPr>
              <a:t>Test Builds</a:t>
            </a:r>
            <a:endParaRPr kumimoji="0" sz="900" b="0" i="0" u="none" strike="noStrike" kern="1200" cap="none" spc="0" normalizeH="0" baseline="0" noProof="0">
              <a:ln>
                <a:noFill/>
              </a:ln>
              <a:effectLst/>
              <a:uLnTx/>
              <a:uFillTx/>
              <a:latin typeface="+mj-lt"/>
              <a:ea typeface="Red Hat Display"/>
              <a:cs typeface="Red Hat Display"/>
              <a:sym typeface="Red Hat Display"/>
            </a:endParaRPr>
          </a:p>
        </p:txBody>
      </p:sp>
      <p:sp>
        <p:nvSpPr>
          <p:cNvPr id="42" name="Google Shape;1620;p96">
            <a:extLst>
              <a:ext uri="{FF2B5EF4-FFF2-40B4-BE49-F238E27FC236}">
                <a16:creationId xmlns:a16="http://schemas.microsoft.com/office/drawing/2014/main" id="{A40AD7F7-7E0D-6FFD-6340-652139337EA5}"/>
              </a:ext>
            </a:extLst>
          </p:cNvPr>
          <p:cNvSpPr/>
          <p:nvPr/>
        </p:nvSpPr>
        <p:spPr>
          <a:xfrm>
            <a:off x="6342051" y="2793943"/>
            <a:ext cx="878732" cy="333936"/>
          </a:xfrm>
          <a:prstGeom prst="flowChartDocument">
            <a:avLst/>
          </a:prstGeom>
          <a:solidFill>
            <a:schemeClr val="bg1"/>
          </a:solidFill>
          <a:ln w="9525" cap="flat" cmpd="sng">
            <a:solidFill>
              <a:schemeClr val="tx1"/>
            </a:solidFill>
            <a:prstDash val="solid"/>
            <a:round/>
            <a:headEnd type="none" w="sm" len="sm"/>
            <a:tailEnd type="none" w="sm" len="sm"/>
          </a:ln>
        </p:spPr>
        <p:txBody>
          <a:bodyPr spcFirstLastPara="1" wrap="square" lIns="0" tIns="0" rIns="0" bIns="0" anchor="ctr" anchorCtr="0">
            <a:noAutofit/>
          </a:bodyPr>
          <a:lstStyle/>
          <a:p>
            <a:pPr algn="ctr">
              <a:buClr>
                <a:srgbClr val="000000"/>
              </a:buClr>
              <a:buSzPts val="500"/>
            </a:pPr>
            <a:r>
              <a:rPr lang="en" sz="900" dirty="0">
                <a:latin typeface="+mj-lt"/>
                <a:sym typeface="Red Hat Display"/>
              </a:rPr>
              <a:t>QA Links</a:t>
            </a:r>
          </a:p>
          <a:p>
            <a:pPr algn="ctr">
              <a:buClr>
                <a:srgbClr val="000000"/>
              </a:buClr>
              <a:buSzPts val="500"/>
            </a:pPr>
            <a:r>
              <a:rPr lang="en" sz="900" dirty="0">
                <a:latin typeface="+mj-lt"/>
                <a:sym typeface="Red Hat Display"/>
              </a:rPr>
              <a:t>Delivered</a:t>
            </a:r>
            <a:endParaRPr sz="900" dirty="0">
              <a:latin typeface="+mj-lt"/>
              <a:sym typeface="Red Hat Display"/>
            </a:endParaRPr>
          </a:p>
        </p:txBody>
      </p:sp>
      <p:cxnSp>
        <p:nvCxnSpPr>
          <p:cNvPr id="43" name="Google Shape;1621;p96">
            <a:extLst>
              <a:ext uri="{FF2B5EF4-FFF2-40B4-BE49-F238E27FC236}">
                <a16:creationId xmlns:a16="http://schemas.microsoft.com/office/drawing/2014/main" id="{59621E60-A1C3-0AA2-ADAA-C2DE486B4F59}"/>
              </a:ext>
            </a:extLst>
          </p:cNvPr>
          <p:cNvCxnSpPr>
            <a:cxnSpLocks/>
            <a:stCxn id="39" idx="3"/>
            <a:endCxn id="42" idx="1"/>
          </p:cNvCxnSpPr>
          <p:nvPr/>
        </p:nvCxnSpPr>
        <p:spPr>
          <a:xfrm flipV="1">
            <a:off x="5753151" y="2960911"/>
            <a:ext cx="588900" cy="1840"/>
          </a:xfrm>
          <a:prstGeom prst="straightConnector1">
            <a:avLst/>
          </a:prstGeom>
          <a:noFill/>
          <a:ln w="28575" cap="flat" cmpd="sng">
            <a:solidFill>
              <a:srgbClr val="FFFFFF"/>
            </a:solidFill>
            <a:prstDash val="solid"/>
            <a:round/>
            <a:headEnd type="none" w="sm" len="sm"/>
            <a:tailEnd type="triangle" w="med" len="med"/>
          </a:ln>
        </p:spPr>
      </p:cxnSp>
      <p:sp>
        <p:nvSpPr>
          <p:cNvPr id="44" name="Google Shape;1607;p96">
            <a:extLst>
              <a:ext uri="{FF2B5EF4-FFF2-40B4-BE49-F238E27FC236}">
                <a16:creationId xmlns:a16="http://schemas.microsoft.com/office/drawing/2014/main" id="{93BC8639-7914-2620-C37F-41B1E02F6173}"/>
              </a:ext>
            </a:extLst>
          </p:cNvPr>
          <p:cNvSpPr/>
          <p:nvPr/>
        </p:nvSpPr>
        <p:spPr>
          <a:xfrm>
            <a:off x="839734" y="4497155"/>
            <a:ext cx="10468044" cy="548640"/>
          </a:xfrm>
          <a:prstGeom prst="roundRect">
            <a:avLst>
              <a:gd name="adj" fmla="val 16667"/>
            </a:avLst>
          </a:prstGeom>
          <a:solidFill>
            <a:schemeClr val="accent2">
              <a:lumMod val="20000"/>
              <a:lumOff val="80000"/>
            </a:schemeClr>
          </a:solidFill>
          <a:ln>
            <a:noFill/>
          </a:ln>
        </p:spPr>
        <p:txBody>
          <a:bodyPr spcFirstLastPara="1" wrap="square" lIns="77300" tIns="77300" rIns="77300" bIns="773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sng" strike="noStrike" kern="1200" cap="none" spc="0" normalizeH="0" baseline="0" noProof="0">
              <a:ln>
                <a:noFill/>
              </a:ln>
              <a:solidFill>
                <a:srgbClr val="002477"/>
              </a:solidFill>
              <a:effectLst/>
              <a:uLnTx/>
              <a:uFillTx/>
              <a:latin typeface="+mj-lt"/>
              <a:ea typeface="Arial"/>
              <a:cs typeface="Arial"/>
              <a:sym typeface="Arial"/>
            </a:endParaRPr>
          </a:p>
        </p:txBody>
      </p:sp>
      <p:sp>
        <p:nvSpPr>
          <p:cNvPr id="45" name="Google Shape;1645;p96">
            <a:extLst>
              <a:ext uri="{FF2B5EF4-FFF2-40B4-BE49-F238E27FC236}">
                <a16:creationId xmlns:a16="http://schemas.microsoft.com/office/drawing/2014/main" id="{D25AD7D4-E514-4CE8-52E5-C3433B4EB379}"/>
              </a:ext>
            </a:extLst>
          </p:cNvPr>
          <p:cNvSpPr txBox="1"/>
          <p:nvPr/>
        </p:nvSpPr>
        <p:spPr>
          <a:xfrm>
            <a:off x="884854" y="4584953"/>
            <a:ext cx="1903774" cy="309638"/>
          </a:xfrm>
          <a:prstGeom prst="rect">
            <a:avLst/>
          </a:prstGeom>
          <a:noFill/>
          <a:ln>
            <a:noFill/>
          </a:ln>
        </p:spPr>
        <p:txBody>
          <a:bodyPr spcFirstLastPara="1" wrap="square" lIns="77300" tIns="77300" rIns="77300" bIns="773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 sz="1200" b="0" i="0" strike="noStrike" kern="1200" cap="none" spc="0" normalizeH="0" baseline="0" noProof="0">
                <a:ln>
                  <a:noFill/>
                </a:ln>
                <a:effectLst/>
                <a:uLnTx/>
                <a:uFillTx/>
                <a:latin typeface="+mj-lt"/>
                <a:ea typeface="Red Hat Display"/>
                <a:cs typeface="Red Hat Display"/>
                <a:sym typeface="Red Hat Display"/>
              </a:rPr>
              <a:t>Prod Coordination</a:t>
            </a:r>
            <a:endParaRPr kumimoji="0" sz="1200" b="0" i="0" strike="noStrike" kern="1200" cap="none" spc="0" normalizeH="0" baseline="0" noProof="0">
              <a:ln>
                <a:noFill/>
              </a:ln>
              <a:effectLst/>
              <a:uLnTx/>
              <a:uFillTx/>
              <a:latin typeface="+mj-lt"/>
              <a:ea typeface="Red Hat Display"/>
              <a:cs typeface="Red Hat Display"/>
              <a:sym typeface="Red Hat Display"/>
            </a:endParaRPr>
          </a:p>
        </p:txBody>
      </p:sp>
      <p:sp>
        <p:nvSpPr>
          <p:cNvPr id="46" name="Google Shape;1640;p96">
            <a:extLst>
              <a:ext uri="{FF2B5EF4-FFF2-40B4-BE49-F238E27FC236}">
                <a16:creationId xmlns:a16="http://schemas.microsoft.com/office/drawing/2014/main" id="{7D44630B-3FD3-0D6B-DC9C-0AF6E5E68E5E}"/>
              </a:ext>
            </a:extLst>
          </p:cNvPr>
          <p:cNvSpPr/>
          <p:nvPr/>
        </p:nvSpPr>
        <p:spPr>
          <a:xfrm>
            <a:off x="7457016" y="4592109"/>
            <a:ext cx="1415203" cy="338328"/>
          </a:xfrm>
          <a:prstGeom prst="flowChartProcess">
            <a:avLst/>
          </a:prstGeom>
          <a:solidFill>
            <a:schemeClr val="accent1"/>
          </a:solidFill>
          <a:ln w="9525" cap="flat" cmpd="sng">
            <a:solidFill>
              <a:schemeClr val="tx1"/>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500"/>
              <a:buFont typeface="Arial"/>
              <a:buNone/>
            </a:pPr>
            <a:r>
              <a:rPr lang="en" sz="900" b="0" i="0" u="none" strike="noStrike" cap="none">
                <a:latin typeface="+mj-lt"/>
                <a:ea typeface="Red Hat Display"/>
                <a:cs typeface="Red Hat Display"/>
                <a:sym typeface="Red Hat Display"/>
              </a:rPr>
              <a:t>Prod team alerts w</a:t>
            </a:r>
            <a:r>
              <a:rPr lang="en-US" sz="900" b="0" i="0" u="none" strike="noStrike" cap="none">
                <a:latin typeface="+mj-lt"/>
                <a:ea typeface="Red Hat Display"/>
                <a:cs typeface="Red Hat Display"/>
                <a:sym typeface="Red Hat Display"/>
              </a:rPr>
              <a:t>he</a:t>
            </a:r>
            <a:r>
              <a:rPr lang="en" sz="900">
                <a:latin typeface="+mj-lt"/>
                <a:ea typeface="Red Hat Display"/>
                <a:cs typeface="Red Hat Display"/>
                <a:sym typeface="Red Hat Display"/>
              </a:rPr>
              <a:t>n request work ends</a:t>
            </a:r>
            <a:endParaRPr sz="900" b="0" i="0" u="none" strike="noStrike" cap="none">
              <a:latin typeface="+mj-lt"/>
              <a:ea typeface="Red Hat Display"/>
              <a:cs typeface="Red Hat Display"/>
              <a:sym typeface="Red Hat Display"/>
            </a:endParaRPr>
          </a:p>
        </p:txBody>
      </p:sp>
      <p:sp>
        <p:nvSpPr>
          <p:cNvPr id="47" name="Google Shape;1640;p96">
            <a:extLst>
              <a:ext uri="{FF2B5EF4-FFF2-40B4-BE49-F238E27FC236}">
                <a16:creationId xmlns:a16="http://schemas.microsoft.com/office/drawing/2014/main" id="{C2A1B008-AF87-0BE3-99B8-97A846B2C696}"/>
              </a:ext>
            </a:extLst>
          </p:cNvPr>
          <p:cNvSpPr/>
          <p:nvPr/>
        </p:nvSpPr>
        <p:spPr>
          <a:xfrm>
            <a:off x="9745249" y="4592109"/>
            <a:ext cx="1377097" cy="338328"/>
          </a:xfrm>
          <a:prstGeom prst="flowChartProcess">
            <a:avLst/>
          </a:prstGeom>
          <a:solidFill>
            <a:schemeClr val="bg1"/>
          </a:solidFill>
          <a:ln w="9525" cap="flat" cmpd="sng">
            <a:solidFill>
              <a:schemeClr val="tx1"/>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500"/>
              <a:buFont typeface="Arial"/>
              <a:buNone/>
            </a:pPr>
            <a:r>
              <a:rPr lang="en-US" sz="900">
                <a:latin typeface="+mj-lt"/>
                <a:ea typeface="Red Hat Display"/>
                <a:cs typeface="Red Hat Display"/>
                <a:sym typeface="Red Hat Display"/>
              </a:rPr>
              <a:t>C</a:t>
            </a:r>
            <a:r>
              <a:rPr lang="en-US" sz="900" b="0" i="0" u="none" strike="noStrike" cap="none">
                <a:latin typeface="+mj-lt"/>
                <a:ea typeface="Red Hat Display"/>
                <a:cs typeface="Red Hat Display"/>
                <a:sym typeface="Red Hat Display"/>
              </a:rPr>
              <a:t>oordinate experience shut off</a:t>
            </a:r>
            <a:endParaRPr sz="900" b="0" i="0" u="none" strike="noStrike" cap="none">
              <a:latin typeface="+mj-lt"/>
              <a:ea typeface="Red Hat Display"/>
              <a:cs typeface="Red Hat Display"/>
              <a:sym typeface="Red Hat Display"/>
            </a:endParaRPr>
          </a:p>
        </p:txBody>
      </p:sp>
      <p:cxnSp>
        <p:nvCxnSpPr>
          <p:cNvPr id="48" name="Google Shape;1657;p96">
            <a:extLst>
              <a:ext uri="{FF2B5EF4-FFF2-40B4-BE49-F238E27FC236}">
                <a16:creationId xmlns:a16="http://schemas.microsoft.com/office/drawing/2014/main" id="{95EB9933-5204-2638-1942-297B6123D48B}"/>
              </a:ext>
            </a:extLst>
          </p:cNvPr>
          <p:cNvCxnSpPr>
            <a:cxnSpLocks/>
            <a:stCxn id="46" idx="3"/>
            <a:endCxn id="47" idx="1"/>
          </p:cNvCxnSpPr>
          <p:nvPr/>
        </p:nvCxnSpPr>
        <p:spPr>
          <a:xfrm>
            <a:off x="8872219" y="4761273"/>
            <a:ext cx="873030" cy="0"/>
          </a:xfrm>
          <a:prstGeom prst="straightConnector1">
            <a:avLst/>
          </a:prstGeom>
          <a:solidFill>
            <a:schemeClr val="tx1"/>
          </a:solidFill>
          <a:ln w="28575" cap="flat" cmpd="sng">
            <a:solidFill>
              <a:schemeClr val="tx1"/>
            </a:solidFill>
            <a:prstDash val="solid"/>
            <a:round/>
            <a:headEnd type="none" w="sm" len="sm"/>
            <a:tailEnd type="triangle" w="med" len="med"/>
          </a:ln>
        </p:spPr>
      </p:cxnSp>
      <p:sp>
        <p:nvSpPr>
          <p:cNvPr id="49" name="Google Shape;1640;p96">
            <a:extLst>
              <a:ext uri="{FF2B5EF4-FFF2-40B4-BE49-F238E27FC236}">
                <a16:creationId xmlns:a16="http://schemas.microsoft.com/office/drawing/2014/main" id="{4A78CF8A-C760-94A7-FE0E-70862807AFC6}"/>
              </a:ext>
            </a:extLst>
          </p:cNvPr>
          <p:cNvSpPr/>
          <p:nvPr/>
        </p:nvSpPr>
        <p:spPr>
          <a:xfrm>
            <a:off x="5468162" y="4588646"/>
            <a:ext cx="1252942" cy="338328"/>
          </a:xfrm>
          <a:prstGeom prst="flowChartProcess">
            <a:avLst/>
          </a:prstGeom>
          <a:solidFill>
            <a:schemeClr val="accent1"/>
          </a:solidFill>
          <a:ln w="9525" cap="flat" cmpd="sng">
            <a:solidFill>
              <a:schemeClr val="tx1"/>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500"/>
              <a:buFont typeface="Arial"/>
              <a:buNone/>
            </a:pPr>
            <a:r>
              <a:rPr lang="en-US" sz="900" b="0" i="0" u="none" strike="noStrike" cap="none">
                <a:latin typeface="+mj-lt"/>
                <a:ea typeface="Red Hat Display"/>
                <a:cs typeface="Red Hat Display"/>
                <a:sym typeface="Red Hat Display"/>
              </a:rPr>
              <a:t>Submit prod transfer Request</a:t>
            </a:r>
            <a:endParaRPr sz="900" b="0" i="0" u="none" strike="noStrike" cap="none">
              <a:latin typeface="+mj-lt"/>
              <a:ea typeface="Red Hat Display"/>
              <a:cs typeface="Red Hat Display"/>
              <a:sym typeface="Red Hat Display"/>
            </a:endParaRPr>
          </a:p>
        </p:txBody>
      </p:sp>
      <p:cxnSp>
        <p:nvCxnSpPr>
          <p:cNvPr id="50" name="Google Shape;1657;p96">
            <a:extLst>
              <a:ext uri="{FF2B5EF4-FFF2-40B4-BE49-F238E27FC236}">
                <a16:creationId xmlns:a16="http://schemas.microsoft.com/office/drawing/2014/main" id="{2C25B98E-07C1-CE77-1FBD-C126C61F9F6A}"/>
              </a:ext>
            </a:extLst>
          </p:cNvPr>
          <p:cNvCxnSpPr>
            <a:cxnSpLocks/>
            <a:stCxn id="49" idx="3"/>
            <a:endCxn id="46" idx="1"/>
          </p:cNvCxnSpPr>
          <p:nvPr/>
        </p:nvCxnSpPr>
        <p:spPr>
          <a:xfrm>
            <a:off x="6721104" y="4757810"/>
            <a:ext cx="735912" cy="3463"/>
          </a:xfrm>
          <a:prstGeom prst="straightConnector1">
            <a:avLst/>
          </a:prstGeom>
          <a:solidFill>
            <a:schemeClr val="tx1"/>
          </a:solidFill>
          <a:ln w="28575" cap="flat" cmpd="sng">
            <a:solidFill>
              <a:schemeClr val="tx1"/>
            </a:solidFill>
            <a:prstDash val="solid"/>
            <a:round/>
            <a:headEnd type="none" w="sm" len="sm"/>
            <a:tailEnd type="triangle" w="med" len="med"/>
          </a:ln>
        </p:spPr>
      </p:cxnSp>
      <p:sp>
        <p:nvSpPr>
          <p:cNvPr id="51" name="Google Shape;1602;p96">
            <a:extLst>
              <a:ext uri="{FF2B5EF4-FFF2-40B4-BE49-F238E27FC236}">
                <a16:creationId xmlns:a16="http://schemas.microsoft.com/office/drawing/2014/main" id="{A0F9ED2D-9DC4-B9DB-08E5-B71CE1CFBB52}"/>
              </a:ext>
            </a:extLst>
          </p:cNvPr>
          <p:cNvSpPr/>
          <p:nvPr/>
        </p:nvSpPr>
        <p:spPr>
          <a:xfrm>
            <a:off x="855012" y="2105840"/>
            <a:ext cx="10396500" cy="548640"/>
          </a:xfrm>
          <a:prstGeom prst="roundRect">
            <a:avLst>
              <a:gd name="adj" fmla="val 16667"/>
            </a:avLst>
          </a:prstGeom>
          <a:solidFill>
            <a:schemeClr val="accent2">
              <a:lumMod val="20000"/>
              <a:lumOff val="80000"/>
            </a:schemeClr>
          </a:solidFill>
          <a:ln>
            <a:noFill/>
          </a:ln>
        </p:spPr>
        <p:txBody>
          <a:bodyPr spcFirstLastPara="1" wrap="square" lIns="77300" tIns="77300" rIns="77300" bIns="773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002477"/>
              </a:solidFill>
              <a:effectLst/>
              <a:uLnTx/>
              <a:uFillTx/>
              <a:latin typeface="+mj-lt"/>
              <a:ea typeface="Arial"/>
              <a:cs typeface="Arial"/>
              <a:sym typeface="Arial"/>
            </a:endParaRPr>
          </a:p>
        </p:txBody>
      </p:sp>
      <p:sp>
        <p:nvSpPr>
          <p:cNvPr id="52" name="Google Shape;1606;p96">
            <a:extLst>
              <a:ext uri="{FF2B5EF4-FFF2-40B4-BE49-F238E27FC236}">
                <a16:creationId xmlns:a16="http://schemas.microsoft.com/office/drawing/2014/main" id="{4F1A947C-F1A4-C305-4FDE-59AAF68F4109}"/>
              </a:ext>
            </a:extLst>
          </p:cNvPr>
          <p:cNvSpPr txBox="1"/>
          <p:nvPr/>
        </p:nvSpPr>
        <p:spPr>
          <a:xfrm>
            <a:off x="910328" y="2122814"/>
            <a:ext cx="1644300" cy="350100"/>
          </a:xfrm>
          <a:prstGeom prst="rect">
            <a:avLst/>
          </a:prstGeom>
          <a:noFill/>
          <a:ln>
            <a:noFill/>
          </a:ln>
        </p:spPr>
        <p:txBody>
          <a:bodyPr spcFirstLastPara="1" wrap="square" lIns="77300" tIns="77300" rIns="77300" bIns="773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 sz="1200" b="0" i="0" u="none" strike="noStrike" kern="1200" cap="none" spc="0" normalizeH="0" baseline="0" noProof="0">
                <a:ln>
                  <a:noFill/>
                </a:ln>
                <a:effectLst/>
                <a:uLnTx/>
                <a:uFillTx/>
                <a:latin typeface="+mj-lt"/>
                <a:ea typeface="Red Hat Display"/>
                <a:cs typeface="Red Hat Display"/>
                <a:sym typeface="Red Hat Display"/>
              </a:rPr>
              <a:t>Creative Fulfillment</a:t>
            </a:r>
            <a:endParaRPr kumimoji="0" sz="1200" b="0" i="0" u="none" strike="noStrike" kern="1200" cap="none" spc="0" normalizeH="0" baseline="0" noProof="0">
              <a:ln>
                <a:noFill/>
              </a:ln>
              <a:effectLst/>
              <a:uLnTx/>
              <a:uFillTx/>
              <a:latin typeface="+mj-lt"/>
              <a:ea typeface="Red Hat Display"/>
              <a:cs typeface="Red Hat Display"/>
              <a:sym typeface="Red Hat Display"/>
            </a:endParaRPr>
          </a:p>
        </p:txBody>
      </p:sp>
      <p:sp>
        <p:nvSpPr>
          <p:cNvPr id="53" name="Google Shape;1619;p96">
            <a:extLst>
              <a:ext uri="{FF2B5EF4-FFF2-40B4-BE49-F238E27FC236}">
                <a16:creationId xmlns:a16="http://schemas.microsoft.com/office/drawing/2014/main" id="{3B90FDE9-4E6F-2F40-0990-13A8C35FE075}"/>
              </a:ext>
            </a:extLst>
          </p:cNvPr>
          <p:cNvSpPr/>
          <p:nvPr/>
        </p:nvSpPr>
        <p:spPr>
          <a:xfrm>
            <a:off x="2756915" y="2213060"/>
            <a:ext cx="1058100" cy="334200"/>
          </a:xfrm>
          <a:prstGeom prst="flowChartDocument">
            <a:avLst/>
          </a:prstGeom>
          <a:solidFill>
            <a:schemeClr val="bg1"/>
          </a:solidFill>
          <a:ln w="9525" cap="flat" cmpd="sng">
            <a:solidFill>
              <a:schemeClr val="tx1"/>
            </a:solidFill>
            <a:prstDash val="dash"/>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a:ln>
                  <a:noFill/>
                </a:ln>
                <a:effectLst/>
                <a:uLnTx/>
                <a:uFillTx/>
                <a:latin typeface="+mj-lt"/>
                <a:ea typeface="Red Hat Display"/>
                <a:cs typeface="Red Hat Display"/>
                <a:sym typeface="Red Hat Display"/>
              </a:rPr>
              <a:t>Brief Delivered</a:t>
            </a:r>
            <a:endParaRPr kumimoji="0" sz="900" b="0" i="0" u="none" strike="noStrike" kern="1200" cap="none" spc="0" normalizeH="0" baseline="0" noProof="0">
              <a:ln>
                <a:noFill/>
              </a:ln>
              <a:effectLst/>
              <a:uLnTx/>
              <a:uFillTx/>
              <a:latin typeface="+mj-lt"/>
              <a:ea typeface="Red Hat Display"/>
              <a:cs typeface="Red Hat Display"/>
              <a:sym typeface="Red Hat Display"/>
            </a:endParaRPr>
          </a:p>
        </p:txBody>
      </p:sp>
      <p:sp>
        <p:nvSpPr>
          <p:cNvPr id="54" name="Google Shape;1605;p96">
            <a:extLst>
              <a:ext uri="{FF2B5EF4-FFF2-40B4-BE49-F238E27FC236}">
                <a16:creationId xmlns:a16="http://schemas.microsoft.com/office/drawing/2014/main" id="{17532C7B-533A-C810-591A-A0F3117C325C}"/>
              </a:ext>
            </a:extLst>
          </p:cNvPr>
          <p:cNvSpPr/>
          <p:nvPr/>
        </p:nvSpPr>
        <p:spPr>
          <a:xfrm>
            <a:off x="6190174" y="2210312"/>
            <a:ext cx="1058100" cy="334200"/>
          </a:xfrm>
          <a:prstGeom prst="rect">
            <a:avLst/>
          </a:prstGeom>
          <a:solidFill>
            <a:schemeClr val="accent1"/>
          </a:solidFill>
          <a:ln w="9525" cap="flat" cmpd="sng">
            <a:solidFill>
              <a:schemeClr val="tx1"/>
            </a:solidFill>
            <a:prstDash val="dash"/>
            <a:round/>
            <a:headEnd type="none" w="sm" len="sm"/>
            <a:tailEnd type="none" w="sm" len="sm"/>
          </a:ln>
        </p:spPr>
        <p:txBody>
          <a:bodyPr spcFirstLastPara="1" wrap="square" lIns="77300" tIns="0" rIns="7730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a:ln>
                  <a:noFill/>
                </a:ln>
                <a:effectLst/>
                <a:uLnTx/>
                <a:uFillTx/>
                <a:latin typeface="+mj-lt"/>
                <a:ea typeface="Red Hat Display"/>
                <a:cs typeface="Red Hat Display"/>
                <a:sym typeface="Red Hat Display"/>
              </a:rPr>
              <a:t>Creative Input</a:t>
            </a:r>
            <a:endParaRPr kumimoji="0" sz="900" b="0" i="0" u="none" strike="noStrike" kern="1200" cap="none" spc="0" normalizeH="0" baseline="0" noProof="0">
              <a:ln>
                <a:noFill/>
              </a:ln>
              <a:effectLst/>
              <a:uLnTx/>
              <a:uFillTx/>
              <a:latin typeface="+mj-lt"/>
              <a:ea typeface="Red Hat Display"/>
              <a:cs typeface="Red Hat Display"/>
              <a:sym typeface="Red Hat Display"/>
            </a:endParaRPr>
          </a:p>
        </p:txBody>
      </p:sp>
      <p:cxnSp>
        <p:nvCxnSpPr>
          <p:cNvPr id="55" name="Google Shape;1621;p96">
            <a:extLst>
              <a:ext uri="{FF2B5EF4-FFF2-40B4-BE49-F238E27FC236}">
                <a16:creationId xmlns:a16="http://schemas.microsoft.com/office/drawing/2014/main" id="{143AADBE-4FCE-CB57-B127-6381ACE747A6}"/>
              </a:ext>
            </a:extLst>
          </p:cNvPr>
          <p:cNvCxnSpPr>
            <a:cxnSpLocks/>
            <a:stCxn id="53" idx="3"/>
            <a:endCxn id="54" idx="1"/>
          </p:cNvCxnSpPr>
          <p:nvPr/>
        </p:nvCxnSpPr>
        <p:spPr>
          <a:xfrm flipV="1">
            <a:off x="3815015" y="2377412"/>
            <a:ext cx="2375159" cy="2748"/>
          </a:xfrm>
          <a:prstGeom prst="straightConnector1">
            <a:avLst/>
          </a:prstGeom>
          <a:noFill/>
          <a:ln w="28575" cap="flat" cmpd="sng">
            <a:solidFill>
              <a:schemeClr val="tx1"/>
            </a:solidFill>
            <a:prstDash val="solid"/>
            <a:round/>
            <a:headEnd type="none" w="sm" len="sm"/>
            <a:tailEnd type="triangle" w="med" len="med"/>
          </a:ln>
        </p:spPr>
      </p:cxnSp>
      <p:sp>
        <p:nvSpPr>
          <p:cNvPr id="56" name="Google Shape;1601;p96">
            <a:extLst>
              <a:ext uri="{FF2B5EF4-FFF2-40B4-BE49-F238E27FC236}">
                <a16:creationId xmlns:a16="http://schemas.microsoft.com/office/drawing/2014/main" id="{04751667-6EFE-D222-15E6-EE679C3A745A}"/>
              </a:ext>
            </a:extLst>
          </p:cNvPr>
          <p:cNvSpPr/>
          <p:nvPr/>
        </p:nvSpPr>
        <p:spPr>
          <a:xfrm>
            <a:off x="850575" y="1513275"/>
            <a:ext cx="10396500" cy="548640"/>
          </a:xfrm>
          <a:prstGeom prst="roundRect">
            <a:avLst>
              <a:gd name="adj" fmla="val 16667"/>
            </a:avLst>
          </a:prstGeom>
          <a:solidFill>
            <a:schemeClr val="bg1">
              <a:lumMod val="65000"/>
            </a:schemeClr>
          </a:solidFill>
          <a:ln>
            <a:noFill/>
          </a:ln>
        </p:spPr>
        <p:txBody>
          <a:bodyPr spcFirstLastPara="1" wrap="square" lIns="77300" tIns="77300" rIns="77300" bIns="773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002477"/>
              </a:solidFill>
              <a:effectLst/>
              <a:uLnTx/>
              <a:uFillTx/>
              <a:latin typeface="+mj-lt"/>
              <a:ea typeface="Arial"/>
              <a:cs typeface="Arial"/>
              <a:sym typeface="Arial"/>
            </a:endParaRPr>
          </a:p>
        </p:txBody>
      </p:sp>
      <p:sp>
        <p:nvSpPr>
          <p:cNvPr id="57" name="Google Shape;1642;p96">
            <a:extLst>
              <a:ext uri="{FF2B5EF4-FFF2-40B4-BE49-F238E27FC236}">
                <a16:creationId xmlns:a16="http://schemas.microsoft.com/office/drawing/2014/main" id="{57EDE64C-174C-A120-5E58-0FF2613D8877}"/>
              </a:ext>
            </a:extLst>
          </p:cNvPr>
          <p:cNvSpPr txBox="1"/>
          <p:nvPr/>
        </p:nvSpPr>
        <p:spPr>
          <a:xfrm>
            <a:off x="993423" y="1612545"/>
            <a:ext cx="1090058" cy="350100"/>
          </a:xfrm>
          <a:prstGeom prst="rect">
            <a:avLst/>
          </a:prstGeom>
          <a:noFill/>
          <a:ln>
            <a:noFill/>
          </a:ln>
        </p:spPr>
        <p:txBody>
          <a:bodyPr spcFirstLastPara="1" wrap="square" lIns="77300" tIns="77300" rIns="77300" bIns="773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 sz="1200" b="0" i="0" u="none" strike="noStrike" kern="1200" cap="none" spc="0" normalizeH="0" baseline="0" noProof="0">
                <a:ln>
                  <a:noFill/>
                </a:ln>
                <a:effectLst/>
                <a:uLnTx/>
                <a:uFillTx/>
                <a:latin typeface="+mj-lt"/>
                <a:ea typeface="Red Hat Display"/>
                <a:cs typeface="Red Hat Display"/>
                <a:sym typeface="Red Hat Display"/>
              </a:rPr>
              <a:t>Ideation</a:t>
            </a:r>
            <a:endParaRPr kumimoji="0" sz="1200" b="0" i="0" u="none" strike="noStrike" kern="1200" cap="none" spc="0" normalizeH="0" baseline="0" noProof="0">
              <a:ln>
                <a:noFill/>
              </a:ln>
              <a:effectLst/>
              <a:uLnTx/>
              <a:uFillTx/>
              <a:latin typeface="+mj-lt"/>
              <a:ea typeface="Red Hat Display"/>
              <a:cs typeface="Red Hat Display"/>
              <a:sym typeface="Red Hat Display"/>
            </a:endParaRPr>
          </a:p>
        </p:txBody>
      </p:sp>
      <p:sp>
        <p:nvSpPr>
          <p:cNvPr id="58" name="Google Shape;1619;p96">
            <a:extLst>
              <a:ext uri="{FF2B5EF4-FFF2-40B4-BE49-F238E27FC236}">
                <a16:creationId xmlns:a16="http://schemas.microsoft.com/office/drawing/2014/main" id="{948BC7E2-1A84-9A44-7CBC-544ADF1FA243}"/>
              </a:ext>
            </a:extLst>
          </p:cNvPr>
          <p:cNvSpPr/>
          <p:nvPr/>
        </p:nvSpPr>
        <p:spPr>
          <a:xfrm>
            <a:off x="6193269" y="1620495"/>
            <a:ext cx="886496" cy="334200"/>
          </a:xfrm>
          <a:prstGeom prst="flowChartDocument">
            <a:avLst/>
          </a:prstGeom>
          <a:solidFill>
            <a:srgbClr val="FFFFFF"/>
          </a:solidFill>
          <a:ln w="9525" cap="flat" cmpd="sng">
            <a:solidFill>
              <a:schemeClr val="tx1"/>
            </a:solidFill>
            <a:prstDash val="solid"/>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a:ln>
                  <a:noFill/>
                </a:ln>
                <a:effectLst/>
                <a:uLnTx/>
                <a:uFillTx/>
                <a:latin typeface="+mj-lt"/>
                <a:ea typeface="Red Hat Display"/>
                <a:cs typeface="Red Hat Display"/>
                <a:sym typeface="Red Hat Display"/>
              </a:rPr>
              <a:t>Test Concept Delivered</a:t>
            </a:r>
            <a:endParaRPr kumimoji="0" sz="900" b="0" i="0" u="none" strike="noStrike" kern="1200" cap="none" spc="0" normalizeH="0" baseline="0" noProof="0">
              <a:ln>
                <a:noFill/>
              </a:ln>
              <a:effectLst/>
              <a:uLnTx/>
              <a:uFillTx/>
              <a:latin typeface="+mj-lt"/>
              <a:ea typeface="Red Hat Display"/>
              <a:cs typeface="Red Hat Display"/>
              <a:sym typeface="Red Hat Display"/>
            </a:endParaRPr>
          </a:p>
        </p:txBody>
      </p:sp>
      <p:sp>
        <p:nvSpPr>
          <p:cNvPr id="59" name="Google Shape;1619;p96">
            <a:extLst>
              <a:ext uri="{FF2B5EF4-FFF2-40B4-BE49-F238E27FC236}">
                <a16:creationId xmlns:a16="http://schemas.microsoft.com/office/drawing/2014/main" id="{79802E06-811D-FD03-22E1-7448781AA463}"/>
              </a:ext>
            </a:extLst>
          </p:cNvPr>
          <p:cNvSpPr/>
          <p:nvPr/>
        </p:nvSpPr>
        <p:spPr>
          <a:xfrm>
            <a:off x="2734441" y="1620495"/>
            <a:ext cx="1291586" cy="334200"/>
          </a:xfrm>
          <a:prstGeom prst="rect">
            <a:avLst/>
          </a:prstGeom>
          <a:solidFill>
            <a:srgbClr val="FFFFFF"/>
          </a:solidFill>
          <a:ln w="9525" cap="flat" cmpd="sng">
            <a:solidFill>
              <a:schemeClr val="tx1"/>
            </a:solidFill>
            <a:prstDash val="solid"/>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a:ln>
                  <a:noFill/>
                </a:ln>
                <a:effectLst/>
                <a:uLnTx/>
                <a:uFillTx/>
                <a:latin typeface="+mj-lt"/>
                <a:ea typeface="Red Hat Display"/>
                <a:cs typeface="Red Hat Display"/>
                <a:sym typeface="Red Hat Display"/>
              </a:rPr>
              <a:t>Strategic Audit</a:t>
            </a:r>
            <a:endParaRPr kumimoji="0" sz="900" b="0" i="0" u="none" strike="noStrike" kern="1200" cap="none" spc="0" normalizeH="0" baseline="0" noProof="0">
              <a:ln>
                <a:noFill/>
              </a:ln>
              <a:effectLst/>
              <a:uLnTx/>
              <a:uFillTx/>
              <a:latin typeface="+mj-lt"/>
              <a:ea typeface="Red Hat Display"/>
              <a:cs typeface="Red Hat Display"/>
              <a:sym typeface="Red Hat Display"/>
            </a:endParaRPr>
          </a:p>
        </p:txBody>
      </p:sp>
      <p:cxnSp>
        <p:nvCxnSpPr>
          <p:cNvPr id="62" name="Google Shape;1621;p96">
            <a:extLst>
              <a:ext uri="{FF2B5EF4-FFF2-40B4-BE49-F238E27FC236}">
                <a16:creationId xmlns:a16="http://schemas.microsoft.com/office/drawing/2014/main" id="{FFEB590A-4F29-D6B5-759E-B8D55D7E12E1}"/>
              </a:ext>
            </a:extLst>
          </p:cNvPr>
          <p:cNvCxnSpPr>
            <a:cxnSpLocks/>
            <a:stCxn id="59" idx="3"/>
            <a:endCxn id="58" idx="1"/>
          </p:cNvCxnSpPr>
          <p:nvPr/>
        </p:nvCxnSpPr>
        <p:spPr>
          <a:xfrm>
            <a:off x="4026027" y="1787595"/>
            <a:ext cx="2167242" cy="0"/>
          </a:xfrm>
          <a:prstGeom prst="straightConnector1">
            <a:avLst/>
          </a:prstGeom>
          <a:noFill/>
          <a:ln w="28575" cap="flat" cmpd="sng">
            <a:solidFill>
              <a:srgbClr val="FFFFFF"/>
            </a:solidFill>
            <a:prstDash val="solid"/>
            <a:round/>
            <a:headEnd type="none" w="sm" len="sm"/>
            <a:tailEnd type="triangle" w="med" len="med"/>
          </a:ln>
        </p:spPr>
      </p:cxnSp>
      <p:sp>
        <p:nvSpPr>
          <p:cNvPr id="63" name="Google Shape;1628;p96">
            <a:extLst>
              <a:ext uri="{FF2B5EF4-FFF2-40B4-BE49-F238E27FC236}">
                <a16:creationId xmlns:a16="http://schemas.microsoft.com/office/drawing/2014/main" id="{E43C810F-1ABD-BEB1-461C-C960B39F866D}"/>
              </a:ext>
            </a:extLst>
          </p:cNvPr>
          <p:cNvSpPr/>
          <p:nvPr/>
        </p:nvSpPr>
        <p:spPr>
          <a:xfrm>
            <a:off x="9815575" y="1606600"/>
            <a:ext cx="1246883" cy="373024"/>
          </a:xfrm>
          <a:prstGeom prst="flowChartPredefinedProcess">
            <a:avLst/>
          </a:prstGeom>
          <a:solidFill>
            <a:schemeClr val="accent1"/>
          </a:solidFill>
          <a:ln w="3175" cap="flat" cmpd="sng">
            <a:solidFill>
              <a:schemeClr val="tx2"/>
            </a:solidFill>
            <a:prstDash val="solid"/>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a:ln>
                  <a:noFill/>
                </a:ln>
                <a:effectLst/>
                <a:uLnTx/>
                <a:uFillTx/>
                <a:latin typeface="+mj-lt"/>
                <a:ea typeface="Red Hat Display"/>
                <a:cs typeface="Red Hat Display"/>
                <a:sym typeface="Red Hat Display"/>
              </a:rPr>
              <a:t>Concepts Approved</a:t>
            </a:r>
            <a:endParaRPr kumimoji="0" sz="900" b="0" i="0" u="none" strike="noStrike" kern="1200" cap="none" spc="0" normalizeH="0" baseline="0" noProof="0">
              <a:ln>
                <a:noFill/>
              </a:ln>
              <a:effectLst/>
              <a:uLnTx/>
              <a:uFillTx/>
              <a:latin typeface="+mj-lt"/>
              <a:ea typeface="Red Hat Display"/>
              <a:cs typeface="Red Hat Display"/>
              <a:sym typeface="Red Hat Display"/>
            </a:endParaRPr>
          </a:p>
        </p:txBody>
      </p:sp>
      <p:cxnSp>
        <p:nvCxnSpPr>
          <p:cNvPr id="64" name="Google Shape;1621;p96">
            <a:extLst>
              <a:ext uri="{FF2B5EF4-FFF2-40B4-BE49-F238E27FC236}">
                <a16:creationId xmlns:a16="http://schemas.microsoft.com/office/drawing/2014/main" id="{DFC1113A-D0BF-2FD6-14BB-D41B29D95CD0}"/>
              </a:ext>
            </a:extLst>
          </p:cNvPr>
          <p:cNvCxnSpPr>
            <a:cxnSpLocks/>
            <a:stCxn id="58" idx="3"/>
            <a:endCxn id="63" idx="1"/>
          </p:cNvCxnSpPr>
          <p:nvPr/>
        </p:nvCxnSpPr>
        <p:spPr>
          <a:xfrm>
            <a:off x="7079765" y="1787595"/>
            <a:ext cx="2735810" cy="5517"/>
          </a:xfrm>
          <a:prstGeom prst="straightConnector1">
            <a:avLst/>
          </a:prstGeom>
          <a:noFill/>
          <a:ln w="28575" cap="flat" cmpd="sng">
            <a:solidFill>
              <a:srgbClr val="FFFFFF"/>
            </a:solidFill>
            <a:prstDash val="solid"/>
            <a:round/>
            <a:headEnd type="none" w="sm" len="sm"/>
            <a:tailEnd type="triangle" w="med" len="med"/>
          </a:ln>
        </p:spPr>
      </p:cxnSp>
      <p:sp>
        <p:nvSpPr>
          <p:cNvPr id="65" name="Google Shape;1622;p96">
            <a:extLst>
              <a:ext uri="{FF2B5EF4-FFF2-40B4-BE49-F238E27FC236}">
                <a16:creationId xmlns:a16="http://schemas.microsoft.com/office/drawing/2014/main" id="{B9C1CD3B-8677-5761-8CCB-A133E1162D07}"/>
              </a:ext>
            </a:extLst>
          </p:cNvPr>
          <p:cNvSpPr/>
          <p:nvPr/>
        </p:nvSpPr>
        <p:spPr>
          <a:xfrm>
            <a:off x="8004599" y="2793291"/>
            <a:ext cx="1229482" cy="333926"/>
          </a:xfrm>
          <a:prstGeom prst="flowChartPredefinedProcess">
            <a:avLst/>
          </a:prstGeom>
          <a:solidFill>
            <a:schemeClr val="accent1"/>
          </a:solidFill>
          <a:ln w="3175" cap="flat" cmpd="sng">
            <a:solidFill>
              <a:schemeClr val="tx1"/>
            </a:solidFill>
            <a:prstDash val="solid"/>
            <a:round/>
            <a:headEnd type="none" w="sm" len="sm"/>
            <a:tailEnd type="none" w="sm" len="sm"/>
          </a:ln>
        </p:spPr>
        <p:txBody>
          <a:bodyPr spcFirstLastPara="1" wrap="square" lIns="0" tIns="77300" rIns="0" bIns="773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1" i="0" u="none" strike="noStrike" kern="1200" cap="none" spc="0" normalizeH="0" baseline="0" noProof="0">
                <a:ln>
                  <a:noFill/>
                </a:ln>
                <a:effectLst/>
                <a:uLnTx/>
                <a:uFillTx/>
                <a:latin typeface="+mn-lt"/>
                <a:ea typeface="Red Hat Display"/>
                <a:cs typeface="Red Hat Display"/>
                <a:sym typeface="Red Hat Display"/>
              </a:rPr>
              <a:t>UAT</a:t>
            </a:r>
            <a:endParaRPr kumimoji="0" sz="900" b="1" i="0" u="none" strike="noStrike" kern="1200" cap="none" spc="0" normalizeH="0" baseline="0" noProof="0">
              <a:ln>
                <a:noFill/>
              </a:ln>
              <a:effectLst/>
              <a:uLnTx/>
              <a:uFillTx/>
              <a:latin typeface="+mn-lt"/>
              <a:ea typeface="Red Hat Display"/>
              <a:cs typeface="Red Hat Display"/>
              <a:sym typeface="Red Hat Display"/>
            </a:endParaRPr>
          </a:p>
        </p:txBody>
      </p:sp>
      <p:sp>
        <p:nvSpPr>
          <p:cNvPr id="66" name="Google Shape;1620;p96">
            <a:extLst>
              <a:ext uri="{FF2B5EF4-FFF2-40B4-BE49-F238E27FC236}">
                <a16:creationId xmlns:a16="http://schemas.microsoft.com/office/drawing/2014/main" id="{FBFC1A29-A1AA-46CC-323F-DBDD9215ECFB}"/>
              </a:ext>
            </a:extLst>
          </p:cNvPr>
          <p:cNvSpPr/>
          <p:nvPr/>
        </p:nvSpPr>
        <p:spPr>
          <a:xfrm>
            <a:off x="10015100" y="2794451"/>
            <a:ext cx="1056648" cy="333936"/>
          </a:xfrm>
          <a:prstGeom prst="rect">
            <a:avLst/>
          </a:prstGeom>
          <a:solidFill>
            <a:srgbClr val="FFFFFF"/>
          </a:solidFill>
          <a:ln w="9525" cap="flat" cmpd="sng">
            <a:solidFill>
              <a:schemeClr val="tx1"/>
            </a:solidFill>
            <a:prstDash val="solid"/>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1" i="0" u="none" strike="noStrike" kern="1200" cap="none" spc="0" normalizeH="0" baseline="0" noProof="0">
                <a:ln>
                  <a:noFill/>
                </a:ln>
                <a:effectLst/>
                <a:uLnTx/>
                <a:uFillTx/>
                <a:latin typeface="+mn-lt"/>
                <a:ea typeface="Red Hat Display"/>
                <a:cs typeface="Red Hat Display"/>
                <a:sym typeface="Red Hat Display"/>
              </a:rPr>
              <a:t>Launch </a:t>
            </a:r>
          </a:p>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1" i="0" u="none" strike="noStrike" kern="1200" cap="none" spc="0" normalizeH="0" baseline="0" noProof="0">
                <a:ln>
                  <a:noFill/>
                </a:ln>
                <a:effectLst/>
                <a:uLnTx/>
                <a:uFillTx/>
                <a:latin typeface="+mn-lt"/>
                <a:ea typeface="Red Hat Display"/>
                <a:cs typeface="Red Hat Display"/>
                <a:sym typeface="Red Hat Display"/>
              </a:rPr>
              <a:t>Scheduled</a:t>
            </a:r>
            <a:endParaRPr kumimoji="0" sz="900" b="1" i="0" u="none" strike="noStrike" kern="1200" cap="none" spc="0" normalizeH="0" baseline="0" noProof="0">
              <a:ln>
                <a:noFill/>
              </a:ln>
              <a:effectLst/>
              <a:uLnTx/>
              <a:uFillTx/>
              <a:latin typeface="+mn-lt"/>
              <a:ea typeface="Red Hat Display"/>
              <a:cs typeface="Red Hat Display"/>
              <a:sym typeface="Red Hat Display"/>
            </a:endParaRPr>
          </a:p>
        </p:txBody>
      </p:sp>
      <p:cxnSp>
        <p:nvCxnSpPr>
          <p:cNvPr id="67" name="Google Shape;1621;p96">
            <a:extLst>
              <a:ext uri="{FF2B5EF4-FFF2-40B4-BE49-F238E27FC236}">
                <a16:creationId xmlns:a16="http://schemas.microsoft.com/office/drawing/2014/main" id="{0B2A2169-4553-E78C-D1C1-63C5289AA631}"/>
              </a:ext>
            </a:extLst>
          </p:cNvPr>
          <p:cNvCxnSpPr>
            <a:cxnSpLocks/>
            <a:stCxn id="42" idx="3"/>
            <a:endCxn id="65" idx="1"/>
          </p:cNvCxnSpPr>
          <p:nvPr/>
        </p:nvCxnSpPr>
        <p:spPr>
          <a:xfrm flipV="1">
            <a:off x="7220783" y="2960254"/>
            <a:ext cx="783816" cy="657"/>
          </a:xfrm>
          <a:prstGeom prst="straightConnector1">
            <a:avLst/>
          </a:prstGeom>
          <a:noFill/>
          <a:ln w="28575" cap="flat" cmpd="sng">
            <a:solidFill>
              <a:srgbClr val="FFFFFF"/>
            </a:solidFill>
            <a:prstDash val="solid"/>
            <a:round/>
            <a:headEnd type="none" w="sm" len="sm"/>
            <a:tailEnd type="triangle" w="med" len="med"/>
          </a:ln>
        </p:spPr>
      </p:cxnSp>
      <p:cxnSp>
        <p:nvCxnSpPr>
          <p:cNvPr id="68" name="Google Shape;1621;p96">
            <a:extLst>
              <a:ext uri="{FF2B5EF4-FFF2-40B4-BE49-F238E27FC236}">
                <a16:creationId xmlns:a16="http://schemas.microsoft.com/office/drawing/2014/main" id="{DCB601AF-7B5A-CF6D-EE73-0A4E898F8B73}"/>
              </a:ext>
            </a:extLst>
          </p:cNvPr>
          <p:cNvCxnSpPr>
            <a:cxnSpLocks/>
            <a:stCxn id="65" idx="3"/>
            <a:endCxn id="66" idx="1"/>
          </p:cNvCxnSpPr>
          <p:nvPr/>
        </p:nvCxnSpPr>
        <p:spPr>
          <a:xfrm>
            <a:off x="9234081" y="2960254"/>
            <a:ext cx="781019" cy="1165"/>
          </a:xfrm>
          <a:prstGeom prst="straightConnector1">
            <a:avLst/>
          </a:prstGeom>
          <a:noFill/>
          <a:ln w="28575" cap="flat" cmpd="sng">
            <a:solidFill>
              <a:srgbClr val="FFFFFF"/>
            </a:solidFill>
            <a:prstDash val="solid"/>
            <a:round/>
            <a:headEnd type="none" w="sm" len="sm"/>
            <a:tailEnd type="triangle" w="med" len="med"/>
          </a:ln>
        </p:spPr>
      </p:cxnSp>
      <p:sp>
        <p:nvSpPr>
          <p:cNvPr id="70" name="Rectangle: Folded Corner 69">
            <a:extLst>
              <a:ext uri="{FF2B5EF4-FFF2-40B4-BE49-F238E27FC236}">
                <a16:creationId xmlns:a16="http://schemas.microsoft.com/office/drawing/2014/main" id="{DFB1905C-E0A2-7D82-CD8E-B3C762D84EDE}"/>
              </a:ext>
            </a:extLst>
          </p:cNvPr>
          <p:cNvSpPr/>
          <p:nvPr/>
        </p:nvSpPr>
        <p:spPr>
          <a:xfrm>
            <a:off x="11306827" y="2265924"/>
            <a:ext cx="785769" cy="785769"/>
          </a:xfrm>
          <a:prstGeom prst="foldedCorner">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a:solidFill>
                  <a:schemeClr val="tx1"/>
                </a:solidFill>
                <a:latin typeface="Poppins" pitchFamily="2" charset="77"/>
                <a:cs typeface="Poppins" pitchFamily="2" charset="77"/>
              </a:rPr>
              <a:t>If concept through </a:t>
            </a:r>
            <a:r>
              <a:rPr lang="en-US" sz="600">
                <a:solidFill>
                  <a:schemeClr val="tx1"/>
                </a:solidFill>
                <a:latin typeface="Poppins" pitchFamily="2" charset="77"/>
                <a:cs typeface="Poppins" pitchFamily="2" charset="77"/>
                <a:sym typeface="Wingdings" panose="05000000000000000000" pitchFamily="2" charset="2"/>
              </a:rPr>
              <a:t>launch is very low lift, HC will execute those phases of work</a:t>
            </a:r>
            <a:endParaRPr lang="en-US" sz="600">
              <a:solidFill>
                <a:schemeClr val="tx1"/>
              </a:solidFill>
              <a:latin typeface="Poppins" pitchFamily="2" charset="77"/>
              <a:cs typeface="Poppins" pitchFamily="2" charset="77"/>
            </a:endParaRPr>
          </a:p>
        </p:txBody>
      </p:sp>
      <p:sp>
        <p:nvSpPr>
          <p:cNvPr id="71" name="Rectangle: Folded Corner 70">
            <a:extLst>
              <a:ext uri="{FF2B5EF4-FFF2-40B4-BE49-F238E27FC236}">
                <a16:creationId xmlns:a16="http://schemas.microsoft.com/office/drawing/2014/main" id="{10E998FA-ABB6-05F9-4D39-8E9F7E8ADA10}"/>
              </a:ext>
            </a:extLst>
          </p:cNvPr>
          <p:cNvSpPr/>
          <p:nvPr/>
        </p:nvSpPr>
        <p:spPr>
          <a:xfrm>
            <a:off x="3597117" y="915453"/>
            <a:ext cx="831032" cy="755814"/>
          </a:xfrm>
          <a:prstGeom prst="foldedCorner">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solidFill>
                  <a:schemeClr val="tx1"/>
                </a:solidFill>
                <a:latin typeface="Poppins" pitchFamily="2" charset="77"/>
                <a:cs typeface="Poppins" pitchFamily="2" charset="77"/>
              </a:rPr>
              <a:t>Program kick off audit is high level for quick hits</a:t>
            </a:r>
          </a:p>
        </p:txBody>
      </p:sp>
      <p:sp>
        <p:nvSpPr>
          <p:cNvPr id="5" name="Google Shape;1646;p96">
            <a:extLst>
              <a:ext uri="{FF2B5EF4-FFF2-40B4-BE49-F238E27FC236}">
                <a16:creationId xmlns:a16="http://schemas.microsoft.com/office/drawing/2014/main" id="{48919701-442B-2E49-0603-D643945069D2}"/>
              </a:ext>
            </a:extLst>
          </p:cNvPr>
          <p:cNvSpPr/>
          <p:nvPr/>
        </p:nvSpPr>
        <p:spPr>
          <a:xfrm>
            <a:off x="5677493" y="5959016"/>
            <a:ext cx="887700" cy="250800"/>
          </a:xfrm>
          <a:prstGeom prst="rect">
            <a:avLst/>
          </a:prstGeom>
          <a:solidFill>
            <a:schemeClr val="accent2"/>
          </a:solidFill>
          <a:ln w="3175" cap="flat" cmpd="sng">
            <a:solidFill>
              <a:schemeClr val="tx2"/>
            </a:solidFill>
            <a:prstDash val="solid"/>
            <a:round/>
            <a:headEnd type="none" w="sm" len="sm"/>
            <a:tailEnd type="none" w="sm" len="sm"/>
          </a:ln>
        </p:spPr>
        <p:txBody>
          <a:bodyPr spcFirstLastPara="1" wrap="square" lIns="77300" tIns="77300" rIns="77300" bIns="773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Tx/>
              <a:buNone/>
              <a:tabLst/>
              <a:defRPr/>
            </a:pPr>
            <a:r>
              <a:rPr kumimoji="0" lang="en" sz="700" b="1" i="0" u="none" strike="noStrike" kern="1200" cap="none" spc="0" normalizeH="0" baseline="0" noProof="0">
                <a:ln>
                  <a:noFill/>
                </a:ln>
                <a:effectLst/>
                <a:uLnTx/>
                <a:uFillTx/>
                <a:latin typeface="+mj-lt"/>
                <a:ea typeface="Red Hat Display"/>
                <a:cs typeface="Poppins"/>
                <a:sym typeface="Red Hat Display"/>
              </a:rPr>
              <a:t>Creative Agency</a:t>
            </a:r>
            <a:endParaRPr kumimoji="0" sz="700" b="1" i="0" u="none" strike="noStrike" kern="1200" cap="none" spc="0" normalizeH="0" baseline="0" noProof="0">
              <a:ln>
                <a:noFill/>
              </a:ln>
              <a:effectLst/>
              <a:uLnTx/>
              <a:uFillTx/>
              <a:latin typeface="+mj-lt"/>
              <a:ea typeface="Red Hat Display"/>
              <a:cs typeface="Poppins"/>
              <a:sym typeface="Red Hat Display"/>
            </a:endParaRPr>
          </a:p>
        </p:txBody>
      </p:sp>
      <p:sp>
        <p:nvSpPr>
          <p:cNvPr id="13" name="Google Shape;1619;p96">
            <a:extLst>
              <a:ext uri="{FF2B5EF4-FFF2-40B4-BE49-F238E27FC236}">
                <a16:creationId xmlns:a16="http://schemas.microsoft.com/office/drawing/2014/main" id="{D5977E88-BFE3-A7BA-7F87-DEF78679BB11}"/>
              </a:ext>
            </a:extLst>
          </p:cNvPr>
          <p:cNvSpPr/>
          <p:nvPr/>
        </p:nvSpPr>
        <p:spPr>
          <a:xfrm>
            <a:off x="9904747" y="2218252"/>
            <a:ext cx="1058100" cy="334200"/>
          </a:xfrm>
          <a:prstGeom prst="flowChartDocument">
            <a:avLst/>
          </a:prstGeom>
          <a:solidFill>
            <a:schemeClr val="accent2"/>
          </a:solidFill>
          <a:ln w="9525" cap="flat" cmpd="sng">
            <a:solidFill>
              <a:schemeClr val="tx1"/>
            </a:solidFill>
            <a:prstDash val="dash"/>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a:ln>
                  <a:noFill/>
                </a:ln>
                <a:effectLst/>
                <a:uLnTx/>
                <a:uFillTx/>
                <a:latin typeface="+mj-lt"/>
                <a:ea typeface="Red Hat Display"/>
                <a:cs typeface="Red Hat Display"/>
                <a:sym typeface="Red Hat Display"/>
              </a:rPr>
              <a:t>Mocks Delivered</a:t>
            </a:r>
            <a:endParaRPr kumimoji="0" sz="900" b="0" i="0" u="none" strike="noStrike" kern="1200" cap="none" spc="0" normalizeH="0" baseline="0" noProof="0">
              <a:ln>
                <a:noFill/>
              </a:ln>
              <a:effectLst/>
              <a:uLnTx/>
              <a:uFillTx/>
              <a:latin typeface="+mj-lt"/>
              <a:ea typeface="Red Hat Display"/>
              <a:cs typeface="Red Hat Display"/>
              <a:sym typeface="Red Hat Display"/>
            </a:endParaRPr>
          </a:p>
        </p:txBody>
      </p:sp>
      <p:cxnSp>
        <p:nvCxnSpPr>
          <p:cNvPr id="6" name="Google Shape;1621;p96">
            <a:extLst>
              <a:ext uri="{FF2B5EF4-FFF2-40B4-BE49-F238E27FC236}">
                <a16:creationId xmlns:a16="http://schemas.microsoft.com/office/drawing/2014/main" id="{93FFDE5E-D93C-1B4F-9D80-518BF57A7EE2}"/>
              </a:ext>
            </a:extLst>
          </p:cNvPr>
          <p:cNvCxnSpPr>
            <a:cxnSpLocks/>
            <a:stCxn id="54" idx="3"/>
            <a:endCxn id="13" idx="1"/>
          </p:cNvCxnSpPr>
          <p:nvPr/>
        </p:nvCxnSpPr>
        <p:spPr>
          <a:xfrm>
            <a:off x="7248274" y="2377412"/>
            <a:ext cx="2656473" cy="7940"/>
          </a:xfrm>
          <a:prstGeom prst="straightConnector1">
            <a:avLst/>
          </a:prstGeom>
          <a:noFill/>
          <a:ln w="28575" cap="flat" cmpd="sng">
            <a:solidFill>
              <a:schemeClr val="tx1"/>
            </a:solidFill>
            <a:prstDash val="solid"/>
            <a:round/>
            <a:headEnd type="none" w="sm" len="sm"/>
            <a:tailEnd type="triangle" w="med" len="med"/>
          </a:ln>
        </p:spPr>
      </p:cxnSp>
      <p:sp>
        <p:nvSpPr>
          <p:cNvPr id="22" name="Google Shape;1619;p96">
            <a:extLst>
              <a:ext uri="{FF2B5EF4-FFF2-40B4-BE49-F238E27FC236}">
                <a16:creationId xmlns:a16="http://schemas.microsoft.com/office/drawing/2014/main" id="{6769B1BD-FC72-04C1-C386-BE527834927C}"/>
              </a:ext>
            </a:extLst>
          </p:cNvPr>
          <p:cNvSpPr/>
          <p:nvPr/>
        </p:nvSpPr>
        <p:spPr>
          <a:xfrm>
            <a:off x="2674747" y="4591343"/>
            <a:ext cx="1529084" cy="334200"/>
          </a:xfrm>
          <a:prstGeom prst="flowChartDocument">
            <a:avLst/>
          </a:prstGeom>
          <a:solidFill>
            <a:srgbClr val="FFFFFF"/>
          </a:solidFill>
          <a:ln w="9525" cap="flat" cmpd="sng">
            <a:solidFill>
              <a:schemeClr val="tx1"/>
            </a:solidFill>
            <a:prstDash val="solid"/>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500"/>
              <a:buFont typeface="Arial"/>
              <a:buNone/>
              <a:tabLst/>
              <a:defRPr/>
            </a:pPr>
            <a:r>
              <a:rPr kumimoji="0" lang="en" sz="900" b="0" i="0" u="none" strike="noStrike" kern="1200" cap="none" spc="0" normalizeH="0" baseline="0" noProof="0">
                <a:ln>
                  <a:noFill/>
                </a:ln>
                <a:effectLst/>
                <a:uLnTx/>
                <a:uFillTx/>
                <a:latin typeface="+mj-lt"/>
                <a:ea typeface="Red Hat Display"/>
                <a:cs typeface="Red Hat Display"/>
                <a:sym typeface="Red Hat Display"/>
              </a:rPr>
              <a:t>JS Injection + Acceptance Criteria Delivered</a:t>
            </a:r>
            <a:endParaRPr kumimoji="0" sz="900" b="0" i="0" u="none" strike="noStrike" kern="1200" cap="none" spc="0" normalizeH="0" baseline="0" noProof="0">
              <a:ln>
                <a:noFill/>
              </a:ln>
              <a:effectLst/>
              <a:uLnTx/>
              <a:uFillTx/>
              <a:latin typeface="+mj-lt"/>
              <a:ea typeface="Red Hat Display"/>
              <a:cs typeface="Red Hat Display"/>
              <a:sym typeface="Red Hat Display"/>
            </a:endParaRPr>
          </a:p>
        </p:txBody>
      </p:sp>
      <p:cxnSp>
        <p:nvCxnSpPr>
          <p:cNvPr id="23" name="Google Shape;1657;p96">
            <a:extLst>
              <a:ext uri="{FF2B5EF4-FFF2-40B4-BE49-F238E27FC236}">
                <a16:creationId xmlns:a16="http://schemas.microsoft.com/office/drawing/2014/main" id="{EAA2E907-2866-B78E-E3AE-BE425F39B657}"/>
              </a:ext>
            </a:extLst>
          </p:cNvPr>
          <p:cNvCxnSpPr>
            <a:cxnSpLocks/>
            <a:stCxn id="22" idx="3"/>
            <a:endCxn id="49" idx="1"/>
          </p:cNvCxnSpPr>
          <p:nvPr/>
        </p:nvCxnSpPr>
        <p:spPr>
          <a:xfrm flipV="1">
            <a:off x="4203831" y="4757810"/>
            <a:ext cx="1264331" cy="633"/>
          </a:xfrm>
          <a:prstGeom prst="straightConnector1">
            <a:avLst/>
          </a:prstGeom>
          <a:solidFill>
            <a:schemeClr val="tx1"/>
          </a:solidFill>
          <a:ln w="28575" cap="flat" cmpd="sng">
            <a:solidFill>
              <a:schemeClr val="tx1"/>
            </a:solidFill>
            <a:prstDash val="solid"/>
            <a:round/>
            <a:headEnd type="none" w="sm" len="sm"/>
            <a:tailEnd type="triangle" w="med" len="med"/>
          </a:ln>
        </p:spPr>
      </p:cxnSp>
    </p:spTree>
    <p:extLst>
      <p:ext uri="{BB962C8B-B14F-4D97-AF65-F5344CB8AC3E}">
        <p14:creationId xmlns:p14="http://schemas.microsoft.com/office/powerpoint/2010/main" val="32526909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5BC749-ECE1-4275-34E5-66B053A7C4F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2FBF2A7-0C41-CAFF-D12A-C70441B619EB}"/>
              </a:ext>
            </a:extLst>
          </p:cNvPr>
          <p:cNvSpPr/>
          <p:nvPr/>
        </p:nvSpPr>
        <p:spPr>
          <a:xfrm>
            <a:off x="0" y="0"/>
            <a:ext cx="12192000" cy="24140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57564BA7-1E12-B801-7CE3-648A6CC443A5}"/>
              </a:ext>
            </a:extLst>
          </p:cNvPr>
          <p:cNvSpPr>
            <a:spLocks noGrp="1"/>
          </p:cNvSpPr>
          <p:nvPr>
            <p:ph type="title"/>
          </p:nvPr>
        </p:nvSpPr>
        <p:spPr>
          <a:xfrm>
            <a:off x="495759" y="791962"/>
            <a:ext cx="11060935" cy="1417838"/>
          </a:xfrm>
        </p:spPr>
        <p:txBody>
          <a:bodyPr/>
          <a:lstStyle/>
          <a:p>
            <a:r>
              <a:rPr lang="en-US">
                <a:solidFill>
                  <a:schemeClr val="bg1"/>
                </a:solidFill>
              </a:rPr>
              <a:t>Annualized incremental revenue from our 6-month pilot program was validated with the Catalyst team, </a:t>
            </a:r>
            <a:br>
              <a:rPr lang="en-US">
                <a:solidFill>
                  <a:schemeClr val="bg1"/>
                </a:solidFill>
              </a:rPr>
            </a:br>
            <a:r>
              <a:rPr lang="en-US">
                <a:solidFill>
                  <a:schemeClr val="bg1"/>
                </a:solidFill>
              </a:rPr>
              <a:t>and learnings informed a go-forward roadmap </a:t>
            </a:r>
            <a:endParaRPr lang="en-US" sz="2800">
              <a:solidFill>
                <a:schemeClr val="bg1"/>
              </a:solidFill>
            </a:endParaRPr>
          </a:p>
        </p:txBody>
      </p:sp>
      <p:graphicFrame>
        <p:nvGraphicFramePr>
          <p:cNvPr id="5" name="Content Placeholder 15">
            <a:extLst>
              <a:ext uri="{FF2B5EF4-FFF2-40B4-BE49-F238E27FC236}">
                <a16:creationId xmlns:a16="http://schemas.microsoft.com/office/drawing/2014/main" id="{28DBC1E0-7D2B-8C98-1C44-E72C89A31FE1}"/>
              </a:ext>
            </a:extLst>
          </p:cNvPr>
          <p:cNvGraphicFramePr>
            <a:graphicFrameLocks/>
          </p:cNvGraphicFramePr>
          <p:nvPr/>
        </p:nvGraphicFramePr>
        <p:xfrm>
          <a:off x="616845" y="2823286"/>
          <a:ext cx="4039036" cy="3241398"/>
        </p:xfrm>
        <a:graphic>
          <a:graphicData uri="http://schemas.openxmlformats.org/drawingml/2006/table">
            <a:tbl>
              <a:tblPr firstRow="1"/>
              <a:tblGrid>
                <a:gridCol w="2032237">
                  <a:extLst>
                    <a:ext uri="{9D8B030D-6E8A-4147-A177-3AD203B41FA5}">
                      <a16:colId xmlns:a16="http://schemas.microsoft.com/office/drawing/2014/main" val="20000"/>
                    </a:ext>
                  </a:extLst>
                </a:gridCol>
                <a:gridCol w="2006799">
                  <a:extLst>
                    <a:ext uri="{9D8B030D-6E8A-4147-A177-3AD203B41FA5}">
                      <a16:colId xmlns:a16="http://schemas.microsoft.com/office/drawing/2014/main" val="20001"/>
                    </a:ext>
                  </a:extLst>
                </a:gridCol>
              </a:tblGrid>
              <a:tr h="515677">
                <a:tc gridSpan="2">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indent="0" algn="ctr" defTabSz="914400" rtl="0" eaLnBrk="1" fontAlgn="auto" latinLnBrk="0" hangingPunct="1">
                        <a:lnSpc>
                          <a:spcPct val="90000"/>
                        </a:lnSpc>
                        <a:spcBef>
                          <a:spcPts val="0"/>
                        </a:spcBef>
                        <a:spcAft>
                          <a:spcPts val="0"/>
                        </a:spcAft>
                        <a:buClrTx/>
                        <a:buSzTx/>
                        <a:buFontTx/>
                        <a:buNone/>
                        <a:tabLst/>
                        <a:defRPr/>
                      </a:pPr>
                      <a:r>
                        <a:rPr lang="en-US" sz="1400" b="1" kern="1200">
                          <a:solidFill>
                            <a:schemeClr val="bg1"/>
                          </a:solidFill>
                          <a:latin typeface="+mj-lt"/>
                          <a:ea typeface="+mn-ea"/>
                          <a:cs typeface="Arial"/>
                        </a:rPr>
                        <a:t>Program Results to Date</a:t>
                      </a:r>
                    </a:p>
                  </a:txBody>
                  <a:tcPr marL="60960" marR="1219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marL="0" algn="l" defTabSz="914400" rtl="0" eaLnBrk="1" latinLnBrk="0" hangingPunct="1">
                        <a:lnSpc>
                          <a:spcPct val="90000"/>
                        </a:lnSpc>
                      </a:pPr>
                      <a:endParaRPr lang="en-US" sz="900" b="1" kern="1200">
                        <a:solidFill>
                          <a:schemeClr val="tx1"/>
                        </a:solidFill>
                        <a:latin typeface="+mn-lt"/>
                        <a:ea typeface="+mn-ea"/>
                        <a:cs typeface="+mn-cs"/>
                      </a:endParaRPr>
                    </a:p>
                  </a:txBody>
                  <a:tcPr marL="45720" marR="45720" marT="0" marB="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699847">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a:lnSpc>
                          <a:spcPct val="90000"/>
                        </a:lnSpc>
                      </a:pPr>
                      <a:r>
                        <a:rPr lang="en-US" sz="1200" b="1">
                          <a:solidFill>
                            <a:schemeClr val="tx2"/>
                          </a:solidFill>
                          <a:latin typeface="+mj-lt"/>
                          <a:cs typeface="Arial"/>
                        </a:rPr>
                        <a:t>12 Month Impact to  </a:t>
                      </a:r>
                      <a:endParaRPr lang="en-US"/>
                    </a:p>
                    <a:p>
                      <a:pPr lvl="0" algn="ctr">
                        <a:lnSpc>
                          <a:spcPct val="90000"/>
                        </a:lnSpc>
                        <a:buNone/>
                      </a:pPr>
                      <a:r>
                        <a:rPr lang="en-US" sz="1200" b="1">
                          <a:solidFill>
                            <a:schemeClr val="tx2"/>
                          </a:solidFill>
                          <a:latin typeface="+mj-lt"/>
                          <a:cs typeface="Arial"/>
                        </a:rPr>
                        <a:t>Est. Revenue</a:t>
                      </a:r>
                    </a:p>
                  </a:txBody>
                  <a:tcPr marL="60960" marR="12192" marT="9144" marB="9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indent="0" algn="ctr" defTabSz="914400" rtl="0" eaLnBrk="1" fontAlgn="auto" latinLnBrk="0" hangingPunct="1">
                        <a:lnSpc>
                          <a:spcPct val="90000"/>
                        </a:lnSpc>
                        <a:spcBef>
                          <a:spcPts val="0"/>
                        </a:spcBef>
                        <a:spcAft>
                          <a:spcPts val="0"/>
                        </a:spcAft>
                        <a:buClrTx/>
                        <a:buSzTx/>
                        <a:buFontTx/>
                        <a:buNone/>
                        <a:tabLst/>
                        <a:defRPr/>
                      </a:pPr>
                      <a:r>
                        <a:rPr lang="en-US" sz="1400" b="1">
                          <a:solidFill>
                            <a:schemeClr val="tx1"/>
                          </a:solidFill>
                          <a:latin typeface="+mj-lt"/>
                          <a:cs typeface="Arial"/>
                        </a:rPr>
                        <a:t>$1.6M</a:t>
                      </a:r>
                    </a:p>
                  </a:txBody>
                  <a:tcPr marL="60960" marR="121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88958185"/>
                  </a:ext>
                </a:extLst>
              </a:tr>
              <a:tr h="699847">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a:lnSpc>
                          <a:spcPct val="90000"/>
                        </a:lnSpc>
                      </a:pPr>
                      <a:r>
                        <a:rPr lang="en-US" sz="1200" b="1">
                          <a:solidFill>
                            <a:schemeClr val="tx2"/>
                          </a:solidFill>
                          <a:latin typeface="+mj-lt"/>
                          <a:cs typeface="Arial"/>
                        </a:rPr>
                        <a:t>Visits Impacted  </a:t>
                      </a:r>
                    </a:p>
                  </a:txBody>
                  <a:tcPr marL="60960" marR="12192" marT="9144" marB="9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indent="0" algn="ctr" defTabSz="914400" rtl="0" eaLnBrk="1" fontAlgn="auto" latinLnBrk="0" hangingPunct="1">
                        <a:lnSpc>
                          <a:spcPct val="90000"/>
                        </a:lnSpc>
                        <a:spcBef>
                          <a:spcPts val="0"/>
                        </a:spcBef>
                        <a:spcAft>
                          <a:spcPts val="0"/>
                        </a:spcAft>
                        <a:buClrTx/>
                        <a:buSzTx/>
                        <a:buFontTx/>
                        <a:buNone/>
                        <a:tabLst/>
                        <a:defRPr/>
                      </a:pPr>
                      <a:r>
                        <a:rPr lang="en-US" sz="1400" b="1">
                          <a:solidFill>
                            <a:schemeClr val="tx1"/>
                          </a:solidFill>
                          <a:latin typeface="+mj-lt"/>
                          <a:cs typeface="Arial"/>
                        </a:rPr>
                        <a:t>7,922,860</a:t>
                      </a:r>
                    </a:p>
                  </a:txBody>
                  <a:tcPr marL="60960" marR="121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442009">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a:lnSpc>
                          <a:spcPct val="90000"/>
                        </a:lnSpc>
                      </a:pPr>
                      <a:r>
                        <a:rPr lang="en-US" sz="1200" b="1">
                          <a:solidFill>
                            <a:schemeClr val="tx2"/>
                          </a:solidFill>
                          <a:latin typeface="+mj-lt"/>
                          <a:cs typeface="Arial"/>
                        </a:rPr>
                        <a:t>Conversions in Tests  </a:t>
                      </a:r>
                    </a:p>
                  </a:txBody>
                  <a:tcPr marL="60960" marR="12192" marT="9144" marB="9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indent="0" algn="ctr" defTabSz="914400" rtl="0" eaLnBrk="1" fontAlgn="auto" latinLnBrk="0" hangingPunct="1">
                        <a:lnSpc>
                          <a:spcPct val="90000"/>
                        </a:lnSpc>
                        <a:spcBef>
                          <a:spcPts val="0"/>
                        </a:spcBef>
                        <a:spcAft>
                          <a:spcPts val="0"/>
                        </a:spcAft>
                        <a:buClrTx/>
                        <a:buSzTx/>
                        <a:buFontTx/>
                        <a:buNone/>
                        <a:tabLst/>
                        <a:defRPr/>
                      </a:pPr>
                      <a:r>
                        <a:rPr lang="en-US" sz="1400" b="1">
                          <a:solidFill>
                            <a:schemeClr val="tx1"/>
                          </a:solidFill>
                          <a:latin typeface="+mj-lt"/>
                          <a:cs typeface="Arial"/>
                        </a:rPr>
                        <a:t>3,192,043</a:t>
                      </a:r>
                    </a:p>
                  </a:txBody>
                  <a:tcPr marL="60960" marR="121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442009">
                <a:tc>
                  <a:txBody>
                    <a:bodyPr/>
                    <a:lstStyle/>
                    <a:p>
                      <a:pPr algn="ctr">
                        <a:lnSpc>
                          <a:spcPct val="90000"/>
                        </a:lnSpc>
                      </a:pPr>
                      <a:r>
                        <a:rPr lang="en-US" sz="1200" b="1">
                          <a:solidFill>
                            <a:schemeClr val="tx2"/>
                          </a:solidFill>
                          <a:latin typeface="+mj-lt"/>
                          <a:cs typeface="Arial"/>
                        </a:rPr>
                        <a:t>Tests Completed</a:t>
                      </a:r>
                    </a:p>
                  </a:txBody>
                  <a:tcPr marL="60960" marR="12192" marT="9144" marB="9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90000"/>
                        </a:lnSpc>
                      </a:pPr>
                      <a:r>
                        <a:rPr lang="en-US" sz="1400" b="1">
                          <a:solidFill>
                            <a:schemeClr val="tx1"/>
                          </a:solidFill>
                          <a:latin typeface="+mj-lt"/>
                          <a:cs typeface="Arial"/>
                        </a:rPr>
                        <a:t>12</a:t>
                      </a:r>
                    </a:p>
                  </a:txBody>
                  <a:tcPr marL="60960" marR="121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7912468"/>
                  </a:ext>
                </a:extLst>
              </a:tr>
              <a:tr h="442009">
                <a:tc>
                  <a:txBody>
                    <a:bodyPr/>
                    <a:lstStyle/>
                    <a:p>
                      <a:pPr algn="ctr">
                        <a:lnSpc>
                          <a:spcPct val="90000"/>
                        </a:lnSpc>
                      </a:pPr>
                      <a:r>
                        <a:rPr lang="en-US" sz="1200" b="1">
                          <a:solidFill>
                            <a:schemeClr val="tx2"/>
                          </a:solidFill>
                          <a:latin typeface="+mj-lt"/>
                          <a:cs typeface="Arial"/>
                        </a:rPr>
                        <a:t>Tested Variants</a:t>
                      </a:r>
                    </a:p>
                  </a:txBody>
                  <a:tcPr marL="60960" marR="12192" marT="9144" marB="9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90000"/>
                        </a:lnSpc>
                      </a:pPr>
                      <a:r>
                        <a:rPr lang="en-US" sz="1400" b="1">
                          <a:solidFill>
                            <a:schemeClr val="tx1"/>
                          </a:solidFill>
                          <a:latin typeface="+mj-lt"/>
                          <a:cs typeface="Arial"/>
                        </a:rPr>
                        <a:t>16</a:t>
                      </a:r>
                    </a:p>
                  </a:txBody>
                  <a:tcPr marL="60960" marR="121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1491009"/>
                  </a:ext>
                </a:extLst>
              </a:tr>
            </a:tbl>
          </a:graphicData>
        </a:graphic>
      </p:graphicFrame>
      <p:graphicFrame>
        <p:nvGraphicFramePr>
          <p:cNvPr id="6" name="Chart 5">
            <a:extLst>
              <a:ext uri="{FF2B5EF4-FFF2-40B4-BE49-F238E27FC236}">
                <a16:creationId xmlns:a16="http://schemas.microsoft.com/office/drawing/2014/main" id="{F1F407E4-2DF5-25D4-79B0-FAD2E761EAE9}"/>
              </a:ext>
            </a:extLst>
          </p:cNvPr>
          <p:cNvGraphicFramePr/>
          <p:nvPr/>
        </p:nvGraphicFramePr>
        <p:xfrm>
          <a:off x="5968585" y="2533404"/>
          <a:ext cx="5588109" cy="4148750"/>
        </p:xfrm>
        <a:graphic>
          <a:graphicData uri="http://schemas.openxmlformats.org/drawingml/2006/chart">
            <c:chart xmlns:c="http://schemas.openxmlformats.org/drawingml/2006/chart" xmlns:r="http://schemas.openxmlformats.org/officeDocument/2006/relationships" r:id="rId3"/>
          </a:graphicData>
        </a:graphic>
      </p:graphicFrame>
      <p:sp>
        <p:nvSpPr>
          <p:cNvPr id="8" name="Left Brace 7">
            <a:extLst>
              <a:ext uri="{FF2B5EF4-FFF2-40B4-BE49-F238E27FC236}">
                <a16:creationId xmlns:a16="http://schemas.microsoft.com/office/drawing/2014/main" id="{930C8326-4CFB-92A2-4C7B-B7797FA1C1E5}"/>
              </a:ext>
            </a:extLst>
          </p:cNvPr>
          <p:cNvSpPr/>
          <p:nvPr/>
        </p:nvSpPr>
        <p:spPr>
          <a:xfrm rot="1978441">
            <a:off x="8759725" y="3282693"/>
            <a:ext cx="166229" cy="1473679"/>
          </a:xfrm>
          <a:prstGeom prst="leftBrace">
            <a:avLst/>
          </a:prstGeom>
          <a:ln w="9525">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2477"/>
              </a:solidFill>
              <a:effectLst/>
              <a:uLnTx/>
              <a:uFillTx/>
              <a:latin typeface="Georgia" panose="02040502050405020303"/>
              <a:ea typeface="+mn-ea"/>
              <a:cs typeface="+mn-cs"/>
            </a:endParaRPr>
          </a:p>
        </p:txBody>
      </p:sp>
      <p:sp>
        <p:nvSpPr>
          <p:cNvPr id="11" name="TextBox 10">
            <a:extLst>
              <a:ext uri="{FF2B5EF4-FFF2-40B4-BE49-F238E27FC236}">
                <a16:creationId xmlns:a16="http://schemas.microsoft.com/office/drawing/2014/main" id="{19B534C1-B4CF-80F6-F46C-5F92A9473124}"/>
              </a:ext>
            </a:extLst>
          </p:cNvPr>
          <p:cNvSpPr txBox="1"/>
          <p:nvPr/>
        </p:nvSpPr>
        <p:spPr>
          <a:xfrm rot="18216106">
            <a:off x="7904684" y="3646084"/>
            <a:ext cx="1377775" cy="43088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B050"/>
                </a:solidFill>
                <a:effectLst/>
                <a:uLnTx/>
                <a:uFillTx/>
                <a:latin typeface="+mn-lt"/>
                <a:ea typeface="+mn-ea"/>
                <a:cs typeface="+mn-cs"/>
              </a:rPr>
              <a:t>$1.6M</a:t>
            </a:r>
            <a:r>
              <a:rPr kumimoji="0" lang="en-US" sz="1100" b="0" i="0" u="none" strike="noStrike" kern="1200" cap="none" spc="0" normalizeH="0" baseline="0" noProof="0">
                <a:ln>
                  <a:noFill/>
                </a:ln>
                <a:solidFill>
                  <a:srgbClr val="002477"/>
                </a:solidFill>
                <a:effectLst/>
                <a:uLnTx/>
                <a:uFillTx/>
                <a:latin typeface="+mn-lt"/>
                <a:ea typeface="+mn-ea"/>
                <a:cs typeface="+mn-cs"/>
              </a:rPr>
              <a:t> Improvement</a:t>
            </a:r>
          </a:p>
        </p:txBody>
      </p:sp>
      <p:sp>
        <p:nvSpPr>
          <p:cNvPr id="4" name="TextBox 3">
            <a:extLst>
              <a:ext uri="{FF2B5EF4-FFF2-40B4-BE49-F238E27FC236}">
                <a16:creationId xmlns:a16="http://schemas.microsoft.com/office/drawing/2014/main" id="{15F6AEC1-0070-300A-5B18-1740FEED7616}"/>
              </a:ext>
            </a:extLst>
          </p:cNvPr>
          <p:cNvSpPr txBox="1"/>
          <p:nvPr/>
        </p:nvSpPr>
        <p:spPr>
          <a:xfrm>
            <a:off x="543693" y="6126256"/>
            <a:ext cx="4405745" cy="584775"/>
          </a:xfrm>
          <a:prstGeom prst="rect">
            <a:avLst/>
          </a:prstGeom>
          <a:noFill/>
        </p:spPr>
        <p:txBody>
          <a:bodyPr wrap="square" rtlCol="0">
            <a:spAutoFit/>
          </a:bodyPr>
          <a:lstStyle/>
          <a:p>
            <a:pPr eaLnBrk="1" fontAlgn="auto" hangingPunct="1">
              <a:spcBef>
                <a:spcPts val="0"/>
              </a:spcBef>
              <a:spcAft>
                <a:spcPts val="0"/>
              </a:spcAft>
              <a:defRPr/>
            </a:pPr>
            <a:r>
              <a:rPr kumimoji="0" lang="en-US" sz="800" b="0" i="0" u="none" strike="noStrike" kern="1200" cap="none" spc="0" normalizeH="0" baseline="0" noProof="0">
                <a:ln>
                  <a:noFill/>
                </a:ln>
                <a:solidFill>
                  <a:schemeClr val="tx1">
                    <a:lumMod val="50000"/>
                    <a:lumOff val="50000"/>
                  </a:schemeClr>
                </a:solidFill>
                <a:effectLst/>
                <a:uLnTx/>
                <a:uFillTx/>
                <a:latin typeface="+mn-lt"/>
                <a:ea typeface="+mn-ea"/>
                <a:cs typeface="+mn-cs"/>
              </a:rPr>
              <a:t>*</a:t>
            </a:r>
            <a:r>
              <a:rPr lang="en-US" sz="800">
                <a:solidFill>
                  <a:schemeClr val="tx1">
                    <a:lumMod val="50000"/>
                    <a:lumOff val="50000"/>
                  </a:schemeClr>
                </a:solidFill>
                <a:latin typeface="+mn-lt"/>
                <a:cs typeface="Poppins"/>
              </a:rPr>
              <a:t>Incremental revenue for Brooks Brothers and Aeropostale calculated using holdout/control vs variant performance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lumMod val="50000"/>
                    <a:lumOff val="50000"/>
                  </a:srgbClr>
                </a:solidFill>
                <a:effectLst/>
                <a:uLnTx/>
                <a:uFillTx/>
                <a:latin typeface="Poppins"/>
                <a:ea typeface="+mn-ea"/>
                <a:cs typeface="+mn-cs"/>
              </a:rPr>
              <a:t>*</a:t>
            </a:r>
            <a:r>
              <a:rPr kumimoji="0" lang="en-US" sz="800" b="0" i="0" u="none" strike="noStrike" kern="1200" cap="none" spc="0" normalizeH="0" baseline="0" noProof="0">
                <a:ln>
                  <a:noFill/>
                </a:ln>
                <a:solidFill>
                  <a:srgbClr val="000000">
                    <a:lumMod val="50000"/>
                    <a:lumOff val="50000"/>
                  </a:srgbClr>
                </a:solidFill>
                <a:effectLst/>
                <a:uLnTx/>
                <a:uFillTx/>
                <a:latin typeface="Poppins"/>
                <a:ea typeface="+mn-ea"/>
                <a:cs typeface="Poppins"/>
              </a:rPr>
              <a:t>*3</a:t>
            </a:r>
            <a:r>
              <a:rPr kumimoji="0" lang="en-US" sz="800" b="0" i="0" u="none" strike="noStrike" kern="1200" cap="none" spc="0" normalizeH="0" baseline="0" noProof="0">
                <a:ln>
                  <a:noFill/>
                </a:ln>
                <a:solidFill>
                  <a:srgbClr val="000000">
                    <a:lumMod val="50000"/>
                    <a:lumOff val="50000"/>
                  </a:srgbClr>
                </a:solidFill>
                <a:effectLst/>
                <a:uLnTx/>
                <a:uFillTx/>
                <a:latin typeface="Poppins"/>
                <a:ea typeface="+mn-ea"/>
                <a:cs typeface="+mn-cs"/>
              </a:rPr>
              <a:t> Winners + 1 Positive Rollout</a:t>
            </a:r>
          </a:p>
          <a:p>
            <a:pPr eaLnBrk="1" fontAlgn="auto" hangingPunct="1">
              <a:spcBef>
                <a:spcPts val="0"/>
              </a:spcBef>
              <a:spcAft>
                <a:spcPts val="0"/>
              </a:spcAft>
              <a:defRPr/>
            </a:pPr>
            <a:endParaRPr lang="en-US" sz="800">
              <a:solidFill>
                <a:schemeClr val="tx1">
                  <a:lumMod val="50000"/>
                  <a:lumOff val="50000"/>
                </a:schemeClr>
              </a:solidFill>
              <a:latin typeface="+mn-lt"/>
            </a:endParaRPr>
          </a:p>
        </p:txBody>
      </p:sp>
    </p:spTree>
    <p:extLst>
      <p:ext uri="{BB962C8B-B14F-4D97-AF65-F5344CB8AC3E}">
        <p14:creationId xmlns:p14="http://schemas.microsoft.com/office/powerpoint/2010/main" val="28107614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90BB4B-56E5-86BD-B613-91CDDF39C7BB}"/>
              </a:ext>
            </a:extLst>
          </p:cNvPr>
          <p:cNvSpPr>
            <a:spLocks noGrp="1"/>
          </p:cNvSpPr>
          <p:nvPr>
            <p:ph type="title"/>
          </p:nvPr>
        </p:nvSpPr>
        <p:spPr>
          <a:xfrm>
            <a:off x="838200" y="659728"/>
            <a:ext cx="10515600" cy="1412694"/>
          </a:xfrm>
        </p:spPr>
        <p:txBody>
          <a:bodyPr/>
          <a:lstStyle/>
          <a:p>
            <a:r>
              <a:rPr lang="en-US">
                <a:solidFill>
                  <a:schemeClr val="accent1"/>
                </a:solidFill>
              </a:rPr>
              <a:t>The majority of our optimizations have directly impacted Media efforts, driving truly incremental ROAS and </a:t>
            </a:r>
            <a:br>
              <a:rPr lang="en-US">
                <a:solidFill>
                  <a:schemeClr val="accent1"/>
                </a:solidFill>
              </a:rPr>
            </a:br>
            <a:r>
              <a:rPr lang="en-US">
                <a:solidFill>
                  <a:schemeClr val="accent1"/>
                </a:solidFill>
              </a:rPr>
              <a:t>owned channel sales</a:t>
            </a:r>
          </a:p>
        </p:txBody>
      </p:sp>
      <p:graphicFrame>
        <p:nvGraphicFramePr>
          <p:cNvPr id="3" name="Table 2">
            <a:extLst>
              <a:ext uri="{FF2B5EF4-FFF2-40B4-BE49-F238E27FC236}">
                <a16:creationId xmlns:a16="http://schemas.microsoft.com/office/drawing/2014/main" id="{D9081DF5-26F8-E773-0A94-74E78336543E}"/>
              </a:ext>
            </a:extLst>
          </p:cNvPr>
          <p:cNvGraphicFramePr>
            <a:graphicFrameLocks noGrp="1"/>
          </p:cNvGraphicFramePr>
          <p:nvPr/>
        </p:nvGraphicFramePr>
        <p:xfrm>
          <a:off x="1605847" y="2354131"/>
          <a:ext cx="8620907" cy="3142819"/>
        </p:xfrm>
        <a:graphic>
          <a:graphicData uri="http://schemas.openxmlformats.org/drawingml/2006/table">
            <a:tbl>
              <a:tblPr firstRow="1" bandRow="1">
                <a:tableStyleId>{5C22544A-7EE6-4342-B048-85BDC9FD1C3A}</a:tableStyleId>
              </a:tblPr>
              <a:tblGrid>
                <a:gridCol w="1118816">
                  <a:extLst>
                    <a:ext uri="{9D8B030D-6E8A-4147-A177-3AD203B41FA5}">
                      <a16:colId xmlns:a16="http://schemas.microsoft.com/office/drawing/2014/main" val="651573468"/>
                    </a:ext>
                  </a:extLst>
                </a:gridCol>
                <a:gridCol w="1516926">
                  <a:extLst>
                    <a:ext uri="{9D8B030D-6E8A-4147-A177-3AD203B41FA5}">
                      <a16:colId xmlns:a16="http://schemas.microsoft.com/office/drawing/2014/main" val="3544466176"/>
                    </a:ext>
                  </a:extLst>
                </a:gridCol>
                <a:gridCol w="1228641">
                  <a:extLst>
                    <a:ext uri="{9D8B030D-6E8A-4147-A177-3AD203B41FA5}">
                      <a16:colId xmlns:a16="http://schemas.microsoft.com/office/drawing/2014/main" val="3263072429"/>
                    </a:ext>
                  </a:extLst>
                </a:gridCol>
                <a:gridCol w="1503196">
                  <a:extLst>
                    <a:ext uri="{9D8B030D-6E8A-4147-A177-3AD203B41FA5}">
                      <a16:colId xmlns:a16="http://schemas.microsoft.com/office/drawing/2014/main" val="3369652567"/>
                    </a:ext>
                  </a:extLst>
                </a:gridCol>
                <a:gridCol w="1503196">
                  <a:extLst>
                    <a:ext uri="{9D8B030D-6E8A-4147-A177-3AD203B41FA5}">
                      <a16:colId xmlns:a16="http://schemas.microsoft.com/office/drawing/2014/main" val="2411755005"/>
                    </a:ext>
                  </a:extLst>
                </a:gridCol>
                <a:gridCol w="1750132">
                  <a:extLst>
                    <a:ext uri="{9D8B030D-6E8A-4147-A177-3AD203B41FA5}">
                      <a16:colId xmlns:a16="http://schemas.microsoft.com/office/drawing/2014/main" val="1408583022"/>
                    </a:ext>
                  </a:extLst>
                </a:gridCol>
              </a:tblGrid>
              <a:tr h="979846">
                <a:tc>
                  <a:txBody>
                    <a:bodyPr/>
                    <a:lstStyle/>
                    <a:p>
                      <a:endParaRPr lang="en-US"/>
                    </a:p>
                  </a:txBody>
                  <a:tcPr/>
                </a:tc>
                <a:tc>
                  <a:txBody>
                    <a:bodyPr/>
                    <a:lstStyle/>
                    <a:p>
                      <a:pPr lvl="0" algn="ctr">
                        <a:buNone/>
                      </a:pPr>
                      <a:r>
                        <a:rPr lang="en-US" sz="1400" b="0" i="0" u="none" strike="noStrike" noProof="0">
                          <a:solidFill>
                            <a:srgbClr val="FFFFFF"/>
                          </a:solidFill>
                          <a:latin typeface="Poppins SemiBold"/>
                          <a:cs typeface="Poppins SemiBold"/>
                        </a:rPr>
                        <a:t>Est. 12-Month Incremental Revenue Impact</a:t>
                      </a:r>
                      <a:endParaRPr lang="en-US" sz="1400">
                        <a:latin typeface="Poppins SemiBold"/>
                        <a:cs typeface="Poppins SemiBold"/>
                      </a:endParaRPr>
                    </a:p>
                  </a:txBody>
                  <a:tcPr anchor="ctr"/>
                </a:tc>
                <a:tc>
                  <a:txBody>
                    <a:bodyPr/>
                    <a:lstStyle/>
                    <a:p>
                      <a:pPr lvl="0" algn="ctr">
                        <a:buNone/>
                      </a:pPr>
                      <a:r>
                        <a:rPr lang="en-US" sz="1400">
                          <a:latin typeface="Poppins SemiBold"/>
                          <a:cs typeface="Poppins SemiBold"/>
                        </a:rPr>
                        <a:t>Channel Revenue Lift</a:t>
                      </a:r>
                    </a:p>
                  </a:txBody>
                  <a:tcPr anchor="ctr"/>
                </a:tc>
                <a:tc>
                  <a:txBody>
                    <a:bodyPr/>
                    <a:lstStyle/>
                    <a:p>
                      <a:pPr lvl="0" algn="ctr">
                        <a:buNone/>
                      </a:pPr>
                      <a:r>
                        <a:rPr lang="en-US" sz="1400" b="0" i="0" u="none" strike="noStrike" noProof="0">
                          <a:solidFill>
                            <a:schemeClr val="bg1"/>
                          </a:solidFill>
                          <a:latin typeface="Poppins SemiBold"/>
                          <a:cs typeface="Poppins SemiBold"/>
                        </a:rPr>
                        <a:t>CVR Delta</a:t>
                      </a:r>
                    </a:p>
                    <a:p>
                      <a:pPr lvl="0" algn="ctr">
                        <a:buNone/>
                      </a:pPr>
                      <a:r>
                        <a:rPr lang="en-US" sz="800" b="0" i="0" u="none" strike="noStrike" noProof="0">
                          <a:solidFill>
                            <a:schemeClr val="bg1"/>
                          </a:solidFill>
                          <a:latin typeface="Poppins SemiBold"/>
                          <a:cs typeface="Poppins SemiBold"/>
                        </a:rPr>
                        <a:t>(impacted traffic)</a:t>
                      </a:r>
                      <a:endParaRPr lang="en-US" sz="800">
                        <a:solidFill>
                          <a:schemeClr val="bg1"/>
                        </a:solidFill>
                        <a:latin typeface="Poppins SemiBold"/>
                        <a:cs typeface="Poppins SemiBold"/>
                      </a:endParaRPr>
                    </a:p>
                  </a:txBody>
                  <a:tcPr anchor="ctr"/>
                </a:tc>
                <a:tc>
                  <a:txBody>
                    <a:bodyPr/>
                    <a:lstStyle/>
                    <a:p>
                      <a:pPr lvl="0" algn="ctr">
                        <a:buNone/>
                      </a:pPr>
                      <a:r>
                        <a:rPr lang="en-US" sz="1400">
                          <a:solidFill>
                            <a:schemeClr val="bg1"/>
                          </a:solidFill>
                          <a:latin typeface="Poppins SemiBold"/>
                          <a:cs typeface="Poppins SemiBold"/>
                        </a:rPr>
                        <a:t>AOV Delta</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u="none" strike="noStrike" noProof="0">
                          <a:solidFill>
                            <a:schemeClr val="bg1"/>
                          </a:solidFill>
                          <a:latin typeface="Poppins SemiBold"/>
                          <a:cs typeface="Poppins SemiBold"/>
                        </a:rPr>
                        <a:t>(impacted traffic)</a:t>
                      </a:r>
                      <a:endParaRPr lang="en-US" sz="800">
                        <a:solidFill>
                          <a:schemeClr val="bg1"/>
                        </a:solidFill>
                        <a:latin typeface="Poppins SemiBold"/>
                        <a:cs typeface="Poppins SemiBold"/>
                      </a:endParaRPr>
                    </a:p>
                  </a:txBody>
                  <a:tcPr anchor="ctr"/>
                </a:tc>
                <a:tc>
                  <a:txBody>
                    <a:bodyPr/>
                    <a:lstStyle/>
                    <a:p>
                      <a:pPr algn="ctr"/>
                      <a:r>
                        <a:rPr lang="en-US" sz="1400">
                          <a:latin typeface="Poppins SemiBold"/>
                          <a:cs typeface="Poppins SemiBold"/>
                        </a:rPr>
                        <a:t>% of Total Program Impact</a:t>
                      </a:r>
                    </a:p>
                  </a:txBody>
                  <a:tcPr anchor="ctr"/>
                </a:tc>
                <a:extLst>
                  <a:ext uri="{0D108BD9-81ED-4DB2-BD59-A6C34878D82A}">
                    <a16:rowId xmlns:a16="http://schemas.microsoft.com/office/drawing/2014/main" val="1099883949"/>
                  </a:ext>
                </a:extLst>
              </a:tr>
              <a:tr h="507631">
                <a:tc>
                  <a:txBody>
                    <a:bodyPr/>
                    <a:lstStyle/>
                    <a:p>
                      <a:r>
                        <a:rPr lang="en-US" b="1">
                          <a:solidFill>
                            <a:schemeClr val="accent2"/>
                          </a:solidFill>
                        </a:rPr>
                        <a:t>Paid Media</a:t>
                      </a:r>
                    </a:p>
                  </a:txBody>
                  <a:tcPr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1">
                          <a:solidFill>
                            <a:schemeClr val="accent2"/>
                          </a:solidFill>
                        </a:rPr>
                        <a:t>$650,000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1">
                          <a:solidFill>
                            <a:schemeClr val="accent2"/>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1">
                          <a:solidFill>
                            <a:schemeClr val="accent2"/>
                          </a:solidFill>
                        </a:rPr>
                        <a:t>+0.39%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1">
                          <a:solidFill>
                            <a:schemeClr val="accent2"/>
                          </a:solidFill>
                        </a:rPr>
                        <a:t>+0.61%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1">
                          <a:solidFill>
                            <a:schemeClr val="accent2"/>
                          </a:solidFill>
                        </a:rPr>
                        <a:t>40%</a:t>
                      </a: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55564308"/>
                  </a:ext>
                </a:extLst>
              </a:tr>
              <a:tr h="507631">
                <a:tc>
                  <a:txBody>
                    <a:bodyPr/>
                    <a:lstStyle/>
                    <a:p>
                      <a:r>
                        <a:rPr lang="en-US"/>
                        <a:t>CRM</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t>$430,000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t>+0.73%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t>+0.27%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t>27%</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2748764"/>
                  </a:ext>
                </a:extLst>
              </a:tr>
              <a:tr h="507631">
                <a:tc>
                  <a:txBody>
                    <a:bodyPr/>
                    <a:lstStyle/>
                    <a:p>
                      <a:pPr lvl="0">
                        <a:buNone/>
                      </a:pPr>
                      <a:r>
                        <a:rPr lang="en-US"/>
                        <a:t>SEO</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ctr">
                        <a:buNone/>
                      </a:pPr>
                      <a:r>
                        <a:rPr lang="en-US"/>
                        <a:t>$115,000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ctr">
                        <a:buNone/>
                      </a:pPr>
                      <a:r>
                        <a:rPr lang="en-US"/>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ctr">
                        <a:buNone/>
                      </a:pPr>
                      <a:r>
                        <a:rPr lang="en-US"/>
                        <a:t>+0.35%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ctr">
                        <a:buNone/>
                      </a:pPr>
                      <a:r>
                        <a:rPr lang="en-US"/>
                        <a:t>+0.65%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ctr">
                        <a:buNone/>
                      </a:pPr>
                      <a:r>
                        <a:rPr lang="en-US"/>
                        <a:t>7%</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51764304"/>
                  </a:ext>
                </a:extLst>
              </a:tr>
              <a:tr h="507631">
                <a:tc>
                  <a:txBody>
                    <a:bodyPr/>
                    <a:lstStyle/>
                    <a:p>
                      <a:pPr lvl="0">
                        <a:buNone/>
                      </a:pPr>
                      <a:r>
                        <a:rPr lang="en-US">
                          <a:solidFill>
                            <a:schemeClr val="bg2">
                              <a:lumMod val="90000"/>
                            </a:schemeClr>
                          </a:solidFill>
                        </a:rPr>
                        <a:t>Other</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lvl="0" algn="ctr">
                        <a:buNone/>
                      </a:pPr>
                      <a:r>
                        <a:rPr lang="en-US">
                          <a:solidFill>
                            <a:schemeClr val="bg2">
                              <a:lumMod val="90000"/>
                            </a:schemeClr>
                          </a:solidFill>
                        </a:rPr>
                        <a:t>$405,000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lvl="0" algn="ctr">
                        <a:buNone/>
                      </a:pPr>
                      <a:r>
                        <a:rPr lang="en-US">
                          <a:solidFill>
                            <a:schemeClr val="bg2">
                              <a:lumMod val="90000"/>
                            </a:schemeClr>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lvl="0" algn="ctr">
                        <a:buNone/>
                      </a:pPr>
                      <a:r>
                        <a:rPr lang="en-US">
                          <a:solidFill>
                            <a:schemeClr val="bg2">
                              <a:lumMod val="90000"/>
                            </a:schemeClr>
                          </a:solidFill>
                        </a:rPr>
                        <a:t>+0.37%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lvl="0" algn="ctr">
                        <a:buNone/>
                      </a:pPr>
                      <a:r>
                        <a:rPr lang="en-US">
                          <a:solidFill>
                            <a:schemeClr val="bg2">
                              <a:lumMod val="90000"/>
                            </a:schemeClr>
                          </a:solidFill>
                        </a:rPr>
                        <a:t>+0.63%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lvl="0" algn="ctr">
                        <a:buNone/>
                      </a:pPr>
                      <a:r>
                        <a:rPr lang="en-US">
                          <a:solidFill>
                            <a:schemeClr val="bg2">
                              <a:lumMod val="90000"/>
                            </a:schemeClr>
                          </a:solidFill>
                        </a:rPr>
                        <a:t>26%</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2206096582"/>
                  </a:ext>
                </a:extLst>
              </a:tr>
            </a:tbl>
          </a:graphicData>
        </a:graphic>
      </p:graphicFrame>
      <p:sp>
        <p:nvSpPr>
          <p:cNvPr id="4" name="TextBox 3">
            <a:extLst>
              <a:ext uri="{FF2B5EF4-FFF2-40B4-BE49-F238E27FC236}">
                <a16:creationId xmlns:a16="http://schemas.microsoft.com/office/drawing/2014/main" id="{911D73EF-0020-DB83-23F8-CBD6ECF0042A}"/>
              </a:ext>
            </a:extLst>
          </p:cNvPr>
          <p:cNvSpPr txBox="1"/>
          <p:nvPr/>
        </p:nvSpPr>
        <p:spPr>
          <a:xfrm>
            <a:off x="195041" y="6540934"/>
            <a:ext cx="3636335" cy="215444"/>
          </a:xfrm>
          <a:prstGeom prst="rect">
            <a:avLst/>
          </a:prstGeom>
          <a:noFill/>
        </p:spPr>
        <p:txBody>
          <a:bodyPr wrap="square" rtlCol="0">
            <a:spAutoFit/>
          </a:bodyPr>
          <a:lstStyle/>
          <a:p>
            <a:pPr eaLnBrk="1" fontAlgn="auto" hangingPunct="1">
              <a:spcBef>
                <a:spcPts val="0"/>
              </a:spcBef>
              <a:spcAft>
                <a:spcPts val="0"/>
              </a:spcAft>
              <a:defRPr/>
            </a:pPr>
            <a:r>
              <a:rPr lang="en-US" sz="800" i="1">
                <a:solidFill>
                  <a:schemeClr val="tx1">
                    <a:lumMod val="50000"/>
                    <a:lumOff val="50000"/>
                  </a:schemeClr>
                </a:solidFill>
                <a:latin typeface="+mn-lt"/>
              </a:rPr>
              <a:t>*Performance for Brooks vs. Aero</a:t>
            </a:r>
            <a:r>
              <a:rPr kumimoji="0" lang="en-US" sz="800" b="0" i="1" u="none" strike="noStrike" kern="1200" cap="none" spc="0" normalizeH="0" baseline="0" noProof="0">
                <a:ln>
                  <a:noFill/>
                </a:ln>
                <a:solidFill>
                  <a:schemeClr val="tx1">
                    <a:lumMod val="50000"/>
                    <a:lumOff val="50000"/>
                  </a:schemeClr>
                </a:solidFill>
                <a:effectLst/>
                <a:uLnTx/>
                <a:uFillTx/>
                <a:latin typeface="+mn-lt"/>
                <a:ea typeface="+mn-ea"/>
                <a:cs typeface="+mn-cs"/>
              </a:rPr>
              <a:t> % split 67/32</a:t>
            </a:r>
            <a:endParaRPr lang="en-US" sz="800" i="1">
              <a:solidFill>
                <a:schemeClr val="tx1">
                  <a:lumMod val="50000"/>
                  <a:lumOff val="50000"/>
                </a:schemeClr>
              </a:solidFill>
              <a:latin typeface="+mn-lt"/>
            </a:endParaRPr>
          </a:p>
        </p:txBody>
      </p:sp>
    </p:spTree>
    <p:extLst>
      <p:ext uri="{BB962C8B-B14F-4D97-AF65-F5344CB8AC3E}">
        <p14:creationId xmlns:p14="http://schemas.microsoft.com/office/powerpoint/2010/main" val="4105476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C88085-7483-F5B4-6500-46E5E4FEAD5D}"/>
            </a:ext>
          </a:extLst>
        </p:cNvPr>
        <p:cNvGrpSpPr/>
        <p:nvPr/>
      </p:nvGrpSpPr>
      <p:grpSpPr>
        <a:xfrm>
          <a:off x="0" y="0"/>
          <a:ext cx="0" cy="0"/>
          <a:chOff x="0" y="0"/>
          <a:chExt cx="0" cy="0"/>
        </a:xfrm>
      </p:grpSpPr>
      <p:grpSp>
        <p:nvGrpSpPr>
          <p:cNvPr id="5" name="Group 4">
            <a:extLst>
              <a:ext uri="{FF2B5EF4-FFF2-40B4-BE49-F238E27FC236}">
                <a16:creationId xmlns:a16="http://schemas.microsoft.com/office/drawing/2014/main" id="{C6EAB4D9-2927-6EEB-94AE-AF5A9C9CD802}"/>
              </a:ext>
            </a:extLst>
          </p:cNvPr>
          <p:cNvGrpSpPr/>
          <p:nvPr/>
        </p:nvGrpSpPr>
        <p:grpSpPr>
          <a:xfrm>
            <a:off x="838200" y="2168144"/>
            <a:ext cx="5425440" cy="4139132"/>
            <a:chOff x="660400" y="1876552"/>
            <a:chExt cx="5425440" cy="4139132"/>
          </a:xfrm>
        </p:grpSpPr>
        <p:sp>
          <p:nvSpPr>
            <p:cNvPr id="37" name="Shape 2">
              <a:extLst>
                <a:ext uri="{FF2B5EF4-FFF2-40B4-BE49-F238E27FC236}">
                  <a16:creationId xmlns:a16="http://schemas.microsoft.com/office/drawing/2014/main" id="{93DCD278-FFD6-05AE-9717-A454AB1406CE}"/>
                </a:ext>
              </a:extLst>
            </p:cNvPr>
            <p:cNvSpPr/>
            <p:nvPr/>
          </p:nvSpPr>
          <p:spPr>
            <a:xfrm>
              <a:off x="660400" y="1876552"/>
              <a:ext cx="5425440" cy="4139132"/>
            </a:xfrm>
            <a:prstGeom prst="roundRect">
              <a:avLst>
                <a:gd name="adj" fmla="val 2601"/>
              </a:avLst>
            </a:prstGeom>
            <a:solidFill>
              <a:srgbClr val="FFFFFF"/>
            </a:solidFill>
            <a:ln w="12700">
              <a:solidFill>
                <a:srgbClr val="D5DDE3"/>
              </a:solidFill>
              <a:prstDash val="solid"/>
            </a:ln>
            <a:effectLst>
              <a:outerShdw blurRad="63500" dist="12700" dir="5400000" algn="bl" rotWithShape="0">
                <a:srgbClr val="7A8A96">
                  <a:alpha val="10000"/>
                </a:srgbClr>
              </a:outerShdw>
            </a:effectLst>
          </p:spPr>
          <p:txBody>
            <a:bodyPr/>
            <a:lstStyle/>
            <a:p>
              <a:endParaRPr lang="en-US"/>
            </a:p>
          </p:txBody>
        </p:sp>
        <p:sp>
          <p:nvSpPr>
            <p:cNvPr id="38" name="Text 4">
              <a:extLst>
                <a:ext uri="{FF2B5EF4-FFF2-40B4-BE49-F238E27FC236}">
                  <a16:creationId xmlns:a16="http://schemas.microsoft.com/office/drawing/2014/main" id="{7B67E7F7-B628-81D4-23AB-01D57092562F}"/>
                </a:ext>
              </a:extLst>
            </p:cNvPr>
            <p:cNvSpPr/>
            <p:nvPr/>
          </p:nvSpPr>
          <p:spPr>
            <a:xfrm>
              <a:off x="879856" y="2022856"/>
              <a:ext cx="4986528" cy="243840"/>
            </a:xfrm>
            <a:prstGeom prst="rect">
              <a:avLst/>
            </a:prstGeom>
            <a:noFill/>
            <a:ln/>
          </p:spPr>
          <p:txBody>
            <a:bodyPr wrap="square" lIns="0" tIns="0" rIns="0" bIns="0" rtlCol="0" anchor="ctr"/>
            <a:lstStyle/>
            <a:p>
              <a:pPr algn="ctr"/>
              <a:r>
                <a:rPr lang="en-US" sz="1400" b="1" kern="0" spc="53">
                  <a:solidFill>
                    <a:srgbClr val="113B56"/>
                  </a:solidFill>
                  <a:latin typeface="Poppins" pitchFamily="34" charset="0"/>
                  <a:ea typeface="Poppins" pitchFamily="34" charset="-122"/>
                  <a:cs typeface="Poppins" pitchFamily="34" charset="-120"/>
                </a:rPr>
                <a:t>Where The Media/Owned Funnel Leaks</a:t>
              </a:r>
              <a:endParaRPr lang="en-US" sz="1400"/>
            </a:p>
          </p:txBody>
        </p:sp>
        <p:sp>
          <p:nvSpPr>
            <p:cNvPr id="39" name="Text 5">
              <a:extLst>
                <a:ext uri="{FF2B5EF4-FFF2-40B4-BE49-F238E27FC236}">
                  <a16:creationId xmlns:a16="http://schemas.microsoft.com/office/drawing/2014/main" id="{FCEED0C3-B3A8-1761-48A4-D42A65556EB4}"/>
                </a:ext>
              </a:extLst>
            </p:cNvPr>
            <p:cNvSpPr/>
            <p:nvPr/>
          </p:nvSpPr>
          <p:spPr>
            <a:xfrm>
              <a:off x="879856" y="2266696"/>
              <a:ext cx="4986528" cy="182880"/>
            </a:xfrm>
            <a:prstGeom prst="rect">
              <a:avLst/>
            </a:prstGeom>
            <a:noFill/>
            <a:ln/>
          </p:spPr>
          <p:txBody>
            <a:bodyPr wrap="square" lIns="0" tIns="0" rIns="0" bIns="0" rtlCol="0" anchor="ctr"/>
            <a:lstStyle/>
            <a:p>
              <a:pPr algn="ctr"/>
              <a:r>
                <a:rPr lang="en-US" sz="1000" i="1">
                  <a:solidFill>
                    <a:srgbClr val="8A99A6"/>
                  </a:solidFill>
                  <a:latin typeface="Poppins" pitchFamily="34" charset="0"/>
                  <a:ea typeface="Poppins" pitchFamily="34" charset="-122"/>
                  <a:cs typeface="Poppins" pitchFamily="34" charset="-120"/>
                </a:rPr>
                <a:t>current rate (2026) and YoY change</a:t>
              </a:r>
              <a:endParaRPr lang="en-US" sz="1000"/>
            </a:p>
          </p:txBody>
        </p:sp>
        <p:sp>
          <p:nvSpPr>
            <p:cNvPr id="40" name="Text 6">
              <a:extLst>
                <a:ext uri="{FF2B5EF4-FFF2-40B4-BE49-F238E27FC236}">
                  <a16:creationId xmlns:a16="http://schemas.microsoft.com/office/drawing/2014/main" id="{8A42DAF3-C464-FF6C-6D27-61470BB96ED2}"/>
                </a:ext>
              </a:extLst>
            </p:cNvPr>
            <p:cNvSpPr/>
            <p:nvPr/>
          </p:nvSpPr>
          <p:spPr>
            <a:xfrm>
              <a:off x="879856" y="2510536"/>
              <a:ext cx="2267712" cy="268224"/>
            </a:xfrm>
            <a:prstGeom prst="rect">
              <a:avLst/>
            </a:prstGeom>
            <a:noFill/>
            <a:ln/>
          </p:spPr>
          <p:txBody>
            <a:bodyPr wrap="square" lIns="0" tIns="0" rIns="0" bIns="0" rtlCol="0" anchor="ctr"/>
            <a:lstStyle/>
            <a:p>
              <a:r>
                <a:rPr lang="en-US" sz="1067" b="1">
                  <a:solidFill>
                    <a:srgbClr val="113B56"/>
                  </a:solidFill>
                  <a:latin typeface="Poppins" pitchFamily="34" charset="0"/>
                  <a:ea typeface="Poppins" pitchFamily="34" charset="-122"/>
                  <a:cs typeface="Poppins" pitchFamily="34" charset="-120"/>
                </a:rPr>
                <a:t>Funnel step</a:t>
              </a:r>
              <a:endParaRPr lang="en-US" sz="1067"/>
            </a:p>
          </p:txBody>
        </p:sp>
        <p:sp>
          <p:nvSpPr>
            <p:cNvPr id="41" name="Text 7">
              <a:extLst>
                <a:ext uri="{FF2B5EF4-FFF2-40B4-BE49-F238E27FC236}">
                  <a16:creationId xmlns:a16="http://schemas.microsoft.com/office/drawing/2014/main" id="{D1FF1AEF-450C-C4E2-298E-D1CF7A16B1BD}"/>
                </a:ext>
              </a:extLst>
            </p:cNvPr>
            <p:cNvSpPr/>
            <p:nvPr/>
          </p:nvSpPr>
          <p:spPr>
            <a:xfrm>
              <a:off x="3196336" y="2510536"/>
              <a:ext cx="1280160" cy="268224"/>
            </a:xfrm>
            <a:prstGeom prst="rect">
              <a:avLst/>
            </a:prstGeom>
            <a:noFill/>
            <a:ln/>
          </p:spPr>
          <p:txBody>
            <a:bodyPr wrap="square" lIns="0" tIns="0" rIns="0" bIns="0" rtlCol="0" anchor="ctr"/>
            <a:lstStyle/>
            <a:p>
              <a:pPr algn="ctr"/>
              <a:r>
                <a:rPr lang="en-US" sz="1133" b="1" kern="0" spc="40">
                  <a:solidFill>
                    <a:schemeClr val="accent3"/>
                  </a:solidFill>
                  <a:latin typeface="Poppins" pitchFamily="34" charset="0"/>
                  <a:ea typeface="Poppins" pitchFamily="34" charset="-122"/>
                  <a:cs typeface="Poppins" pitchFamily="34" charset="-120"/>
                </a:rPr>
                <a:t>AERO</a:t>
              </a:r>
              <a:endParaRPr lang="en-US" sz="1133">
                <a:solidFill>
                  <a:schemeClr val="accent3"/>
                </a:solidFill>
              </a:endParaRPr>
            </a:p>
          </p:txBody>
        </p:sp>
        <p:sp>
          <p:nvSpPr>
            <p:cNvPr id="42" name="Text 8">
              <a:extLst>
                <a:ext uri="{FF2B5EF4-FFF2-40B4-BE49-F238E27FC236}">
                  <a16:creationId xmlns:a16="http://schemas.microsoft.com/office/drawing/2014/main" id="{3D4C77CE-90D1-157F-61A1-1BA927E06B31}"/>
                </a:ext>
              </a:extLst>
            </p:cNvPr>
            <p:cNvSpPr/>
            <p:nvPr/>
          </p:nvSpPr>
          <p:spPr>
            <a:xfrm>
              <a:off x="4525264" y="2510536"/>
              <a:ext cx="1280160" cy="268224"/>
            </a:xfrm>
            <a:prstGeom prst="rect">
              <a:avLst/>
            </a:prstGeom>
            <a:noFill/>
            <a:ln/>
          </p:spPr>
          <p:txBody>
            <a:bodyPr wrap="square" lIns="0" tIns="0" rIns="0" bIns="0" rtlCol="0" anchor="ctr"/>
            <a:lstStyle/>
            <a:p>
              <a:pPr algn="ctr"/>
              <a:r>
                <a:rPr lang="en-US" sz="1133" b="1" kern="0" spc="40">
                  <a:solidFill>
                    <a:srgbClr val="2A8C39"/>
                  </a:solidFill>
                  <a:latin typeface="Poppins" pitchFamily="34" charset="0"/>
                  <a:ea typeface="Poppins" pitchFamily="34" charset="-122"/>
                  <a:cs typeface="Poppins" pitchFamily="34" charset="-120"/>
                </a:rPr>
                <a:t>BB</a:t>
              </a:r>
              <a:endParaRPr lang="en-US" sz="1133"/>
            </a:p>
          </p:txBody>
        </p:sp>
        <p:sp>
          <p:nvSpPr>
            <p:cNvPr id="43" name="Shape 9">
              <a:extLst>
                <a:ext uri="{FF2B5EF4-FFF2-40B4-BE49-F238E27FC236}">
                  <a16:creationId xmlns:a16="http://schemas.microsoft.com/office/drawing/2014/main" id="{70F6A24D-9241-860B-B1A1-974BBF555F70}"/>
                </a:ext>
              </a:extLst>
            </p:cNvPr>
            <p:cNvSpPr/>
            <p:nvPr/>
          </p:nvSpPr>
          <p:spPr>
            <a:xfrm>
              <a:off x="879856" y="2851912"/>
              <a:ext cx="4925568" cy="0"/>
            </a:xfrm>
            <a:prstGeom prst="line">
              <a:avLst/>
            </a:prstGeom>
            <a:noFill/>
            <a:ln w="12700">
              <a:solidFill>
                <a:srgbClr val="BFCAD2"/>
              </a:solidFill>
              <a:prstDash val="solid"/>
            </a:ln>
          </p:spPr>
          <p:txBody>
            <a:bodyPr/>
            <a:lstStyle/>
            <a:p>
              <a:endParaRPr lang="en-US"/>
            </a:p>
          </p:txBody>
        </p:sp>
        <p:sp>
          <p:nvSpPr>
            <p:cNvPr id="44" name="Text 10">
              <a:extLst>
                <a:ext uri="{FF2B5EF4-FFF2-40B4-BE49-F238E27FC236}">
                  <a16:creationId xmlns:a16="http://schemas.microsoft.com/office/drawing/2014/main" id="{D44DA7AA-4822-F636-23EF-92B2B9F5E0F0}"/>
                </a:ext>
              </a:extLst>
            </p:cNvPr>
            <p:cNvSpPr/>
            <p:nvPr/>
          </p:nvSpPr>
          <p:spPr>
            <a:xfrm>
              <a:off x="879856" y="2851912"/>
              <a:ext cx="2267712" cy="774192"/>
            </a:xfrm>
            <a:prstGeom prst="rect">
              <a:avLst/>
            </a:prstGeom>
            <a:noFill/>
            <a:ln/>
          </p:spPr>
          <p:txBody>
            <a:bodyPr wrap="square" lIns="0" tIns="0" rIns="0" bIns="0" rtlCol="0" anchor="ctr"/>
            <a:lstStyle/>
            <a:p>
              <a:pPr>
                <a:lnSpc>
                  <a:spcPct val="95000"/>
                </a:lnSpc>
              </a:pPr>
              <a:r>
                <a:rPr lang="en-US" sz="1200" b="1">
                  <a:solidFill>
                    <a:srgbClr val="113B56"/>
                  </a:solidFill>
                  <a:latin typeface="Poppins" pitchFamily="34" charset="0"/>
                  <a:ea typeface="Poppins" pitchFamily="34" charset="-122"/>
                  <a:cs typeface="Poppins" pitchFamily="34" charset="-120"/>
                </a:rPr>
                <a:t>Product views / session</a:t>
              </a:r>
              <a:endParaRPr lang="en-US" sz="1200"/>
            </a:p>
            <a:p>
              <a:pPr>
                <a:lnSpc>
                  <a:spcPct val="95000"/>
                </a:lnSpc>
              </a:pPr>
              <a:r>
                <a:rPr lang="en-US" sz="933" i="1">
                  <a:solidFill>
                    <a:srgbClr val="8A99A6"/>
                  </a:solidFill>
                  <a:latin typeface="Poppins" pitchFamily="34" charset="0"/>
                  <a:ea typeface="Poppins" pitchFamily="34" charset="-122"/>
                  <a:cs typeface="Poppins" pitchFamily="34" charset="-120"/>
                </a:rPr>
                <a:t>views ÷ sessions</a:t>
              </a:r>
              <a:endParaRPr lang="en-US" sz="1200"/>
            </a:p>
          </p:txBody>
        </p:sp>
        <p:sp>
          <p:nvSpPr>
            <p:cNvPr id="79" name="Shape 20">
              <a:extLst>
                <a:ext uri="{FF2B5EF4-FFF2-40B4-BE49-F238E27FC236}">
                  <a16:creationId xmlns:a16="http://schemas.microsoft.com/office/drawing/2014/main" id="{784D0C6C-DE2B-B157-8198-A65A039C62E2}"/>
                </a:ext>
              </a:extLst>
            </p:cNvPr>
            <p:cNvSpPr/>
            <p:nvPr/>
          </p:nvSpPr>
          <p:spPr>
            <a:xfrm>
              <a:off x="3219704" y="2887420"/>
              <a:ext cx="1280160" cy="701040"/>
            </a:xfrm>
            <a:prstGeom prst="rect">
              <a:avLst/>
            </a:prstGeom>
            <a:solidFill>
              <a:srgbClr val="FBE8DA"/>
            </a:solidFill>
            <a:ln/>
          </p:spPr>
          <p:txBody>
            <a:bodyPr/>
            <a:lstStyle/>
            <a:p>
              <a:endParaRPr lang="en-US"/>
            </a:p>
          </p:txBody>
        </p:sp>
        <p:sp>
          <p:nvSpPr>
            <p:cNvPr id="45" name="Text 11">
              <a:extLst>
                <a:ext uri="{FF2B5EF4-FFF2-40B4-BE49-F238E27FC236}">
                  <a16:creationId xmlns:a16="http://schemas.microsoft.com/office/drawing/2014/main" id="{F38FF084-96A7-0008-C6CD-F60087F8FA07}"/>
                </a:ext>
              </a:extLst>
            </p:cNvPr>
            <p:cNvSpPr/>
            <p:nvPr/>
          </p:nvSpPr>
          <p:spPr>
            <a:xfrm>
              <a:off x="3196336" y="2851912"/>
              <a:ext cx="1280160" cy="774192"/>
            </a:xfrm>
            <a:prstGeom prst="rect">
              <a:avLst/>
            </a:prstGeom>
            <a:noFill/>
            <a:ln/>
          </p:spPr>
          <p:txBody>
            <a:bodyPr wrap="square" lIns="0" tIns="0" rIns="0" bIns="0" rtlCol="0" anchor="ctr"/>
            <a:lstStyle/>
            <a:p>
              <a:pPr algn="ctr">
                <a:lnSpc>
                  <a:spcPct val="95000"/>
                </a:lnSpc>
              </a:pPr>
              <a:r>
                <a:rPr lang="en-US" sz="1467" b="1">
                  <a:solidFill>
                    <a:srgbClr val="113B56"/>
                  </a:solidFill>
                  <a:latin typeface="Poppins" pitchFamily="34" charset="0"/>
                  <a:ea typeface="Poppins" pitchFamily="34" charset="-122"/>
                  <a:cs typeface="Poppins" pitchFamily="34" charset="-120"/>
                </a:rPr>
                <a:t>1.19</a:t>
              </a:r>
              <a:endParaRPr lang="en-US" sz="1467"/>
            </a:p>
            <a:p>
              <a:pPr algn="ctr">
                <a:lnSpc>
                  <a:spcPct val="95000"/>
                </a:lnSpc>
              </a:pPr>
              <a:r>
                <a:rPr lang="en-US" sz="1067" b="1">
                  <a:solidFill>
                    <a:srgbClr val="B5500A"/>
                  </a:solidFill>
                  <a:latin typeface="Poppins" pitchFamily="34" charset="0"/>
                  <a:ea typeface="Poppins" pitchFamily="34" charset="-122"/>
                  <a:cs typeface="Poppins" pitchFamily="34" charset="-120"/>
                </a:rPr>
                <a:t>-16% </a:t>
              </a:r>
              <a:r>
                <a:rPr lang="en-US" sz="933" b="1">
                  <a:solidFill>
                    <a:srgbClr val="B5500A"/>
                  </a:solidFill>
                  <a:latin typeface="Poppins" pitchFamily="34" charset="0"/>
                  <a:ea typeface="Poppins" pitchFamily="34" charset="-122"/>
                  <a:cs typeface="Poppins" pitchFamily="34" charset="-120"/>
                </a:rPr>
                <a:t>▼</a:t>
              </a:r>
              <a:endParaRPr lang="en-US" sz="1467"/>
            </a:p>
          </p:txBody>
        </p:sp>
        <p:sp>
          <p:nvSpPr>
            <p:cNvPr id="46" name="Text 12">
              <a:extLst>
                <a:ext uri="{FF2B5EF4-FFF2-40B4-BE49-F238E27FC236}">
                  <a16:creationId xmlns:a16="http://schemas.microsoft.com/office/drawing/2014/main" id="{DEDA7D58-84EA-6785-37A3-D15E85120B3C}"/>
                </a:ext>
              </a:extLst>
            </p:cNvPr>
            <p:cNvSpPr/>
            <p:nvPr/>
          </p:nvSpPr>
          <p:spPr>
            <a:xfrm>
              <a:off x="4525264" y="2851912"/>
              <a:ext cx="1280160" cy="774192"/>
            </a:xfrm>
            <a:prstGeom prst="rect">
              <a:avLst/>
            </a:prstGeom>
            <a:noFill/>
            <a:ln/>
          </p:spPr>
          <p:txBody>
            <a:bodyPr wrap="square" lIns="0" tIns="0" rIns="0" bIns="0" rtlCol="0" anchor="ctr"/>
            <a:lstStyle/>
            <a:p>
              <a:pPr algn="ctr">
                <a:lnSpc>
                  <a:spcPct val="95000"/>
                </a:lnSpc>
              </a:pPr>
              <a:r>
                <a:rPr lang="en-US" sz="1467" b="1">
                  <a:solidFill>
                    <a:srgbClr val="113B56"/>
                  </a:solidFill>
                  <a:latin typeface="Poppins" pitchFamily="34" charset="0"/>
                  <a:ea typeface="Poppins" pitchFamily="34" charset="-122"/>
                  <a:cs typeface="Poppins" pitchFamily="34" charset="-120"/>
                </a:rPr>
                <a:t>1.27</a:t>
              </a:r>
              <a:endParaRPr lang="en-US" sz="1467"/>
            </a:p>
            <a:p>
              <a:pPr algn="ctr">
                <a:lnSpc>
                  <a:spcPct val="95000"/>
                </a:lnSpc>
              </a:pPr>
              <a:r>
                <a:rPr lang="en-US" sz="1067" b="1">
                  <a:solidFill>
                    <a:srgbClr val="B5500A"/>
                  </a:solidFill>
                  <a:latin typeface="Poppins" pitchFamily="34" charset="0"/>
                  <a:ea typeface="Poppins" pitchFamily="34" charset="-122"/>
                  <a:cs typeface="Poppins" pitchFamily="34" charset="-120"/>
                </a:rPr>
                <a:t>-8% </a:t>
              </a:r>
              <a:r>
                <a:rPr lang="en-US" sz="933" b="1">
                  <a:solidFill>
                    <a:srgbClr val="B5500A"/>
                  </a:solidFill>
                  <a:latin typeface="Poppins" pitchFamily="34" charset="0"/>
                  <a:ea typeface="Poppins" pitchFamily="34" charset="-122"/>
                  <a:cs typeface="Poppins" pitchFamily="34" charset="-120"/>
                </a:rPr>
                <a:t>▼</a:t>
              </a:r>
              <a:endParaRPr lang="en-US" sz="1467"/>
            </a:p>
          </p:txBody>
        </p:sp>
        <p:sp>
          <p:nvSpPr>
            <p:cNvPr id="47" name="Shape 13">
              <a:extLst>
                <a:ext uri="{FF2B5EF4-FFF2-40B4-BE49-F238E27FC236}">
                  <a16:creationId xmlns:a16="http://schemas.microsoft.com/office/drawing/2014/main" id="{0918BF52-DDFB-A37C-99F6-EBD65E8A2AF1}"/>
                </a:ext>
              </a:extLst>
            </p:cNvPr>
            <p:cNvSpPr/>
            <p:nvPr/>
          </p:nvSpPr>
          <p:spPr>
            <a:xfrm>
              <a:off x="879856" y="3626104"/>
              <a:ext cx="4925568" cy="0"/>
            </a:xfrm>
            <a:prstGeom prst="line">
              <a:avLst/>
            </a:prstGeom>
            <a:noFill/>
            <a:ln w="6350">
              <a:solidFill>
                <a:srgbClr val="DCE3E8"/>
              </a:solidFill>
              <a:prstDash val="solid"/>
            </a:ln>
          </p:spPr>
          <p:txBody>
            <a:bodyPr/>
            <a:lstStyle/>
            <a:p>
              <a:endParaRPr lang="en-US"/>
            </a:p>
          </p:txBody>
        </p:sp>
        <p:sp>
          <p:nvSpPr>
            <p:cNvPr id="48" name="Text 14">
              <a:extLst>
                <a:ext uri="{FF2B5EF4-FFF2-40B4-BE49-F238E27FC236}">
                  <a16:creationId xmlns:a16="http://schemas.microsoft.com/office/drawing/2014/main" id="{33EA3BD9-90A6-7468-F3A1-39495D1F9DF4}"/>
                </a:ext>
              </a:extLst>
            </p:cNvPr>
            <p:cNvSpPr/>
            <p:nvPr/>
          </p:nvSpPr>
          <p:spPr>
            <a:xfrm>
              <a:off x="879856" y="3626104"/>
              <a:ext cx="2267712" cy="774192"/>
            </a:xfrm>
            <a:prstGeom prst="rect">
              <a:avLst/>
            </a:prstGeom>
            <a:noFill/>
            <a:ln/>
          </p:spPr>
          <p:txBody>
            <a:bodyPr wrap="square" lIns="0" tIns="0" rIns="0" bIns="0" rtlCol="0" anchor="ctr"/>
            <a:lstStyle/>
            <a:p>
              <a:pPr>
                <a:lnSpc>
                  <a:spcPct val="95000"/>
                </a:lnSpc>
              </a:pPr>
              <a:r>
                <a:rPr lang="en-US" sz="1200" b="1">
                  <a:solidFill>
                    <a:srgbClr val="113B56"/>
                  </a:solidFill>
                  <a:latin typeface="Poppins" pitchFamily="34" charset="0"/>
                  <a:ea typeface="Poppins" pitchFamily="34" charset="-122"/>
                  <a:cs typeface="Poppins" pitchFamily="34" charset="-120"/>
                </a:rPr>
                <a:t>Add-to-cart rate</a:t>
              </a:r>
              <a:endParaRPr lang="en-US" sz="1200"/>
            </a:p>
            <a:p>
              <a:pPr>
                <a:lnSpc>
                  <a:spcPct val="95000"/>
                </a:lnSpc>
              </a:pPr>
              <a:r>
                <a:rPr lang="en-US" sz="933" i="1">
                  <a:solidFill>
                    <a:srgbClr val="8A99A6"/>
                  </a:solidFill>
                  <a:latin typeface="Poppins" pitchFamily="34" charset="0"/>
                  <a:ea typeface="Poppins" pitchFamily="34" charset="-122"/>
                  <a:cs typeface="Poppins" pitchFamily="34" charset="-120"/>
                </a:rPr>
                <a:t>carts ÷ views</a:t>
              </a:r>
              <a:endParaRPr lang="en-US" sz="1200"/>
            </a:p>
          </p:txBody>
        </p:sp>
        <p:sp>
          <p:nvSpPr>
            <p:cNvPr id="49" name="Text 15">
              <a:extLst>
                <a:ext uri="{FF2B5EF4-FFF2-40B4-BE49-F238E27FC236}">
                  <a16:creationId xmlns:a16="http://schemas.microsoft.com/office/drawing/2014/main" id="{45A4A18F-BBFB-DC9C-3F85-2CBFE339A25F}"/>
                </a:ext>
              </a:extLst>
            </p:cNvPr>
            <p:cNvSpPr/>
            <p:nvPr/>
          </p:nvSpPr>
          <p:spPr>
            <a:xfrm>
              <a:off x="3196336" y="3626104"/>
              <a:ext cx="1280160" cy="774192"/>
            </a:xfrm>
            <a:prstGeom prst="rect">
              <a:avLst/>
            </a:prstGeom>
            <a:noFill/>
            <a:ln/>
          </p:spPr>
          <p:txBody>
            <a:bodyPr wrap="square" lIns="0" tIns="0" rIns="0" bIns="0" rtlCol="0" anchor="ctr"/>
            <a:lstStyle/>
            <a:p>
              <a:pPr algn="ctr">
                <a:lnSpc>
                  <a:spcPct val="95000"/>
                </a:lnSpc>
              </a:pPr>
              <a:r>
                <a:rPr lang="en-US" sz="1467" b="1">
                  <a:solidFill>
                    <a:srgbClr val="113B56"/>
                  </a:solidFill>
                  <a:latin typeface="Poppins" pitchFamily="34" charset="0"/>
                  <a:ea typeface="Poppins" pitchFamily="34" charset="-122"/>
                  <a:cs typeface="Poppins" pitchFamily="34" charset="-120"/>
                </a:rPr>
                <a:t>17.7%</a:t>
              </a:r>
              <a:endParaRPr lang="en-US" sz="1467"/>
            </a:p>
            <a:p>
              <a:pPr algn="ctr">
                <a:lnSpc>
                  <a:spcPct val="95000"/>
                </a:lnSpc>
              </a:pPr>
              <a:r>
                <a:rPr lang="en-US" sz="1067" b="1">
                  <a:solidFill>
                    <a:srgbClr val="5C6B76"/>
                  </a:solidFill>
                  <a:latin typeface="Poppins" pitchFamily="34" charset="0"/>
                  <a:ea typeface="Poppins" pitchFamily="34" charset="-122"/>
                  <a:cs typeface="Poppins" pitchFamily="34" charset="-120"/>
                </a:rPr>
                <a:t>-3% </a:t>
              </a:r>
              <a:r>
                <a:rPr lang="en-US" sz="933" b="1">
                  <a:solidFill>
                    <a:srgbClr val="5C6B76"/>
                  </a:solidFill>
                  <a:latin typeface="Poppins" pitchFamily="34" charset="0"/>
                  <a:ea typeface="Poppins" pitchFamily="34" charset="-122"/>
                  <a:cs typeface="Poppins" pitchFamily="34" charset="-120"/>
                </a:rPr>
                <a:t>=</a:t>
              </a:r>
              <a:endParaRPr lang="en-US" sz="1467"/>
            </a:p>
          </p:txBody>
        </p:sp>
        <p:sp>
          <p:nvSpPr>
            <p:cNvPr id="50" name="Shape 16">
              <a:extLst>
                <a:ext uri="{FF2B5EF4-FFF2-40B4-BE49-F238E27FC236}">
                  <a16:creationId xmlns:a16="http://schemas.microsoft.com/office/drawing/2014/main" id="{FC8CC6C0-C9C6-C35C-7FBA-D5B7B1D12653}"/>
                </a:ext>
              </a:extLst>
            </p:cNvPr>
            <p:cNvSpPr/>
            <p:nvPr/>
          </p:nvSpPr>
          <p:spPr>
            <a:xfrm>
              <a:off x="4525264" y="3662680"/>
              <a:ext cx="1280160" cy="701040"/>
            </a:xfrm>
            <a:prstGeom prst="rect">
              <a:avLst/>
            </a:prstGeom>
            <a:solidFill>
              <a:srgbClr val="FBE8DA"/>
            </a:solidFill>
            <a:ln/>
          </p:spPr>
          <p:txBody>
            <a:bodyPr/>
            <a:lstStyle/>
            <a:p>
              <a:endParaRPr lang="en-US"/>
            </a:p>
          </p:txBody>
        </p:sp>
        <p:sp>
          <p:nvSpPr>
            <p:cNvPr id="51" name="Text 17">
              <a:extLst>
                <a:ext uri="{FF2B5EF4-FFF2-40B4-BE49-F238E27FC236}">
                  <a16:creationId xmlns:a16="http://schemas.microsoft.com/office/drawing/2014/main" id="{AE082136-6330-813B-9C4A-FA76F367C3A0}"/>
                </a:ext>
              </a:extLst>
            </p:cNvPr>
            <p:cNvSpPr/>
            <p:nvPr/>
          </p:nvSpPr>
          <p:spPr>
            <a:xfrm>
              <a:off x="4525264" y="3626104"/>
              <a:ext cx="1280160" cy="774192"/>
            </a:xfrm>
            <a:prstGeom prst="rect">
              <a:avLst/>
            </a:prstGeom>
            <a:noFill/>
            <a:ln/>
          </p:spPr>
          <p:txBody>
            <a:bodyPr wrap="square" lIns="0" tIns="0" rIns="0" bIns="0" rtlCol="0" anchor="ctr"/>
            <a:lstStyle/>
            <a:p>
              <a:pPr algn="ctr">
                <a:lnSpc>
                  <a:spcPct val="95000"/>
                </a:lnSpc>
              </a:pPr>
              <a:r>
                <a:rPr lang="en-US" sz="1467" b="1">
                  <a:solidFill>
                    <a:srgbClr val="113B56"/>
                  </a:solidFill>
                  <a:latin typeface="Poppins" pitchFamily="34" charset="0"/>
                  <a:ea typeface="Poppins" pitchFamily="34" charset="-122"/>
                  <a:cs typeface="Poppins" pitchFamily="34" charset="-120"/>
                </a:rPr>
                <a:t>9.7%</a:t>
              </a:r>
              <a:endParaRPr lang="en-US" sz="1467"/>
            </a:p>
            <a:p>
              <a:pPr algn="ctr">
                <a:lnSpc>
                  <a:spcPct val="95000"/>
                </a:lnSpc>
              </a:pPr>
              <a:r>
                <a:rPr lang="en-US" sz="1067" b="1">
                  <a:solidFill>
                    <a:srgbClr val="B5500A"/>
                  </a:solidFill>
                  <a:latin typeface="Poppins" pitchFamily="34" charset="0"/>
                  <a:ea typeface="Poppins" pitchFamily="34" charset="-122"/>
                  <a:cs typeface="Poppins" pitchFamily="34" charset="-120"/>
                </a:rPr>
                <a:t>-13% </a:t>
              </a:r>
              <a:r>
                <a:rPr lang="en-US" sz="933" b="1">
                  <a:solidFill>
                    <a:srgbClr val="B5500A"/>
                  </a:solidFill>
                  <a:latin typeface="Poppins" pitchFamily="34" charset="0"/>
                  <a:ea typeface="Poppins" pitchFamily="34" charset="-122"/>
                  <a:cs typeface="Poppins" pitchFamily="34" charset="-120"/>
                </a:rPr>
                <a:t>▼</a:t>
              </a:r>
              <a:endParaRPr lang="en-US" sz="1467"/>
            </a:p>
          </p:txBody>
        </p:sp>
        <p:sp>
          <p:nvSpPr>
            <p:cNvPr id="52" name="Shape 18">
              <a:extLst>
                <a:ext uri="{FF2B5EF4-FFF2-40B4-BE49-F238E27FC236}">
                  <a16:creationId xmlns:a16="http://schemas.microsoft.com/office/drawing/2014/main" id="{15D7B63F-C3B4-3A1A-D6AA-99C376728AB1}"/>
                </a:ext>
              </a:extLst>
            </p:cNvPr>
            <p:cNvSpPr/>
            <p:nvPr/>
          </p:nvSpPr>
          <p:spPr>
            <a:xfrm>
              <a:off x="879856" y="4400296"/>
              <a:ext cx="4925568" cy="0"/>
            </a:xfrm>
            <a:prstGeom prst="line">
              <a:avLst/>
            </a:prstGeom>
            <a:noFill/>
            <a:ln w="6350">
              <a:solidFill>
                <a:srgbClr val="DCE3E8"/>
              </a:solidFill>
              <a:prstDash val="solid"/>
            </a:ln>
          </p:spPr>
          <p:txBody>
            <a:bodyPr/>
            <a:lstStyle/>
            <a:p>
              <a:endParaRPr lang="en-US"/>
            </a:p>
          </p:txBody>
        </p:sp>
        <p:sp>
          <p:nvSpPr>
            <p:cNvPr id="53" name="Text 19">
              <a:extLst>
                <a:ext uri="{FF2B5EF4-FFF2-40B4-BE49-F238E27FC236}">
                  <a16:creationId xmlns:a16="http://schemas.microsoft.com/office/drawing/2014/main" id="{E28084CD-9D64-922B-EEEF-FB85DFA5F30D}"/>
                </a:ext>
              </a:extLst>
            </p:cNvPr>
            <p:cNvSpPr/>
            <p:nvPr/>
          </p:nvSpPr>
          <p:spPr>
            <a:xfrm>
              <a:off x="879856" y="4400296"/>
              <a:ext cx="2267712" cy="774192"/>
            </a:xfrm>
            <a:prstGeom prst="rect">
              <a:avLst/>
            </a:prstGeom>
            <a:noFill/>
            <a:ln/>
          </p:spPr>
          <p:txBody>
            <a:bodyPr wrap="square" lIns="0" tIns="0" rIns="0" bIns="0" rtlCol="0" anchor="ctr"/>
            <a:lstStyle/>
            <a:p>
              <a:pPr>
                <a:lnSpc>
                  <a:spcPct val="95000"/>
                </a:lnSpc>
              </a:pPr>
              <a:r>
                <a:rPr lang="en-US" sz="1200" b="1">
                  <a:solidFill>
                    <a:srgbClr val="113B56"/>
                  </a:solidFill>
                  <a:latin typeface="Poppins" pitchFamily="34" charset="0"/>
                  <a:ea typeface="Poppins" pitchFamily="34" charset="-122"/>
                  <a:cs typeface="Poppins" pitchFamily="34" charset="-120"/>
                </a:rPr>
                <a:t>Checkout rate</a:t>
              </a:r>
              <a:endParaRPr lang="en-US" sz="1200"/>
            </a:p>
            <a:p>
              <a:pPr>
                <a:lnSpc>
                  <a:spcPct val="95000"/>
                </a:lnSpc>
              </a:pPr>
              <a:r>
                <a:rPr lang="en-US" sz="933" i="1">
                  <a:solidFill>
                    <a:srgbClr val="8A99A6"/>
                  </a:solidFill>
                  <a:latin typeface="Poppins" pitchFamily="34" charset="0"/>
                  <a:ea typeface="Poppins" pitchFamily="34" charset="-122"/>
                  <a:cs typeface="Poppins" pitchFamily="34" charset="-120"/>
                </a:rPr>
                <a:t>checkouts ÷ carts</a:t>
              </a:r>
              <a:endParaRPr lang="en-US" sz="1200"/>
            </a:p>
          </p:txBody>
        </p:sp>
        <p:sp>
          <p:nvSpPr>
            <p:cNvPr id="54" name="Shape 20">
              <a:extLst>
                <a:ext uri="{FF2B5EF4-FFF2-40B4-BE49-F238E27FC236}">
                  <a16:creationId xmlns:a16="http://schemas.microsoft.com/office/drawing/2014/main" id="{5DEAA4BB-4FCA-8883-9892-250D3D42552E}"/>
                </a:ext>
              </a:extLst>
            </p:cNvPr>
            <p:cNvSpPr/>
            <p:nvPr/>
          </p:nvSpPr>
          <p:spPr>
            <a:xfrm>
              <a:off x="3196336" y="4436872"/>
              <a:ext cx="1280160" cy="701040"/>
            </a:xfrm>
            <a:prstGeom prst="rect">
              <a:avLst/>
            </a:prstGeom>
            <a:solidFill>
              <a:srgbClr val="FBE8DA"/>
            </a:solidFill>
            <a:ln/>
          </p:spPr>
          <p:txBody>
            <a:bodyPr/>
            <a:lstStyle/>
            <a:p>
              <a:endParaRPr lang="en-US"/>
            </a:p>
          </p:txBody>
        </p:sp>
        <p:sp>
          <p:nvSpPr>
            <p:cNvPr id="55" name="Text 21">
              <a:extLst>
                <a:ext uri="{FF2B5EF4-FFF2-40B4-BE49-F238E27FC236}">
                  <a16:creationId xmlns:a16="http://schemas.microsoft.com/office/drawing/2014/main" id="{E5F11478-D4F9-0330-FFE2-FA65968486A8}"/>
                </a:ext>
              </a:extLst>
            </p:cNvPr>
            <p:cNvSpPr/>
            <p:nvPr/>
          </p:nvSpPr>
          <p:spPr>
            <a:xfrm>
              <a:off x="3196336" y="4400296"/>
              <a:ext cx="1280160" cy="774192"/>
            </a:xfrm>
            <a:prstGeom prst="rect">
              <a:avLst/>
            </a:prstGeom>
            <a:noFill/>
            <a:ln/>
          </p:spPr>
          <p:txBody>
            <a:bodyPr wrap="square" lIns="0" tIns="0" rIns="0" bIns="0" rtlCol="0" anchor="ctr"/>
            <a:lstStyle/>
            <a:p>
              <a:pPr algn="ctr">
                <a:lnSpc>
                  <a:spcPct val="95000"/>
                </a:lnSpc>
              </a:pPr>
              <a:r>
                <a:rPr lang="en-US" sz="1467" b="1">
                  <a:solidFill>
                    <a:srgbClr val="113B56"/>
                  </a:solidFill>
                  <a:latin typeface="Poppins" pitchFamily="34" charset="0"/>
                  <a:ea typeface="Poppins" pitchFamily="34" charset="-122"/>
                  <a:cs typeface="Poppins" pitchFamily="34" charset="-120"/>
                </a:rPr>
                <a:t>16.8%</a:t>
              </a:r>
              <a:endParaRPr lang="en-US" sz="1467"/>
            </a:p>
            <a:p>
              <a:pPr algn="ctr">
                <a:lnSpc>
                  <a:spcPct val="95000"/>
                </a:lnSpc>
              </a:pPr>
              <a:r>
                <a:rPr lang="en-US" sz="1067" b="1">
                  <a:solidFill>
                    <a:srgbClr val="B5500A"/>
                  </a:solidFill>
                  <a:latin typeface="Poppins" pitchFamily="34" charset="0"/>
                  <a:ea typeface="Poppins" pitchFamily="34" charset="-122"/>
                  <a:cs typeface="Poppins" pitchFamily="34" charset="-120"/>
                </a:rPr>
                <a:t>-18% </a:t>
              </a:r>
              <a:r>
                <a:rPr lang="en-US" sz="933" b="1">
                  <a:solidFill>
                    <a:srgbClr val="B5500A"/>
                  </a:solidFill>
                  <a:latin typeface="Poppins" pitchFamily="34" charset="0"/>
                  <a:ea typeface="Poppins" pitchFamily="34" charset="-122"/>
                  <a:cs typeface="Poppins" pitchFamily="34" charset="-120"/>
                </a:rPr>
                <a:t>▼</a:t>
              </a:r>
              <a:endParaRPr lang="en-US" sz="1467"/>
            </a:p>
          </p:txBody>
        </p:sp>
        <p:sp>
          <p:nvSpPr>
            <p:cNvPr id="56" name="Text 22">
              <a:extLst>
                <a:ext uri="{FF2B5EF4-FFF2-40B4-BE49-F238E27FC236}">
                  <a16:creationId xmlns:a16="http://schemas.microsoft.com/office/drawing/2014/main" id="{8B605B3A-F97A-0C55-8C1D-343471182A53}"/>
                </a:ext>
              </a:extLst>
            </p:cNvPr>
            <p:cNvSpPr/>
            <p:nvPr/>
          </p:nvSpPr>
          <p:spPr>
            <a:xfrm>
              <a:off x="4525264" y="4400296"/>
              <a:ext cx="1280160" cy="774192"/>
            </a:xfrm>
            <a:prstGeom prst="rect">
              <a:avLst/>
            </a:prstGeom>
            <a:noFill/>
            <a:ln/>
          </p:spPr>
          <p:txBody>
            <a:bodyPr wrap="square" lIns="0" tIns="0" rIns="0" bIns="0" rtlCol="0" anchor="ctr"/>
            <a:lstStyle/>
            <a:p>
              <a:pPr algn="ctr">
                <a:lnSpc>
                  <a:spcPct val="95000"/>
                </a:lnSpc>
              </a:pPr>
              <a:r>
                <a:rPr lang="en-US" sz="1467" b="1">
                  <a:solidFill>
                    <a:srgbClr val="113B56"/>
                  </a:solidFill>
                  <a:latin typeface="Poppins" pitchFamily="34" charset="0"/>
                  <a:ea typeface="Poppins" pitchFamily="34" charset="-122"/>
                  <a:cs typeface="Poppins" pitchFamily="34" charset="-120"/>
                </a:rPr>
                <a:t>34.1%</a:t>
              </a:r>
              <a:endParaRPr lang="en-US" sz="1467"/>
            </a:p>
            <a:p>
              <a:pPr algn="ctr">
                <a:lnSpc>
                  <a:spcPct val="95000"/>
                </a:lnSpc>
              </a:pPr>
              <a:r>
                <a:rPr lang="en-US" sz="1000" i="1">
                  <a:solidFill>
                    <a:srgbClr val="8A99A6"/>
                  </a:solidFill>
                  <a:latin typeface="Poppins" pitchFamily="34" charset="0"/>
                  <a:ea typeface="Poppins" pitchFamily="34" charset="-122"/>
                  <a:cs typeface="Poppins" pitchFamily="34" charset="-120"/>
                </a:rPr>
                <a:t>n/c *</a:t>
              </a:r>
              <a:endParaRPr lang="en-US" sz="1467"/>
            </a:p>
          </p:txBody>
        </p:sp>
        <p:sp>
          <p:nvSpPr>
            <p:cNvPr id="57" name="Shape 23">
              <a:extLst>
                <a:ext uri="{FF2B5EF4-FFF2-40B4-BE49-F238E27FC236}">
                  <a16:creationId xmlns:a16="http://schemas.microsoft.com/office/drawing/2014/main" id="{43D1CA33-9047-79DD-76E1-45973E661AA8}"/>
                </a:ext>
              </a:extLst>
            </p:cNvPr>
            <p:cNvSpPr/>
            <p:nvPr/>
          </p:nvSpPr>
          <p:spPr>
            <a:xfrm>
              <a:off x="879856" y="5174488"/>
              <a:ext cx="4925568" cy="0"/>
            </a:xfrm>
            <a:prstGeom prst="line">
              <a:avLst/>
            </a:prstGeom>
            <a:noFill/>
            <a:ln w="6350">
              <a:solidFill>
                <a:srgbClr val="DCE3E8"/>
              </a:solidFill>
              <a:prstDash val="solid"/>
            </a:ln>
          </p:spPr>
          <p:txBody>
            <a:bodyPr/>
            <a:lstStyle/>
            <a:p>
              <a:endParaRPr lang="en-US"/>
            </a:p>
          </p:txBody>
        </p:sp>
        <p:sp>
          <p:nvSpPr>
            <p:cNvPr id="58" name="Text 24">
              <a:extLst>
                <a:ext uri="{FF2B5EF4-FFF2-40B4-BE49-F238E27FC236}">
                  <a16:creationId xmlns:a16="http://schemas.microsoft.com/office/drawing/2014/main" id="{1E00AF45-B9AA-C260-B546-537EB3EACA1D}"/>
                </a:ext>
              </a:extLst>
            </p:cNvPr>
            <p:cNvSpPr/>
            <p:nvPr/>
          </p:nvSpPr>
          <p:spPr>
            <a:xfrm>
              <a:off x="879856" y="5174488"/>
              <a:ext cx="2267712" cy="774192"/>
            </a:xfrm>
            <a:prstGeom prst="rect">
              <a:avLst/>
            </a:prstGeom>
            <a:noFill/>
            <a:ln/>
          </p:spPr>
          <p:txBody>
            <a:bodyPr wrap="square" lIns="0" tIns="0" rIns="0" bIns="0" rtlCol="0" anchor="ctr"/>
            <a:lstStyle/>
            <a:p>
              <a:pPr>
                <a:lnSpc>
                  <a:spcPct val="95000"/>
                </a:lnSpc>
              </a:pPr>
              <a:r>
                <a:rPr lang="en-US" sz="1200" b="1">
                  <a:solidFill>
                    <a:srgbClr val="113B56"/>
                  </a:solidFill>
                  <a:latin typeface="Poppins" pitchFamily="34" charset="0"/>
                  <a:ea typeface="Poppins" pitchFamily="34" charset="-122"/>
                  <a:cs typeface="Poppins" pitchFamily="34" charset="-120"/>
                </a:rPr>
                <a:t>Conversion rate</a:t>
              </a:r>
              <a:endParaRPr lang="en-US" sz="1200"/>
            </a:p>
            <a:p>
              <a:pPr>
                <a:lnSpc>
                  <a:spcPct val="95000"/>
                </a:lnSpc>
              </a:pPr>
              <a:r>
                <a:rPr lang="en-US" sz="933" i="1">
                  <a:solidFill>
                    <a:srgbClr val="8A99A6"/>
                  </a:solidFill>
                  <a:latin typeface="Poppins" pitchFamily="34" charset="0"/>
                  <a:ea typeface="Poppins" pitchFamily="34" charset="-122"/>
                  <a:cs typeface="Poppins" pitchFamily="34" charset="-120"/>
                </a:rPr>
                <a:t>orders ÷ sessions</a:t>
              </a:r>
              <a:endParaRPr lang="en-US" sz="1200"/>
            </a:p>
          </p:txBody>
        </p:sp>
        <p:sp>
          <p:nvSpPr>
            <p:cNvPr id="59" name="Text 25">
              <a:extLst>
                <a:ext uri="{FF2B5EF4-FFF2-40B4-BE49-F238E27FC236}">
                  <a16:creationId xmlns:a16="http://schemas.microsoft.com/office/drawing/2014/main" id="{9CC0D4B3-12C4-5170-42AA-97D7ACDB7BBB}"/>
                </a:ext>
              </a:extLst>
            </p:cNvPr>
            <p:cNvSpPr/>
            <p:nvPr/>
          </p:nvSpPr>
          <p:spPr>
            <a:xfrm>
              <a:off x="3196336" y="5174488"/>
              <a:ext cx="1280160" cy="774192"/>
            </a:xfrm>
            <a:prstGeom prst="rect">
              <a:avLst/>
            </a:prstGeom>
            <a:noFill/>
            <a:ln/>
          </p:spPr>
          <p:txBody>
            <a:bodyPr wrap="square" lIns="0" tIns="0" rIns="0" bIns="0" rtlCol="0" anchor="ctr"/>
            <a:lstStyle/>
            <a:p>
              <a:pPr algn="ctr">
                <a:lnSpc>
                  <a:spcPct val="95000"/>
                </a:lnSpc>
              </a:pPr>
              <a:r>
                <a:rPr lang="en-US" sz="1467" b="1">
                  <a:solidFill>
                    <a:srgbClr val="113B56"/>
                  </a:solidFill>
                  <a:latin typeface="Poppins" pitchFamily="34" charset="0"/>
                  <a:ea typeface="Poppins" pitchFamily="34" charset="-122"/>
                  <a:cs typeface="Poppins" pitchFamily="34" charset="-120"/>
                </a:rPr>
                <a:t>1.30%</a:t>
              </a:r>
              <a:endParaRPr lang="en-US" sz="1467"/>
            </a:p>
            <a:p>
              <a:pPr algn="ctr">
                <a:lnSpc>
                  <a:spcPct val="95000"/>
                </a:lnSpc>
              </a:pPr>
              <a:r>
                <a:rPr lang="en-US" sz="1067" b="1">
                  <a:solidFill>
                    <a:srgbClr val="B5500A"/>
                  </a:solidFill>
                  <a:latin typeface="Poppins" pitchFamily="34" charset="0"/>
                  <a:ea typeface="Poppins" pitchFamily="34" charset="-122"/>
                  <a:cs typeface="Poppins" pitchFamily="34" charset="-120"/>
                </a:rPr>
                <a:t>-19% </a:t>
              </a:r>
              <a:r>
                <a:rPr lang="en-US" sz="933" b="1">
                  <a:solidFill>
                    <a:srgbClr val="B5500A"/>
                  </a:solidFill>
                  <a:latin typeface="Poppins" pitchFamily="34" charset="0"/>
                  <a:ea typeface="Poppins" pitchFamily="34" charset="-122"/>
                  <a:cs typeface="Poppins" pitchFamily="34" charset="-120"/>
                </a:rPr>
                <a:t>▼</a:t>
              </a:r>
              <a:endParaRPr lang="en-US" sz="1467"/>
            </a:p>
          </p:txBody>
        </p:sp>
        <p:sp>
          <p:nvSpPr>
            <p:cNvPr id="60" name="Text 26">
              <a:extLst>
                <a:ext uri="{FF2B5EF4-FFF2-40B4-BE49-F238E27FC236}">
                  <a16:creationId xmlns:a16="http://schemas.microsoft.com/office/drawing/2014/main" id="{6F6A7CE8-D5C0-9E97-286F-6678CB2341A9}"/>
                </a:ext>
              </a:extLst>
            </p:cNvPr>
            <p:cNvSpPr/>
            <p:nvPr/>
          </p:nvSpPr>
          <p:spPr>
            <a:xfrm>
              <a:off x="4525264" y="5174488"/>
              <a:ext cx="1280160" cy="774192"/>
            </a:xfrm>
            <a:prstGeom prst="rect">
              <a:avLst/>
            </a:prstGeom>
            <a:noFill/>
            <a:ln/>
          </p:spPr>
          <p:txBody>
            <a:bodyPr wrap="square" lIns="0" tIns="0" rIns="0" bIns="0" rtlCol="0" anchor="ctr"/>
            <a:lstStyle/>
            <a:p>
              <a:pPr algn="ctr">
                <a:lnSpc>
                  <a:spcPct val="95000"/>
                </a:lnSpc>
              </a:pPr>
              <a:r>
                <a:rPr lang="en-US" sz="1467" b="1">
                  <a:solidFill>
                    <a:srgbClr val="113B56"/>
                  </a:solidFill>
                  <a:latin typeface="Poppins" pitchFamily="34" charset="0"/>
                  <a:ea typeface="Poppins" pitchFamily="34" charset="-122"/>
                  <a:cs typeface="Poppins" pitchFamily="34" charset="-120"/>
                </a:rPr>
                <a:t>1.55%</a:t>
              </a:r>
              <a:endParaRPr lang="en-US" sz="1467"/>
            </a:p>
            <a:p>
              <a:pPr algn="ctr">
                <a:lnSpc>
                  <a:spcPct val="95000"/>
                </a:lnSpc>
              </a:pPr>
              <a:r>
                <a:rPr lang="en-US" sz="1067" b="1">
                  <a:solidFill>
                    <a:srgbClr val="B5500A"/>
                  </a:solidFill>
                  <a:latin typeface="Poppins" pitchFamily="34" charset="0"/>
                  <a:ea typeface="Poppins" pitchFamily="34" charset="-122"/>
                  <a:cs typeface="Poppins" pitchFamily="34" charset="-120"/>
                </a:rPr>
                <a:t>-28% </a:t>
              </a:r>
              <a:r>
                <a:rPr lang="en-US" sz="933" b="1">
                  <a:solidFill>
                    <a:srgbClr val="B5500A"/>
                  </a:solidFill>
                  <a:latin typeface="Poppins" pitchFamily="34" charset="0"/>
                  <a:ea typeface="Poppins" pitchFamily="34" charset="-122"/>
                  <a:cs typeface="Poppins" pitchFamily="34" charset="-120"/>
                </a:rPr>
                <a:t>▼</a:t>
              </a:r>
              <a:endParaRPr lang="en-US" sz="1467"/>
            </a:p>
          </p:txBody>
        </p:sp>
      </p:grpSp>
      <p:sp>
        <p:nvSpPr>
          <p:cNvPr id="3" name="Title 2">
            <a:extLst>
              <a:ext uri="{FF2B5EF4-FFF2-40B4-BE49-F238E27FC236}">
                <a16:creationId xmlns:a16="http://schemas.microsoft.com/office/drawing/2014/main" id="{8BF216EA-21C6-7611-A536-A3B62AD41F2F}"/>
              </a:ext>
            </a:extLst>
          </p:cNvPr>
          <p:cNvSpPr>
            <a:spLocks noGrp="1"/>
          </p:cNvSpPr>
          <p:nvPr>
            <p:ph type="title"/>
          </p:nvPr>
        </p:nvSpPr>
        <p:spPr>
          <a:xfrm>
            <a:off x="838200" y="659728"/>
            <a:ext cx="10515600" cy="1412694"/>
          </a:xfrm>
        </p:spPr>
        <p:txBody>
          <a:bodyPr/>
          <a:lstStyle/>
          <a:p>
            <a:r>
              <a:rPr lang="en-US" altLang="en-US">
                <a:solidFill>
                  <a:schemeClr val="accent1"/>
                </a:solidFill>
                <a:latin typeface="Poppins SemiBold"/>
                <a:cs typeface="Poppins SemiBold"/>
              </a:rPr>
              <a:t>Additionally, persistent funnel leakage signals the need for media-targeted experience optimizations </a:t>
            </a:r>
            <a:br>
              <a:rPr lang="en-US" altLang="en-US">
                <a:solidFill>
                  <a:schemeClr val="accent1"/>
                </a:solidFill>
                <a:latin typeface="Poppins SemiBold"/>
                <a:cs typeface="Poppins SemiBold"/>
              </a:rPr>
            </a:br>
            <a:r>
              <a:rPr lang="en-US" altLang="en-US">
                <a:solidFill>
                  <a:schemeClr val="accent1"/>
                </a:solidFill>
                <a:latin typeface="Poppins SemiBold"/>
                <a:cs typeface="Poppins SemiBold"/>
              </a:rPr>
              <a:t>beyond the current roadmap</a:t>
            </a:r>
          </a:p>
        </p:txBody>
      </p:sp>
      <p:sp>
        <p:nvSpPr>
          <p:cNvPr id="78" name="TextBox 77">
            <a:extLst>
              <a:ext uri="{FF2B5EF4-FFF2-40B4-BE49-F238E27FC236}">
                <a16:creationId xmlns:a16="http://schemas.microsoft.com/office/drawing/2014/main" id="{736CFDFD-B8B9-6028-9EE5-6CABDB4FDC17}"/>
              </a:ext>
            </a:extLst>
          </p:cNvPr>
          <p:cNvSpPr txBox="1"/>
          <p:nvPr/>
        </p:nvSpPr>
        <p:spPr>
          <a:xfrm>
            <a:off x="838200" y="6380428"/>
            <a:ext cx="3695192" cy="215444"/>
          </a:xfrm>
          <a:prstGeom prst="rect">
            <a:avLst/>
          </a:prstGeom>
          <a:noFill/>
        </p:spPr>
        <p:txBody>
          <a:bodyPr wrap="square">
            <a:spAutoFit/>
          </a:bodyPr>
          <a:lstStyle/>
          <a:p>
            <a:r>
              <a:rPr lang="en-US" sz="800" i="1">
                <a:solidFill>
                  <a:srgbClr val="8A99A6"/>
                </a:solidFill>
                <a:latin typeface="Poppins" pitchFamily="34" charset="0"/>
                <a:ea typeface="Poppins" pitchFamily="34" charset="-122"/>
                <a:cs typeface="Poppins" pitchFamily="34" charset="-120"/>
              </a:rPr>
              <a:t>*BB checkout-event tracking changed YoY</a:t>
            </a:r>
            <a:endParaRPr lang="en-US"/>
          </a:p>
        </p:txBody>
      </p:sp>
      <p:sp>
        <p:nvSpPr>
          <p:cNvPr id="32" name="Shape 3">
            <a:extLst>
              <a:ext uri="{FF2B5EF4-FFF2-40B4-BE49-F238E27FC236}">
                <a16:creationId xmlns:a16="http://schemas.microsoft.com/office/drawing/2014/main" id="{59D048C3-8C63-62E0-9BE6-4C401789B947}"/>
              </a:ext>
            </a:extLst>
          </p:cNvPr>
          <p:cNvSpPr/>
          <p:nvPr/>
        </p:nvSpPr>
        <p:spPr>
          <a:xfrm>
            <a:off x="6483096" y="2168144"/>
            <a:ext cx="4870704" cy="4139132"/>
          </a:xfrm>
          <a:prstGeom prst="roundRect">
            <a:avLst>
              <a:gd name="adj" fmla="val 2601"/>
            </a:avLst>
          </a:prstGeom>
          <a:solidFill>
            <a:schemeClr val="tx2">
              <a:lumMod val="10000"/>
              <a:lumOff val="90000"/>
            </a:schemeClr>
          </a:solidFill>
          <a:ln w="12700">
            <a:solidFill>
              <a:schemeClr val="tx2">
                <a:lumMod val="10000"/>
                <a:lumOff val="90000"/>
              </a:schemeClr>
            </a:solidFill>
            <a:prstDash val="solid"/>
          </a:ln>
          <a:effectLst>
            <a:outerShdw blurRad="63500" dist="12700" dir="5400000" algn="bl" rotWithShape="0">
              <a:srgbClr val="7A8A96">
                <a:alpha val="10000"/>
              </a:srgbClr>
            </a:outerShdw>
          </a:effectLst>
        </p:spPr>
        <p:txBody>
          <a:bodyPr/>
          <a:lstStyle/>
          <a:p>
            <a:endParaRPr lang="en-US"/>
          </a:p>
        </p:txBody>
      </p:sp>
      <p:sp>
        <p:nvSpPr>
          <p:cNvPr id="33" name="Text 4">
            <a:extLst>
              <a:ext uri="{FF2B5EF4-FFF2-40B4-BE49-F238E27FC236}">
                <a16:creationId xmlns:a16="http://schemas.microsoft.com/office/drawing/2014/main" id="{A4301859-6FEA-D6D0-4CDD-F01006AD8D1E}"/>
              </a:ext>
            </a:extLst>
          </p:cNvPr>
          <p:cNvSpPr/>
          <p:nvPr/>
        </p:nvSpPr>
        <p:spPr>
          <a:xfrm>
            <a:off x="6572250" y="2314448"/>
            <a:ext cx="4781550" cy="243840"/>
          </a:xfrm>
          <a:prstGeom prst="rect">
            <a:avLst/>
          </a:prstGeom>
          <a:noFill/>
          <a:ln/>
        </p:spPr>
        <p:txBody>
          <a:bodyPr wrap="square" lIns="0" tIns="0" rIns="0" bIns="0" rtlCol="0" anchor="ctr"/>
          <a:lstStyle/>
          <a:p>
            <a:pPr algn="ctr"/>
            <a:r>
              <a:rPr lang="en-US" sz="1400" b="1" kern="0" spc="53">
                <a:solidFill>
                  <a:srgbClr val="113B56"/>
                </a:solidFill>
                <a:latin typeface="Poppins" pitchFamily="34" charset="0"/>
                <a:ea typeface="Poppins" pitchFamily="34" charset="-122"/>
                <a:cs typeface="Poppins" pitchFamily="34" charset="-120"/>
              </a:rPr>
              <a:t>The Implication</a:t>
            </a:r>
            <a:endParaRPr lang="en-US" sz="1400"/>
          </a:p>
        </p:txBody>
      </p:sp>
      <p:sp>
        <p:nvSpPr>
          <p:cNvPr id="34" name="Rectangle: Rounded Corners 33">
            <a:extLst>
              <a:ext uri="{FF2B5EF4-FFF2-40B4-BE49-F238E27FC236}">
                <a16:creationId xmlns:a16="http://schemas.microsoft.com/office/drawing/2014/main" id="{52011C5A-F258-D78F-8181-398F7ACDA725}"/>
              </a:ext>
            </a:extLst>
          </p:cNvPr>
          <p:cNvSpPr/>
          <p:nvPr/>
        </p:nvSpPr>
        <p:spPr>
          <a:xfrm>
            <a:off x="6743700" y="2802128"/>
            <a:ext cx="4390644" cy="856234"/>
          </a:xfrm>
          <a:prstGeom prst="roundRect">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Rounded Corners 34">
            <a:extLst>
              <a:ext uri="{FF2B5EF4-FFF2-40B4-BE49-F238E27FC236}">
                <a16:creationId xmlns:a16="http://schemas.microsoft.com/office/drawing/2014/main" id="{EFD7A5F0-5D42-C8EE-40E5-0BA365FF220F}"/>
              </a:ext>
            </a:extLst>
          </p:cNvPr>
          <p:cNvSpPr/>
          <p:nvPr/>
        </p:nvSpPr>
        <p:spPr>
          <a:xfrm>
            <a:off x="6743700" y="3903166"/>
            <a:ext cx="4390644" cy="856234"/>
          </a:xfrm>
          <a:prstGeom prst="roundRect">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Rounded Corners 35">
            <a:extLst>
              <a:ext uri="{FF2B5EF4-FFF2-40B4-BE49-F238E27FC236}">
                <a16:creationId xmlns:a16="http://schemas.microsoft.com/office/drawing/2014/main" id="{E6903311-6BBF-5D8C-87A2-0A3C602F54E8}"/>
              </a:ext>
            </a:extLst>
          </p:cNvPr>
          <p:cNvSpPr/>
          <p:nvPr/>
        </p:nvSpPr>
        <p:spPr>
          <a:xfrm>
            <a:off x="6767703" y="5078984"/>
            <a:ext cx="4390644" cy="856234"/>
          </a:xfrm>
          <a:prstGeom prst="roundRect">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TextBox 62">
            <a:extLst>
              <a:ext uri="{FF2B5EF4-FFF2-40B4-BE49-F238E27FC236}">
                <a16:creationId xmlns:a16="http://schemas.microsoft.com/office/drawing/2014/main" id="{3B49215E-8209-0349-74D5-7724F5945F12}"/>
              </a:ext>
            </a:extLst>
          </p:cNvPr>
          <p:cNvSpPr txBox="1"/>
          <p:nvPr/>
        </p:nvSpPr>
        <p:spPr>
          <a:xfrm>
            <a:off x="6876859" y="2936240"/>
            <a:ext cx="4124325" cy="307777"/>
          </a:xfrm>
          <a:prstGeom prst="rect">
            <a:avLst/>
          </a:prstGeom>
          <a:noFill/>
        </p:spPr>
        <p:txBody>
          <a:bodyPr wrap="square" rtlCol="0">
            <a:spAutoFit/>
          </a:bodyPr>
          <a:lstStyle/>
          <a:p>
            <a:r>
              <a:rPr lang="en-US" sz="1400">
                <a:solidFill>
                  <a:schemeClr val="accent1"/>
                </a:solidFill>
                <a:latin typeface="+mj-lt"/>
              </a:rPr>
              <a:t>-19-28%</a:t>
            </a:r>
          </a:p>
        </p:txBody>
      </p:sp>
      <p:sp>
        <p:nvSpPr>
          <p:cNvPr id="77" name="TextBox 76">
            <a:extLst>
              <a:ext uri="{FF2B5EF4-FFF2-40B4-BE49-F238E27FC236}">
                <a16:creationId xmlns:a16="http://schemas.microsoft.com/office/drawing/2014/main" id="{656BC851-D11A-FA7D-F5DD-F0E1963F1747}"/>
              </a:ext>
            </a:extLst>
          </p:cNvPr>
          <p:cNvSpPr txBox="1"/>
          <p:nvPr/>
        </p:nvSpPr>
        <p:spPr>
          <a:xfrm>
            <a:off x="6856285" y="4068433"/>
            <a:ext cx="4124325" cy="307777"/>
          </a:xfrm>
          <a:prstGeom prst="rect">
            <a:avLst/>
          </a:prstGeom>
          <a:noFill/>
        </p:spPr>
        <p:txBody>
          <a:bodyPr wrap="square" rtlCol="0">
            <a:spAutoFit/>
          </a:bodyPr>
          <a:lstStyle/>
          <a:p>
            <a:r>
              <a:rPr lang="en-US" sz="1400">
                <a:solidFill>
                  <a:schemeClr val="accent1"/>
                </a:solidFill>
                <a:latin typeface="+mj-lt"/>
              </a:rPr>
              <a:t>Every dollar</a:t>
            </a:r>
          </a:p>
        </p:txBody>
      </p:sp>
      <p:sp>
        <p:nvSpPr>
          <p:cNvPr id="80" name="TextBox 79">
            <a:extLst>
              <a:ext uri="{FF2B5EF4-FFF2-40B4-BE49-F238E27FC236}">
                <a16:creationId xmlns:a16="http://schemas.microsoft.com/office/drawing/2014/main" id="{37D6D609-DCED-CC15-3C96-7567E0A306BB}"/>
              </a:ext>
            </a:extLst>
          </p:cNvPr>
          <p:cNvSpPr txBox="1"/>
          <p:nvPr/>
        </p:nvSpPr>
        <p:spPr>
          <a:xfrm>
            <a:off x="6856284" y="5194784"/>
            <a:ext cx="4124325" cy="307777"/>
          </a:xfrm>
          <a:prstGeom prst="rect">
            <a:avLst/>
          </a:prstGeom>
          <a:noFill/>
        </p:spPr>
        <p:txBody>
          <a:bodyPr wrap="square" rtlCol="0">
            <a:spAutoFit/>
          </a:bodyPr>
          <a:lstStyle/>
          <a:p>
            <a:r>
              <a:rPr lang="en-US" sz="1400">
                <a:solidFill>
                  <a:schemeClr val="accent1"/>
                </a:solidFill>
                <a:latin typeface="+mj-lt"/>
              </a:rPr>
              <a:t>No added spend</a:t>
            </a:r>
          </a:p>
        </p:txBody>
      </p:sp>
      <p:sp>
        <p:nvSpPr>
          <p:cNvPr id="81" name="TextBox 80">
            <a:extLst>
              <a:ext uri="{FF2B5EF4-FFF2-40B4-BE49-F238E27FC236}">
                <a16:creationId xmlns:a16="http://schemas.microsoft.com/office/drawing/2014/main" id="{38183963-B213-7E61-D720-8C713FA8F72F}"/>
              </a:ext>
            </a:extLst>
          </p:cNvPr>
          <p:cNvSpPr txBox="1"/>
          <p:nvPr/>
        </p:nvSpPr>
        <p:spPr>
          <a:xfrm>
            <a:off x="6876859" y="3255824"/>
            <a:ext cx="4124325" cy="261610"/>
          </a:xfrm>
          <a:prstGeom prst="rect">
            <a:avLst/>
          </a:prstGeom>
          <a:noFill/>
        </p:spPr>
        <p:txBody>
          <a:bodyPr wrap="square" rtlCol="0">
            <a:spAutoFit/>
          </a:bodyPr>
          <a:lstStyle/>
          <a:p>
            <a:r>
              <a:rPr lang="en-US" sz="1100">
                <a:latin typeface="+mn-lt"/>
              </a:rPr>
              <a:t>CVR decline YoY across both brands</a:t>
            </a:r>
          </a:p>
        </p:txBody>
      </p:sp>
      <p:sp>
        <p:nvSpPr>
          <p:cNvPr id="82" name="TextBox 81">
            <a:extLst>
              <a:ext uri="{FF2B5EF4-FFF2-40B4-BE49-F238E27FC236}">
                <a16:creationId xmlns:a16="http://schemas.microsoft.com/office/drawing/2014/main" id="{AC19CCC5-03FE-E6BC-AE49-5B59C79F46A3}"/>
              </a:ext>
            </a:extLst>
          </p:cNvPr>
          <p:cNvSpPr txBox="1"/>
          <p:nvPr/>
        </p:nvSpPr>
        <p:spPr>
          <a:xfrm>
            <a:off x="6856283" y="4409255"/>
            <a:ext cx="4124325" cy="261610"/>
          </a:xfrm>
          <a:prstGeom prst="rect">
            <a:avLst/>
          </a:prstGeom>
          <a:noFill/>
        </p:spPr>
        <p:txBody>
          <a:bodyPr wrap="square" rtlCol="0">
            <a:spAutoFit/>
          </a:bodyPr>
          <a:lstStyle/>
          <a:p>
            <a:r>
              <a:rPr lang="en-US" sz="1100">
                <a:latin typeface="+mn-lt"/>
              </a:rPr>
              <a:t>Of media is entering a deteriorating funnel</a:t>
            </a:r>
          </a:p>
        </p:txBody>
      </p:sp>
      <p:sp>
        <p:nvSpPr>
          <p:cNvPr id="83" name="TextBox 82">
            <a:extLst>
              <a:ext uri="{FF2B5EF4-FFF2-40B4-BE49-F238E27FC236}">
                <a16:creationId xmlns:a16="http://schemas.microsoft.com/office/drawing/2014/main" id="{A7543715-03F2-EF72-E879-49F553A2DC57}"/>
              </a:ext>
            </a:extLst>
          </p:cNvPr>
          <p:cNvSpPr txBox="1"/>
          <p:nvPr/>
        </p:nvSpPr>
        <p:spPr>
          <a:xfrm>
            <a:off x="6856283" y="5489828"/>
            <a:ext cx="4233482" cy="430887"/>
          </a:xfrm>
          <a:prstGeom prst="rect">
            <a:avLst/>
          </a:prstGeom>
          <a:noFill/>
        </p:spPr>
        <p:txBody>
          <a:bodyPr wrap="square" rtlCol="0">
            <a:spAutoFit/>
          </a:bodyPr>
          <a:lstStyle/>
          <a:p>
            <a:r>
              <a:rPr lang="en-US" sz="1100">
                <a:latin typeface="+mn-lt"/>
              </a:rPr>
              <a:t>Required to improve returns on traffic you’re already buying</a:t>
            </a:r>
          </a:p>
        </p:txBody>
      </p:sp>
    </p:spTree>
    <p:extLst>
      <p:ext uri="{BB962C8B-B14F-4D97-AF65-F5344CB8AC3E}">
        <p14:creationId xmlns:p14="http://schemas.microsoft.com/office/powerpoint/2010/main" val="33025059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FA2D5-C4DE-A6B7-DA61-215C69AAD5B3}"/>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70F349B2-AC7B-11FA-EBBC-0EDD5A3D0A50}"/>
              </a:ext>
            </a:extLst>
          </p:cNvPr>
          <p:cNvGrpSpPr/>
          <p:nvPr/>
        </p:nvGrpSpPr>
        <p:grpSpPr>
          <a:xfrm rot="5400000">
            <a:off x="10219561" y="1290829"/>
            <a:ext cx="1178560" cy="1515986"/>
            <a:chOff x="680720" y="2422091"/>
            <a:chExt cx="1178560" cy="1628914"/>
          </a:xfrm>
          <a:solidFill>
            <a:schemeClr val="bg2">
              <a:lumMod val="25000"/>
            </a:schemeClr>
          </a:solidFill>
        </p:grpSpPr>
        <p:sp>
          <p:nvSpPr>
            <p:cNvPr id="17" name="Flowchart: Alternate Process 16">
              <a:extLst>
                <a:ext uri="{FF2B5EF4-FFF2-40B4-BE49-F238E27FC236}">
                  <a16:creationId xmlns:a16="http://schemas.microsoft.com/office/drawing/2014/main" id="{B2EC829D-9B83-5385-ABDF-870B7287CDE4}"/>
                </a:ext>
              </a:extLst>
            </p:cNvPr>
            <p:cNvSpPr/>
            <p:nvPr/>
          </p:nvSpPr>
          <p:spPr>
            <a:xfrm>
              <a:off x="680720" y="2422091"/>
              <a:ext cx="1178560" cy="1628914"/>
            </a:xfrm>
            <a:prstGeom prst="flowChartAlternateProcess">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bg1"/>
                </a:solidFill>
              </a:endParaRPr>
            </a:p>
          </p:txBody>
        </p:sp>
        <p:sp>
          <p:nvSpPr>
            <p:cNvPr id="20" name="TextBox 19">
              <a:extLst>
                <a:ext uri="{FF2B5EF4-FFF2-40B4-BE49-F238E27FC236}">
                  <a16:creationId xmlns:a16="http://schemas.microsoft.com/office/drawing/2014/main" id="{516CDCC0-6054-65E8-04AC-4AA0F15B24E3}"/>
                </a:ext>
              </a:extLst>
            </p:cNvPr>
            <p:cNvSpPr txBox="1"/>
            <p:nvPr/>
          </p:nvSpPr>
          <p:spPr>
            <a:xfrm rot="16200000">
              <a:off x="178976" y="3100599"/>
              <a:ext cx="1398097" cy="276999"/>
            </a:xfrm>
            <a:prstGeom prst="rect">
              <a:avLst/>
            </a:prstGeom>
            <a:grpFill/>
          </p:spPr>
          <p:txBody>
            <a:bodyPr wrap="square" rtlCol="0">
              <a:spAutoFit/>
            </a:bodyPr>
            <a:lstStyle/>
            <a:p>
              <a:pPr algn="ctr"/>
              <a:r>
                <a:rPr lang="en-US" sz="1200" b="1">
                  <a:solidFill>
                    <a:schemeClr val="bg1"/>
                  </a:solidFill>
                  <a:latin typeface="+mn-lt"/>
                </a:rPr>
                <a:t>Intent</a:t>
              </a:r>
            </a:p>
          </p:txBody>
        </p:sp>
      </p:grpSp>
      <p:grpSp>
        <p:nvGrpSpPr>
          <p:cNvPr id="16" name="Group 15">
            <a:extLst>
              <a:ext uri="{FF2B5EF4-FFF2-40B4-BE49-F238E27FC236}">
                <a16:creationId xmlns:a16="http://schemas.microsoft.com/office/drawing/2014/main" id="{2EE091CE-35A8-8BD5-4A51-595B86E86A95}"/>
              </a:ext>
            </a:extLst>
          </p:cNvPr>
          <p:cNvGrpSpPr/>
          <p:nvPr/>
        </p:nvGrpSpPr>
        <p:grpSpPr>
          <a:xfrm rot="5400000">
            <a:off x="7889781" y="508874"/>
            <a:ext cx="1178560" cy="3079897"/>
            <a:chOff x="680720" y="2422091"/>
            <a:chExt cx="1178560" cy="1628914"/>
          </a:xfrm>
          <a:solidFill>
            <a:schemeClr val="bg2">
              <a:lumMod val="25000"/>
            </a:schemeClr>
          </a:solidFill>
        </p:grpSpPr>
        <p:sp>
          <p:nvSpPr>
            <p:cNvPr id="18" name="Flowchart: Alternate Process 17">
              <a:extLst>
                <a:ext uri="{FF2B5EF4-FFF2-40B4-BE49-F238E27FC236}">
                  <a16:creationId xmlns:a16="http://schemas.microsoft.com/office/drawing/2014/main" id="{5886D3F9-ACD9-65DB-33D6-E5D3B7B5B2CD}"/>
                </a:ext>
              </a:extLst>
            </p:cNvPr>
            <p:cNvSpPr/>
            <p:nvPr/>
          </p:nvSpPr>
          <p:spPr>
            <a:xfrm>
              <a:off x="680720" y="2422091"/>
              <a:ext cx="1178560" cy="1628914"/>
            </a:xfrm>
            <a:prstGeom prst="flowChartAlternateProcess">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bg1"/>
                </a:solidFill>
              </a:endParaRPr>
            </a:p>
          </p:txBody>
        </p:sp>
        <p:sp>
          <p:nvSpPr>
            <p:cNvPr id="19" name="TextBox 18">
              <a:extLst>
                <a:ext uri="{FF2B5EF4-FFF2-40B4-BE49-F238E27FC236}">
                  <a16:creationId xmlns:a16="http://schemas.microsoft.com/office/drawing/2014/main" id="{48F48626-AD2B-9134-50AA-8B1D85256548}"/>
                </a:ext>
              </a:extLst>
            </p:cNvPr>
            <p:cNvSpPr txBox="1"/>
            <p:nvPr/>
          </p:nvSpPr>
          <p:spPr>
            <a:xfrm rot="16200000">
              <a:off x="178976" y="3100599"/>
              <a:ext cx="1398097" cy="276999"/>
            </a:xfrm>
            <a:prstGeom prst="rect">
              <a:avLst/>
            </a:prstGeom>
            <a:grpFill/>
          </p:spPr>
          <p:txBody>
            <a:bodyPr wrap="square" rtlCol="0">
              <a:spAutoFit/>
            </a:bodyPr>
            <a:lstStyle/>
            <a:p>
              <a:pPr algn="ctr"/>
              <a:r>
                <a:rPr lang="en-US" sz="1200" b="1">
                  <a:solidFill>
                    <a:schemeClr val="bg1"/>
                  </a:solidFill>
                  <a:latin typeface="+mn-lt"/>
                </a:rPr>
                <a:t>Consideration</a:t>
              </a:r>
            </a:p>
          </p:txBody>
        </p:sp>
      </p:grpSp>
      <p:grpSp>
        <p:nvGrpSpPr>
          <p:cNvPr id="8" name="Group 7">
            <a:extLst>
              <a:ext uri="{FF2B5EF4-FFF2-40B4-BE49-F238E27FC236}">
                <a16:creationId xmlns:a16="http://schemas.microsoft.com/office/drawing/2014/main" id="{EAA7EDED-77B3-C008-D98A-3FE794CD6E3D}"/>
              </a:ext>
            </a:extLst>
          </p:cNvPr>
          <p:cNvGrpSpPr/>
          <p:nvPr/>
        </p:nvGrpSpPr>
        <p:grpSpPr>
          <a:xfrm rot="5400000">
            <a:off x="4753174" y="513137"/>
            <a:ext cx="1216152" cy="3108960"/>
            <a:chOff x="680720" y="2422091"/>
            <a:chExt cx="1178560" cy="1628914"/>
          </a:xfrm>
          <a:solidFill>
            <a:schemeClr val="bg2">
              <a:lumMod val="25000"/>
            </a:schemeClr>
          </a:solidFill>
        </p:grpSpPr>
        <p:sp>
          <p:nvSpPr>
            <p:cNvPr id="9" name="Flowchart: Alternate Process 8">
              <a:extLst>
                <a:ext uri="{FF2B5EF4-FFF2-40B4-BE49-F238E27FC236}">
                  <a16:creationId xmlns:a16="http://schemas.microsoft.com/office/drawing/2014/main" id="{27CA6015-5560-5F9A-E68C-D5CD5EF0D516}"/>
                </a:ext>
              </a:extLst>
            </p:cNvPr>
            <p:cNvSpPr/>
            <p:nvPr/>
          </p:nvSpPr>
          <p:spPr>
            <a:xfrm>
              <a:off x="680720" y="2422091"/>
              <a:ext cx="1178560" cy="1628914"/>
            </a:xfrm>
            <a:prstGeom prst="flowChartAlternateProcess">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 name="TextBox 9">
              <a:extLst>
                <a:ext uri="{FF2B5EF4-FFF2-40B4-BE49-F238E27FC236}">
                  <a16:creationId xmlns:a16="http://schemas.microsoft.com/office/drawing/2014/main" id="{0E727C88-01EA-C256-16DD-FA3CD5173775}"/>
                </a:ext>
              </a:extLst>
            </p:cNvPr>
            <p:cNvSpPr txBox="1"/>
            <p:nvPr/>
          </p:nvSpPr>
          <p:spPr>
            <a:xfrm rot="16200000">
              <a:off x="342005" y="3107686"/>
              <a:ext cx="1072035" cy="276999"/>
            </a:xfrm>
            <a:prstGeom prst="rect">
              <a:avLst/>
            </a:prstGeom>
            <a:grpFill/>
          </p:spPr>
          <p:txBody>
            <a:bodyPr wrap="square" rtlCol="0">
              <a:spAutoFit/>
            </a:bodyPr>
            <a:lstStyle/>
            <a:p>
              <a:pPr algn="ctr"/>
              <a:r>
                <a:rPr lang="en-US" sz="1200" b="1">
                  <a:solidFill>
                    <a:schemeClr val="bg1"/>
                  </a:solidFill>
                  <a:latin typeface="+mn-lt"/>
                </a:rPr>
                <a:t>Awareness</a:t>
              </a:r>
            </a:p>
          </p:txBody>
        </p:sp>
      </p:grpSp>
      <p:grpSp>
        <p:nvGrpSpPr>
          <p:cNvPr id="14" name="Group 13">
            <a:extLst>
              <a:ext uri="{FF2B5EF4-FFF2-40B4-BE49-F238E27FC236}">
                <a16:creationId xmlns:a16="http://schemas.microsoft.com/office/drawing/2014/main" id="{3C7C5558-C4E2-8F6C-6480-A47F64555A9B}"/>
              </a:ext>
            </a:extLst>
          </p:cNvPr>
          <p:cNvGrpSpPr/>
          <p:nvPr/>
        </p:nvGrpSpPr>
        <p:grpSpPr>
          <a:xfrm>
            <a:off x="409576" y="5894529"/>
            <a:ext cx="9064291" cy="946926"/>
            <a:chOff x="286188" y="5675105"/>
            <a:chExt cx="9064291" cy="946926"/>
          </a:xfrm>
        </p:grpSpPr>
        <p:sp>
          <p:nvSpPr>
            <p:cNvPr id="13" name="TextBox 12">
              <a:extLst>
                <a:ext uri="{FF2B5EF4-FFF2-40B4-BE49-F238E27FC236}">
                  <a16:creationId xmlns:a16="http://schemas.microsoft.com/office/drawing/2014/main" id="{0E6E9E3F-1C9A-38DD-01E6-7196D31A8944}"/>
                </a:ext>
              </a:extLst>
            </p:cNvPr>
            <p:cNvSpPr txBox="1"/>
            <p:nvPr/>
          </p:nvSpPr>
          <p:spPr>
            <a:xfrm>
              <a:off x="1338963" y="5675105"/>
              <a:ext cx="8011516" cy="946926"/>
            </a:xfrm>
            <a:prstGeom prst="rect">
              <a:avLst/>
            </a:prstGeom>
            <a:noFill/>
          </p:spPr>
          <p:txBody>
            <a:bodyPr wrap="square" rtlCol="0">
              <a:spAutoFit/>
            </a:bodyPr>
            <a:lstStyle/>
            <a:p>
              <a:pPr algn="l">
                <a:lnSpc>
                  <a:spcPct val="112000"/>
                </a:lnSpc>
              </a:pPr>
              <a:r>
                <a:rPr lang="en-US" sz="1000">
                  <a:latin typeface="+mn-lt"/>
                </a:rPr>
                <a:t>Main experiment goal and most important metric likely to be moved by change</a:t>
              </a:r>
            </a:p>
            <a:p>
              <a:pPr algn="l">
                <a:lnSpc>
                  <a:spcPct val="112000"/>
                </a:lnSpc>
              </a:pPr>
              <a:endParaRPr lang="en-US" sz="1000">
                <a:latin typeface="+mn-lt"/>
              </a:endParaRPr>
            </a:p>
            <a:p>
              <a:pPr algn="l">
                <a:lnSpc>
                  <a:spcPct val="112000"/>
                </a:lnSpc>
              </a:pPr>
              <a:r>
                <a:rPr lang="en-US" sz="1000">
                  <a:latin typeface="+mn-lt"/>
                </a:rPr>
                <a:t>Important metric potentially impacted by experiment and should be monitored closely</a:t>
              </a:r>
            </a:p>
            <a:p>
              <a:pPr algn="l">
                <a:lnSpc>
                  <a:spcPct val="112000"/>
                </a:lnSpc>
              </a:pPr>
              <a:endParaRPr lang="en-US" sz="1000">
                <a:latin typeface="+mn-lt"/>
              </a:endParaRPr>
            </a:p>
            <a:p>
              <a:pPr algn="l">
                <a:lnSpc>
                  <a:spcPct val="112000"/>
                </a:lnSpc>
              </a:pPr>
              <a:r>
                <a:rPr lang="en-US" sz="1000">
                  <a:latin typeface="+mn-lt"/>
                </a:rPr>
                <a:t>Important metrics unlikely to impacted by experiment and should be monitored for negative surges</a:t>
              </a:r>
            </a:p>
          </p:txBody>
        </p:sp>
        <p:sp>
          <p:nvSpPr>
            <p:cNvPr id="12" name="TextBox 11">
              <a:extLst>
                <a:ext uri="{FF2B5EF4-FFF2-40B4-BE49-F238E27FC236}">
                  <a16:creationId xmlns:a16="http://schemas.microsoft.com/office/drawing/2014/main" id="{6654A266-ACAC-FAB5-640F-51D75997B0B2}"/>
                </a:ext>
              </a:extLst>
            </p:cNvPr>
            <p:cNvSpPr txBox="1"/>
            <p:nvPr/>
          </p:nvSpPr>
          <p:spPr>
            <a:xfrm>
              <a:off x="286188" y="6372256"/>
              <a:ext cx="1051560" cy="238363"/>
            </a:xfrm>
            <a:prstGeom prst="roundRect">
              <a:avLst/>
            </a:prstGeom>
            <a:solidFill>
              <a:schemeClr val="accent3"/>
            </a:solidFill>
          </p:spPr>
          <p:txBody>
            <a:bodyPr wrap="square" rtlCol="0">
              <a:spAutoFit/>
            </a:bodyPr>
            <a:lstStyle>
              <a:defPPr>
                <a:defRPr lang="en-US"/>
              </a:defPPr>
              <a:lvl1pPr algn="ctr">
                <a:defRPr sz="800">
                  <a:solidFill>
                    <a:schemeClr val="bg1"/>
                  </a:solidFill>
                  <a:latin typeface="+mn-lt"/>
                </a:defRPr>
              </a:lvl1pPr>
            </a:lstStyle>
            <a:p>
              <a:r>
                <a:rPr lang="en-US"/>
                <a:t>Guardrail KPI</a:t>
              </a:r>
            </a:p>
          </p:txBody>
        </p:sp>
        <p:sp>
          <p:nvSpPr>
            <p:cNvPr id="7" name="TextBox 6">
              <a:extLst>
                <a:ext uri="{FF2B5EF4-FFF2-40B4-BE49-F238E27FC236}">
                  <a16:creationId xmlns:a16="http://schemas.microsoft.com/office/drawing/2014/main" id="{319C6361-C91F-5D82-5200-ADF6188055F0}"/>
                </a:ext>
              </a:extLst>
            </p:cNvPr>
            <p:cNvSpPr txBox="1"/>
            <p:nvPr/>
          </p:nvSpPr>
          <p:spPr>
            <a:xfrm>
              <a:off x="286188" y="6029386"/>
              <a:ext cx="1053990" cy="238363"/>
            </a:xfrm>
            <a:prstGeom prst="roundRect">
              <a:avLst/>
            </a:prstGeom>
            <a:solidFill>
              <a:schemeClr val="accent5"/>
            </a:solidFill>
          </p:spPr>
          <p:txBody>
            <a:bodyPr wrap="square" rtlCol="0">
              <a:spAutoFit/>
            </a:bodyPr>
            <a:lstStyle>
              <a:defPPr>
                <a:defRPr lang="en-US"/>
              </a:defPPr>
              <a:lvl1pPr algn="ctr">
                <a:defRPr sz="800">
                  <a:solidFill>
                    <a:schemeClr val="bg1"/>
                  </a:solidFill>
                  <a:latin typeface="+mn-lt"/>
                </a:defRPr>
              </a:lvl1pPr>
            </a:lstStyle>
            <a:p>
              <a:r>
                <a:rPr lang="en-US"/>
                <a:t>Secondary KPI</a:t>
              </a:r>
            </a:p>
          </p:txBody>
        </p:sp>
        <p:sp>
          <p:nvSpPr>
            <p:cNvPr id="6" name="TextBox 5">
              <a:extLst>
                <a:ext uri="{FF2B5EF4-FFF2-40B4-BE49-F238E27FC236}">
                  <a16:creationId xmlns:a16="http://schemas.microsoft.com/office/drawing/2014/main" id="{CB6E6A3B-D10E-5D03-D8FF-374D63608F68}"/>
                </a:ext>
              </a:extLst>
            </p:cNvPr>
            <p:cNvSpPr txBox="1"/>
            <p:nvPr/>
          </p:nvSpPr>
          <p:spPr>
            <a:xfrm>
              <a:off x="287403" y="5686516"/>
              <a:ext cx="1051560" cy="238363"/>
            </a:xfrm>
            <a:prstGeom prst="roundRect">
              <a:avLst/>
            </a:prstGeom>
            <a:solidFill>
              <a:schemeClr val="accent2"/>
            </a:solidFill>
          </p:spPr>
          <p:txBody>
            <a:bodyPr wrap="square" rtlCol="0">
              <a:spAutoFit/>
            </a:bodyPr>
            <a:lstStyle/>
            <a:p>
              <a:pPr algn="ctr"/>
              <a:r>
                <a:rPr lang="en-US" sz="800">
                  <a:solidFill>
                    <a:schemeClr val="bg1"/>
                  </a:solidFill>
                  <a:latin typeface="+mn-lt"/>
                </a:rPr>
                <a:t>Primary KPI</a:t>
              </a:r>
            </a:p>
          </p:txBody>
        </p:sp>
      </p:grpSp>
      <p:sp>
        <p:nvSpPr>
          <p:cNvPr id="2" name="Title 1">
            <a:extLst>
              <a:ext uri="{FF2B5EF4-FFF2-40B4-BE49-F238E27FC236}">
                <a16:creationId xmlns:a16="http://schemas.microsoft.com/office/drawing/2014/main" id="{70CE2DD3-77F2-9AE4-D58D-7967BE5DD6DA}"/>
              </a:ext>
            </a:extLst>
          </p:cNvPr>
          <p:cNvSpPr>
            <a:spLocks noGrp="1"/>
          </p:cNvSpPr>
          <p:nvPr>
            <p:ph type="title"/>
          </p:nvPr>
        </p:nvSpPr>
        <p:spPr>
          <a:xfrm>
            <a:off x="241737" y="786314"/>
            <a:ext cx="11666483" cy="422275"/>
          </a:xfrm>
        </p:spPr>
        <p:txBody>
          <a:bodyPr/>
          <a:lstStyle/>
          <a:p>
            <a:r>
              <a:rPr lang="en-US" altLang="en-US"/>
              <a:t>With identified KPIs by funnel stage to better evaluate success</a:t>
            </a:r>
          </a:p>
        </p:txBody>
      </p:sp>
      <p:graphicFrame>
        <p:nvGraphicFramePr>
          <p:cNvPr id="3" name="Table 2">
            <a:extLst>
              <a:ext uri="{FF2B5EF4-FFF2-40B4-BE49-F238E27FC236}">
                <a16:creationId xmlns:a16="http://schemas.microsoft.com/office/drawing/2014/main" id="{9734D930-6BBC-C75F-7F4A-7C4512C7B10B}"/>
              </a:ext>
            </a:extLst>
          </p:cNvPr>
          <p:cNvGraphicFramePr>
            <a:graphicFrameLocks noGrp="1"/>
          </p:cNvGraphicFramePr>
          <p:nvPr/>
        </p:nvGraphicFramePr>
        <p:xfrm>
          <a:off x="409576" y="1866442"/>
          <a:ext cx="11188641" cy="3880291"/>
        </p:xfrm>
        <a:graphic>
          <a:graphicData uri="http://schemas.openxmlformats.org/drawingml/2006/table">
            <a:tbl>
              <a:tblPr firstRow="1" bandRow="1">
                <a:tableStyleId>{5C22544A-7EE6-4342-B048-85BDC9FD1C3A}</a:tableStyleId>
              </a:tblPr>
              <a:tblGrid>
                <a:gridCol w="3392027">
                  <a:extLst>
                    <a:ext uri="{9D8B030D-6E8A-4147-A177-3AD203B41FA5}">
                      <a16:colId xmlns:a16="http://schemas.microsoft.com/office/drawing/2014/main" val="2988033198"/>
                    </a:ext>
                  </a:extLst>
                </a:gridCol>
                <a:gridCol w="1556034">
                  <a:extLst>
                    <a:ext uri="{9D8B030D-6E8A-4147-A177-3AD203B41FA5}">
                      <a16:colId xmlns:a16="http://schemas.microsoft.com/office/drawing/2014/main" val="4136781208"/>
                    </a:ext>
                  </a:extLst>
                </a:gridCol>
                <a:gridCol w="1560145">
                  <a:extLst>
                    <a:ext uri="{9D8B030D-6E8A-4147-A177-3AD203B41FA5}">
                      <a16:colId xmlns:a16="http://schemas.microsoft.com/office/drawing/2014/main" val="1361076535"/>
                    </a:ext>
                  </a:extLst>
                </a:gridCol>
                <a:gridCol w="1560145">
                  <a:extLst>
                    <a:ext uri="{9D8B030D-6E8A-4147-A177-3AD203B41FA5}">
                      <a16:colId xmlns:a16="http://schemas.microsoft.com/office/drawing/2014/main" val="1759753047"/>
                    </a:ext>
                  </a:extLst>
                </a:gridCol>
                <a:gridCol w="1560145">
                  <a:extLst>
                    <a:ext uri="{9D8B030D-6E8A-4147-A177-3AD203B41FA5}">
                      <a16:colId xmlns:a16="http://schemas.microsoft.com/office/drawing/2014/main" val="894001303"/>
                    </a:ext>
                  </a:extLst>
                </a:gridCol>
                <a:gridCol w="1560145">
                  <a:extLst>
                    <a:ext uri="{9D8B030D-6E8A-4147-A177-3AD203B41FA5}">
                      <a16:colId xmlns:a16="http://schemas.microsoft.com/office/drawing/2014/main" val="2651614751"/>
                    </a:ext>
                  </a:extLst>
                </a:gridCol>
              </a:tblGrid>
              <a:tr h="375091">
                <a:tc>
                  <a:txBody>
                    <a:bodyPr/>
                    <a:lstStyle/>
                    <a:p>
                      <a:pPr algn="ctr"/>
                      <a:r>
                        <a:rPr lang="en-US" sz="1200"/>
                        <a:t>KPI</a:t>
                      </a:r>
                      <a:endParaRPr lang="en-US" sz="1200">
                        <a:latin typeface="+mn-lt"/>
                      </a:endParaRPr>
                    </a:p>
                  </a:txBody>
                  <a:tcPr anchor="ctr"/>
                </a:tc>
                <a:tc>
                  <a:txBody>
                    <a:bodyPr/>
                    <a:lstStyle/>
                    <a:p>
                      <a:pPr algn="ctr"/>
                      <a:r>
                        <a:rPr lang="en-US" sz="1200"/>
                        <a:t>Home</a:t>
                      </a:r>
                      <a:endParaRPr lang="en-US" sz="1200">
                        <a:latin typeface="+mn-lt"/>
                      </a:endParaRPr>
                    </a:p>
                  </a:txBody>
                  <a:tcPr anchor="ctr"/>
                </a:tc>
                <a:tc>
                  <a:txBody>
                    <a:bodyPr/>
                    <a:lstStyle/>
                    <a:p>
                      <a:pPr algn="ctr"/>
                      <a:r>
                        <a:rPr lang="en-US" sz="1200"/>
                        <a:t>PLPs</a:t>
                      </a:r>
                      <a:endParaRPr lang="en-US" sz="1200">
                        <a:latin typeface="+mn-lt"/>
                      </a:endParaRPr>
                    </a:p>
                  </a:txBody>
                  <a:tcPr anchor="ctr"/>
                </a:tc>
                <a:tc>
                  <a:txBody>
                    <a:bodyPr/>
                    <a:lstStyle/>
                    <a:p>
                      <a:pPr algn="ctr"/>
                      <a:r>
                        <a:rPr lang="en-US" sz="1200"/>
                        <a:t>PDPs</a:t>
                      </a:r>
                      <a:endParaRPr lang="en-US" sz="1200">
                        <a:latin typeface="+mn-lt"/>
                      </a:endParaRPr>
                    </a:p>
                  </a:txBody>
                  <a:tcPr anchor="ctr"/>
                </a:tc>
                <a:tc>
                  <a:txBody>
                    <a:bodyPr/>
                    <a:lstStyle/>
                    <a:p>
                      <a:pPr algn="ctr"/>
                      <a:r>
                        <a:rPr lang="en-US" sz="1200"/>
                        <a:t>Minicart / Cart</a:t>
                      </a:r>
                      <a:endParaRPr lang="en-US" sz="1200">
                        <a:latin typeface="+mn-lt"/>
                      </a:endParaRPr>
                    </a:p>
                  </a:txBody>
                  <a:tcPr anchor="ctr"/>
                </a:tc>
                <a:tc>
                  <a:txBody>
                    <a:bodyPr/>
                    <a:lstStyle/>
                    <a:p>
                      <a:pPr algn="ctr"/>
                      <a:r>
                        <a:rPr lang="en-US" sz="1200"/>
                        <a:t>Checkout Flow</a:t>
                      </a:r>
                      <a:endParaRPr lang="en-US" sz="1200">
                        <a:latin typeface="+mn-lt"/>
                      </a:endParaRPr>
                    </a:p>
                  </a:txBody>
                  <a:tcPr anchor="ctr"/>
                </a:tc>
                <a:extLst>
                  <a:ext uri="{0D108BD9-81ED-4DB2-BD59-A6C34878D82A}">
                    <a16:rowId xmlns:a16="http://schemas.microsoft.com/office/drawing/2014/main" val="987714657"/>
                  </a:ext>
                </a:extLst>
              </a:tr>
              <a:tr h="250888">
                <a:tc>
                  <a:txBody>
                    <a:bodyPr/>
                    <a:lstStyle/>
                    <a:p>
                      <a:r>
                        <a:rPr lang="en-US" sz="1200"/>
                        <a:t>PLP Visit Rate</a:t>
                      </a:r>
                      <a:endParaRPr lang="en-US" sz="1200">
                        <a:latin typeface="+mn-lt"/>
                      </a:endParaRPr>
                    </a:p>
                  </a:txBody>
                  <a:tcPr anchor="ctr">
                    <a:solidFill>
                      <a:schemeClr val="bg2">
                        <a:lumMod val="90000"/>
                      </a:schemeClr>
                    </a:solidFill>
                  </a:tcPr>
                </a:tc>
                <a:tc>
                  <a:txBody>
                    <a:bodyPr/>
                    <a:lstStyle/>
                    <a:p>
                      <a:pPr algn="ctr"/>
                      <a:r>
                        <a:rPr lang="en-US" sz="1400" b="1">
                          <a:solidFill>
                            <a:schemeClr val="accent2"/>
                          </a:solidFill>
                        </a:rPr>
                        <a:t>X</a:t>
                      </a:r>
                      <a:endParaRPr lang="en-US" sz="1400" b="1">
                        <a:solidFill>
                          <a:schemeClr val="accent2"/>
                        </a:solidFill>
                        <a:latin typeface="+mn-lt"/>
                      </a:endParaRPr>
                    </a:p>
                  </a:txBody>
                  <a:tcPr anchor="ctr">
                    <a:solidFill>
                      <a:schemeClr val="bg2">
                        <a:lumMod val="90000"/>
                      </a:schemeClr>
                    </a:solidFill>
                  </a:tcPr>
                </a:tc>
                <a:tc>
                  <a:txBody>
                    <a:bodyPr/>
                    <a:lstStyle/>
                    <a:p>
                      <a:pPr algn="ctr"/>
                      <a:endParaRPr lang="en-US" sz="1400" b="1">
                        <a:latin typeface="+mn-lt"/>
                      </a:endParaRPr>
                    </a:p>
                  </a:txBody>
                  <a:tcPr anchor="ctr">
                    <a:solidFill>
                      <a:schemeClr val="bg2">
                        <a:lumMod val="90000"/>
                      </a:schemeClr>
                    </a:solidFill>
                  </a:tcPr>
                </a:tc>
                <a:tc>
                  <a:txBody>
                    <a:bodyPr/>
                    <a:lstStyle/>
                    <a:p>
                      <a:pPr algn="ctr"/>
                      <a:endParaRPr lang="en-US" sz="1400" b="1">
                        <a:latin typeface="+mn-lt"/>
                      </a:endParaRPr>
                    </a:p>
                  </a:txBody>
                  <a:tcPr anchor="ctr">
                    <a:solidFill>
                      <a:schemeClr val="bg2">
                        <a:lumMod val="90000"/>
                      </a:schemeClr>
                    </a:solidFill>
                  </a:tcPr>
                </a:tc>
                <a:tc>
                  <a:txBody>
                    <a:bodyPr/>
                    <a:lstStyle/>
                    <a:p>
                      <a:pPr algn="ctr"/>
                      <a:endParaRPr lang="en-US" sz="1400" b="1">
                        <a:latin typeface="+mn-lt"/>
                      </a:endParaRPr>
                    </a:p>
                  </a:txBody>
                  <a:tcPr anchor="ctr">
                    <a:solidFill>
                      <a:schemeClr val="bg2">
                        <a:lumMod val="90000"/>
                      </a:schemeClr>
                    </a:solidFill>
                  </a:tcPr>
                </a:tc>
                <a:tc>
                  <a:txBody>
                    <a:bodyPr/>
                    <a:lstStyle/>
                    <a:p>
                      <a:pPr algn="ctr"/>
                      <a:endParaRPr lang="en-US" sz="1400" b="1">
                        <a:latin typeface="+mn-lt"/>
                      </a:endParaRPr>
                    </a:p>
                  </a:txBody>
                  <a:tcPr anchor="ctr">
                    <a:solidFill>
                      <a:schemeClr val="bg2">
                        <a:lumMod val="90000"/>
                      </a:schemeClr>
                    </a:solidFill>
                  </a:tcPr>
                </a:tc>
                <a:extLst>
                  <a:ext uri="{0D108BD9-81ED-4DB2-BD59-A6C34878D82A}">
                    <a16:rowId xmlns:a16="http://schemas.microsoft.com/office/drawing/2014/main" val="2576641825"/>
                  </a:ext>
                </a:extLst>
              </a:tr>
              <a:tr h="250888">
                <a:tc>
                  <a:txBody>
                    <a:bodyPr/>
                    <a:lstStyle/>
                    <a:p>
                      <a:r>
                        <a:rPr lang="en-US" sz="1200"/>
                        <a:t>PDP Visit Rate (View_item)</a:t>
                      </a:r>
                      <a:endParaRPr lang="en-US" sz="1200">
                        <a:latin typeface="+mn-lt"/>
                      </a:endParaRPr>
                    </a:p>
                  </a:txBody>
                  <a:tcPr anchor="ctr">
                    <a:solidFill>
                      <a:schemeClr val="bg2"/>
                    </a:solidFill>
                  </a:tcPr>
                </a:tc>
                <a:tc>
                  <a:txBody>
                    <a:bodyPr/>
                    <a:lstStyle/>
                    <a:p>
                      <a:pPr algn="ctr"/>
                      <a:r>
                        <a:rPr lang="en-US" sz="1400" b="1">
                          <a:solidFill>
                            <a:schemeClr val="accent3"/>
                          </a:solidFill>
                        </a:rPr>
                        <a:t>X</a:t>
                      </a:r>
                      <a:endParaRPr lang="en-US" sz="1400" b="1">
                        <a:solidFill>
                          <a:schemeClr val="accent3"/>
                        </a:solidFill>
                        <a:latin typeface="+mn-lt"/>
                      </a:endParaRPr>
                    </a:p>
                  </a:txBody>
                  <a:tcPr anchor="ctr">
                    <a:solidFill>
                      <a:schemeClr val="bg2"/>
                    </a:solidFill>
                  </a:tcPr>
                </a:tc>
                <a:tc>
                  <a:txBody>
                    <a:bodyPr/>
                    <a:lstStyle/>
                    <a:p>
                      <a:pPr algn="ctr"/>
                      <a:r>
                        <a:rPr lang="en-US" sz="1400" b="1">
                          <a:solidFill>
                            <a:schemeClr val="accent2"/>
                          </a:solidFill>
                        </a:rPr>
                        <a:t>X</a:t>
                      </a:r>
                      <a:endParaRPr lang="en-US" sz="1400" b="1">
                        <a:solidFill>
                          <a:schemeClr val="accent2"/>
                        </a:solidFill>
                        <a:latin typeface="+mn-lt"/>
                      </a:endParaRPr>
                    </a:p>
                  </a:txBody>
                  <a:tcPr anchor="ctr">
                    <a:solidFill>
                      <a:schemeClr val="bg2"/>
                    </a:solidFill>
                  </a:tcPr>
                </a:tc>
                <a:tc>
                  <a:txBody>
                    <a:bodyPr/>
                    <a:lstStyle/>
                    <a:p>
                      <a:pPr algn="ctr"/>
                      <a:endParaRPr lang="en-US" sz="1400" b="1">
                        <a:latin typeface="+mn-lt"/>
                      </a:endParaRPr>
                    </a:p>
                  </a:txBody>
                  <a:tcPr anchor="ctr">
                    <a:solidFill>
                      <a:schemeClr val="bg2"/>
                    </a:solidFill>
                  </a:tcPr>
                </a:tc>
                <a:tc>
                  <a:txBody>
                    <a:bodyPr/>
                    <a:lstStyle/>
                    <a:p>
                      <a:pPr algn="ctr"/>
                      <a:endParaRPr lang="en-US" sz="1400" b="1">
                        <a:latin typeface="+mn-lt"/>
                      </a:endParaRPr>
                    </a:p>
                  </a:txBody>
                  <a:tcPr anchor="ctr">
                    <a:solidFill>
                      <a:schemeClr val="bg2"/>
                    </a:solidFill>
                  </a:tcPr>
                </a:tc>
                <a:tc>
                  <a:txBody>
                    <a:bodyPr/>
                    <a:lstStyle/>
                    <a:p>
                      <a:pPr algn="ctr"/>
                      <a:endParaRPr lang="en-US" sz="1400" b="1">
                        <a:latin typeface="+mn-lt"/>
                      </a:endParaRPr>
                    </a:p>
                  </a:txBody>
                  <a:tcPr anchor="ctr">
                    <a:solidFill>
                      <a:schemeClr val="bg2"/>
                    </a:solidFill>
                  </a:tcPr>
                </a:tc>
                <a:extLst>
                  <a:ext uri="{0D108BD9-81ED-4DB2-BD59-A6C34878D82A}">
                    <a16:rowId xmlns:a16="http://schemas.microsoft.com/office/drawing/2014/main" val="886409562"/>
                  </a:ext>
                </a:extLst>
              </a:tr>
              <a:tr h="250888">
                <a:tc>
                  <a:txBody>
                    <a:bodyPr/>
                    <a:lstStyle/>
                    <a:p>
                      <a:r>
                        <a:rPr lang="en-US" sz="1200">
                          <a:latin typeface="+mn-lt"/>
                        </a:rPr>
                        <a:t>Click ATB CTA Rate (Select_item)</a:t>
                      </a:r>
                    </a:p>
                  </a:txBody>
                  <a:tcPr anchor="ct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a:solidFill>
                            <a:schemeClr val="accent5"/>
                          </a:solidFill>
                        </a:rPr>
                        <a:t>X</a:t>
                      </a:r>
                      <a:endParaRPr lang="en-US" sz="1400" b="1">
                        <a:solidFill>
                          <a:schemeClr val="accent5"/>
                        </a:solidFill>
                        <a:latin typeface="+mn-lt"/>
                      </a:endParaRPr>
                    </a:p>
                  </a:txBody>
                  <a:tcPr anchor="ct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kern="1200" noProof="0">
                          <a:solidFill>
                            <a:schemeClr val="accent2"/>
                          </a:solidFill>
                          <a:latin typeface="+mn-lt"/>
                          <a:ea typeface="+mn-ea"/>
                          <a:cs typeface="+mn-cs"/>
                        </a:rPr>
                        <a:t>X</a:t>
                      </a:r>
                    </a:p>
                  </a:txBody>
                  <a:tcPr anchor="ct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accent2"/>
                          </a:solidFill>
                          <a:effectLst/>
                          <a:uLnTx/>
                          <a:uFillTx/>
                          <a:latin typeface="Poppins"/>
                          <a:ea typeface="+mn-ea"/>
                          <a:cs typeface="+mn-cs"/>
                        </a:rPr>
                        <a:t>X</a:t>
                      </a:r>
                    </a:p>
                  </a:txBody>
                  <a:tcPr anchor="ctr">
                    <a:solidFill>
                      <a:schemeClr val="bg2">
                        <a:lumMod val="90000"/>
                      </a:schemeClr>
                    </a:solidFill>
                  </a:tcPr>
                </a:tc>
                <a:tc>
                  <a:txBody>
                    <a:bodyPr/>
                    <a:lstStyle/>
                    <a:p>
                      <a:pPr algn="ctr"/>
                      <a:r>
                        <a:rPr lang="en-US" sz="1400" b="1">
                          <a:solidFill>
                            <a:schemeClr val="accent3"/>
                          </a:solidFill>
                        </a:rPr>
                        <a:t>X</a:t>
                      </a:r>
                      <a:endParaRPr lang="en-US" sz="1400" b="1">
                        <a:solidFill>
                          <a:schemeClr val="accent3"/>
                        </a:solidFill>
                        <a:latin typeface="+mn-lt"/>
                      </a:endParaRPr>
                    </a:p>
                  </a:txBody>
                  <a:tcPr anchor="ctr">
                    <a:solidFill>
                      <a:schemeClr val="bg2">
                        <a:lumMod val="90000"/>
                      </a:schemeClr>
                    </a:solidFill>
                  </a:tcPr>
                </a:tc>
                <a:tc>
                  <a:txBody>
                    <a:bodyPr/>
                    <a:lstStyle/>
                    <a:p>
                      <a:pPr algn="ctr"/>
                      <a:endParaRPr lang="en-US" sz="1400" b="1">
                        <a:latin typeface="+mn-lt"/>
                      </a:endParaRPr>
                    </a:p>
                  </a:txBody>
                  <a:tcPr anchor="ctr">
                    <a:solidFill>
                      <a:schemeClr val="bg2">
                        <a:lumMod val="90000"/>
                      </a:schemeClr>
                    </a:solidFill>
                  </a:tcPr>
                </a:tc>
                <a:extLst>
                  <a:ext uri="{0D108BD9-81ED-4DB2-BD59-A6C34878D82A}">
                    <a16:rowId xmlns:a16="http://schemas.microsoft.com/office/drawing/2014/main" val="2897503536"/>
                  </a:ext>
                </a:extLst>
              </a:tr>
              <a:tr h="250888">
                <a:tc>
                  <a:txBody>
                    <a:bodyPr/>
                    <a:lstStyle/>
                    <a:p>
                      <a:r>
                        <a:rPr lang="en-US" sz="1200"/>
                        <a:t>Cart Addition Rate (add_to_cart)</a:t>
                      </a:r>
                      <a:endParaRPr lang="en-US" sz="1200">
                        <a:latin typeface="+mn-lt"/>
                      </a:endParaRPr>
                    </a:p>
                  </a:txBody>
                  <a:tcPr anchor="ctr">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a:solidFill>
                            <a:schemeClr val="accent3"/>
                          </a:solidFill>
                        </a:rPr>
                        <a:t>X</a:t>
                      </a:r>
                      <a:endParaRPr lang="en-US" sz="1400" b="1">
                        <a:solidFill>
                          <a:schemeClr val="accent3"/>
                        </a:solidFill>
                        <a:latin typeface="+mn-lt"/>
                      </a:endParaRPr>
                    </a:p>
                  </a:txBody>
                  <a:tcPr anchor="ctr">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accent2"/>
                          </a:solidFill>
                          <a:effectLst/>
                          <a:uLnTx/>
                          <a:uFillTx/>
                          <a:latin typeface="Poppins"/>
                          <a:ea typeface="+mn-ea"/>
                          <a:cs typeface="+mn-cs"/>
                        </a:rPr>
                        <a:t>X</a:t>
                      </a:r>
                    </a:p>
                  </a:txBody>
                  <a:tcPr anchor="ctr">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accent2"/>
                          </a:solidFill>
                          <a:effectLst/>
                          <a:uLnTx/>
                          <a:uFillTx/>
                          <a:latin typeface="Poppins"/>
                          <a:ea typeface="+mn-ea"/>
                          <a:cs typeface="+mn-cs"/>
                        </a:rPr>
                        <a:t>X</a:t>
                      </a:r>
                    </a:p>
                  </a:txBody>
                  <a:tcPr anchor="ctr">
                    <a:solidFill>
                      <a:schemeClr val="bg2"/>
                    </a:solidFill>
                  </a:tcPr>
                </a:tc>
                <a:tc>
                  <a:txBody>
                    <a:bodyPr/>
                    <a:lstStyle/>
                    <a:p>
                      <a:pPr algn="ctr"/>
                      <a:r>
                        <a:rPr lang="en-US" sz="1400" b="1">
                          <a:solidFill>
                            <a:schemeClr val="accent3"/>
                          </a:solidFill>
                        </a:rPr>
                        <a:t>X</a:t>
                      </a:r>
                      <a:endParaRPr lang="en-US" sz="1400" b="1">
                        <a:solidFill>
                          <a:schemeClr val="accent3"/>
                        </a:solidFill>
                        <a:latin typeface="+mn-lt"/>
                      </a:endParaRPr>
                    </a:p>
                  </a:txBody>
                  <a:tcPr anchor="ctr">
                    <a:solidFill>
                      <a:schemeClr val="bg2"/>
                    </a:solidFill>
                  </a:tcPr>
                </a:tc>
                <a:tc>
                  <a:txBody>
                    <a:bodyPr/>
                    <a:lstStyle/>
                    <a:p>
                      <a:pPr algn="ctr"/>
                      <a:endParaRPr lang="en-US" sz="1400" b="1">
                        <a:latin typeface="+mn-lt"/>
                      </a:endParaRPr>
                    </a:p>
                  </a:txBody>
                  <a:tcPr anchor="ctr">
                    <a:solidFill>
                      <a:schemeClr val="bg2"/>
                    </a:solidFill>
                  </a:tcPr>
                </a:tc>
                <a:extLst>
                  <a:ext uri="{0D108BD9-81ED-4DB2-BD59-A6C34878D82A}">
                    <a16:rowId xmlns:a16="http://schemas.microsoft.com/office/drawing/2014/main" val="4149173892"/>
                  </a:ext>
                </a:extLst>
              </a:tr>
              <a:tr h="250888">
                <a:tc>
                  <a:txBody>
                    <a:bodyPr/>
                    <a:lstStyle/>
                    <a:p>
                      <a:r>
                        <a:rPr lang="en-US" sz="1200">
                          <a:latin typeface="+mn-lt"/>
                        </a:rPr>
                        <a:t>Bag View Rate (checkout)</a:t>
                      </a:r>
                    </a:p>
                  </a:txBody>
                  <a:tcPr anchor="ctr">
                    <a:solidFill>
                      <a:schemeClr val="bg2">
                        <a:lumMod val="90000"/>
                      </a:schemeClr>
                    </a:solidFill>
                  </a:tcPr>
                </a:tc>
                <a:tc>
                  <a:txBody>
                    <a:bodyPr/>
                    <a:lstStyle/>
                    <a:p>
                      <a:pPr algn="ctr"/>
                      <a:endParaRPr lang="en-US" sz="1400" b="1">
                        <a:solidFill>
                          <a:schemeClr val="bg1"/>
                        </a:solidFill>
                        <a:highlight>
                          <a:srgbClr val="007CA7"/>
                        </a:highlight>
                        <a:latin typeface="+mn-lt"/>
                      </a:endParaRPr>
                    </a:p>
                  </a:txBody>
                  <a:tcPr anchor="ctr">
                    <a:solidFill>
                      <a:schemeClr val="bg2">
                        <a:lumMod val="90000"/>
                      </a:schemeClr>
                    </a:solidFill>
                  </a:tcPr>
                </a:tc>
                <a:tc>
                  <a:txBody>
                    <a:bodyPr/>
                    <a:lstStyle/>
                    <a:p>
                      <a:pPr algn="ctr"/>
                      <a:r>
                        <a:rPr lang="en-US" sz="1400" b="1">
                          <a:solidFill>
                            <a:schemeClr val="accent5"/>
                          </a:solidFill>
                        </a:rPr>
                        <a:t>X</a:t>
                      </a:r>
                      <a:endParaRPr lang="en-US" sz="1400" b="1">
                        <a:solidFill>
                          <a:schemeClr val="accent5"/>
                        </a:solidFill>
                        <a:latin typeface="+mn-lt"/>
                      </a:endParaRPr>
                    </a:p>
                  </a:txBody>
                  <a:tcPr anchor="ctr">
                    <a:solidFill>
                      <a:schemeClr val="bg2">
                        <a:lumMod val="90000"/>
                      </a:schemeClr>
                    </a:solidFill>
                  </a:tcPr>
                </a:tc>
                <a:tc>
                  <a:txBody>
                    <a:bodyPr/>
                    <a:lstStyle/>
                    <a:p>
                      <a:pPr algn="ctr"/>
                      <a:r>
                        <a:rPr lang="en-US" sz="1400" b="1">
                          <a:solidFill>
                            <a:schemeClr val="accent5"/>
                          </a:solidFill>
                        </a:rPr>
                        <a:t>X</a:t>
                      </a:r>
                      <a:endParaRPr lang="en-US" sz="1400" b="1">
                        <a:solidFill>
                          <a:schemeClr val="accent5"/>
                        </a:solidFill>
                        <a:latin typeface="+mn-lt"/>
                      </a:endParaRPr>
                    </a:p>
                  </a:txBody>
                  <a:tcPr anchor="ctr">
                    <a:solidFill>
                      <a:schemeClr val="bg2">
                        <a:lumMod val="90000"/>
                      </a:schemeClr>
                    </a:solidFill>
                  </a:tcPr>
                </a:tc>
                <a:tc>
                  <a:txBody>
                    <a:bodyPr/>
                    <a:lstStyle/>
                    <a:p>
                      <a:pPr algn="ctr"/>
                      <a:r>
                        <a:rPr lang="en-US" sz="1400" b="1">
                          <a:solidFill>
                            <a:schemeClr val="accent5"/>
                          </a:solidFill>
                        </a:rPr>
                        <a:t>X</a:t>
                      </a:r>
                      <a:endParaRPr lang="en-US" sz="1400" b="1">
                        <a:latin typeface="+mn-lt"/>
                      </a:endParaRPr>
                    </a:p>
                  </a:txBody>
                  <a:tcPr anchor="ctr">
                    <a:solidFill>
                      <a:schemeClr val="bg2">
                        <a:lumMod val="90000"/>
                      </a:schemeClr>
                    </a:solidFill>
                  </a:tcPr>
                </a:tc>
                <a:tc>
                  <a:txBody>
                    <a:bodyPr/>
                    <a:lstStyle/>
                    <a:p>
                      <a:pPr algn="ctr"/>
                      <a:endParaRPr lang="en-US" sz="1400" b="1">
                        <a:latin typeface="+mn-lt"/>
                      </a:endParaRPr>
                    </a:p>
                  </a:txBody>
                  <a:tcPr anchor="ctr">
                    <a:solidFill>
                      <a:schemeClr val="bg2">
                        <a:lumMod val="90000"/>
                      </a:schemeClr>
                    </a:solidFill>
                  </a:tcPr>
                </a:tc>
                <a:extLst>
                  <a:ext uri="{0D108BD9-81ED-4DB2-BD59-A6C34878D82A}">
                    <a16:rowId xmlns:a16="http://schemas.microsoft.com/office/drawing/2014/main" val="4053144064"/>
                  </a:ext>
                </a:extLst>
              </a:tr>
              <a:tr h="250888">
                <a:tc>
                  <a:txBody>
                    <a:bodyPr/>
                    <a:lstStyle/>
                    <a:p>
                      <a:r>
                        <a:rPr lang="en-US" sz="1200"/>
                        <a:t>Checkout Rate (begin_checkout)</a:t>
                      </a:r>
                      <a:endParaRPr lang="en-US" sz="1200">
                        <a:latin typeface="+mn-lt"/>
                      </a:endParaRPr>
                    </a:p>
                  </a:txBody>
                  <a:tcPr anchor="ctr">
                    <a:solidFill>
                      <a:schemeClr val="bg2"/>
                    </a:solidFill>
                  </a:tcPr>
                </a:tc>
                <a:tc>
                  <a:txBody>
                    <a:bodyPr/>
                    <a:lstStyle/>
                    <a:p>
                      <a:pPr algn="ctr"/>
                      <a:endParaRPr lang="en-US" sz="1400" b="1">
                        <a:latin typeface="+mn-lt"/>
                      </a:endParaRPr>
                    </a:p>
                  </a:txBody>
                  <a:tcPr anchor="ctr">
                    <a:solidFill>
                      <a:schemeClr val="bg2"/>
                    </a:solidFill>
                  </a:tcPr>
                </a:tc>
                <a:tc>
                  <a:txBody>
                    <a:bodyPr/>
                    <a:lstStyle/>
                    <a:p>
                      <a:pPr algn="ctr"/>
                      <a:r>
                        <a:rPr lang="en-US" sz="1400" b="1">
                          <a:solidFill>
                            <a:schemeClr val="accent5"/>
                          </a:solidFill>
                        </a:rPr>
                        <a:t>X</a:t>
                      </a:r>
                      <a:endParaRPr lang="en-US" sz="1400" b="1">
                        <a:solidFill>
                          <a:schemeClr val="accent5"/>
                        </a:solidFill>
                        <a:latin typeface="+mn-lt"/>
                      </a:endParaRPr>
                    </a:p>
                  </a:txBody>
                  <a:tcPr anchor="ctr">
                    <a:solidFill>
                      <a:schemeClr val="bg2"/>
                    </a:solidFill>
                  </a:tcPr>
                </a:tc>
                <a:tc>
                  <a:txBody>
                    <a:bodyPr/>
                    <a:lstStyle/>
                    <a:p>
                      <a:pPr algn="ctr"/>
                      <a:r>
                        <a:rPr lang="en-US" sz="1400" b="1">
                          <a:solidFill>
                            <a:schemeClr val="accent5"/>
                          </a:solidFill>
                        </a:rPr>
                        <a:t>X</a:t>
                      </a:r>
                      <a:endParaRPr lang="en-US" sz="1400" b="1">
                        <a:solidFill>
                          <a:schemeClr val="accent5"/>
                        </a:solidFill>
                        <a:latin typeface="+mn-lt"/>
                      </a:endParaRPr>
                    </a:p>
                  </a:txBody>
                  <a:tcPr anchor="ctr">
                    <a:solidFill>
                      <a:schemeClr val="bg2"/>
                    </a:solidFill>
                  </a:tcPr>
                </a:tc>
                <a:tc>
                  <a:txBody>
                    <a:bodyPr/>
                    <a:lstStyle/>
                    <a:p>
                      <a:pPr algn="ctr"/>
                      <a:r>
                        <a:rPr kumimoji="0" lang="en-US" sz="1400" b="1" i="0" u="none" strike="noStrike" kern="1200" cap="none" spc="0" normalizeH="0" baseline="0" noProof="0">
                          <a:ln>
                            <a:noFill/>
                          </a:ln>
                          <a:solidFill>
                            <a:schemeClr val="accent2"/>
                          </a:solidFill>
                          <a:effectLst/>
                          <a:uLnTx/>
                          <a:uFillTx/>
                          <a:latin typeface="+mn-lt"/>
                          <a:ea typeface="+mn-ea"/>
                          <a:cs typeface="+mn-cs"/>
                        </a:rPr>
                        <a:t>X</a:t>
                      </a:r>
                      <a:endParaRPr lang="en-US" sz="1400" b="1">
                        <a:solidFill>
                          <a:schemeClr val="accent2"/>
                        </a:solidFill>
                        <a:latin typeface="+mn-lt"/>
                      </a:endParaRPr>
                    </a:p>
                  </a:txBody>
                  <a:tcPr anchor="ctr">
                    <a:solidFill>
                      <a:schemeClr val="bg2"/>
                    </a:solidFill>
                  </a:tcPr>
                </a:tc>
                <a:tc>
                  <a:txBody>
                    <a:bodyPr/>
                    <a:lstStyle/>
                    <a:p>
                      <a:pPr algn="ctr"/>
                      <a:endParaRPr lang="en-US" sz="1400" b="1">
                        <a:latin typeface="+mn-lt"/>
                      </a:endParaRPr>
                    </a:p>
                  </a:txBody>
                  <a:tcPr anchor="ctr">
                    <a:solidFill>
                      <a:schemeClr val="bg2"/>
                    </a:solidFill>
                  </a:tcPr>
                </a:tc>
                <a:extLst>
                  <a:ext uri="{0D108BD9-81ED-4DB2-BD59-A6C34878D82A}">
                    <a16:rowId xmlns:a16="http://schemas.microsoft.com/office/drawing/2014/main" val="1106463649"/>
                  </a:ext>
                </a:extLst>
              </a:tr>
              <a:tr h="0">
                <a:tc>
                  <a:txBody>
                    <a:bodyPr/>
                    <a:lstStyle/>
                    <a:p>
                      <a:r>
                        <a:rPr lang="en-US" sz="1200"/>
                        <a:t>Alt Payment Use Rate</a:t>
                      </a:r>
                      <a:endParaRPr lang="en-US" sz="1200">
                        <a:latin typeface="+mn-lt"/>
                      </a:endParaRPr>
                    </a:p>
                  </a:txBody>
                  <a:tcPr anchor="ctr">
                    <a:solidFill>
                      <a:schemeClr val="bg2">
                        <a:lumMod val="90000"/>
                      </a:schemeClr>
                    </a:solidFill>
                  </a:tcPr>
                </a:tc>
                <a:tc>
                  <a:txBody>
                    <a:bodyPr/>
                    <a:lstStyle/>
                    <a:p>
                      <a:pPr algn="ctr"/>
                      <a:endParaRPr lang="en-US" sz="1400" b="1">
                        <a:solidFill>
                          <a:schemeClr val="tx1"/>
                        </a:solidFill>
                        <a:highlight>
                          <a:srgbClr val="FFFF00"/>
                        </a:highlight>
                        <a:latin typeface="+mn-lt"/>
                      </a:endParaRPr>
                    </a:p>
                  </a:txBody>
                  <a:tcPr anchor="ctr">
                    <a:solidFill>
                      <a:schemeClr val="bg2">
                        <a:lumMod val="90000"/>
                      </a:schemeClr>
                    </a:solidFill>
                  </a:tcPr>
                </a:tc>
                <a:tc>
                  <a:txBody>
                    <a:bodyPr/>
                    <a:lstStyle/>
                    <a:p>
                      <a:pPr algn="ctr"/>
                      <a:r>
                        <a:rPr lang="en-US" sz="1400" b="1">
                          <a:solidFill>
                            <a:schemeClr val="accent3"/>
                          </a:solidFill>
                        </a:rPr>
                        <a:t>X</a:t>
                      </a:r>
                      <a:endParaRPr lang="en-US" sz="1400" b="1">
                        <a:solidFill>
                          <a:schemeClr val="accent3"/>
                        </a:solidFill>
                        <a:latin typeface="+mn-lt"/>
                      </a:endParaRPr>
                    </a:p>
                  </a:txBody>
                  <a:tcPr anchor="ctr">
                    <a:solidFill>
                      <a:schemeClr val="bg2">
                        <a:lumMod val="90000"/>
                      </a:schemeClr>
                    </a:solidFill>
                  </a:tcPr>
                </a:tc>
                <a:tc>
                  <a:txBody>
                    <a:bodyPr/>
                    <a:lstStyle/>
                    <a:p>
                      <a:pPr algn="ctr"/>
                      <a:r>
                        <a:rPr lang="en-US" sz="1400" b="1">
                          <a:solidFill>
                            <a:schemeClr val="accent3"/>
                          </a:solidFill>
                        </a:rPr>
                        <a:t>X</a:t>
                      </a:r>
                      <a:endParaRPr lang="en-US" sz="1400" b="1">
                        <a:solidFill>
                          <a:schemeClr val="accent3"/>
                        </a:solidFill>
                        <a:latin typeface="+mn-lt"/>
                      </a:endParaRPr>
                    </a:p>
                  </a:txBody>
                  <a:tcPr anchor="ctr">
                    <a:solidFill>
                      <a:schemeClr val="bg2">
                        <a:lumMod val="90000"/>
                      </a:schemeClr>
                    </a:solidFill>
                  </a:tcPr>
                </a:tc>
                <a:tc>
                  <a:txBody>
                    <a:bodyPr/>
                    <a:lstStyle/>
                    <a:p>
                      <a:pPr algn="ctr"/>
                      <a:r>
                        <a:rPr kumimoji="0" lang="en-US" sz="1400" b="1" i="0" u="none" strike="noStrike" kern="1200" cap="none" spc="0" normalizeH="0" baseline="0" noProof="0">
                          <a:ln>
                            <a:noFill/>
                          </a:ln>
                          <a:solidFill>
                            <a:schemeClr val="accent2"/>
                          </a:solidFill>
                          <a:effectLst/>
                          <a:uLnTx/>
                          <a:uFillTx/>
                          <a:latin typeface="+mn-lt"/>
                          <a:ea typeface="+mn-ea"/>
                          <a:cs typeface="+mn-cs"/>
                        </a:rPr>
                        <a:t>X</a:t>
                      </a:r>
                      <a:endParaRPr lang="en-US" sz="1400" b="1">
                        <a:solidFill>
                          <a:schemeClr val="accent2"/>
                        </a:solidFill>
                        <a:latin typeface="+mn-lt"/>
                      </a:endParaRPr>
                    </a:p>
                  </a:txBody>
                  <a:tcPr anchor="ctr">
                    <a:solidFill>
                      <a:schemeClr val="bg2">
                        <a:lumMod val="90000"/>
                      </a:schemeClr>
                    </a:solidFill>
                  </a:tcPr>
                </a:tc>
                <a:tc>
                  <a:txBody>
                    <a:bodyPr/>
                    <a:lstStyle/>
                    <a:p>
                      <a:pPr algn="ctr"/>
                      <a:r>
                        <a:rPr kumimoji="0" lang="en-US" sz="1400" b="1" i="0" u="none" strike="noStrike" kern="1200" cap="none" spc="0" normalizeH="0" baseline="0" noProof="0">
                          <a:ln>
                            <a:noFill/>
                          </a:ln>
                          <a:solidFill>
                            <a:schemeClr val="accent2"/>
                          </a:solidFill>
                          <a:effectLst/>
                          <a:uLnTx/>
                          <a:uFillTx/>
                          <a:latin typeface="+mn-lt"/>
                          <a:ea typeface="+mn-ea"/>
                          <a:cs typeface="+mn-cs"/>
                        </a:rPr>
                        <a:t>X</a:t>
                      </a:r>
                      <a:endParaRPr lang="en-US" sz="1400" b="1">
                        <a:solidFill>
                          <a:schemeClr val="accent2"/>
                        </a:solidFill>
                        <a:latin typeface="+mn-lt"/>
                      </a:endParaRPr>
                    </a:p>
                  </a:txBody>
                  <a:tcPr anchor="ctr">
                    <a:solidFill>
                      <a:schemeClr val="bg2">
                        <a:lumMod val="90000"/>
                      </a:schemeClr>
                    </a:solidFill>
                  </a:tcPr>
                </a:tc>
                <a:extLst>
                  <a:ext uri="{0D108BD9-81ED-4DB2-BD59-A6C34878D82A}">
                    <a16:rowId xmlns:a16="http://schemas.microsoft.com/office/drawing/2014/main" val="932520283"/>
                  </a:ext>
                </a:extLst>
              </a:tr>
              <a:tr h="0">
                <a:tc>
                  <a:txBody>
                    <a:bodyPr/>
                    <a:lstStyle/>
                    <a:p>
                      <a:r>
                        <a:rPr lang="en-US" sz="1200"/>
                        <a:t>Shipping Step Completion Rate (add_shipping_info)</a:t>
                      </a:r>
                      <a:endParaRPr lang="en-US" sz="1200">
                        <a:latin typeface="+mn-lt"/>
                      </a:endParaRPr>
                    </a:p>
                  </a:txBody>
                  <a:tcPr anchor="ctr">
                    <a:solidFill>
                      <a:schemeClr val="bg2"/>
                    </a:solidFill>
                  </a:tcPr>
                </a:tc>
                <a:tc>
                  <a:txBody>
                    <a:bodyPr/>
                    <a:lstStyle/>
                    <a:p>
                      <a:pPr algn="ctr"/>
                      <a:endParaRPr lang="en-US" sz="1400" b="1">
                        <a:solidFill>
                          <a:schemeClr val="tx1"/>
                        </a:solidFill>
                        <a:highlight>
                          <a:srgbClr val="FFFF00"/>
                        </a:highlight>
                        <a:latin typeface="+mn-lt"/>
                      </a:endParaRPr>
                    </a:p>
                  </a:txBody>
                  <a:tcPr anchor="ctr">
                    <a:solidFill>
                      <a:schemeClr val="bg2"/>
                    </a:solidFill>
                  </a:tcPr>
                </a:tc>
                <a:tc>
                  <a:txBody>
                    <a:bodyPr/>
                    <a:lstStyle/>
                    <a:p>
                      <a:pPr algn="ctr"/>
                      <a:r>
                        <a:rPr lang="en-US" sz="1400" b="1">
                          <a:solidFill>
                            <a:schemeClr val="accent3"/>
                          </a:solidFill>
                        </a:rPr>
                        <a:t>X</a:t>
                      </a:r>
                      <a:endParaRPr lang="en-US" sz="1400" b="1">
                        <a:solidFill>
                          <a:schemeClr val="accent3"/>
                        </a:solidFill>
                        <a:latin typeface="+mn-lt"/>
                      </a:endParaRPr>
                    </a:p>
                  </a:txBody>
                  <a:tcPr anchor="ctr">
                    <a:solidFill>
                      <a:schemeClr val="bg2"/>
                    </a:solidFill>
                  </a:tcPr>
                </a:tc>
                <a:tc>
                  <a:txBody>
                    <a:bodyPr/>
                    <a:lstStyle/>
                    <a:p>
                      <a:pPr algn="ctr"/>
                      <a:r>
                        <a:rPr lang="en-US" sz="1400" b="1">
                          <a:solidFill>
                            <a:schemeClr val="accent3"/>
                          </a:solidFill>
                        </a:rPr>
                        <a:t>X</a:t>
                      </a:r>
                      <a:endParaRPr lang="en-US" sz="1400" b="1">
                        <a:solidFill>
                          <a:schemeClr val="accent3"/>
                        </a:solidFill>
                        <a:latin typeface="+mn-lt"/>
                      </a:endParaRPr>
                    </a:p>
                  </a:txBody>
                  <a:tcPr anchor="ctr">
                    <a:solidFill>
                      <a:schemeClr val="bg2"/>
                    </a:solidFill>
                  </a:tcPr>
                </a:tc>
                <a:tc>
                  <a:txBody>
                    <a:bodyPr/>
                    <a:lstStyle/>
                    <a:p>
                      <a:pPr algn="ctr"/>
                      <a:endParaRPr lang="en-US" sz="1400" b="1">
                        <a:latin typeface="+mn-lt"/>
                      </a:endParaRPr>
                    </a:p>
                  </a:txBody>
                  <a:tcPr anchor="ctr">
                    <a:solidFill>
                      <a:schemeClr val="bg2"/>
                    </a:solidFill>
                  </a:tcPr>
                </a:tc>
                <a:tc>
                  <a:txBody>
                    <a:bodyPr/>
                    <a:lstStyle/>
                    <a:p>
                      <a:pPr algn="ctr"/>
                      <a:r>
                        <a:rPr kumimoji="0" lang="en-US" sz="1400" b="1" i="0" u="none" strike="noStrike" kern="1200" cap="none" spc="0" normalizeH="0" baseline="0" noProof="0">
                          <a:ln>
                            <a:noFill/>
                          </a:ln>
                          <a:solidFill>
                            <a:schemeClr val="accent2"/>
                          </a:solidFill>
                          <a:effectLst/>
                          <a:uLnTx/>
                          <a:uFillTx/>
                          <a:latin typeface="+mn-lt"/>
                          <a:ea typeface="+mn-ea"/>
                          <a:cs typeface="+mn-cs"/>
                        </a:rPr>
                        <a:t>X</a:t>
                      </a:r>
                      <a:endParaRPr lang="en-US" sz="1400" b="1">
                        <a:solidFill>
                          <a:schemeClr val="accent2"/>
                        </a:solidFill>
                        <a:latin typeface="+mn-lt"/>
                      </a:endParaRPr>
                    </a:p>
                  </a:txBody>
                  <a:tcPr anchor="ctr">
                    <a:solidFill>
                      <a:schemeClr val="bg2"/>
                    </a:solidFill>
                  </a:tcPr>
                </a:tc>
                <a:extLst>
                  <a:ext uri="{0D108BD9-81ED-4DB2-BD59-A6C34878D82A}">
                    <a16:rowId xmlns:a16="http://schemas.microsoft.com/office/drawing/2014/main" val="783790802"/>
                  </a:ext>
                </a:extLst>
              </a:tr>
              <a:tr h="250888">
                <a:tc>
                  <a:txBody>
                    <a:bodyPr/>
                    <a:lstStyle/>
                    <a:p>
                      <a:r>
                        <a:rPr lang="en-US" sz="1200"/>
                        <a:t>Order Rate </a:t>
                      </a:r>
                      <a:endParaRPr lang="en-US" sz="1200">
                        <a:latin typeface="+mn-lt"/>
                      </a:endParaRPr>
                    </a:p>
                  </a:txBody>
                  <a:tcPr anchor="ctr">
                    <a:solidFill>
                      <a:schemeClr val="bg2">
                        <a:lumMod val="90000"/>
                      </a:schemeClr>
                    </a:solidFill>
                  </a:tcPr>
                </a:tc>
                <a:tc>
                  <a:txBody>
                    <a:bodyPr/>
                    <a:lstStyle/>
                    <a:p>
                      <a:pPr algn="ctr"/>
                      <a:endParaRPr lang="en-US" sz="1400" b="1">
                        <a:solidFill>
                          <a:schemeClr val="tx1"/>
                        </a:solidFill>
                        <a:highlight>
                          <a:srgbClr val="FFFF00"/>
                        </a:highlight>
                        <a:latin typeface="+mn-lt"/>
                      </a:endParaRPr>
                    </a:p>
                  </a:txBody>
                  <a:tcPr anchor="ctr">
                    <a:solidFill>
                      <a:schemeClr val="bg2">
                        <a:lumMod val="90000"/>
                      </a:schemeClr>
                    </a:solidFill>
                  </a:tcPr>
                </a:tc>
                <a:tc>
                  <a:txBody>
                    <a:bodyPr/>
                    <a:lstStyle/>
                    <a:p>
                      <a:pPr algn="ctr"/>
                      <a:endParaRPr lang="en-US" sz="1400" b="1">
                        <a:latin typeface="+mn-lt"/>
                      </a:endParaRPr>
                    </a:p>
                  </a:txBody>
                  <a:tcPr anchor="ctr">
                    <a:solidFill>
                      <a:schemeClr val="bg2">
                        <a:lumMod val="90000"/>
                      </a:schemeClr>
                    </a:solidFill>
                  </a:tcPr>
                </a:tc>
                <a:tc>
                  <a:txBody>
                    <a:bodyPr/>
                    <a:lstStyle/>
                    <a:p>
                      <a:pPr algn="ctr"/>
                      <a:endParaRPr lang="en-US" sz="1400" b="1">
                        <a:latin typeface="+mn-lt"/>
                      </a:endParaRPr>
                    </a:p>
                  </a:txBody>
                  <a:tcPr anchor="ct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accent2"/>
                          </a:solidFill>
                          <a:effectLst/>
                          <a:uLnTx/>
                          <a:uFillTx/>
                          <a:latin typeface="+mn-lt"/>
                          <a:ea typeface="+mn-ea"/>
                          <a:cs typeface="+mn-cs"/>
                        </a:rPr>
                        <a:t>X</a:t>
                      </a:r>
                      <a:endParaRPr lang="en-US" sz="1400" b="1">
                        <a:solidFill>
                          <a:schemeClr val="accent2"/>
                        </a:solidFill>
                        <a:latin typeface="+mn-lt"/>
                      </a:endParaRPr>
                    </a:p>
                  </a:txBody>
                  <a:tcPr anchor="ct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accent2"/>
                          </a:solidFill>
                          <a:effectLst/>
                          <a:uLnTx/>
                          <a:uFillTx/>
                          <a:latin typeface="+mn-lt"/>
                          <a:ea typeface="+mn-ea"/>
                          <a:cs typeface="+mn-cs"/>
                        </a:rPr>
                        <a:t>X</a:t>
                      </a:r>
                      <a:endParaRPr lang="en-US" sz="1400" b="1">
                        <a:solidFill>
                          <a:schemeClr val="accent2"/>
                        </a:solidFill>
                        <a:latin typeface="+mn-lt"/>
                      </a:endParaRPr>
                    </a:p>
                  </a:txBody>
                  <a:tcPr anchor="ctr">
                    <a:solidFill>
                      <a:schemeClr val="bg2">
                        <a:lumMod val="90000"/>
                      </a:schemeClr>
                    </a:solidFill>
                  </a:tcPr>
                </a:tc>
                <a:extLst>
                  <a:ext uri="{0D108BD9-81ED-4DB2-BD59-A6C34878D82A}">
                    <a16:rowId xmlns:a16="http://schemas.microsoft.com/office/drawing/2014/main" val="3089527192"/>
                  </a:ext>
                </a:extLst>
              </a:tr>
              <a:tr h="2508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Revenue per Visitor (RPV)</a:t>
                      </a:r>
                      <a:endParaRPr lang="en-US" sz="1200">
                        <a:latin typeface="+mn-lt"/>
                      </a:endParaRPr>
                    </a:p>
                  </a:txBody>
                  <a:tcPr anchor="ctr">
                    <a:solidFill>
                      <a:schemeClr val="bg2"/>
                    </a:solidFill>
                  </a:tcPr>
                </a:tc>
                <a:tc>
                  <a:txBody>
                    <a:bodyPr/>
                    <a:lstStyle/>
                    <a:p>
                      <a:pPr algn="ctr"/>
                      <a:endParaRPr lang="en-US" sz="1400" b="1">
                        <a:solidFill>
                          <a:schemeClr val="tx1"/>
                        </a:solidFill>
                        <a:highlight>
                          <a:srgbClr val="FFFF00"/>
                        </a:highlight>
                        <a:latin typeface="+mn-lt"/>
                      </a:endParaRPr>
                    </a:p>
                  </a:txBody>
                  <a:tcPr anchor="ctr">
                    <a:solidFill>
                      <a:schemeClr val="bg2"/>
                    </a:solidFill>
                  </a:tcPr>
                </a:tc>
                <a:tc>
                  <a:txBody>
                    <a:bodyPr/>
                    <a:lstStyle/>
                    <a:p>
                      <a:pPr algn="ctr"/>
                      <a:endParaRPr lang="en-US" sz="1400" b="1">
                        <a:latin typeface="+mn-lt"/>
                      </a:endParaRPr>
                    </a:p>
                  </a:txBody>
                  <a:tcPr anchor="ctr">
                    <a:solidFill>
                      <a:schemeClr val="bg2"/>
                    </a:solidFill>
                  </a:tcPr>
                </a:tc>
                <a:tc>
                  <a:txBody>
                    <a:bodyPr/>
                    <a:lstStyle/>
                    <a:p>
                      <a:pPr algn="ctr"/>
                      <a:endParaRPr lang="en-US" sz="1400" b="1">
                        <a:latin typeface="+mn-lt"/>
                      </a:endParaRPr>
                    </a:p>
                  </a:txBody>
                  <a:tcPr anchor="ctr">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accent2"/>
                          </a:solidFill>
                          <a:effectLst/>
                          <a:uLnTx/>
                          <a:uFillTx/>
                          <a:latin typeface="+mn-lt"/>
                          <a:ea typeface="+mn-ea"/>
                          <a:cs typeface="+mn-cs"/>
                        </a:rPr>
                        <a:t>X</a:t>
                      </a:r>
                      <a:endParaRPr lang="en-US" sz="1400" b="1">
                        <a:solidFill>
                          <a:schemeClr val="accent2"/>
                        </a:solidFill>
                        <a:latin typeface="+mn-lt"/>
                      </a:endParaRPr>
                    </a:p>
                  </a:txBody>
                  <a:tcPr anchor="ctr">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accent2"/>
                          </a:solidFill>
                          <a:effectLst/>
                          <a:uLnTx/>
                          <a:uFillTx/>
                          <a:latin typeface="+mn-lt"/>
                          <a:ea typeface="+mn-ea"/>
                          <a:cs typeface="+mn-cs"/>
                        </a:rPr>
                        <a:t>X</a:t>
                      </a:r>
                      <a:endParaRPr lang="en-US" sz="1400" b="1">
                        <a:solidFill>
                          <a:schemeClr val="accent2"/>
                        </a:solidFill>
                        <a:latin typeface="+mn-lt"/>
                      </a:endParaRPr>
                    </a:p>
                  </a:txBody>
                  <a:tcPr anchor="ctr">
                    <a:solidFill>
                      <a:schemeClr val="bg2"/>
                    </a:solidFill>
                  </a:tcPr>
                </a:tc>
                <a:extLst>
                  <a:ext uri="{0D108BD9-81ED-4DB2-BD59-A6C34878D82A}">
                    <a16:rowId xmlns:a16="http://schemas.microsoft.com/office/drawing/2014/main" val="2883073912"/>
                  </a:ext>
                </a:extLst>
              </a:tr>
              <a:tr h="2508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mn-lt"/>
                        </a:rPr>
                        <a:t>Return Rate</a:t>
                      </a:r>
                    </a:p>
                  </a:txBody>
                  <a:tcPr anchor="ctr">
                    <a:solidFill>
                      <a:schemeClr val="bg2">
                        <a:lumMod val="90000"/>
                      </a:schemeClr>
                    </a:solidFill>
                  </a:tcPr>
                </a:tc>
                <a:tc>
                  <a:txBody>
                    <a:bodyPr/>
                    <a:lstStyle/>
                    <a:p>
                      <a:pPr algn="ctr"/>
                      <a:endParaRPr lang="en-US" sz="1400" b="1">
                        <a:solidFill>
                          <a:schemeClr val="tx1"/>
                        </a:solidFill>
                        <a:highlight>
                          <a:srgbClr val="FFFF00"/>
                        </a:highlight>
                        <a:latin typeface="+mn-lt"/>
                      </a:endParaRPr>
                    </a:p>
                  </a:txBody>
                  <a:tcPr anchor="ct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a:solidFill>
                            <a:schemeClr val="accent3"/>
                          </a:solidFill>
                        </a:rPr>
                        <a:t>X</a:t>
                      </a:r>
                      <a:endParaRPr lang="en-US" sz="1400" b="1">
                        <a:solidFill>
                          <a:schemeClr val="accent3"/>
                        </a:solidFill>
                        <a:latin typeface="+mn-lt"/>
                      </a:endParaRPr>
                    </a:p>
                  </a:txBody>
                  <a:tcPr anchor="ct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a:solidFill>
                            <a:schemeClr val="accent3"/>
                          </a:solidFill>
                        </a:rPr>
                        <a:t>X</a:t>
                      </a:r>
                      <a:endParaRPr lang="en-US" sz="1400" b="1">
                        <a:solidFill>
                          <a:schemeClr val="accent3"/>
                        </a:solidFill>
                        <a:latin typeface="+mn-lt"/>
                      </a:endParaRPr>
                    </a:p>
                  </a:txBody>
                  <a:tcPr anchor="ct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b="1">
                        <a:solidFill>
                          <a:schemeClr val="accent3"/>
                        </a:solidFill>
                        <a:latin typeface="+mn-lt"/>
                      </a:endParaRPr>
                    </a:p>
                  </a:txBody>
                  <a:tcPr anchor="ct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a:solidFill>
                            <a:schemeClr val="accent3"/>
                          </a:solidFill>
                        </a:rPr>
                        <a:t>X</a:t>
                      </a:r>
                      <a:endParaRPr lang="en-US" sz="1400" b="1">
                        <a:solidFill>
                          <a:schemeClr val="accent3"/>
                        </a:solidFill>
                        <a:latin typeface="+mn-lt"/>
                      </a:endParaRPr>
                    </a:p>
                  </a:txBody>
                  <a:tcPr anchor="ctr">
                    <a:solidFill>
                      <a:schemeClr val="bg2">
                        <a:lumMod val="90000"/>
                      </a:schemeClr>
                    </a:solidFill>
                  </a:tcPr>
                </a:tc>
                <a:extLst>
                  <a:ext uri="{0D108BD9-81ED-4DB2-BD59-A6C34878D82A}">
                    <a16:rowId xmlns:a16="http://schemas.microsoft.com/office/drawing/2014/main" val="1934489799"/>
                  </a:ext>
                </a:extLst>
              </a:tr>
            </a:tbl>
          </a:graphicData>
        </a:graphic>
      </p:graphicFrame>
      <p:sp>
        <p:nvSpPr>
          <p:cNvPr id="4" name="Rectangle: Rounded Corners 3">
            <a:extLst>
              <a:ext uri="{FF2B5EF4-FFF2-40B4-BE49-F238E27FC236}">
                <a16:creationId xmlns:a16="http://schemas.microsoft.com/office/drawing/2014/main" id="{31A5542A-C186-515A-2A2E-3DA8746BC8BB}"/>
              </a:ext>
            </a:extLst>
          </p:cNvPr>
          <p:cNvSpPr/>
          <p:nvPr/>
        </p:nvSpPr>
        <p:spPr>
          <a:xfrm>
            <a:off x="-168165" y="132481"/>
            <a:ext cx="2564524" cy="388883"/>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t>OPTIMIZATIONS TO DATE</a:t>
            </a:r>
          </a:p>
        </p:txBody>
      </p:sp>
    </p:spTree>
    <p:extLst>
      <p:ext uri="{BB962C8B-B14F-4D97-AF65-F5344CB8AC3E}">
        <p14:creationId xmlns:p14="http://schemas.microsoft.com/office/powerpoint/2010/main" val="33137355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Rectangle 87">
            <a:extLst>
              <a:ext uri="{FF2B5EF4-FFF2-40B4-BE49-F238E27FC236}">
                <a16:creationId xmlns:a16="http://schemas.microsoft.com/office/drawing/2014/main" id="{45459944-BA63-8A63-1C6E-BD383736785B}"/>
              </a:ext>
            </a:extLst>
          </p:cNvPr>
          <p:cNvSpPr/>
          <p:nvPr/>
        </p:nvSpPr>
        <p:spPr>
          <a:xfrm flipV="1">
            <a:off x="-16627" y="-8933"/>
            <a:ext cx="12208625" cy="540940"/>
          </a:xfrm>
          <a:prstGeom prst="rect">
            <a:avLst/>
          </a:prstGeom>
          <a:solidFill>
            <a:srgbClr val="6699CC">
              <a:alpha val="1294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84">
            <a:extLst>
              <a:ext uri="{FF2B5EF4-FFF2-40B4-BE49-F238E27FC236}">
                <a16:creationId xmlns:a16="http://schemas.microsoft.com/office/drawing/2014/main" id="{FCFC13CC-E538-1DE2-B9F3-34FEDA3B2B05}"/>
              </a:ext>
            </a:extLst>
          </p:cNvPr>
          <p:cNvSpPr/>
          <p:nvPr/>
        </p:nvSpPr>
        <p:spPr>
          <a:xfrm>
            <a:off x="-16626" y="6420726"/>
            <a:ext cx="12208625" cy="486041"/>
          </a:xfrm>
          <a:prstGeom prst="rect">
            <a:avLst/>
          </a:prstGeom>
          <a:solidFill>
            <a:srgbClr val="0100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6" name="Picture 85">
            <a:extLst>
              <a:ext uri="{FF2B5EF4-FFF2-40B4-BE49-F238E27FC236}">
                <a16:creationId xmlns:a16="http://schemas.microsoft.com/office/drawing/2014/main" id="{13BB38F0-C95D-7B7F-476A-7A82F8F144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43815" y="6576506"/>
            <a:ext cx="1401689" cy="174481"/>
          </a:xfrm>
          <a:prstGeom prst="rect">
            <a:avLst/>
          </a:prstGeom>
          <a:noFill/>
          <a:extLst>
            <a:ext uri="{909E8E84-426E-40DD-AFC4-6F175D3DCCD1}">
              <a14:hiddenFill xmlns:a14="http://schemas.microsoft.com/office/drawing/2010/main">
                <a:solidFill>
                  <a:srgbClr val="FFFFFF"/>
                </a:solidFill>
              </a14:hiddenFill>
            </a:ext>
          </a:extLst>
        </p:spPr>
      </p:pic>
      <p:sp>
        <p:nvSpPr>
          <p:cNvPr id="87" name="TextBox 86">
            <a:extLst>
              <a:ext uri="{FF2B5EF4-FFF2-40B4-BE49-F238E27FC236}">
                <a16:creationId xmlns:a16="http://schemas.microsoft.com/office/drawing/2014/main" id="{7EC8E12D-52D2-C4A1-6B04-9031FBFF5B11}"/>
              </a:ext>
            </a:extLst>
          </p:cNvPr>
          <p:cNvSpPr txBox="1"/>
          <p:nvPr/>
        </p:nvSpPr>
        <p:spPr>
          <a:xfrm>
            <a:off x="78859" y="6536788"/>
            <a:ext cx="4239255" cy="253916"/>
          </a:xfrm>
          <a:prstGeom prst="rect">
            <a:avLst/>
          </a:prstGeom>
          <a:noFill/>
        </p:spPr>
        <p:txBody>
          <a:bodyPr wrap="square">
            <a:spAutoFit/>
          </a:bodyPr>
          <a:lstStyle/>
          <a:p>
            <a:r>
              <a:rPr lang="en-US" sz="1050" b="0" i="0" u="none" strike="noStrike">
                <a:solidFill>
                  <a:schemeClr val="bg1">
                    <a:lumMod val="75000"/>
                  </a:schemeClr>
                </a:solidFill>
                <a:effectLst/>
                <a:latin typeface="Poppins" pitchFamily="2" charset="77"/>
              </a:rPr>
              <a:t>© 2023 Horizon Media – Confidential &amp; Proprietary</a:t>
            </a:r>
            <a:r>
              <a:rPr lang="en-US" sz="1050" b="0" i="0">
                <a:solidFill>
                  <a:schemeClr val="bg1">
                    <a:lumMod val="75000"/>
                  </a:schemeClr>
                </a:solidFill>
                <a:effectLst/>
                <a:latin typeface="Poppins" pitchFamily="2" charset="77"/>
              </a:rPr>
              <a:t>​</a:t>
            </a:r>
            <a:endParaRPr lang="en-US" sz="1050">
              <a:solidFill>
                <a:schemeClr val="bg1">
                  <a:lumMod val="75000"/>
                </a:schemeClr>
              </a:solidFill>
            </a:endParaRPr>
          </a:p>
        </p:txBody>
      </p:sp>
      <p:sp>
        <p:nvSpPr>
          <p:cNvPr id="3" name="TextBox 2">
            <a:extLst>
              <a:ext uri="{FF2B5EF4-FFF2-40B4-BE49-F238E27FC236}">
                <a16:creationId xmlns:a16="http://schemas.microsoft.com/office/drawing/2014/main" id="{A2B1836E-A4E7-B277-CB8C-B48C2589C273}"/>
              </a:ext>
            </a:extLst>
          </p:cNvPr>
          <p:cNvSpPr txBox="1"/>
          <p:nvPr/>
        </p:nvSpPr>
        <p:spPr>
          <a:xfrm>
            <a:off x="1938846" y="113457"/>
            <a:ext cx="558167" cy="307777"/>
          </a:xfrm>
          <a:prstGeom prst="rect">
            <a:avLst/>
          </a:prstGeom>
          <a:noFill/>
        </p:spPr>
        <p:txBody>
          <a:bodyPr wrap="square" lIns="0">
            <a:spAutoFit/>
          </a:bodyPr>
          <a:lstStyle/>
          <a:p>
            <a:pPr>
              <a:spcAft>
                <a:spcPts val="200"/>
              </a:spcAft>
            </a:pPr>
            <a:r>
              <a:rPr lang="en-US" sz="1400">
                <a:solidFill>
                  <a:srgbClr val="1A2E51"/>
                </a:solidFill>
                <a:latin typeface="Poppins SemiBold" pitchFamily="2" charset="77"/>
                <a:ea typeface="+mj-ea"/>
                <a:cs typeface="+mj-cs"/>
              </a:rPr>
              <a:t>Plan</a:t>
            </a:r>
            <a:endParaRPr lang="en-US" sz="1400">
              <a:solidFill>
                <a:srgbClr val="1A2E51"/>
              </a:solidFill>
            </a:endParaRPr>
          </a:p>
        </p:txBody>
      </p:sp>
      <p:sp>
        <p:nvSpPr>
          <p:cNvPr id="5" name="TextBox 4">
            <a:extLst>
              <a:ext uri="{FF2B5EF4-FFF2-40B4-BE49-F238E27FC236}">
                <a16:creationId xmlns:a16="http://schemas.microsoft.com/office/drawing/2014/main" id="{0270D86B-9078-B11F-2BA4-F41C55A9DE1C}"/>
              </a:ext>
            </a:extLst>
          </p:cNvPr>
          <p:cNvSpPr txBox="1"/>
          <p:nvPr/>
        </p:nvSpPr>
        <p:spPr>
          <a:xfrm>
            <a:off x="5809642" y="113457"/>
            <a:ext cx="558166" cy="307777"/>
          </a:xfrm>
          <a:prstGeom prst="rect">
            <a:avLst/>
          </a:prstGeom>
          <a:noFill/>
        </p:spPr>
        <p:txBody>
          <a:bodyPr wrap="square" lIns="0">
            <a:spAutoFit/>
          </a:bodyPr>
          <a:lstStyle/>
          <a:p>
            <a:pPr>
              <a:spcAft>
                <a:spcPts val="200"/>
              </a:spcAft>
            </a:pPr>
            <a:r>
              <a:rPr lang="en-US" sz="1400">
                <a:solidFill>
                  <a:srgbClr val="1A2E51"/>
                </a:solidFill>
                <a:latin typeface="Poppins SemiBold" pitchFamily="2" charset="77"/>
                <a:ea typeface="+mj-ea"/>
                <a:cs typeface="+mj-cs"/>
              </a:rPr>
              <a:t>Build</a:t>
            </a:r>
            <a:endParaRPr lang="en-US" sz="1400">
              <a:solidFill>
                <a:srgbClr val="1A2E51"/>
              </a:solidFill>
            </a:endParaRPr>
          </a:p>
        </p:txBody>
      </p:sp>
      <p:sp>
        <p:nvSpPr>
          <p:cNvPr id="7" name="TextBox 6">
            <a:extLst>
              <a:ext uri="{FF2B5EF4-FFF2-40B4-BE49-F238E27FC236}">
                <a16:creationId xmlns:a16="http://schemas.microsoft.com/office/drawing/2014/main" id="{2825DF59-76D0-3C84-D276-387C5468A92B}"/>
              </a:ext>
            </a:extLst>
          </p:cNvPr>
          <p:cNvSpPr txBox="1"/>
          <p:nvPr/>
        </p:nvSpPr>
        <p:spPr>
          <a:xfrm>
            <a:off x="9516312" y="113457"/>
            <a:ext cx="1387499" cy="307777"/>
          </a:xfrm>
          <a:prstGeom prst="rect">
            <a:avLst/>
          </a:prstGeom>
          <a:noFill/>
        </p:spPr>
        <p:txBody>
          <a:bodyPr wrap="square" lIns="0">
            <a:spAutoFit/>
          </a:bodyPr>
          <a:lstStyle/>
          <a:p>
            <a:pPr>
              <a:spcAft>
                <a:spcPts val="200"/>
              </a:spcAft>
            </a:pPr>
            <a:r>
              <a:rPr lang="en-US" sz="1400">
                <a:solidFill>
                  <a:srgbClr val="1A2E51"/>
                </a:solidFill>
                <a:latin typeface="Poppins SemiBold" pitchFamily="2" charset="77"/>
                <a:ea typeface="+mj-ea"/>
                <a:cs typeface="+mj-cs"/>
              </a:rPr>
              <a:t>Run &amp; Analyze</a:t>
            </a:r>
            <a:endParaRPr lang="en-US" sz="1400">
              <a:solidFill>
                <a:srgbClr val="1A2E51"/>
              </a:solidFill>
            </a:endParaRPr>
          </a:p>
        </p:txBody>
      </p:sp>
      <p:cxnSp>
        <p:nvCxnSpPr>
          <p:cNvPr id="9" name="Straight Connector 8">
            <a:extLst>
              <a:ext uri="{FF2B5EF4-FFF2-40B4-BE49-F238E27FC236}">
                <a16:creationId xmlns:a16="http://schemas.microsoft.com/office/drawing/2014/main" id="{36A81568-567C-C766-D3EA-DB05E41F4E61}"/>
              </a:ext>
            </a:extLst>
          </p:cNvPr>
          <p:cNvCxnSpPr/>
          <p:nvPr/>
        </p:nvCxnSpPr>
        <p:spPr>
          <a:xfrm>
            <a:off x="4052915" y="797170"/>
            <a:ext cx="0" cy="4900246"/>
          </a:xfrm>
          <a:prstGeom prst="line">
            <a:avLst/>
          </a:prstGeom>
          <a:ln>
            <a:solidFill>
              <a:srgbClr val="1B5585"/>
            </a:solidFill>
            <a:prstDash val="dash"/>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6BBC6D75-6F61-39E6-A453-0B53348873D2}"/>
              </a:ext>
            </a:extLst>
          </p:cNvPr>
          <p:cNvCxnSpPr/>
          <p:nvPr/>
        </p:nvCxnSpPr>
        <p:spPr>
          <a:xfrm>
            <a:off x="8122457" y="797170"/>
            <a:ext cx="0" cy="4900246"/>
          </a:xfrm>
          <a:prstGeom prst="line">
            <a:avLst/>
          </a:prstGeom>
          <a:ln>
            <a:solidFill>
              <a:srgbClr val="1B5585"/>
            </a:solidFill>
            <a:prstDash val="dash"/>
          </a:ln>
        </p:spPr>
        <p:style>
          <a:lnRef idx="1">
            <a:schemeClr val="accent1"/>
          </a:lnRef>
          <a:fillRef idx="0">
            <a:schemeClr val="accent1"/>
          </a:fillRef>
          <a:effectRef idx="0">
            <a:schemeClr val="accent1"/>
          </a:effectRef>
          <a:fontRef idx="minor">
            <a:schemeClr val="tx1"/>
          </a:fontRef>
        </p:style>
      </p:cxnSp>
      <p:pic>
        <p:nvPicPr>
          <p:cNvPr id="12" name="image1.png" descr="Macintosh HD:Users:phannon:Desktop:Optimization Program Processes.pdf">
            <a:extLst>
              <a:ext uri="{FF2B5EF4-FFF2-40B4-BE49-F238E27FC236}">
                <a16:creationId xmlns:a16="http://schemas.microsoft.com/office/drawing/2014/main" id="{4685344D-155A-F591-E8C1-5D463E751185}"/>
              </a:ext>
            </a:extLst>
          </p:cNvPr>
          <p:cNvPicPr/>
          <p:nvPr/>
        </p:nvPicPr>
        <p:blipFill rotWithShape="1">
          <a:blip r:embed="rId4"/>
          <a:srcRect l="11496" t="49864" r="83866" b="42881"/>
          <a:stretch/>
        </p:blipFill>
        <p:spPr>
          <a:xfrm>
            <a:off x="763820" y="911615"/>
            <a:ext cx="451821" cy="398033"/>
          </a:xfrm>
          <a:prstGeom prst="rect">
            <a:avLst/>
          </a:prstGeom>
          <a:ln/>
        </p:spPr>
      </p:pic>
      <p:pic>
        <p:nvPicPr>
          <p:cNvPr id="14" name="image1.png" descr="Macintosh HD:Users:phannon:Desktop:Optimization Program Processes.pdf">
            <a:extLst>
              <a:ext uri="{FF2B5EF4-FFF2-40B4-BE49-F238E27FC236}">
                <a16:creationId xmlns:a16="http://schemas.microsoft.com/office/drawing/2014/main" id="{861751F9-36BC-262F-0C49-B03D7015CD63}"/>
              </a:ext>
            </a:extLst>
          </p:cNvPr>
          <p:cNvPicPr/>
          <p:nvPr/>
        </p:nvPicPr>
        <p:blipFill rotWithShape="1">
          <a:blip r:embed="rId4"/>
          <a:srcRect l="41371" t="36008" r="53301" b="56641"/>
          <a:stretch/>
        </p:blipFill>
        <p:spPr>
          <a:xfrm>
            <a:off x="4526008" y="911615"/>
            <a:ext cx="519004" cy="403317"/>
          </a:xfrm>
          <a:prstGeom prst="rect">
            <a:avLst/>
          </a:prstGeom>
          <a:ln/>
        </p:spPr>
      </p:pic>
      <p:pic>
        <p:nvPicPr>
          <p:cNvPr id="19" name="image1.png" descr="Macintosh HD:Users:phannon:Desktop:Optimization Program Processes.pdf">
            <a:extLst>
              <a:ext uri="{FF2B5EF4-FFF2-40B4-BE49-F238E27FC236}">
                <a16:creationId xmlns:a16="http://schemas.microsoft.com/office/drawing/2014/main" id="{9303B26C-5719-F724-284C-29E7A1550533}"/>
              </a:ext>
            </a:extLst>
          </p:cNvPr>
          <p:cNvPicPr/>
          <p:nvPr/>
        </p:nvPicPr>
        <p:blipFill rotWithShape="1">
          <a:blip r:embed="rId4"/>
          <a:srcRect l="38201" t="81837" r="56314" b="11634"/>
          <a:stretch/>
        </p:blipFill>
        <p:spPr>
          <a:xfrm>
            <a:off x="8458131" y="911615"/>
            <a:ext cx="534318" cy="358176"/>
          </a:xfrm>
          <a:prstGeom prst="rect">
            <a:avLst/>
          </a:prstGeom>
          <a:ln/>
        </p:spPr>
      </p:pic>
      <p:pic>
        <p:nvPicPr>
          <p:cNvPr id="11" name="image1.png" descr="Macintosh HD:Users:phannon:Desktop:Optimization Program Processes.pdf">
            <a:extLst>
              <a:ext uri="{FF2B5EF4-FFF2-40B4-BE49-F238E27FC236}">
                <a16:creationId xmlns:a16="http://schemas.microsoft.com/office/drawing/2014/main" id="{61A9AEA7-002B-11D8-9D34-FAE4DD7A5AD0}"/>
              </a:ext>
            </a:extLst>
          </p:cNvPr>
          <p:cNvPicPr/>
          <p:nvPr/>
        </p:nvPicPr>
        <p:blipFill rotWithShape="1">
          <a:blip r:embed="rId4"/>
          <a:srcRect l="11496" t="23775" r="83866" b="68970"/>
          <a:stretch/>
        </p:blipFill>
        <p:spPr>
          <a:xfrm>
            <a:off x="763820" y="1970569"/>
            <a:ext cx="451821" cy="398033"/>
          </a:xfrm>
          <a:prstGeom prst="rect">
            <a:avLst/>
          </a:prstGeom>
          <a:ln/>
        </p:spPr>
      </p:pic>
      <p:pic>
        <p:nvPicPr>
          <p:cNvPr id="15" name="image1.png" descr="Macintosh HD:Users:phannon:Desktop:Optimization Program Processes.pdf">
            <a:extLst>
              <a:ext uri="{FF2B5EF4-FFF2-40B4-BE49-F238E27FC236}">
                <a16:creationId xmlns:a16="http://schemas.microsoft.com/office/drawing/2014/main" id="{321CB1E0-72F5-6B45-8356-438279C39E62}"/>
              </a:ext>
            </a:extLst>
          </p:cNvPr>
          <p:cNvPicPr/>
          <p:nvPr/>
        </p:nvPicPr>
        <p:blipFill rotWithShape="1">
          <a:blip r:embed="rId4"/>
          <a:srcRect l="51977" t="27655" r="40521" b="63187"/>
          <a:stretch/>
        </p:blipFill>
        <p:spPr>
          <a:xfrm>
            <a:off x="4420117" y="1970569"/>
            <a:ext cx="730786" cy="502469"/>
          </a:xfrm>
          <a:prstGeom prst="rect">
            <a:avLst/>
          </a:prstGeom>
          <a:ln/>
        </p:spPr>
      </p:pic>
      <p:pic>
        <p:nvPicPr>
          <p:cNvPr id="20" name="image1.png" descr="Macintosh HD:Users:phannon:Desktop:Optimization Program Processes.pdf">
            <a:extLst>
              <a:ext uri="{FF2B5EF4-FFF2-40B4-BE49-F238E27FC236}">
                <a16:creationId xmlns:a16="http://schemas.microsoft.com/office/drawing/2014/main" id="{812A5407-4CF9-E0E3-415C-21AABE740620}"/>
              </a:ext>
            </a:extLst>
          </p:cNvPr>
          <p:cNvPicPr/>
          <p:nvPr/>
        </p:nvPicPr>
        <p:blipFill rotWithShape="1">
          <a:blip r:embed="rId4"/>
          <a:srcRect l="48078" t="82187" r="46437" b="10779"/>
          <a:stretch/>
        </p:blipFill>
        <p:spPr>
          <a:xfrm>
            <a:off x="8458131" y="1970569"/>
            <a:ext cx="534318" cy="385846"/>
          </a:xfrm>
          <a:prstGeom prst="rect">
            <a:avLst/>
          </a:prstGeom>
          <a:ln/>
        </p:spPr>
      </p:pic>
      <p:pic>
        <p:nvPicPr>
          <p:cNvPr id="13" name="image1.png" descr="Macintosh HD:Users:phannon:Desktop:Optimization Program Processes.pdf">
            <a:extLst>
              <a:ext uri="{FF2B5EF4-FFF2-40B4-BE49-F238E27FC236}">
                <a16:creationId xmlns:a16="http://schemas.microsoft.com/office/drawing/2014/main" id="{EB781832-5610-74BC-CC0B-A5089ABC0B5B}"/>
              </a:ext>
            </a:extLst>
          </p:cNvPr>
          <p:cNvPicPr/>
          <p:nvPr/>
        </p:nvPicPr>
        <p:blipFill rotWithShape="1">
          <a:blip r:embed="rId4"/>
          <a:srcRect l="11515" t="83197" r="83847" b="9548"/>
          <a:stretch/>
        </p:blipFill>
        <p:spPr>
          <a:xfrm>
            <a:off x="778479" y="4170158"/>
            <a:ext cx="451821" cy="398033"/>
          </a:xfrm>
          <a:prstGeom prst="rect">
            <a:avLst/>
          </a:prstGeom>
          <a:ln/>
        </p:spPr>
      </p:pic>
      <p:pic>
        <p:nvPicPr>
          <p:cNvPr id="17" name="image1.png" descr="Macintosh HD:Users:phannon:Desktop:Optimization Program Processes.pdf">
            <a:extLst>
              <a:ext uri="{FF2B5EF4-FFF2-40B4-BE49-F238E27FC236}">
                <a16:creationId xmlns:a16="http://schemas.microsoft.com/office/drawing/2014/main" id="{49953DA0-466C-B270-D534-4FD2B5032F48}"/>
              </a:ext>
            </a:extLst>
          </p:cNvPr>
          <p:cNvPicPr/>
          <p:nvPr/>
        </p:nvPicPr>
        <p:blipFill rotWithShape="1">
          <a:blip r:embed="rId4"/>
          <a:srcRect l="53032" t="56752" r="40069" b="34089"/>
          <a:stretch/>
        </p:blipFill>
        <p:spPr>
          <a:xfrm>
            <a:off x="4372983" y="4170158"/>
            <a:ext cx="672029" cy="502469"/>
          </a:xfrm>
          <a:prstGeom prst="rect">
            <a:avLst/>
          </a:prstGeom>
          <a:ln/>
        </p:spPr>
      </p:pic>
      <p:pic>
        <p:nvPicPr>
          <p:cNvPr id="22" name="image1.png" descr="Macintosh HD:Users:phannon:Desktop:Optimization Program Processes.pdf">
            <a:extLst>
              <a:ext uri="{FF2B5EF4-FFF2-40B4-BE49-F238E27FC236}">
                <a16:creationId xmlns:a16="http://schemas.microsoft.com/office/drawing/2014/main" id="{C45A52D7-229F-34D6-DAC2-4EA7957A422B}"/>
              </a:ext>
            </a:extLst>
          </p:cNvPr>
          <p:cNvPicPr/>
          <p:nvPr/>
        </p:nvPicPr>
        <p:blipFill rotWithShape="1">
          <a:blip r:embed="rId4"/>
          <a:srcRect l="73670" t="81844" r="19837" b="11122"/>
          <a:stretch/>
        </p:blipFill>
        <p:spPr>
          <a:xfrm>
            <a:off x="8409014" y="4170158"/>
            <a:ext cx="632552" cy="385845"/>
          </a:xfrm>
          <a:prstGeom prst="rect">
            <a:avLst/>
          </a:prstGeom>
          <a:ln/>
        </p:spPr>
      </p:pic>
      <p:pic>
        <p:nvPicPr>
          <p:cNvPr id="18" name="image1.png" descr="Macintosh HD:Users:phannon:Desktop:Optimization Program Processes.pdf">
            <a:extLst>
              <a:ext uri="{FF2B5EF4-FFF2-40B4-BE49-F238E27FC236}">
                <a16:creationId xmlns:a16="http://schemas.microsoft.com/office/drawing/2014/main" id="{606A93F9-5007-198D-CD40-6B1DCFA80D77}"/>
              </a:ext>
            </a:extLst>
          </p:cNvPr>
          <p:cNvPicPr/>
          <p:nvPr/>
        </p:nvPicPr>
        <p:blipFill rotWithShape="1">
          <a:blip r:embed="rId4"/>
          <a:srcRect l="27529" t="82209" r="66986" b="11262"/>
          <a:stretch/>
        </p:blipFill>
        <p:spPr>
          <a:xfrm>
            <a:off x="4474189" y="5328262"/>
            <a:ext cx="534318" cy="358176"/>
          </a:xfrm>
          <a:prstGeom prst="rect">
            <a:avLst/>
          </a:prstGeom>
          <a:ln/>
        </p:spPr>
      </p:pic>
      <p:pic>
        <p:nvPicPr>
          <p:cNvPr id="23" name="image1.png" descr="Macintosh HD:Users:phannon:Desktop:Optimization Program Processes.pdf">
            <a:extLst>
              <a:ext uri="{FF2B5EF4-FFF2-40B4-BE49-F238E27FC236}">
                <a16:creationId xmlns:a16="http://schemas.microsoft.com/office/drawing/2014/main" id="{7EE79BA5-3FE4-876B-EDDB-213EDC5547AF}"/>
              </a:ext>
            </a:extLst>
          </p:cNvPr>
          <p:cNvPicPr/>
          <p:nvPr/>
        </p:nvPicPr>
        <p:blipFill rotWithShape="1">
          <a:blip r:embed="rId4"/>
          <a:srcRect l="86762" t="81947" r="7958" b="10255"/>
          <a:stretch/>
        </p:blipFill>
        <p:spPr>
          <a:xfrm>
            <a:off x="8559834" y="5328262"/>
            <a:ext cx="514490" cy="427695"/>
          </a:xfrm>
          <a:prstGeom prst="rect">
            <a:avLst/>
          </a:prstGeom>
          <a:ln/>
        </p:spPr>
      </p:pic>
      <p:pic>
        <p:nvPicPr>
          <p:cNvPr id="16" name="image1.png" descr="Macintosh HD:Users:phannon:Desktop:Optimization Program Processes.pdf">
            <a:extLst>
              <a:ext uri="{FF2B5EF4-FFF2-40B4-BE49-F238E27FC236}">
                <a16:creationId xmlns:a16="http://schemas.microsoft.com/office/drawing/2014/main" id="{600F43D2-8BCB-73F0-49A6-89AB1509485B}"/>
              </a:ext>
            </a:extLst>
          </p:cNvPr>
          <p:cNvPicPr/>
          <p:nvPr/>
        </p:nvPicPr>
        <p:blipFill rotWithShape="1">
          <a:blip r:embed="rId4"/>
          <a:srcRect l="64078" t="36490" r="28420" b="57564"/>
          <a:stretch/>
        </p:blipFill>
        <p:spPr>
          <a:xfrm>
            <a:off x="4452949" y="3128675"/>
            <a:ext cx="730786" cy="326199"/>
          </a:xfrm>
          <a:prstGeom prst="rect">
            <a:avLst/>
          </a:prstGeom>
          <a:ln/>
        </p:spPr>
      </p:pic>
      <p:pic>
        <p:nvPicPr>
          <p:cNvPr id="21" name="image1.png" descr="Macintosh HD:Users:phannon:Desktop:Optimization Program Processes.pdf">
            <a:extLst>
              <a:ext uri="{FF2B5EF4-FFF2-40B4-BE49-F238E27FC236}">
                <a16:creationId xmlns:a16="http://schemas.microsoft.com/office/drawing/2014/main" id="{7D3AE5FD-564C-102D-6122-36ACAA45AA6F}"/>
              </a:ext>
            </a:extLst>
          </p:cNvPr>
          <p:cNvPicPr/>
          <p:nvPr/>
        </p:nvPicPr>
        <p:blipFill rotWithShape="1">
          <a:blip r:embed="rId4"/>
          <a:srcRect l="61127" t="82625" r="35019" b="10341"/>
          <a:stretch/>
        </p:blipFill>
        <p:spPr>
          <a:xfrm>
            <a:off x="8537544" y="3128675"/>
            <a:ext cx="375492" cy="385846"/>
          </a:xfrm>
          <a:prstGeom prst="rect">
            <a:avLst/>
          </a:prstGeom>
          <a:ln/>
        </p:spPr>
      </p:pic>
      <p:pic>
        <p:nvPicPr>
          <p:cNvPr id="24" name="image1.png" descr="Macintosh HD:Users:phannon:Desktop:Optimization Program Processes.pdf">
            <a:extLst>
              <a:ext uri="{FF2B5EF4-FFF2-40B4-BE49-F238E27FC236}">
                <a16:creationId xmlns:a16="http://schemas.microsoft.com/office/drawing/2014/main" id="{965A896C-0F5F-7C9B-752C-B73C5033DE43}"/>
              </a:ext>
            </a:extLst>
          </p:cNvPr>
          <p:cNvPicPr/>
          <p:nvPr/>
        </p:nvPicPr>
        <p:blipFill rotWithShape="1">
          <a:blip r:embed="rId4"/>
          <a:srcRect l="73670" t="81844" r="19837" b="11122"/>
          <a:stretch/>
        </p:blipFill>
        <p:spPr>
          <a:xfrm>
            <a:off x="616203" y="3128675"/>
            <a:ext cx="632552" cy="385845"/>
          </a:xfrm>
          <a:prstGeom prst="rect">
            <a:avLst/>
          </a:prstGeom>
          <a:ln/>
        </p:spPr>
      </p:pic>
      <p:sp>
        <p:nvSpPr>
          <p:cNvPr id="2" name="TextBox 1">
            <a:extLst>
              <a:ext uri="{FF2B5EF4-FFF2-40B4-BE49-F238E27FC236}">
                <a16:creationId xmlns:a16="http://schemas.microsoft.com/office/drawing/2014/main" id="{7ED5F56F-50DA-0671-CF81-95B45B891142}"/>
              </a:ext>
            </a:extLst>
          </p:cNvPr>
          <p:cNvSpPr txBox="1"/>
          <p:nvPr/>
        </p:nvSpPr>
        <p:spPr>
          <a:xfrm>
            <a:off x="1395046" y="864723"/>
            <a:ext cx="2184776" cy="841256"/>
          </a:xfrm>
          <a:prstGeom prst="rect">
            <a:avLst/>
          </a:prstGeom>
          <a:noFill/>
        </p:spPr>
        <p:txBody>
          <a:bodyPr wrap="square" rtlCol="0">
            <a:spAutoFit/>
          </a:bodyPr>
          <a:lstStyle/>
          <a:p>
            <a:pPr>
              <a:spcAft>
                <a:spcPts val="200"/>
              </a:spcAft>
            </a:pPr>
            <a:r>
              <a:rPr lang="en-US" sz="1000">
                <a:latin typeface="Poppins" panose="00000500000000000000" pitchFamily="2" charset="0"/>
                <a:cs typeface="Poppins" panose="00000500000000000000" pitchFamily="2" charset="0"/>
              </a:rPr>
              <a:t>Exploratory Analysis</a:t>
            </a:r>
          </a:p>
          <a:p>
            <a:r>
              <a:rPr lang="en-US" sz="900" i="1">
                <a:solidFill>
                  <a:schemeClr val="tx2"/>
                </a:solidFill>
                <a:latin typeface="Poppins" panose="00000500000000000000" pitchFamily="2" charset="0"/>
                <a:cs typeface="Poppins" panose="00000500000000000000" pitchFamily="2" charset="0"/>
              </a:rPr>
              <a:t>Various forms of research &amp; analysis are conducted for performance insights.</a:t>
            </a:r>
          </a:p>
          <a:p>
            <a:r>
              <a:rPr lang="en-US" sz="1000">
                <a:latin typeface="Poppins" panose="00000500000000000000" pitchFamily="2" charset="0"/>
                <a:cs typeface="Poppins" panose="00000500000000000000" pitchFamily="2" charset="0"/>
              </a:rPr>
              <a:t> </a:t>
            </a:r>
          </a:p>
        </p:txBody>
      </p:sp>
      <p:sp>
        <p:nvSpPr>
          <p:cNvPr id="4" name="TextBox 3">
            <a:extLst>
              <a:ext uri="{FF2B5EF4-FFF2-40B4-BE49-F238E27FC236}">
                <a16:creationId xmlns:a16="http://schemas.microsoft.com/office/drawing/2014/main" id="{00649C21-FF0B-4248-D199-979062278593}"/>
              </a:ext>
            </a:extLst>
          </p:cNvPr>
          <p:cNvSpPr txBox="1"/>
          <p:nvPr/>
        </p:nvSpPr>
        <p:spPr>
          <a:xfrm>
            <a:off x="1395046" y="1947974"/>
            <a:ext cx="2184776" cy="1118255"/>
          </a:xfrm>
          <a:prstGeom prst="rect">
            <a:avLst/>
          </a:prstGeom>
          <a:noFill/>
        </p:spPr>
        <p:txBody>
          <a:bodyPr wrap="square" rtlCol="0">
            <a:spAutoFit/>
          </a:bodyPr>
          <a:lstStyle/>
          <a:p>
            <a:pPr>
              <a:spcAft>
                <a:spcPts val="200"/>
              </a:spcAft>
            </a:pPr>
            <a:r>
              <a:rPr lang="en-US" sz="1000">
                <a:latin typeface="Poppins" panose="00000500000000000000" pitchFamily="2" charset="0"/>
                <a:cs typeface="Poppins" panose="00000500000000000000" pitchFamily="2" charset="0"/>
              </a:rPr>
              <a:t>Test Ideation</a:t>
            </a:r>
          </a:p>
          <a:p>
            <a:r>
              <a:rPr lang="en-US" sz="900" i="1">
                <a:solidFill>
                  <a:schemeClr val="tx2"/>
                </a:solidFill>
                <a:latin typeface="Poppins" panose="00000500000000000000" pitchFamily="2" charset="0"/>
                <a:cs typeface="Poppins" panose="00000500000000000000" pitchFamily="2" charset="0"/>
              </a:rPr>
              <a:t>Insights are converted into concepts for adapting site content, structure, and flow to optimize site experience and performance. </a:t>
            </a:r>
          </a:p>
          <a:p>
            <a:r>
              <a:rPr lang="en-US" sz="1000">
                <a:latin typeface="Poppins" panose="00000500000000000000" pitchFamily="2" charset="0"/>
                <a:cs typeface="Poppins" panose="00000500000000000000" pitchFamily="2" charset="0"/>
              </a:rPr>
              <a:t> </a:t>
            </a:r>
          </a:p>
        </p:txBody>
      </p:sp>
      <p:sp>
        <p:nvSpPr>
          <p:cNvPr id="6" name="TextBox 5">
            <a:extLst>
              <a:ext uri="{FF2B5EF4-FFF2-40B4-BE49-F238E27FC236}">
                <a16:creationId xmlns:a16="http://schemas.microsoft.com/office/drawing/2014/main" id="{9FF302EB-5712-7130-0591-D721770595DB}"/>
              </a:ext>
            </a:extLst>
          </p:cNvPr>
          <p:cNvSpPr txBox="1"/>
          <p:nvPr/>
        </p:nvSpPr>
        <p:spPr>
          <a:xfrm>
            <a:off x="1395046" y="3137886"/>
            <a:ext cx="2184776" cy="687368"/>
          </a:xfrm>
          <a:prstGeom prst="rect">
            <a:avLst/>
          </a:prstGeom>
          <a:noFill/>
        </p:spPr>
        <p:txBody>
          <a:bodyPr wrap="square" rtlCol="0">
            <a:spAutoFit/>
          </a:bodyPr>
          <a:lstStyle/>
          <a:p>
            <a:pPr>
              <a:spcAft>
                <a:spcPts val="200"/>
              </a:spcAft>
            </a:pPr>
            <a:r>
              <a:rPr lang="en-US" sz="1000">
                <a:latin typeface="Poppins" panose="00000500000000000000" pitchFamily="2" charset="0"/>
                <a:cs typeface="Poppins" panose="00000500000000000000" pitchFamily="2" charset="0"/>
              </a:rPr>
              <a:t>Test Design &amp; Prioritization</a:t>
            </a:r>
          </a:p>
          <a:p>
            <a:r>
              <a:rPr lang="en-US" sz="900" i="1">
                <a:solidFill>
                  <a:schemeClr val="tx2"/>
                </a:solidFill>
                <a:latin typeface="Poppins" panose="00000500000000000000" pitchFamily="2" charset="0"/>
                <a:cs typeface="Poppins" panose="00000500000000000000" pitchFamily="2" charset="0"/>
              </a:rPr>
              <a:t>Ideas are brought into the Test Backlog document for statistical test design &amp; relative prioritization.</a:t>
            </a:r>
            <a:endParaRPr lang="en-US" sz="1000">
              <a:latin typeface="Poppins" panose="00000500000000000000" pitchFamily="2" charset="0"/>
              <a:cs typeface="Poppins" panose="00000500000000000000" pitchFamily="2" charset="0"/>
            </a:endParaRPr>
          </a:p>
        </p:txBody>
      </p:sp>
      <p:sp>
        <p:nvSpPr>
          <p:cNvPr id="8" name="TextBox 7">
            <a:extLst>
              <a:ext uri="{FF2B5EF4-FFF2-40B4-BE49-F238E27FC236}">
                <a16:creationId xmlns:a16="http://schemas.microsoft.com/office/drawing/2014/main" id="{E4A13A4A-E632-6E7A-6139-8970544FAA47}"/>
              </a:ext>
            </a:extLst>
          </p:cNvPr>
          <p:cNvSpPr txBox="1"/>
          <p:nvPr/>
        </p:nvSpPr>
        <p:spPr>
          <a:xfrm>
            <a:off x="1390092" y="4161536"/>
            <a:ext cx="2184776" cy="1118255"/>
          </a:xfrm>
          <a:prstGeom prst="rect">
            <a:avLst/>
          </a:prstGeom>
          <a:noFill/>
        </p:spPr>
        <p:txBody>
          <a:bodyPr wrap="square" rtlCol="0">
            <a:spAutoFit/>
          </a:bodyPr>
          <a:lstStyle/>
          <a:p>
            <a:pPr>
              <a:spcAft>
                <a:spcPts val="200"/>
              </a:spcAft>
            </a:pPr>
            <a:r>
              <a:rPr lang="en-US" sz="1000">
                <a:latin typeface="Poppins" panose="00000500000000000000" pitchFamily="2" charset="0"/>
                <a:cs typeface="Poppins" panose="00000500000000000000" pitchFamily="2" charset="0"/>
              </a:rPr>
              <a:t>Test &amp; Learn Agenda</a:t>
            </a:r>
          </a:p>
          <a:p>
            <a:r>
              <a:rPr lang="en-US" sz="900" i="1">
                <a:solidFill>
                  <a:schemeClr val="tx2"/>
                </a:solidFill>
                <a:latin typeface="Poppins" panose="00000500000000000000" pitchFamily="2" charset="0"/>
                <a:cs typeface="Poppins" panose="00000500000000000000" pitchFamily="2" charset="0"/>
              </a:rPr>
              <a:t>At specified points in time (quarter kickoff, two-week refresh cycles) top ranking test ideas are brought from backlog to client Test &amp; Learn Agendas.</a:t>
            </a:r>
          </a:p>
          <a:p>
            <a:r>
              <a:rPr lang="en-US" sz="1000">
                <a:latin typeface="Poppins" panose="00000500000000000000" pitchFamily="2" charset="0"/>
                <a:cs typeface="Poppins" panose="00000500000000000000" pitchFamily="2" charset="0"/>
              </a:rPr>
              <a:t> </a:t>
            </a:r>
          </a:p>
        </p:txBody>
      </p:sp>
      <p:sp>
        <p:nvSpPr>
          <p:cNvPr id="25" name="TextBox 24">
            <a:extLst>
              <a:ext uri="{FF2B5EF4-FFF2-40B4-BE49-F238E27FC236}">
                <a16:creationId xmlns:a16="http://schemas.microsoft.com/office/drawing/2014/main" id="{C7D99AD6-16F6-956F-45ED-480FF81DF91C}"/>
              </a:ext>
            </a:extLst>
          </p:cNvPr>
          <p:cNvSpPr txBox="1"/>
          <p:nvPr/>
        </p:nvSpPr>
        <p:spPr>
          <a:xfrm>
            <a:off x="5287108" y="853001"/>
            <a:ext cx="2184776" cy="979755"/>
          </a:xfrm>
          <a:prstGeom prst="rect">
            <a:avLst/>
          </a:prstGeom>
          <a:noFill/>
        </p:spPr>
        <p:txBody>
          <a:bodyPr wrap="square" rtlCol="0">
            <a:spAutoFit/>
          </a:bodyPr>
          <a:lstStyle/>
          <a:p>
            <a:pPr>
              <a:spcAft>
                <a:spcPts val="200"/>
              </a:spcAft>
            </a:pPr>
            <a:r>
              <a:rPr lang="en-US" sz="1000">
                <a:latin typeface="Poppins" panose="00000500000000000000" pitchFamily="2" charset="0"/>
                <a:cs typeface="Poppins" panose="00000500000000000000" pitchFamily="2" charset="0"/>
              </a:rPr>
              <a:t>Test Creative</a:t>
            </a:r>
          </a:p>
          <a:p>
            <a:r>
              <a:rPr lang="en-US" sz="900" i="1">
                <a:solidFill>
                  <a:schemeClr val="tx2"/>
                </a:solidFill>
                <a:latin typeface="Poppins" panose="00000500000000000000" pitchFamily="2" charset="0"/>
                <a:cs typeface="Poppins" panose="00000500000000000000" pitchFamily="2" charset="0"/>
              </a:rPr>
              <a:t>Briefs are developed to communicate design needed for test experiences. On approval, Creative team fulfills requests.</a:t>
            </a:r>
          </a:p>
          <a:p>
            <a:r>
              <a:rPr lang="en-US" sz="1000">
                <a:latin typeface="Poppins" panose="00000500000000000000" pitchFamily="2" charset="0"/>
                <a:cs typeface="Poppins" panose="00000500000000000000" pitchFamily="2" charset="0"/>
              </a:rPr>
              <a:t> </a:t>
            </a:r>
          </a:p>
        </p:txBody>
      </p:sp>
      <p:sp>
        <p:nvSpPr>
          <p:cNvPr id="26" name="TextBox 25">
            <a:extLst>
              <a:ext uri="{FF2B5EF4-FFF2-40B4-BE49-F238E27FC236}">
                <a16:creationId xmlns:a16="http://schemas.microsoft.com/office/drawing/2014/main" id="{3BA2E810-E3B1-86A2-E3AA-4F367059FCE3}"/>
              </a:ext>
            </a:extLst>
          </p:cNvPr>
          <p:cNvSpPr txBox="1"/>
          <p:nvPr/>
        </p:nvSpPr>
        <p:spPr>
          <a:xfrm>
            <a:off x="5287108" y="1936252"/>
            <a:ext cx="2184776" cy="979755"/>
          </a:xfrm>
          <a:prstGeom prst="rect">
            <a:avLst/>
          </a:prstGeom>
          <a:noFill/>
        </p:spPr>
        <p:txBody>
          <a:bodyPr wrap="square" rtlCol="0">
            <a:spAutoFit/>
          </a:bodyPr>
          <a:lstStyle/>
          <a:p>
            <a:pPr>
              <a:spcAft>
                <a:spcPts val="200"/>
              </a:spcAft>
            </a:pPr>
            <a:r>
              <a:rPr lang="en-US" sz="1000">
                <a:latin typeface="Poppins" panose="00000500000000000000" pitchFamily="2" charset="0"/>
                <a:cs typeface="Poppins" panose="00000500000000000000" pitchFamily="2" charset="0"/>
              </a:rPr>
              <a:t>Test Configuration</a:t>
            </a:r>
          </a:p>
          <a:p>
            <a:r>
              <a:rPr lang="en-US" sz="900" i="1">
                <a:solidFill>
                  <a:schemeClr val="tx2"/>
                </a:solidFill>
                <a:latin typeface="Poppins" panose="00000500000000000000" pitchFamily="2" charset="0"/>
                <a:cs typeface="Poppins" panose="00000500000000000000" pitchFamily="2" charset="0"/>
              </a:rPr>
              <a:t>In-platform test configuration (creating a project shell, setting target audience, setting goal) is completed. </a:t>
            </a:r>
          </a:p>
          <a:p>
            <a:r>
              <a:rPr lang="en-US" sz="1000">
                <a:latin typeface="Poppins" panose="00000500000000000000" pitchFamily="2" charset="0"/>
                <a:cs typeface="Poppins" panose="00000500000000000000" pitchFamily="2" charset="0"/>
              </a:rPr>
              <a:t> </a:t>
            </a:r>
          </a:p>
        </p:txBody>
      </p:sp>
      <p:sp>
        <p:nvSpPr>
          <p:cNvPr id="27" name="TextBox 26">
            <a:extLst>
              <a:ext uri="{FF2B5EF4-FFF2-40B4-BE49-F238E27FC236}">
                <a16:creationId xmlns:a16="http://schemas.microsoft.com/office/drawing/2014/main" id="{424CAB4E-2289-9FD9-17B6-A35D5CF7A47F}"/>
              </a:ext>
            </a:extLst>
          </p:cNvPr>
          <p:cNvSpPr txBox="1"/>
          <p:nvPr/>
        </p:nvSpPr>
        <p:spPr>
          <a:xfrm>
            <a:off x="5287108" y="3126164"/>
            <a:ext cx="2184776" cy="841256"/>
          </a:xfrm>
          <a:prstGeom prst="rect">
            <a:avLst/>
          </a:prstGeom>
          <a:noFill/>
        </p:spPr>
        <p:txBody>
          <a:bodyPr wrap="square" rtlCol="0">
            <a:spAutoFit/>
          </a:bodyPr>
          <a:lstStyle/>
          <a:p>
            <a:pPr>
              <a:spcAft>
                <a:spcPts val="200"/>
              </a:spcAft>
            </a:pPr>
            <a:r>
              <a:rPr lang="en-US" sz="1000">
                <a:latin typeface="Poppins" panose="00000500000000000000" pitchFamily="2" charset="0"/>
                <a:cs typeface="Poppins" panose="00000500000000000000" pitchFamily="2" charset="0"/>
              </a:rPr>
              <a:t>Test Development</a:t>
            </a:r>
          </a:p>
          <a:p>
            <a:r>
              <a:rPr lang="en-US" sz="900" i="1">
                <a:solidFill>
                  <a:schemeClr val="tx2"/>
                </a:solidFill>
                <a:latin typeface="Poppins" panose="00000500000000000000" pitchFamily="2" charset="0"/>
                <a:cs typeface="Poppins" panose="00000500000000000000" pitchFamily="2" charset="0"/>
              </a:rPr>
              <a:t>Development work to create the proposed test experiences, as well as any custom goal tracking.</a:t>
            </a:r>
          </a:p>
          <a:p>
            <a:r>
              <a:rPr lang="en-US" sz="1000">
                <a:latin typeface="Poppins" panose="00000500000000000000" pitchFamily="2" charset="0"/>
                <a:cs typeface="Poppins" panose="00000500000000000000" pitchFamily="2" charset="0"/>
              </a:rPr>
              <a:t> </a:t>
            </a:r>
          </a:p>
        </p:txBody>
      </p:sp>
      <p:sp>
        <p:nvSpPr>
          <p:cNvPr id="28" name="TextBox 27">
            <a:extLst>
              <a:ext uri="{FF2B5EF4-FFF2-40B4-BE49-F238E27FC236}">
                <a16:creationId xmlns:a16="http://schemas.microsoft.com/office/drawing/2014/main" id="{B3D9F3E4-5E0C-AB40-1640-3449696C5EAC}"/>
              </a:ext>
            </a:extLst>
          </p:cNvPr>
          <p:cNvSpPr txBox="1"/>
          <p:nvPr/>
        </p:nvSpPr>
        <p:spPr>
          <a:xfrm>
            <a:off x="5282154" y="4114645"/>
            <a:ext cx="2184776" cy="979755"/>
          </a:xfrm>
          <a:prstGeom prst="rect">
            <a:avLst/>
          </a:prstGeom>
          <a:noFill/>
        </p:spPr>
        <p:txBody>
          <a:bodyPr wrap="square" rtlCol="0">
            <a:spAutoFit/>
          </a:bodyPr>
          <a:lstStyle/>
          <a:p>
            <a:pPr>
              <a:spcAft>
                <a:spcPts val="200"/>
              </a:spcAft>
            </a:pPr>
            <a:r>
              <a:rPr lang="en-US" sz="1000">
                <a:latin typeface="Poppins" panose="00000500000000000000" pitchFamily="2" charset="0"/>
                <a:cs typeface="Poppins" panose="00000500000000000000" pitchFamily="2" charset="0"/>
              </a:rPr>
              <a:t>Test QA</a:t>
            </a:r>
          </a:p>
          <a:p>
            <a:r>
              <a:rPr lang="en-US" sz="900" i="1">
                <a:solidFill>
                  <a:schemeClr val="tx2"/>
                </a:solidFill>
                <a:latin typeface="Poppins" panose="00000500000000000000" pitchFamily="2" charset="0"/>
                <a:cs typeface="Poppins" panose="00000500000000000000" pitchFamily="2" charset="0"/>
              </a:rPr>
              <a:t>QA of the developed test experience (ideally across browsers and breakpoints) &amp; goal even tracking.</a:t>
            </a:r>
          </a:p>
          <a:p>
            <a:r>
              <a:rPr lang="en-US" sz="1000">
                <a:latin typeface="Poppins" panose="00000500000000000000" pitchFamily="2" charset="0"/>
                <a:cs typeface="Poppins" panose="00000500000000000000" pitchFamily="2" charset="0"/>
              </a:rPr>
              <a:t> </a:t>
            </a:r>
          </a:p>
        </p:txBody>
      </p:sp>
      <p:sp>
        <p:nvSpPr>
          <p:cNvPr id="29" name="TextBox 28">
            <a:extLst>
              <a:ext uri="{FF2B5EF4-FFF2-40B4-BE49-F238E27FC236}">
                <a16:creationId xmlns:a16="http://schemas.microsoft.com/office/drawing/2014/main" id="{08098453-5397-9F4D-2D19-D629517B768F}"/>
              </a:ext>
            </a:extLst>
          </p:cNvPr>
          <p:cNvSpPr txBox="1"/>
          <p:nvPr/>
        </p:nvSpPr>
        <p:spPr>
          <a:xfrm>
            <a:off x="5253403" y="5316125"/>
            <a:ext cx="2184776" cy="841256"/>
          </a:xfrm>
          <a:prstGeom prst="rect">
            <a:avLst/>
          </a:prstGeom>
          <a:noFill/>
        </p:spPr>
        <p:txBody>
          <a:bodyPr wrap="square" rtlCol="0">
            <a:spAutoFit/>
          </a:bodyPr>
          <a:lstStyle/>
          <a:p>
            <a:pPr>
              <a:spcAft>
                <a:spcPts val="200"/>
              </a:spcAft>
            </a:pPr>
            <a:r>
              <a:rPr lang="en-US" sz="1000">
                <a:latin typeface="Poppins" panose="00000500000000000000" pitchFamily="2" charset="0"/>
                <a:cs typeface="Poppins" panose="00000500000000000000" pitchFamily="2" charset="0"/>
              </a:rPr>
              <a:t>Request Approval</a:t>
            </a:r>
          </a:p>
          <a:p>
            <a:r>
              <a:rPr lang="en-US" sz="900" i="1">
                <a:solidFill>
                  <a:schemeClr val="tx2"/>
                </a:solidFill>
                <a:latin typeface="Poppins" panose="00000500000000000000" pitchFamily="2" charset="0"/>
                <a:cs typeface="Poppins" panose="00000500000000000000" pitchFamily="2" charset="0"/>
              </a:rPr>
              <a:t>Test experiences that pass QA are delivered to client for final approval to launch a test.</a:t>
            </a:r>
          </a:p>
          <a:p>
            <a:r>
              <a:rPr lang="en-US" sz="1000">
                <a:latin typeface="Poppins" panose="00000500000000000000" pitchFamily="2" charset="0"/>
                <a:cs typeface="Poppins" panose="00000500000000000000" pitchFamily="2" charset="0"/>
              </a:rPr>
              <a:t> </a:t>
            </a:r>
          </a:p>
        </p:txBody>
      </p:sp>
      <p:sp>
        <p:nvSpPr>
          <p:cNvPr id="30" name="TextBox 29">
            <a:extLst>
              <a:ext uri="{FF2B5EF4-FFF2-40B4-BE49-F238E27FC236}">
                <a16:creationId xmlns:a16="http://schemas.microsoft.com/office/drawing/2014/main" id="{44DB19D8-9894-47BB-5023-232659B91F06}"/>
              </a:ext>
            </a:extLst>
          </p:cNvPr>
          <p:cNvSpPr txBox="1"/>
          <p:nvPr/>
        </p:nvSpPr>
        <p:spPr>
          <a:xfrm>
            <a:off x="9214340" y="841279"/>
            <a:ext cx="2184776" cy="702756"/>
          </a:xfrm>
          <a:prstGeom prst="rect">
            <a:avLst/>
          </a:prstGeom>
          <a:noFill/>
        </p:spPr>
        <p:txBody>
          <a:bodyPr wrap="square" rtlCol="0">
            <a:spAutoFit/>
          </a:bodyPr>
          <a:lstStyle/>
          <a:p>
            <a:pPr>
              <a:spcAft>
                <a:spcPts val="200"/>
              </a:spcAft>
            </a:pPr>
            <a:r>
              <a:rPr lang="en-US" sz="1000">
                <a:latin typeface="Poppins" panose="00000500000000000000" pitchFamily="2" charset="0"/>
                <a:cs typeface="Poppins" panose="00000500000000000000" pitchFamily="2" charset="0"/>
              </a:rPr>
              <a:t>Test Launch</a:t>
            </a:r>
          </a:p>
          <a:p>
            <a:r>
              <a:rPr lang="en-US" sz="900" i="1">
                <a:solidFill>
                  <a:schemeClr val="tx2"/>
                </a:solidFill>
                <a:latin typeface="Poppins" panose="00000500000000000000" pitchFamily="2" charset="0"/>
                <a:cs typeface="Poppins" panose="00000500000000000000" pitchFamily="2" charset="0"/>
              </a:rPr>
              <a:t>After client approves the rendered test experience, a test is turned on.</a:t>
            </a:r>
          </a:p>
          <a:p>
            <a:r>
              <a:rPr lang="en-US" sz="1000">
                <a:latin typeface="Poppins" panose="00000500000000000000" pitchFamily="2" charset="0"/>
                <a:cs typeface="Poppins" panose="00000500000000000000" pitchFamily="2" charset="0"/>
              </a:rPr>
              <a:t> </a:t>
            </a:r>
          </a:p>
        </p:txBody>
      </p:sp>
      <p:sp>
        <p:nvSpPr>
          <p:cNvPr id="31" name="TextBox 30">
            <a:extLst>
              <a:ext uri="{FF2B5EF4-FFF2-40B4-BE49-F238E27FC236}">
                <a16:creationId xmlns:a16="http://schemas.microsoft.com/office/drawing/2014/main" id="{C726CDEE-17A9-6FF0-9754-96D47064E036}"/>
              </a:ext>
            </a:extLst>
          </p:cNvPr>
          <p:cNvSpPr txBox="1"/>
          <p:nvPr/>
        </p:nvSpPr>
        <p:spPr>
          <a:xfrm>
            <a:off x="9214340" y="1924530"/>
            <a:ext cx="2184776" cy="1256754"/>
          </a:xfrm>
          <a:prstGeom prst="rect">
            <a:avLst/>
          </a:prstGeom>
          <a:noFill/>
        </p:spPr>
        <p:txBody>
          <a:bodyPr wrap="square" rtlCol="0">
            <a:spAutoFit/>
          </a:bodyPr>
          <a:lstStyle/>
          <a:p>
            <a:pPr>
              <a:spcAft>
                <a:spcPts val="200"/>
              </a:spcAft>
            </a:pPr>
            <a:r>
              <a:rPr lang="en-US" sz="1000">
                <a:latin typeface="Poppins" panose="00000500000000000000" pitchFamily="2" charset="0"/>
                <a:cs typeface="Poppins" panose="00000500000000000000" pitchFamily="2" charset="0"/>
              </a:rPr>
              <a:t>Monitor Guardrails</a:t>
            </a:r>
          </a:p>
          <a:p>
            <a:r>
              <a:rPr lang="en-US" sz="900" i="1">
                <a:solidFill>
                  <a:schemeClr val="tx2"/>
                </a:solidFill>
                <a:latin typeface="Poppins" panose="00000500000000000000" pitchFamily="2" charset="0"/>
                <a:cs typeface="Poppins" panose="00000500000000000000" pitchFamily="2" charset="0"/>
              </a:rPr>
              <a:t>in the first week, guardrail metrics (test / control audience size, goal events, bounce rate) are monitored closely. Tests are paused for troubleshooting if any issues arise. </a:t>
            </a:r>
          </a:p>
          <a:p>
            <a:r>
              <a:rPr lang="en-US" sz="1000">
                <a:latin typeface="Poppins" panose="00000500000000000000" pitchFamily="2" charset="0"/>
                <a:cs typeface="Poppins" panose="00000500000000000000" pitchFamily="2" charset="0"/>
              </a:rPr>
              <a:t> </a:t>
            </a:r>
          </a:p>
        </p:txBody>
      </p:sp>
      <p:sp>
        <p:nvSpPr>
          <p:cNvPr id="32" name="TextBox 31">
            <a:extLst>
              <a:ext uri="{FF2B5EF4-FFF2-40B4-BE49-F238E27FC236}">
                <a16:creationId xmlns:a16="http://schemas.microsoft.com/office/drawing/2014/main" id="{438AADC3-3990-80C3-B38A-746120948BFB}"/>
              </a:ext>
            </a:extLst>
          </p:cNvPr>
          <p:cNvSpPr txBox="1"/>
          <p:nvPr/>
        </p:nvSpPr>
        <p:spPr>
          <a:xfrm>
            <a:off x="9214340" y="3114442"/>
            <a:ext cx="2184776" cy="1118255"/>
          </a:xfrm>
          <a:prstGeom prst="rect">
            <a:avLst/>
          </a:prstGeom>
          <a:noFill/>
        </p:spPr>
        <p:txBody>
          <a:bodyPr wrap="square" rtlCol="0">
            <a:spAutoFit/>
          </a:bodyPr>
          <a:lstStyle/>
          <a:p>
            <a:pPr>
              <a:spcAft>
                <a:spcPts val="200"/>
              </a:spcAft>
            </a:pPr>
            <a:r>
              <a:rPr lang="en-US" sz="1000">
                <a:latin typeface="Poppins" panose="00000500000000000000" pitchFamily="2" charset="0"/>
                <a:cs typeface="Poppins" panose="00000500000000000000" pitchFamily="2" charset="0"/>
              </a:rPr>
              <a:t>Pause &amp; Analyze</a:t>
            </a:r>
          </a:p>
          <a:p>
            <a:r>
              <a:rPr lang="en-US" sz="900" i="1">
                <a:solidFill>
                  <a:schemeClr val="tx2"/>
                </a:solidFill>
                <a:latin typeface="Poppins" panose="00000500000000000000" pitchFamily="2" charset="0"/>
                <a:cs typeface="Poppins" panose="00000500000000000000" pitchFamily="2" charset="0"/>
              </a:rPr>
              <a:t>Assuming no issues with guardrail metrics / nosedive in CVR by the test experience – Run for the defined time frame. Analyze results. </a:t>
            </a:r>
          </a:p>
          <a:p>
            <a:r>
              <a:rPr lang="en-US" sz="1000">
                <a:latin typeface="Poppins" panose="00000500000000000000" pitchFamily="2" charset="0"/>
                <a:cs typeface="Poppins" panose="00000500000000000000" pitchFamily="2" charset="0"/>
              </a:rPr>
              <a:t> </a:t>
            </a:r>
          </a:p>
        </p:txBody>
      </p:sp>
      <p:sp>
        <p:nvSpPr>
          <p:cNvPr id="33" name="TextBox 32">
            <a:extLst>
              <a:ext uri="{FF2B5EF4-FFF2-40B4-BE49-F238E27FC236}">
                <a16:creationId xmlns:a16="http://schemas.microsoft.com/office/drawing/2014/main" id="{880458B4-F3F0-4835-19AD-C06717A218F2}"/>
              </a:ext>
            </a:extLst>
          </p:cNvPr>
          <p:cNvSpPr txBox="1"/>
          <p:nvPr/>
        </p:nvSpPr>
        <p:spPr>
          <a:xfrm>
            <a:off x="9209386" y="4102923"/>
            <a:ext cx="2184776" cy="1256754"/>
          </a:xfrm>
          <a:prstGeom prst="rect">
            <a:avLst/>
          </a:prstGeom>
          <a:noFill/>
        </p:spPr>
        <p:txBody>
          <a:bodyPr wrap="square" rtlCol="0">
            <a:spAutoFit/>
          </a:bodyPr>
          <a:lstStyle/>
          <a:p>
            <a:pPr>
              <a:spcAft>
                <a:spcPts val="200"/>
              </a:spcAft>
            </a:pPr>
            <a:r>
              <a:rPr lang="en-US" sz="1000">
                <a:latin typeface="Poppins" panose="00000500000000000000" pitchFamily="2" charset="0"/>
                <a:cs typeface="Poppins" panose="00000500000000000000" pitchFamily="2" charset="0"/>
              </a:rPr>
              <a:t>Report &amp; Share</a:t>
            </a:r>
          </a:p>
          <a:p>
            <a:r>
              <a:rPr lang="en-US" sz="900" i="1">
                <a:solidFill>
                  <a:schemeClr val="tx2"/>
                </a:solidFill>
                <a:latin typeface="Poppins" panose="00000500000000000000" pitchFamily="2" charset="0"/>
                <a:cs typeface="Poppins" panose="00000500000000000000" pitchFamily="2" charset="0"/>
              </a:rPr>
              <a:t>A one sheeter detailing the test win/loss analysis – and any associated insights from post-hoc segmentation, downstream impact analyses – are sent to client. </a:t>
            </a:r>
          </a:p>
          <a:p>
            <a:r>
              <a:rPr lang="en-US" sz="1000">
                <a:latin typeface="Poppins" panose="00000500000000000000" pitchFamily="2" charset="0"/>
                <a:cs typeface="Poppins" panose="00000500000000000000" pitchFamily="2" charset="0"/>
              </a:rPr>
              <a:t> </a:t>
            </a:r>
          </a:p>
        </p:txBody>
      </p:sp>
      <p:sp>
        <p:nvSpPr>
          <p:cNvPr id="34" name="TextBox 33">
            <a:extLst>
              <a:ext uri="{FF2B5EF4-FFF2-40B4-BE49-F238E27FC236}">
                <a16:creationId xmlns:a16="http://schemas.microsoft.com/office/drawing/2014/main" id="{06A3E625-B144-6D5E-AE83-4880B6889979}"/>
              </a:ext>
            </a:extLst>
          </p:cNvPr>
          <p:cNvSpPr txBox="1"/>
          <p:nvPr/>
        </p:nvSpPr>
        <p:spPr>
          <a:xfrm>
            <a:off x="9180635" y="5304403"/>
            <a:ext cx="2184776" cy="979755"/>
          </a:xfrm>
          <a:prstGeom prst="rect">
            <a:avLst/>
          </a:prstGeom>
          <a:noFill/>
        </p:spPr>
        <p:txBody>
          <a:bodyPr wrap="square" rtlCol="0">
            <a:spAutoFit/>
          </a:bodyPr>
          <a:lstStyle/>
          <a:p>
            <a:pPr>
              <a:spcAft>
                <a:spcPts val="200"/>
              </a:spcAft>
            </a:pPr>
            <a:r>
              <a:rPr lang="en-US" sz="1000">
                <a:latin typeface="Poppins" panose="00000500000000000000" pitchFamily="2" charset="0"/>
                <a:cs typeface="Poppins" panose="00000500000000000000" pitchFamily="2" charset="0"/>
              </a:rPr>
              <a:t>Rollout Go/No-Go</a:t>
            </a:r>
          </a:p>
          <a:p>
            <a:r>
              <a:rPr lang="en-US" sz="900" i="1">
                <a:solidFill>
                  <a:schemeClr val="tx2"/>
                </a:solidFill>
                <a:latin typeface="Poppins" panose="00000500000000000000" pitchFamily="2" charset="0"/>
                <a:cs typeface="Poppins" panose="00000500000000000000" pitchFamily="2" charset="0"/>
              </a:rPr>
              <a:t>Information is discussed in a follow up call, and client elects whether to push winning experiences to production.</a:t>
            </a:r>
          </a:p>
          <a:p>
            <a:r>
              <a:rPr lang="en-US" sz="1000">
                <a:latin typeface="Poppins" panose="00000500000000000000" pitchFamily="2" charset="0"/>
                <a:cs typeface="Poppins" panose="00000500000000000000" pitchFamily="2" charset="0"/>
              </a:rPr>
              <a:t> </a:t>
            </a:r>
          </a:p>
        </p:txBody>
      </p:sp>
      <p:sp>
        <p:nvSpPr>
          <p:cNvPr id="35" name="Rectangle: Rounded Corners 34">
            <a:extLst>
              <a:ext uri="{FF2B5EF4-FFF2-40B4-BE49-F238E27FC236}">
                <a16:creationId xmlns:a16="http://schemas.microsoft.com/office/drawing/2014/main" id="{5CECFC23-0902-3DD2-2A42-31EC4FD7C0E9}"/>
              </a:ext>
            </a:extLst>
          </p:cNvPr>
          <p:cNvSpPr/>
          <p:nvPr/>
        </p:nvSpPr>
        <p:spPr>
          <a:xfrm>
            <a:off x="4230395" y="753733"/>
            <a:ext cx="3454686" cy="4255472"/>
          </a:xfrm>
          <a:prstGeom prst="roundRect">
            <a:avLst/>
          </a:prstGeom>
          <a:no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Isosceles Triangle 35">
            <a:extLst>
              <a:ext uri="{FF2B5EF4-FFF2-40B4-BE49-F238E27FC236}">
                <a16:creationId xmlns:a16="http://schemas.microsoft.com/office/drawing/2014/main" id="{C5370A23-E1E0-B2A5-9AC4-286ABD51FE92}"/>
              </a:ext>
            </a:extLst>
          </p:cNvPr>
          <p:cNvSpPr/>
          <p:nvPr/>
        </p:nvSpPr>
        <p:spPr>
          <a:xfrm rot="5400000">
            <a:off x="6756626" y="704290"/>
            <a:ext cx="307775" cy="106876"/>
          </a:xfrm>
          <a:prstGeom prst="triangle">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5630A584-9160-66B4-3F2C-8D8E12A5C5EF}"/>
              </a:ext>
            </a:extLst>
          </p:cNvPr>
          <p:cNvSpPr txBox="1"/>
          <p:nvPr/>
        </p:nvSpPr>
        <p:spPr>
          <a:xfrm rot="5400000">
            <a:off x="6272921" y="2804526"/>
            <a:ext cx="2961993" cy="425758"/>
          </a:xfrm>
          <a:prstGeom prst="rect">
            <a:avLst/>
          </a:prstGeom>
          <a:noFill/>
        </p:spPr>
        <p:txBody>
          <a:bodyPr wrap="square" rtlCol="0">
            <a:spAutoFit/>
          </a:bodyPr>
          <a:lstStyle/>
          <a:p>
            <a:pPr>
              <a:spcAft>
                <a:spcPts val="200"/>
              </a:spcAft>
            </a:pPr>
            <a:r>
              <a:rPr lang="en-US" sz="1000">
                <a:solidFill>
                  <a:srgbClr val="92D050"/>
                </a:solidFill>
                <a:latin typeface="Poppins" panose="00000500000000000000" pitchFamily="2" charset="0"/>
                <a:cs typeface="Poppins" panose="00000500000000000000" pitchFamily="2" charset="0"/>
              </a:rPr>
              <a:t>Cycle through steps until test passes QA</a:t>
            </a:r>
            <a:endParaRPr lang="en-US" sz="900" i="1">
              <a:solidFill>
                <a:srgbClr val="92D050"/>
              </a:solidFill>
              <a:latin typeface="Poppins" panose="00000500000000000000" pitchFamily="2" charset="0"/>
              <a:cs typeface="Poppins" panose="00000500000000000000" pitchFamily="2" charset="0"/>
            </a:endParaRPr>
          </a:p>
          <a:p>
            <a:r>
              <a:rPr lang="en-US" sz="1000">
                <a:solidFill>
                  <a:srgbClr val="92D050"/>
                </a:solidFill>
                <a:latin typeface="Poppins" panose="00000500000000000000" pitchFamily="2" charset="0"/>
                <a:cs typeface="Poppins" panose="00000500000000000000" pitchFamily="2" charset="0"/>
              </a:rPr>
              <a:t> </a:t>
            </a:r>
          </a:p>
        </p:txBody>
      </p:sp>
      <p:sp>
        <p:nvSpPr>
          <p:cNvPr id="38" name="Isosceles Triangle 37">
            <a:extLst>
              <a:ext uri="{FF2B5EF4-FFF2-40B4-BE49-F238E27FC236}">
                <a16:creationId xmlns:a16="http://schemas.microsoft.com/office/drawing/2014/main" id="{BF6040B5-41A7-BDE1-6F0E-896410AD00EE}"/>
              </a:ext>
            </a:extLst>
          </p:cNvPr>
          <p:cNvSpPr/>
          <p:nvPr/>
        </p:nvSpPr>
        <p:spPr>
          <a:xfrm rot="13256549">
            <a:off x="7329619" y="4831091"/>
            <a:ext cx="307775" cy="106876"/>
          </a:xfrm>
          <a:prstGeom prst="triangle">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Isosceles Triangle 38">
            <a:extLst>
              <a:ext uri="{FF2B5EF4-FFF2-40B4-BE49-F238E27FC236}">
                <a16:creationId xmlns:a16="http://schemas.microsoft.com/office/drawing/2014/main" id="{5121F529-379C-1CD5-9D81-0520628E0745}"/>
              </a:ext>
            </a:extLst>
          </p:cNvPr>
          <p:cNvSpPr/>
          <p:nvPr/>
        </p:nvSpPr>
        <p:spPr>
          <a:xfrm>
            <a:off x="4071674" y="2666598"/>
            <a:ext cx="307775" cy="106876"/>
          </a:xfrm>
          <a:prstGeom prst="triangle">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952020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DE564C25-B8AD-4324-F801-4C48609CE82E}"/>
              </a:ext>
            </a:extLst>
          </p:cNvPr>
          <p:cNvSpPr txBox="1"/>
          <p:nvPr/>
        </p:nvSpPr>
        <p:spPr>
          <a:xfrm>
            <a:off x="3465689" y="2861237"/>
            <a:ext cx="7981244" cy="1251625"/>
          </a:xfrm>
          <a:prstGeom prst="rect">
            <a:avLst/>
          </a:prstGeom>
          <a:noFill/>
        </p:spPr>
        <p:txBody>
          <a:bodyPr wrap="square">
            <a:spAutoFit/>
          </a:bodyPr>
          <a:lstStyle/>
          <a:p>
            <a:pPr>
              <a:spcAft>
                <a:spcPts val="200"/>
              </a:spcAft>
            </a:pPr>
            <a:r>
              <a:rPr lang="en-US" sz="3200">
                <a:solidFill>
                  <a:prstClr val="white"/>
                </a:solidFill>
                <a:latin typeface="Poppins SemiBold" pitchFamily="2" charset="77"/>
                <a:ea typeface="+mj-ea"/>
                <a:cs typeface="+mj-cs"/>
              </a:rPr>
              <a:t>CRO Team</a:t>
            </a:r>
          </a:p>
          <a:p>
            <a:pPr>
              <a:spcAft>
                <a:spcPts val="200"/>
              </a:spcAft>
            </a:pPr>
            <a:r>
              <a:rPr lang="en-US" sz="2000">
                <a:solidFill>
                  <a:prstClr val="white"/>
                </a:solidFill>
                <a:latin typeface="Poppins SemiBold" pitchFamily="2" charset="77"/>
                <a:ea typeface="+mj-ea"/>
                <a:cs typeface="+mj-cs"/>
              </a:rPr>
              <a:t>Overview of our Discipline, Services, and Approach</a:t>
            </a:r>
          </a:p>
          <a:p>
            <a:pPr>
              <a:spcAft>
                <a:spcPts val="200"/>
              </a:spcAft>
            </a:pPr>
            <a:r>
              <a:rPr lang="en-US" sz="2000">
                <a:solidFill>
                  <a:prstClr val="white"/>
                </a:solidFill>
                <a:latin typeface="Poppins SemiBold" pitchFamily="2" charset="77"/>
                <a:ea typeface="+mj-ea"/>
                <a:cs typeface="+mj-cs"/>
              </a:rPr>
              <a:t> </a:t>
            </a:r>
            <a:endParaRPr lang="en-US" sz="2000"/>
          </a:p>
        </p:txBody>
      </p:sp>
      <p:pic>
        <p:nvPicPr>
          <p:cNvPr id="11" name="Picture 10" descr="A picture containing logo&#10;&#10;Description automatically generated">
            <a:extLst>
              <a:ext uri="{FF2B5EF4-FFF2-40B4-BE49-F238E27FC236}">
                <a16:creationId xmlns:a16="http://schemas.microsoft.com/office/drawing/2014/main" id="{D232DF11-AC56-F8A1-5040-276D6A846FA0}"/>
              </a:ext>
            </a:extLst>
          </p:cNvPr>
          <p:cNvPicPr>
            <a:picLocks noChangeAspect="1"/>
          </p:cNvPicPr>
          <p:nvPr/>
        </p:nvPicPr>
        <p:blipFill>
          <a:blip r:embed="rId3"/>
          <a:stretch>
            <a:fillRect/>
          </a:stretch>
        </p:blipFill>
        <p:spPr>
          <a:xfrm>
            <a:off x="1038578" y="2667537"/>
            <a:ext cx="2224927" cy="1305600"/>
          </a:xfrm>
          <a:prstGeom prst="rect">
            <a:avLst/>
          </a:prstGeom>
          <a:effectLst/>
        </p:spPr>
      </p:pic>
    </p:spTree>
    <p:extLst>
      <p:ext uri="{BB962C8B-B14F-4D97-AF65-F5344CB8AC3E}">
        <p14:creationId xmlns:p14="http://schemas.microsoft.com/office/powerpoint/2010/main" val="5052957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Rectangle 84">
            <a:extLst>
              <a:ext uri="{FF2B5EF4-FFF2-40B4-BE49-F238E27FC236}">
                <a16:creationId xmlns:a16="http://schemas.microsoft.com/office/drawing/2014/main" id="{FCFC13CC-E538-1DE2-B9F3-34FEDA3B2B05}"/>
              </a:ext>
            </a:extLst>
          </p:cNvPr>
          <p:cNvSpPr/>
          <p:nvPr/>
        </p:nvSpPr>
        <p:spPr>
          <a:xfrm>
            <a:off x="-16626" y="6420726"/>
            <a:ext cx="12208625" cy="486041"/>
          </a:xfrm>
          <a:prstGeom prst="rect">
            <a:avLst/>
          </a:prstGeom>
          <a:solidFill>
            <a:srgbClr val="0100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6" name="Picture 85">
            <a:extLst>
              <a:ext uri="{FF2B5EF4-FFF2-40B4-BE49-F238E27FC236}">
                <a16:creationId xmlns:a16="http://schemas.microsoft.com/office/drawing/2014/main" id="{13BB38F0-C95D-7B7F-476A-7A82F8F144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43815" y="6576506"/>
            <a:ext cx="1401689" cy="174481"/>
          </a:xfrm>
          <a:prstGeom prst="rect">
            <a:avLst/>
          </a:prstGeom>
          <a:noFill/>
          <a:extLst>
            <a:ext uri="{909E8E84-426E-40DD-AFC4-6F175D3DCCD1}">
              <a14:hiddenFill xmlns:a14="http://schemas.microsoft.com/office/drawing/2010/main">
                <a:solidFill>
                  <a:srgbClr val="FFFFFF"/>
                </a:solidFill>
              </a14:hiddenFill>
            </a:ext>
          </a:extLst>
        </p:spPr>
      </p:pic>
      <p:sp>
        <p:nvSpPr>
          <p:cNvPr id="87" name="TextBox 86">
            <a:extLst>
              <a:ext uri="{FF2B5EF4-FFF2-40B4-BE49-F238E27FC236}">
                <a16:creationId xmlns:a16="http://schemas.microsoft.com/office/drawing/2014/main" id="{7EC8E12D-52D2-C4A1-6B04-9031FBFF5B11}"/>
              </a:ext>
            </a:extLst>
          </p:cNvPr>
          <p:cNvSpPr txBox="1"/>
          <p:nvPr/>
        </p:nvSpPr>
        <p:spPr>
          <a:xfrm>
            <a:off x="78859" y="6536788"/>
            <a:ext cx="4239255" cy="253916"/>
          </a:xfrm>
          <a:prstGeom prst="rect">
            <a:avLst/>
          </a:prstGeom>
          <a:noFill/>
        </p:spPr>
        <p:txBody>
          <a:bodyPr wrap="square">
            <a:spAutoFit/>
          </a:bodyPr>
          <a:lstStyle/>
          <a:p>
            <a:r>
              <a:rPr lang="en-US" sz="1050" b="0" i="0" u="none" strike="noStrike">
                <a:solidFill>
                  <a:schemeClr val="bg1">
                    <a:lumMod val="75000"/>
                  </a:schemeClr>
                </a:solidFill>
                <a:effectLst/>
                <a:latin typeface="Poppins" pitchFamily="2" charset="77"/>
              </a:rPr>
              <a:t>© 2023 Horizon Media – Confidential &amp; Proprietary</a:t>
            </a:r>
            <a:r>
              <a:rPr lang="en-US" sz="1050" b="0" i="0">
                <a:solidFill>
                  <a:schemeClr val="bg1">
                    <a:lumMod val="75000"/>
                  </a:schemeClr>
                </a:solidFill>
                <a:effectLst/>
                <a:latin typeface="Poppins" pitchFamily="2" charset="77"/>
              </a:rPr>
              <a:t>​</a:t>
            </a:r>
            <a:endParaRPr lang="en-US" sz="1050">
              <a:solidFill>
                <a:schemeClr val="bg1">
                  <a:lumMod val="75000"/>
                </a:schemeClr>
              </a:solidFill>
            </a:endParaRPr>
          </a:p>
        </p:txBody>
      </p:sp>
      <p:graphicFrame>
        <p:nvGraphicFramePr>
          <p:cNvPr id="52" name="Google Shape;331;p33">
            <a:extLst>
              <a:ext uri="{FF2B5EF4-FFF2-40B4-BE49-F238E27FC236}">
                <a16:creationId xmlns:a16="http://schemas.microsoft.com/office/drawing/2014/main" id="{3E0F9FCC-680C-606D-12DA-C201CF8915E9}"/>
              </a:ext>
            </a:extLst>
          </p:cNvPr>
          <p:cNvGraphicFramePr/>
          <p:nvPr/>
        </p:nvGraphicFramePr>
        <p:xfrm>
          <a:off x="457200" y="1555848"/>
          <a:ext cx="7122695" cy="4271742"/>
        </p:xfrm>
        <a:graphic>
          <a:graphicData uri="http://schemas.openxmlformats.org/drawingml/2006/table">
            <a:tbl>
              <a:tblPr>
                <a:noFill/>
              </a:tblPr>
              <a:tblGrid>
                <a:gridCol w="7122695">
                  <a:extLst>
                    <a:ext uri="{9D8B030D-6E8A-4147-A177-3AD203B41FA5}">
                      <a16:colId xmlns:a16="http://schemas.microsoft.com/office/drawing/2014/main" val="20000"/>
                    </a:ext>
                  </a:extLst>
                </a:gridCol>
              </a:tblGrid>
              <a:tr h="3606425">
                <a:tc>
                  <a:txBody>
                    <a:bodyPr/>
                    <a:lstStyle/>
                    <a:p>
                      <a:pPr marL="1587" marR="0" lvl="0" indent="0" algn="l" rtl="0">
                        <a:lnSpc>
                          <a:spcPct val="150000"/>
                        </a:lnSpc>
                        <a:spcBef>
                          <a:spcPts val="0"/>
                        </a:spcBef>
                        <a:spcAft>
                          <a:spcPts val="0"/>
                        </a:spcAft>
                        <a:buClr>
                          <a:srgbClr val="000000"/>
                        </a:buClr>
                        <a:buSzPts val="1100"/>
                        <a:buFont typeface="Arial"/>
                        <a:buNone/>
                      </a:pPr>
                      <a:r>
                        <a:rPr lang="en-US" sz="1200">
                          <a:solidFill>
                            <a:schemeClr val="tx2">
                              <a:lumMod val="75000"/>
                            </a:schemeClr>
                          </a:solidFill>
                          <a:latin typeface="Poppins" panose="00000500000000000000" pitchFamily="2" charset="0"/>
                          <a:ea typeface="Overpass"/>
                          <a:cs typeface="Poppins" panose="00000500000000000000" pitchFamily="2" charset="0"/>
                          <a:sym typeface="Overpass"/>
                        </a:rPr>
                        <a:t>Data-driven marketing groups use an array of disciplines to perform better / get better understand their customers &amp; markets, including: </a:t>
                      </a:r>
                    </a:p>
                    <a:p>
                      <a:pPr marL="457200" marR="0" lvl="0" indent="-171450" algn="l" rtl="0">
                        <a:lnSpc>
                          <a:spcPct val="150000"/>
                        </a:lnSpc>
                        <a:spcBef>
                          <a:spcPts val="0"/>
                        </a:spcBef>
                        <a:spcAft>
                          <a:spcPts val="0"/>
                        </a:spcAft>
                        <a:buClr>
                          <a:srgbClr val="000000"/>
                        </a:buClr>
                        <a:buSzPts val="1100"/>
                        <a:buFont typeface="Arial" panose="020B0604020202020204" pitchFamily="34" charset="0"/>
                        <a:buChar char="•"/>
                      </a:pPr>
                      <a:r>
                        <a:rPr lang="en-US" sz="1200">
                          <a:solidFill>
                            <a:schemeClr val="tx2">
                              <a:lumMod val="75000"/>
                            </a:schemeClr>
                          </a:solidFill>
                          <a:latin typeface="Poppins" panose="00000500000000000000" pitchFamily="2" charset="0"/>
                          <a:ea typeface="Overpass"/>
                          <a:cs typeface="Poppins" panose="00000500000000000000" pitchFamily="2" charset="0"/>
                          <a:sym typeface="Overpass"/>
                        </a:rPr>
                        <a:t>Surveys </a:t>
                      </a:r>
                    </a:p>
                    <a:p>
                      <a:pPr marL="457200" marR="0" lvl="0" indent="-171450" algn="l" rtl="0">
                        <a:lnSpc>
                          <a:spcPct val="150000"/>
                        </a:lnSpc>
                        <a:spcBef>
                          <a:spcPts val="0"/>
                        </a:spcBef>
                        <a:spcAft>
                          <a:spcPts val="0"/>
                        </a:spcAft>
                        <a:buClr>
                          <a:srgbClr val="000000"/>
                        </a:buClr>
                        <a:buSzPts val="1100"/>
                        <a:buFont typeface="Arial" panose="020B0604020202020204" pitchFamily="34" charset="0"/>
                        <a:buChar char="•"/>
                      </a:pPr>
                      <a:r>
                        <a:rPr lang="en-US" sz="1200">
                          <a:solidFill>
                            <a:schemeClr val="tx2">
                              <a:lumMod val="75000"/>
                            </a:schemeClr>
                          </a:solidFill>
                          <a:latin typeface="Poppins" panose="00000500000000000000" pitchFamily="2" charset="0"/>
                          <a:ea typeface="Overpass"/>
                          <a:cs typeface="Poppins" panose="00000500000000000000" pitchFamily="2" charset="0"/>
                          <a:sym typeface="Overpass"/>
                        </a:rPr>
                        <a:t>Focus groups</a:t>
                      </a:r>
                    </a:p>
                    <a:p>
                      <a:pPr marL="457200" marR="0" lvl="0" indent="-171450" algn="l" rtl="0">
                        <a:lnSpc>
                          <a:spcPct val="150000"/>
                        </a:lnSpc>
                        <a:spcBef>
                          <a:spcPts val="0"/>
                        </a:spcBef>
                        <a:spcAft>
                          <a:spcPts val="0"/>
                        </a:spcAft>
                        <a:buClr>
                          <a:srgbClr val="000000"/>
                        </a:buClr>
                        <a:buSzPts val="1100"/>
                        <a:buFont typeface="Arial" panose="020B0604020202020204" pitchFamily="34" charset="0"/>
                        <a:buChar char="•"/>
                      </a:pPr>
                      <a:r>
                        <a:rPr lang="en-US" sz="1200">
                          <a:solidFill>
                            <a:schemeClr val="tx2">
                              <a:lumMod val="75000"/>
                            </a:schemeClr>
                          </a:solidFill>
                          <a:latin typeface="Poppins" panose="00000500000000000000" pitchFamily="2" charset="0"/>
                          <a:ea typeface="Overpass"/>
                          <a:cs typeface="Poppins" panose="00000500000000000000" pitchFamily="2" charset="0"/>
                          <a:sym typeface="Overpass"/>
                        </a:rPr>
                        <a:t>Internal data analysis</a:t>
                      </a:r>
                    </a:p>
                    <a:p>
                      <a:pPr marL="457200" marR="0" lvl="0" indent="-171450" algn="l" rtl="0">
                        <a:lnSpc>
                          <a:spcPct val="150000"/>
                        </a:lnSpc>
                        <a:spcBef>
                          <a:spcPts val="0"/>
                        </a:spcBef>
                        <a:spcAft>
                          <a:spcPts val="0"/>
                        </a:spcAft>
                        <a:buClr>
                          <a:srgbClr val="000000"/>
                        </a:buClr>
                        <a:buSzPts val="1100"/>
                        <a:buFont typeface="Arial" panose="020B0604020202020204" pitchFamily="34" charset="0"/>
                        <a:buChar char="•"/>
                      </a:pPr>
                      <a:r>
                        <a:rPr lang="en-US" sz="1200">
                          <a:solidFill>
                            <a:schemeClr val="tx2">
                              <a:lumMod val="75000"/>
                            </a:schemeClr>
                          </a:solidFill>
                          <a:latin typeface="Poppins" panose="00000500000000000000" pitchFamily="2" charset="0"/>
                          <a:ea typeface="Overpass"/>
                          <a:cs typeface="Poppins" panose="00000500000000000000" pitchFamily="2" charset="0"/>
                          <a:sym typeface="Overpass"/>
                        </a:rPr>
                        <a:t>CRO – aka: Optimization, Experimentation, Growth, DXO, Decision Science</a:t>
                      </a:r>
                      <a:br>
                        <a:rPr lang="en-US" sz="1200">
                          <a:solidFill>
                            <a:schemeClr val="tx2">
                              <a:lumMod val="75000"/>
                            </a:schemeClr>
                          </a:solidFill>
                          <a:latin typeface="Poppins" panose="00000500000000000000" pitchFamily="2" charset="0"/>
                          <a:ea typeface="Overpass"/>
                          <a:cs typeface="Poppins" panose="00000500000000000000" pitchFamily="2" charset="0"/>
                          <a:sym typeface="Overpass"/>
                        </a:rPr>
                      </a:br>
                      <a:endParaRPr lang="en-US" sz="1200">
                        <a:solidFill>
                          <a:schemeClr val="tx2">
                            <a:lumMod val="75000"/>
                          </a:schemeClr>
                        </a:solidFill>
                        <a:latin typeface="Poppins" panose="00000500000000000000" pitchFamily="2" charset="0"/>
                        <a:ea typeface="Overpass"/>
                        <a:cs typeface="Poppins" panose="00000500000000000000" pitchFamily="2" charset="0"/>
                        <a:sym typeface="Overpass"/>
                      </a:endParaRPr>
                    </a:p>
                    <a:p>
                      <a:pPr marL="1587" marR="0" lvl="0" indent="0" algn="l" rtl="0">
                        <a:lnSpc>
                          <a:spcPct val="150000"/>
                        </a:lnSpc>
                        <a:spcBef>
                          <a:spcPts val="0"/>
                        </a:spcBef>
                        <a:spcAft>
                          <a:spcPts val="0"/>
                        </a:spcAft>
                        <a:buClr>
                          <a:srgbClr val="000000"/>
                        </a:buClr>
                        <a:buSzPts val="1100"/>
                        <a:buFont typeface="Arial"/>
                        <a:buNone/>
                      </a:pPr>
                      <a:r>
                        <a:rPr lang="en-US" sz="1200">
                          <a:solidFill>
                            <a:schemeClr val="tx2">
                              <a:lumMod val="75000"/>
                            </a:schemeClr>
                          </a:solidFill>
                          <a:latin typeface="Poppins" panose="00000500000000000000" pitchFamily="2" charset="0"/>
                          <a:ea typeface="Overpass"/>
                          <a:cs typeface="Poppins" panose="00000500000000000000" pitchFamily="2" charset="0"/>
                          <a:sym typeface="Overpass"/>
                        </a:rPr>
                        <a:t>[Digital Marketing] Optimization is the process of using tools and techniques to improve site / channel performance by:</a:t>
                      </a:r>
                    </a:p>
                    <a:p>
                      <a:pPr marL="457200" marR="0" lvl="0" indent="-171450" algn="l" rtl="0">
                        <a:lnSpc>
                          <a:spcPct val="150000"/>
                        </a:lnSpc>
                        <a:spcBef>
                          <a:spcPts val="0"/>
                        </a:spcBef>
                        <a:spcAft>
                          <a:spcPts val="0"/>
                        </a:spcAft>
                        <a:buClr>
                          <a:srgbClr val="000000"/>
                        </a:buClr>
                        <a:buSzPts val="1100"/>
                        <a:buFont typeface="Arial" panose="020B0604020202020204" pitchFamily="34" charset="0"/>
                        <a:buChar char="•"/>
                      </a:pPr>
                      <a:r>
                        <a:rPr lang="en-US" sz="1200">
                          <a:solidFill>
                            <a:schemeClr val="tx2">
                              <a:lumMod val="75000"/>
                            </a:schemeClr>
                          </a:solidFill>
                          <a:latin typeface="Poppins" panose="00000500000000000000" pitchFamily="2" charset="0"/>
                          <a:ea typeface="Overpass"/>
                          <a:cs typeface="Poppins" panose="00000500000000000000" pitchFamily="2" charset="0"/>
                          <a:sym typeface="Overpass"/>
                        </a:rPr>
                        <a:t>Driving more traffic to it</a:t>
                      </a:r>
                    </a:p>
                    <a:p>
                      <a:pPr marL="457200" marR="0" lvl="0" indent="-171450" algn="l" rtl="0">
                        <a:lnSpc>
                          <a:spcPct val="150000"/>
                        </a:lnSpc>
                        <a:spcBef>
                          <a:spcPts val="0"/>
                        </a:spcBef>
                        <a:spcAft>
                          <a:spcPts val="0"/>
                        </a:spcAft>
                        <a:buClr>
                          <a:srgbClr val="000000"/>
                        </a:buClr>
                        <a:buSzPts val="1100"/>
                        <a:buFont typeface="Arial" panose="020B0604020202020204" pitchFamily="34" charset="0"/>
                        <a:buChar char="•"/>
                      </a:pPr>
                      <a:r>
                        <a:rPr lang="en-US" sz="1200">
                          <a:solidFill>
                            <a:schemeClr val="tx2">
                              <a:lumMod val="75000"/>
                            </a:schemeClr>
                          </a:solidFill>
                          <a:latin typeface="Poppins" panose="00000500000000000000" pitchFamily="2" charset="0"/>
                          <a:ea typeface="Overpass"/>
                          <a:cs typeface="Poppins" panose="00000500000000000000" pitchFamily="2" charset="0"/>
                          <a:sym typeface="Overpass"/>
                        </a:rPr>
                        <a:t>Increasing conversions among visitors</a:t>
                      </a:r>
                    </a:p>
                    <a:p>
                      <a:pPr marL="457200" marR="0" lvl="0" indent="-171450" algn="l" rtl="0">
                        <a:lnSpc>
                          <a:spcPct val="150000"/>
                        </a:lnSpc>
                        <a:spcBef>
                          <a:spcPts val="0"/>
                        </a:spcBef>
                        <a:spcAft>
                          <a:spcPts val="0"/>
                        </a:spcAft>
                        <a:buClr>
                          <a:srgbClr val="000000"/>
                        </a:buClr>
                        <a:buSzPts val="1100"/>
                        <a:buFont typeface="Arial" panose="020B0604020202020204" pitchFamily="34" charset="0"/>
                        <a:buChar char="•"/>
                      </a:pPr>
                      <a:r>
                        <a:rPr lang="en-US" sz="1200">
                          <a:solidFill>
                            <a:schemeClr val="tx2">
                              <a:lumMod val="75000"/>
                            </a:schemeClr>
                          </a:solidFill>
                          <a:latin typeface="Poppins" panose="00000500000000000000" pitchFamily="2" charset="0"/>
                          <a:ea typeface="Overpass"/>
                          <a:cs typeface="Poppins" panose="00000500000000000000" pitchFamily="2" charset="0"/>
                          <a:sym typeface="Overpass"/>
                        </a:rPr>
                        <a:t>Otherwise grow the revenue it generates</a:t>
                      </a:r>
                    </a:p>
                    <a:p>
                      <a:pPr marL="1587" marR="0" lvl="0" indent="0" algn="l" rtl="0">
                        <a:lnSpc>
                          <a:spcPct val="150000"/>
                        </a:lnSpc>
                        <a:spcBef>
                          <a:spcPts val="0"/>
                        </a:spcBef>
                        <a:spcAft>
                          <a:spcPts val="0"/>
                        </a:spcAft>
                        <a:buClr>
                          <a:srgbClr val="000000"/>
                        </a:buClr>
                        <a:buSzPts val="1100"/>
                        <a:buFont typeface="Arial" panose="020B0604020202020204" pitchFamily="34" charset="0"/>
                        <a:buNone/>
                      </a:pPr>
                      <a:br>
                        <a:rPr lang="en-US" sz="1200">
                          <a:solidFill>
                            <a:schemeClr val="tx2">
                              <a:lumMod val="75000"/>
                            </a:schemeClr>
                          </a:solidFill>
                          <a:latin typeface="Poppins" panose="00000500000000000000" pitchFamily="2" charset="0"/>
                          <a:ea typeface="Overpass"/>
                          <a:cs typeface="Poppins" panose="00000500000000000000" pitchFamily="2" charset="0"/>
                          <a:sym typeface="Overpass"/>
                        </a:rPr>
                      </a:br>
                      <a:r>
                        <a:rPr lang="en-US" sz="1200">
                          <a:solidFill>
                            <a:schemeClr val="tx2">
                              <a:lumMod val="75000"/>
                            </a:schemeClr>
                          </a:solidFill>
                          <a:latin typeface="Poppins" panose="00000500000000000000" pitchFamily="2" charset="0"/>
                          <a:ea typeface="Overpass"/>
                          <a:cs typeface="Poppins" panose="00000500000000000000" pitchFamily="2" charset="0"/>
                          <a:sym typeface="Overpass"/>
                        </a:rPr>
                        <a:t>A/B testing is a cornerstone optimization technique for achieving these goals. </a:t>
                      </a:r>
                    </a:p>
                    <a:p>
                      <a:pPr marL="457200" marR="0" lvl="0" indent="-304800" algn="l" rtl="0">
                        <a:lnSpc>
                          <a:spcPct val="150000"/>
                        </a:lnSpc>
                        <a:spcBef>
                          <a:spcPts val="0"/>
                        </a:spcBef>
                        <a:spcAft>
                          <a:spcPts val="0"/>
                        </a:spcAft>
                        <a:buClr>
                          <a:srgbClr val="666666"/>
                        </a:buClr>
                        <a:buSzPts val="1200"/>
                        <a:buFont typeface="Overpass"/>
                        <a:buChar char="●"/>
                      </a:pPr>
                      <a:endParaRPr lang="en-US" sz="1200">
                        <a:solidFill>
                          <a:schemeClr val="tx1"/>
                        </a:solidFill>
                        <a:latin typeface="Poppins" panose="00000500000000000000" pitchFamily="2" charset="0"/>
                        <a:ea typeface="Overpass"/>
                        <a:cs typeface="Poppins" panose="00000500000000000000" pitchFamily="2" charset="0"/>
                        <a:sym typeface="Overpass"/>
                      </a:endParaRPr>
                    </a:p>
                  </a:txBody>
                  <a:tcPr marL="91425" marR="91425" marT="91425" marB="914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pic>
        <p:nvPicPr>
          <p:cNvPr id="3074" name="Picture 2">
            <a:extLst>
              <a:ext uri="{FF2B5EF4-FFF2-40B4-BE49-F238E27FC236}">
                <a16:creationId xmlns:a16="http://schemas.microsoft.com/office/drawing/2014/main" id="{D87D6916-553A-D086-DD71-747E2F0ABD9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16731" y="2025924"/>
            <a:ext cx="4175267" cy="417526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FCD11016-8688-48AA-A4C0-436AA3C13279}"/>
              </a:ext>
            </a:extLst>
          </p:cNvPr>
          <p:cNvSpPr/>
          <p:nvPr/>
        </p:nvSpPr>
        <p:spPr>
          <a:xfrm flipV="1">
            <a:off x="-16626" y="0"/>
            <a:ext cx="12191998" cy="1331619"/>
          </a:xfrm>
          <a:prstGeom prst="rect">
            <a:avLst/>
          </a:prstGeom>
          <a:solidFill>
            <a:srgbClr val="6699CC">
              <a:alpha val="1294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6375F080-FE01-B52F-9431-D78B773BB2F1}"/>
              </a:ext>
            </a:extLst>
          </p:cNvPr>
          <p:cNvSpPr txBox="1"/>
          <p:nvPr/>
        </p:nvSpPr>
        <p:spPr>
          <a:xfrm>
            <a:off x="885079" y="476586"/>
            <a:ext cx="7981244" cy="523220"/>
          </a:xfrm>
          <a:prstGeom prst="rect">
            <a:avLst/>
          </a:prstGeom>
          <a:noFill/>
        </p:spPr>
        <p:txBody>
          <a:bodyPr wrap="square" lIns="0">
            <a:spAutoFit/>
          </a:bodyPr>
          <a:lstStyle/>
          <a:p>
            <a:pPr>
              <a:spcAft>
                <a:spcPts val="200"/>
              </a:spcAft>
            </a:pPr>
            <a:r>
              <a:rPr lang="en-US" sz="2800">
                <a:solidFill>
                  <a:srgbClr val="1A2E51"/>
                </a:solidFill>
                <a:latin typeface="Poppins SemiBold" pitchFamily="2" charset="77"/>
                <a:ea typeface="+mj-ea"/>
                <a:cs typeface="+mj-cs"/>
              </a:rPr>
              <a:t>What Is CRO Really?</a:t>
            </a:r>
          </a:p>
        </p:txBody>
      </p:sp>
      <p:sp>
        <p:nvSpPr>
          <p:cNvPr id="4" name="TextBox 3">
            <a:extLst>
              <a:ext uri="{FF2B5EF4-FFF2-40B4-BE49-F238E27FC236}">
                <a16:creationId xmlns:a16="http://schemas.microsoft.com/office/drawing/2014/main" id="{CB7D1DF0-01EB-DB79-204B-36D5A5EFB5AA}"/>
              </a:ext>
            </a:extLst>
          </p:cNvPr>
          <p:cNvSpPr txBox="1"/>
          <p:nvPr/>
        </p:nvSpPr>
        <p:spPr>
          <a:xfrm>
            <a:off x="918945" y="224229"/>
            <a:ext cx="7981244" cy="307777"/>
          </a:xfrm>
          <a:prstGeom prst="rect">
            <a:avLst/>
          </a:prstGeom>
          <a:noFill/>
        </p:spPr>
        <p:txBody>
          <a:bodyPr wrap="square" lIns="0">
            <a:spAutoFit/>
          </a:bodyPr>
          <a:lstStyle/>
          <a:p>
            <a:pPr>
              <a:spcAft>
                <a:spcPts val="200"/>
              </a:spcAft>
            </a:pPr>
            <a:r>
              <a:rPr lang="en-US" sz="1400">
                <a:solidFill>
                  <a:srgbClr val="1A2E51"/>
                </a:solidFill>
                <a:latin typeface="Poppins SemiBold" pitchFamily="2" charset="77"/>
                <a:ea typeface="+mj-ea"/>
                <a:cs typeface="+mj-cs"/>
              </a:rPr>
              <a:t>CRO Team</a:t>
            </a:r>
            <a:endParaRPr lang="en-US" sz="1400">
              <a:solidFill>
                <a:srgbClr val="1A2E51"/>
              </a:solidFill>
            </a:endParaRPr>
          </a:p>
        </p:txBody>
      </p:sp>
    </p:spTree>
    <p:extLst>
      <p:ext uri="{BB962C8B-B14F-4D97-AF65-F5344CB8AC3E}">
        <p14:creationId xmlns:p14="http://schemas.microsoft.com/office/powerpoint/2010/main" val="29051328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Rectangle 84">
            <a:extLst>
              <a:ext uri="{FF2B5EF4-FFF2-40B4-BE49-F238E27FC236}">
                <a16:creationId xmlns:a16="http://schemas.microsoft.com/office/drawing/2014/main" id="{FCFC13CC-E538-1DE2-B9F3-34FEDA3B2B05}"/>
              </a:ext>
            </a:extLst>
          </p:cNvPr>
          <p:cNvSpPr/>
          <p:nvPr/>
        </p:nvSpPr>
        <p:spPr>
          <a:xfrm>
            <a:off x="-16626" y="6420726"/>
            <a:ext cx="12208625" cy="486041"/>
          </a:xfrm>
          <a:prstGeom prst="rect">
            <a:avLst/>
          </a:prstGeom>
          <a:solidFill>
            <a:srgbClr val="0100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6" name="Picture 85">
            <a:extLst>
              <a:ext uri="{FF2B5EF4-FFF2-40B4-BE49-F238E27FC236}">
                <a16:creationId xmlns:a16="http://schemas.microsoft.com/office/drawing/2014/main" id="{13BB38F0-C95D-7B7F-476A-7A82F8F144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43815" y="6576506"/>
            <a:ext cx="1401689" cy="174481"/>
          </a:xfrm>
          <a:prstGeom prst="rect">
            <a:avLst/>
          </a:prstGeom>
          <a:noFill/>
          <a:extLst>
            <a:ext uri="{909E8E84-426E-40DD-AFC4-6F175D3DCCD1}">
              <a14:hiddenFill xmlns:a14="http://schemas.microsoft.com/office/drawing/2010/main">
                <a:solidFill>
                  <a:srgbClr val="FFFFFF"/>
                </a:solidFill>
              </a14:hiddenFill>
            </a:ext>
          </a:extLst>
        </p:spPr>
      </p:pic>
      <p:sp>
        <p:nvSpPr>
          <p:cNvPr id="87" name="TextBox 86">
            <a:extLst>
              <a:ext uri="{FF2B5EF4-FFF2-40B4-BE49-F238E27FC236}">
                <a16:creationId xmlns:a16="http://schemas.microsoft.com/office/drawing/2014/main" id="{7EC8E12D-52D2-C4A1-6B04-9031FBFF5B11}"/>
              </a:ext>
            </a:extLst>
          </p:cNvPr>
          <p:cNvSpPr txBox="1"/>
          <p:nvPr/>
        </p:nvSpPr>
        <p:spPr>
          <a:xfrm>
            <a:off x="78859" y="6536788"/>
            <a:ext cx="4239255" cy="253916"/>
          </a:xfrm>
          <a:prstGeom prst="rect">
            <a:avLst/>
          </a:prstGeom>
          <a:noFill/>
        </p:spPr>
        <p:txBody>
          <a:bodyPr wrap="square">
            <a:spAutoFit/>
          </a:bodyPr>
          <a:lstStyle/>
          <a:p>
            <a:r>
              <a:rPr lang="en-US" sz="1050" b="0" i="0" u="none" strike="noStrike">
                <a:solidFill>
                  <a:schemeClr val="bg1">
                    <a:lumMod val="75000"/>
                  </a:schemeClr>
                </a:solidFill>
                <a:effectLst/>
                <a:latin typeface="Poppins" pitchFamily="2" charset="77"/>
              </a:rPr>
              <a:t>© 2023 Horizon Media – Confidential &amp; Proprietary</a:t>
            </a:r>
            <a:r>
              <a:rPr lang="en-US" sz="1050" b="0" i="0">
                <a:solidFill>
                  <a:schemeClr val="bg1">
                    <a:lumMod val="75000"/>
                  </a:schemeClr>
                </a:solidFill>
                <a:effectLst/>
                <a:latin typeface="Poppins" pitchFamily="2" charset="77"/>
              </a:rPr>
              <a:t>​</a:t>
            </a:r>
            <a:endParaRPr lang="en-US" sz="1050">
              <a:solidFill>
                <a:schemeClr val="bg1">
                  <a:lumMod val="75000"/>
                </a:schemeClr>
              </a:solidFill>
            </a:endParaRPr>
          </a:p>
        </p:txBody>
      </p:sp>
      <p:sp>
        <p:nvSpPr>
          <p:cNvPr id="2" name="Google Shape;339;p34">
            <a:extLst>
              <a:ext uri="{FF2B5EF4-FFF2-40B4-BE49-F238E27FC236}">
                <a16:creationId xmlns:a16="http://schemas.microsoft.com/office/drawing/2014/main" id="{752C28D2-2FD4-25B3-6406-39F79F0D4C27}"/>
              </a:ext>
            </a:extLst>
          </p:cNvPr>
          <p:cNvSpPr txBox="1"/>
          <p:nvPr/>
        </p:nvSpPr>
        <p:spPr>
          <a:xfrm>
            <a:off x="6857350" y="1635900"/>
            <a:ext cx="4466100" cy="802800"/>
          </a:xfrm>
          <a:prstGeom prst="rect">
            <a:avLst/>
          </a:prstGeom>
          <a:noFill/>
          <a:ln>
            <a:noFill/>
          </a:ln>
        </p:spPr>
        <p:txBody>
          <a:bodyPr spcFirstLastPara="1" wrap="square" lIns="0" tIns="0" rIns="0" bIns="0" anchor="t" anchorCtr="0">
            <a:noAutofit/>
          </a:bodyPr>
          <a:lstStyle/>
          <a:p>
            <a:pPr marL="0" lvl="0" indent="0" algn="l" rtl="0">
              <a:lnSpc>
                <a:spcPct val="140000"/>
              </a:lnSpc>
              <a:spcBef>
                <a:spcPts val="0"/>
              </a:spcBef>
              <a:spcAft>
                <a:spcPts val="0"/>
              </a:spcAft>
              <a:buNone/>
            </a:pPr>
            <a:endParaRPr sz="1200">
              <a:latin typeface="Overpass Light"/>
              <a:ea typeface="Overpass Light"/>
              <a:cs typeface="Overpass Light"/>
              <a:sym typeface="Overpass Light"/>
            </a:endParaRPr>
          </a:p>
        </p:txBody>
      </p:sp>
      <p:sp>
        <p:nvSpPr>
          <p:cNvPr id="3" name="Google Shape;340;p34">
            <a:extLst>
              <a:ext uri="{FF2B5EF4-FFF2-40B4-BE49-F238E27FC236}">
                <a16:creationId xmlns:a16="http://schemas.microsoft.com/office/drawing/2014/main" id="{B365AB66-3DAF-404D-5B1E-EAD6D89394CB}"/>
              </a:ext>
            </a:extLst>
          </p:cNvPr>
          <p:cNvSpPr txBox="1"/>
          <p:nvPr/>
        </p:nvSpPr>
        <p:spPr>
          <a:xfrm>
            <a:off x="6857350" y="2765400"/>
            <a:ext cx="4660800" cy="347400"/>
          </a:xfrm>
          <a:prstGeom prst="rect">
            <a:avLst/>
          </a:prstGeom>
          <a:noFill/>
          <a:ln>
            <a:noFill/>
          </a:ln>
        </p:spPr>
        <p:txBody>
          <a:bodyPr spcFirstLastPara="1" wrap="square" lIns="0" tIns="0" rIns="0" bIns="0" anchor="b" anchorCtr="0">
            <a:noAutofit/>
          </a:bodyPr>
          <a:lstStyle/>
          <a:p>
            <a:pPr marL="0" lvl="0" indent="0" algn="l" rtl="0">
              <a:lnSpc>
                <a:spcPct val="115000"/>
              </a:lnSpc>
              <a:spcBef>
                <a:spcPts val="0"/>
              </a:spcBef>
              <a:spcAft>
                <a:spcPts val="0"/>
              </a:spcAft>
              <a:buNone/>
            </a:pPr>
            <a:endParaRPr sz="1200">
              <a:solidFill>
                <a:srgbClr val="EE0000"/>
              </a:solidFill>
              <a:latin typeface="Overpass SemiBold"/>
              <a:ea typeface="Overpass SemiBold"/>
              <a:cs typeface="Overpass SemiBold"/>
              <a:sym typeface="Overpass SemiBold"/>
            </a:endParaRPr>
          </a:p>
        </p:txBody>
      </p:sp>
      <p:sp>
        <p:nvSpPr>
          <p:cNvPr id="4" name="Google Shape;341;p34">
            <a:extLst>
              <a:ext uri="{FF2B5EF4-FFF2-40B4-BE49-F238E27FC236}">
                <a16:creationId xmlns:a16="http://schemas.microsoft.com/office/drawing/2014/main" id="{A6834069-A20D-16B6-2EE9-DA474CE0FFFE}"/>
              </a:ext>
            </a:extLst>
          </p:cNvPr>
          <p:cNvSpPr txBox="1"/>
          <p:nvPr/>
        </p:nvSpPr>
        <p:spPr>
          <a:xfrm>
            <a:off x="6857350" y="4290100"/>
            <a:ext cx="4660800" cy="347400"/>
          </a:xfrm>
          <a:prstGeom prst="rect">
            <a:avLst/>
          </a:prstGeom>
          <a:noFill/>
          <a:ln>
            <a:noFill/>
          </a:ln>
        </p:spPr>
        <p:txBody>
          <a:bodyPr spcFirstLastPara="1" wrap="square" lIns="0" tIns="0" rIns="0" bIns="0" anchor="b" anchorCtr="0">
            <a:noAutofit/>
          </a:bodyPr>
          <a:lstStyle/>
          <a:p>
            <a:pPr marL="0" lvl="0" indent="0" algn="l" rtl="0">
              <a:lnSpc>
                <a:spcPct val="115000"/>
              </a:lnSpc>
              <a:spcBef>
                <a:spcPts val="0"/>
              </a:spcBef>
              <a:spcAft>
                <a:spcPts val="0"/>
              </a:spcAft>
              <a:buNone/>
            </a:pPr>
            <a:endParaRPr sz="1200">
              <a:solidFill>
                <a:srgbClr val="EE0000"/>
              </a:solidFill>
              <a:latin typeface="Overpass SemiBold"/>
              <a:ea typeface="Overpass SemiBold"/>
              <a:cs typeface="Overpass SemiBold"/>
              <a:sym typeface="Overpass SemiBold"/>
            </a:endParaRPr>
          </a:p>
        </p:txBody>
      </p:sp>
      <p:sp>
        <p:nvSpPr>
          <p:cNvPr id="5" name="Google Shape;342;p34">
            <a:extLst>
              <a:ext uri="{FF2B5EF4-FFF2-40B4-BE49-F238E27FC236}">
                <a16:creationId xmlns:a16="http://schemas.microsoft.com/office/drawing/2014/main" id="{27B14DA3-DC05-1337-84BF-87AC158FBAE8}"/>
              </a:ext>
            </a:extLst>
          </p:cNvPr>
          <p:cNvSpPr txBox="1"/>
          <p:nvPr/>
        </p:nvSpPr>
        <p:spPr>
          <a:xfrm>
            <a:off x="6857350" y="4685300"/>
            <a:ext cx="4466100" cy="802800"/>
          </a:xfrm>
          <a:prstGeom prst="rect">
            <a:avLst/>
          </a:prstGeom>
          <a:noFill/>
          <a:ln>
            <a:noFill/>
          </a:ln>
        </p:spPr>
        <p:txBody>
          <a:bodyPr spcFirstLastPara="1" wrap="square" lIns="0" tIns="0" rIns="0" bIns="0" anchor="t" anchorCtr="0">
            <a:noAutofit/>
          </a:bodyPr>
          <a:lstStyle/>
          <a:p>
            <a:pPr marL="0" lvl="0" indent="0" algn="l" rtl="0">
              <a:lnSpc>
                <a:spcPct val="140000"/>
              </a:lnSpc>
              <a:spcBef>
                <a:spcPts val="0"/>
              </a:spcBef>
              <a:spcAft>
                <a:spcPts val="0"/>
              </a:spcAft>
              <a:buNone/>
            </a:pPr>
            <a:endParaRPr sz="1200">
              <a:latin typeface="Overpass Light"/>
              <a:ea typeface="Overpass Light"/>
              <a:cs typeface="Overpass Light"/>
              <a:sym typeface="Overpass Light"/>
            </a:endParaRPr>
          </a:p>
        </p:txBody>
      </p:sp>
      <p:graphicFrame>
        <p:nvGraphicFramePr>
          <p:cNvPr id="6" name="Google Shape;343;p34">
            <a:extLst>
              <a:ext uri="{FF2B5EF4-FFF2-40B4-BE49-F238E27FC236}">
                <a16:creationId xmlns:a16="http://schemas.microsoft.com/office/drawing/2014/main" id="{15B8A110-B291-DB95-ED95-B52B18D566B8}"/>
              </a:ext>
            </a:extLst>
          </p:cNvPr>
          <p:cNvGraphicFramePr/>
          <p:nvPr/>
        </p:nvGraphicFramePr>
        <p:xfrm>
          <a:off x="433632" y="1710260"/>
          <a:ext cx="5662367" cy="3777839"/>
        </p:xfrm>
        <a:graphic>
          <a:graphicData uri="http://schemas.openxmlformats.org/drawingml/2006/table">
            <a:tbl>
              <a:tblPr>
                <a:noFill/>
              </a:tblPr>
              <a:tblGrid>
                <a:gridCol w="5662367">
                  <a:extLst>
                    <a:ext uri="{9D8B030D-6E8A-4147-A177-3AD203B41FA5}">
                      <a16:colId xmlns:a16="http://schemas.microsoft.com/office/drawing/2014/main" val="20000"/>
                    </a:ext>
                  </a:extLst>
                </a:gridCol>
              </a:tblGrid>
              <a:tr h="3777839">
                <a:tc>
                  <a:txBody>
                    <a:bodyPr/>
                    <a:lstStyle/>
                    <a:p>
                      <a:pPr marL="1587" marR="0" lvl="0" indent="0" algn="l" rtl="0">
                        <a:lnSpc>
                          <a:spcPct val="150000"/>
                        </a:lnSpc>
                        <a:spcBef>
                          <a:spcPts val="0"/>
                        </a:spcBef>
                        <a:spcAft>
                          <a:spcPts val="0"/>
                        </a:spcAft>
                        <a:buClr>
                          <a:srgbClr val="000000"/>
                        </a:buClr>
                        <a:buSzPts val="1100"/>
                        <a:buFont typeface="Arial"/>
                        <a:buNone/>
                      </a:pPr>
                      <a:r>
                        <a:rPr lang="en-US" sz="1200">
                          <a:solidFill>
                            <a:schemeClr val="tx2">
                              <a:lumMod val="75000"/>
                            </a:schemeClr>
                          </a:solidFill>
                          <a:latin typeface="Poppins" panose="00000500000000000000" pitchFamily="2" charset="0"/>
                          <a:ea typeface="Overpass"/>
                          <a:cs typeface="Poppins" panose="00000500000000000000" pitchFamily="2" charset="0"/>
                          <a:sym typeface="Overpass"/>
                        </a:rPr>
                        <a:t>A/B testing is a method of comparing two or more versions of an experience - for example, a web page or mobile app screen...even offline experiences like call center scripts - to determine which one performs better. </a:t>
                      </a:r>
                    </a:p>
                    <a:p>
                      <a:pPr marL="1587" marR="0" lvl="0" indent="0" algn="l" rtl="0">
                        <a:lnSpc>
                          <a:spcPct val="150000"/>
                        </a:lnSpc>
                        <a:spcBef>
                          <a:spcPts val="0"/>
                        </a:spcBef>
                        <a:spcAft>
                          <a:spcPts val="0"/>
                        </a:spcAft>
                        <a:buClr>
                          <a:srgbClr val="000000"/>
                        </a:buClr>
                        <a:buSzPts val="1100"/>
                        <a:buFont typeface="Arial"/>
                        <a:buNone/>
                      </a:pPr>
                      <a:endParaRPr lang="en-US" sz="1200">
                        <a:solidFill>
                          <a:schemeClr val="tx2">
                            <a:lumMod val="75000"/>
                          </a:schemeClr>
                        </a:solidFill>
                        <a:latin typeface="Poppins" panose="00000500000000000000" pitchFamily="2" charset="0"/>
                        <a:ea typeface="Overpass"/>
                        <a:cs typeface="Poppins" panose="00000500000000000000" pitchFamily="2" charset="0"/>
                        <a:sym typeface="Overpass"/>
                      </a:endParaRPr>
                    </a:p>
                    <a:p>
                      <a:pPr marL="1587" marR="0" lvl="0" indent="0" algn="l" rtl="0">
                        <a:lnSpc>
                          <a:spcPct val="150000"/>
                        </a:lnSpc>
                        <a:spcBef>
                          <a:spcPts val="0"/>
                        </a:spcBef>
                        <a:spcAft>
                          <a:spcPts val="0"/>
                        </a:spcAft>
                        <a:buClr>
                          <a:srgbClr val="000000"/>
                        </a:buClr>
                        <a:buSzPts val="1100"/>
                        <a:buFont typeface="Arial"/>
                        <a:buNone/>
                      </a:pPr>
                      <a:r>
                        <a:rPr lang="en-US" sz="1200">
                          <a:solidFill>
                            <a:schemeClr val="tx2">
                              <a:lumMod val="75000"/>
                            </a:schemeClr>
                          </a:solidFill>
                          <a:latin typeface="Poppins" panose="00000500000000000000" pitchFamily="2" charset="0"/>
                          <a:ea typeface="Overpass"/>
                          <a:cs typeface="Poppins" panose="00000500000000000000" pitchFamily="2" charset="0"/>
                          <a:sym typeface="Overpass"/>
                        </a:rPr>
                        <a:t>A/B testing is a business application of the Scientific Method: </a:t>
                      </a:r>
                    </a:p>
                    <a:p>
                      <a:pPr marL="457200" marR="0" lvl="0" indent="-171450" algn="l" rtl="0">
                        <a:lnSpc>
                          <a:spcPct val="150000"/>
                        </a:lnSpc>
                        <a:spcBef>
                          <a:spcPts val="0"/>
                        </a:spcBef>
                        <a:spcAft>
                          <a:spcPts val="0"/>
                        </a:spcAft>
                        <a:buClr>
                          <a:srgbClr val="000000"/>
                        </a:buClr>
                        <a:buSzPts val="1100"/>
                        <a:buFont typeface="Arial" panose="020B0604020202020204" pitchFamily="34" charset="0"/>
                        <a:buChar char="•"/>
                      </a:pPr>
                      <a:r>
                        <a:rPr lang="en-US" sz="1200">
                          <a:solidFill>
                            <a:schemeClr val="tx2">
                              <a:lumMod val="75000"/>
                            </a:schemeClr>
                          </a:solidFill>
                          <a:latin typeface="Poppins" panose="00000500000000000000" pitchFamily="2" charset="0"/>
                          <a:ea typeface="Overpass"/>
                          <a:cs typeface="Poppins" panose="00000500000000000000" pitchFamily="2" charset="0"/>
                          <a:sym typeface="Overpass"/>
                        </a:rPr>
                        <a:t>Generating a hypothesis</a:t>
                      </a:r>
                    </a:p>
                    <a:p>
                      <a:pPr marL="457200" marR="0" lvl="0" indent="-171450" algn="l" rtl="0">
                        <a:lnSpc>
                          <a:spcPct val="150000"/>
                        </a:lnSpc>
                        <a:spcBef>
                          <a:spcPts val="0"/>
                        </a:spcBef>
                        <a:spcAft>
                          <a:spcPts val="0"/>
                        </a:spcAft>
                        <a:buClr>
                          <a:srgbClr val="000000"/>
                        </a:buClr>
                        <a:buSzPts val="1100"/>
                        <a:buFont typeface="Arial" panose="020B0604020202020204" pitchFamily="34" charset="0"/>
                        <a:buChar char="•"/>
                      </a:pPr>
                      <a:r>
                        <a:rPr lang="en-US" sz="1200">
                          <a:solidFill>
                            <a:schemeClr val="tx2">
                              <a:lumMod val="75000"/>
                            </a:schemeClr>
                          </a:solidFill>
                          <a:latin typeface="Poppins" panose="00000500000000000000" pitchFamily="2" charset="0"/>
                          <a:ea typeface="Overpass"/>
                          <a:cs typeface="Poppins" panose="00000500000000000000" pitchFamily="2" charset="0"/>
                          <a:sym typeface="Overpass"/>
                        </a:rPr>
                        <a:t>Creating a controlled experiment to test the hypothesis</a:t>
                      </a:r>
                    </a:p>
                    <a:p>
                      <a:pPr marL="457200" marR="0" lvl="0" indent="-171450" algn="l" rtl="0">
                        <a:lnSpc>
                          <a:spcPct val="150000"/>
                        </a:lnSpc>
                        <a:spcBef>
                          <a:spcPts val="0"/>
                        </a:spcBef>
                        <a:spcAft>
                          <a:spcPts val="0"/>
                        </a:spcAft>
                        <a:buClr>
                          <a:srgbClr val="000000"/>
                        </a:buClr>
                        <a:buSzPts val="1100"/>
                        <a:buFont typeface="Arial" panose="020B0604020202020204" pitchFamily="34" charset="0"/>
                        <a:buChar char="•"/>
                      </a:pPr>
                      <a:r>
                        <a:rPr lang="en-US" sz="1200">
                          <a:solidFill>
                            <a:schemeClr val="tx2">
                              <a:lumMod val="75000"/>
                            </a:schemeClr>
                          </a:solidFill>
                          <a:latin typeface="Poppins" panose="00000500000000000000" pitchFamily="2" charset="0"/>
                          <a:ea typeface="Overpass"/>
                          <a:cs typeface="Poppins" panose="00000500000000000000" pitchFamily="2" charset="0"/>
                          <a:sym typeface="Overpass"/>
                        </a:rPr>
                        <a:t>Using statistical analysis to determine if data proves/disproves it</a:t>
                      </a:r>
                    </a:p>
                    <a:p>
                      <a:pPr marL="1587" marR="0" lvl="0" indent="0" algn="l" rtl="0">
                        <a:lnSpc>
                          <a:spcPct val="150000"/>
                        </a:lnSpc>
                        <a:spcBef>
                          <a:spcPts val="0"/>
                        </a:spcBef>
                        <a:spcAft>
                          <a:spcPts val="0"/>
                        </a:spcAft>
                        <a:buClr>
                          <a:srgbClr val="000000"/>
                        </a:buClr>
                        <a:buSzPts val="1100"/>
                        <a:buFont typeface="Arial"/>
                        <a:buNone/>
                      </a:pPr>
                      <a:endParaRPr lang="en-US" sz="1200">
                        <a:solidFill>
                          <a:schemeClr val="tx2">
                            <a:lumMod val="75000"/>
                          </a:schemeClr>
                        </a:solidFill>
                        <a:latin typeface="Poppins" panose="00000500000000000000" pitchFamily="2" charset="0"/>
                        <a:ea typeface="Overpass"/>
                        <a:cs typeface="Poppins" panose="00000500000000000000" pitchFamily="2" charset="0"/>
                        <a:sym typeface="Overpass"/>
                      </a:endParaRPr>
                    </a:p>
                    <a:p>
                      <a:pPr marL="1587" marR="0" lvl="0" indent="0" algn="l" rtl="0">
                        <a:lnSpc>
                          <a:spcPct val="150000"/>
                        </a:lnSpc>
                        <a:spcBef>
                          <a:spcPts val="0"/>
                        </a:spcBef>
                        <a:spcAft>
                          <a:spcPts val="0"/>
                        </a:spcAft>
                        <a:buClr>
                          <a:srgbClr val="000000"/>
                        </a:buClr>
                        <a:buSzPts val="1100"/>
                        <a:buFont typeface="Arial"/>
                        <a:buNone/>
                      </a:pPr>
                      <a:r>
                        <a:rPr lang="en-US" sz="1200">
                          <a:solidFill>
                            <a:schemeClr val="tx2">
                              <a:lumMod val="75000"/>
                            </a:schemeClr>
                          </a:solidFill>
                          <a:latin typeface="Poppins" panose="00000500000000000000" pitchFamily="2" charset="0"/>
                          <a:ea typeface="Overpass"/>
                          <a:cs typeface="Poppins" panose="00000500000000000000" pitchFamily="2" charset="0"/>
                          <a:sym typeface="Overpass"/>
                        </a:rPr>
                        <a:t>Marketers use it to generate better product insights (optimal message, pricing structure, etc.), better user experiences, and higher conversion rates.</a:t>
                      </a:r>
                    </a:p>
                  </a:txBody>
                  <a:tcPr marL="91425" marR="91425" marT="91425" marB="91425">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pic>
        <p:nvPicPr>
          <p:cNvPr id="7" name="Google Shape;344;p34">
            <a:extLst>
              <a:ext uri="{FF2B5EF4-FFF2-40B4-BE49-F238E27FC236}">
                <a16:creationId xmlns:a16="http://schemas.microsoft.com/office/drawing/2014/main" id="{7FF16F84-00F8-E1DF-3F0E-B9CAD7EA3240}"/>
              </a:ext>
            </a:extLst>
          </p:cNvPr>
          <p:cNvPicPr preferRelativeResize="0"/>
          <p:nvPr/>
        </p:nvPicPr>
        <p:blipFill>
          <a:blip r:embed="rId4">
            <a:alphaModFix/>
          </a:blip>
          <a:stretch>
            <a:fillRect/>
          </a:stretch>
        </p:blipFill>
        <p:spPr>
          <a:xfrm>
            <a:off x="6539637" y="2099506"/>
            <a:ext cx="5296225" cy="3122594"/>
          </a:xfrm>
          <a:prstGeom prst="rect">
            <a:avLst/>
          </a:prstGeom>
          <a:noFill/>
          <a:ln>
            <a:noFill/>
          </a:ln>
        </p:spPr>
      </p:pic>
      <p:sp>
        <p:nvSpPr>
          <p:cNvPr id="9" name="Rectangle 8">
            <a:extLst>
              <a:ext uri="{FF2B5EF4-FFF2-40B4-BE49-F238E27FC236}">
                <a16:creationId xmlns:a16="http://schemas.microsoft.com/office/drawing/2014/main" id="{4FD5F289-2D1A-2DEA-90B3-36380BF21FE3}"/>
              </a:ext>
            </a:extLst>
          </p:cNvPr>
          <p:cNvSpPr/>
          <p:nvPr/>
        </p:nvSpPr>
        <p:spPr>
          <a:xfrm flipV="1">
            <a:off x="-16626" y="0"/>
            <a:ext cx="12191998" cy="1331619"/>
          </a:xfrm>
          <a:prstGeom prst="rect">
            <a:avLst/>
          </a:prstGeom>
          <a:solidFill>
            <a:srgbClr val="6699CC">
              <a:alpha val="1294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2F2A493E-65E9-F65A-C781-371654B9AC10}"/>
              </a:ext>
            </a:extLst>
          </p:cNvPr>
          <p:cNvSpPr txBox="1"/>
          <p:nvPr/>
        </p:nvSpPr>
        <p:spPr>
          <a:xfrm>
            <a:off x="885079" y="476586"/>
            <a:ext cx="7981244" cy="523220"/>
          </a:xfrm>
          <a:prstGeom prst="rect">
            <a:avLst/>
          </a:prstGeom>
          <a:noFill/>
        </p:spPr>
        <p:txBody>
          <a:bodyPr wrap="square" lIns="0">
            <a:spAutoFit/>
          </a:bodyPr>
          <a:lstStyle/>
          <a:p>
            <a:pPr>
              <a:spcAft>
                <a:spcPts val="200"/>
              </a:spcAft>
            </a:pPr>
            <a:r>
              <a:rPr lang="en-US" sz="2800">
                <a:solidFill>
                  <a:srgbClr val="1A2E51"/>
                </a:solidFill>
                <a:latin typeface="Poppins SemiBold" pitchFamily="2" charset="77"/>
                <a:ea typeface="+mj-ea"/>
                <a:cs typeface="+mj-cs"/>
              </a:rPr>
              <a:t>What Is A/B Testing?</a:t>
            </a:r>
          </a:p>
        </p:txBody>
      </p:sp>
      <p:sp>
        <p:nvSpPr>
          <p:cNvPr id="11" name="TextBox 10">
            <a:extLst>
              <a:ext uri="{FF2B5EF4-FFF2-40B4-BE49-F238E27FC236}">
                <a16:creationId xmlns:a16="http://schemas.microsoft.com/office/drawing/2014/main" id="{5BE0D89C-87B8-72FD-136D-A8649BD642C4}"/>
              </a:ext>
            </a:extLst>
          </p:cNvPr>
          <p:cNvSpPr txBox="1"/>
          <p:nvPr/>
        </p:nvSpPr>
        <p:spPr>
          <a:xfrm>
            <a:off x="918945" y="224229"/>
            <a:ext cx="7981244" cy="307777"/>
          </a:xfrm>
          <a:prstGeom prst="rect">
            <a:avLst/>
          </a:prstGeom>
          <a:noFill/>
        </p:spPr>
        <p:txBody>
          <a:bodyPr wrap="square" lIns="0">
            <a:spAutoFit/>
          </a:bodyPr>
          <a:lstStyle/>
          <a:p>
            <a:pPr>
              <a:spcAft>
                <a:spcPts val="200"/>
              </a:spcAft>
            </a:pPr>
            <a:r>
              <a:rPr lang="en-US" sz="1400">
                <a:solidFill>
                  <a:srgbClr val="1A2E51"/>
                </a:solidFill>
                <a:latin typeface="Poppins SemiBold" pitchFamily="2" charset="77"/>
                <a:ea typeface="+mj-ea"/>
                <a:cs typeface="+mj-cs"/>
              </a:rPr>
              <a:t>CRO Team</a:t>
            </a:r>
            <a:endParaRPr lang="en-US" sz="1400">
              <a:solidFill>
                <a:srgbClr val="1A2E51"/>
              </a:solidFill>
            </a:endParaRPr>
          </a:p>
        </p:txBody>
      </p:sp>
    </p:spTree>
    <p:extLst>
      <p:ext uri="{BB962C8B-B14F-4D97-AF65-F5344CB8AC3E}">
        <p14:creationId xmlns:p14="http://schemas.microsoft.com/office/powerpoint/2010/main" val="25484808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Rectangle 84">
            <a:extLst>
              <a:ext uri="{FF2B5EF4-FFF2-40B4-BE49-F238E27FC236}">
                <a16:creationId xmlns:a16="http://schemas.microsoft.com/office/drawing/2014/main" id="{FCFC13CC-E538-1DE2-B9F3-34FEDA3B2B05}"/>
              </a:ext>
            </a:extLst>
          </p:cNvPr>
          <p:cNvSpPr/>
          <p:nvPr/>
        </p:nvSpPr>
        <p:spPr>
          <a:xfrm>
            <a:off x="-16626" y="6420726"/>
            <a:ext cx="12208625" cy="486041"/>
          </a:xfrm>
          <a:prstGeom prst="rect">
            <a:avLst/>
          </a:prstGeom>
          <a:solidFill>
            <a:srgbClr val="0100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6" name="Picture 85">
            <a:extLst>
              <a:ext uri="{FF2B5EF4-FFF2-40B4-BE49-F238E27FC236}">
                <a16:creationId xmlns:a16="http://schemas.microsoft.com/office/drawing/2014/main" id="{13BB38F0-C95D-7B7F-476A-7A82F8F144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43815" y="6576506"/>
            <a:ext cx="1401689" cy="174481"/>
          </a:xfrm>
          <a:prstGeom prst="rect">
            <a:avLst/>
          </a:prstGeom>
          <a:noFill/>
          <a:extLst>
            <a:ext uri="{909E8E84-426E-40DD-AFC4-6F175D3DCCD1}">
              <a14:hiddenFill xmlns:a14="http://schemas.microsoft.com/office/drawing/2010/main">
                <a:solidFill>
                  <a:srgbClr val="FFFFFF"/>
                </a:solidFill>
              </a14:hiddenFill>
            </a:ext>
          </a:extLst>
        </p:spPr>
      </p:pic>
      <p:sp>
        <p:nvSpPr>
          <p:cNvPr id="87" name="TextBox 86">
            <a:extLst>
              <a:ext uri="{FF2B5EF4-FFF2-40B4-BE49-F238E27FC236}">
                <a16:creationId xmlns:a16="http://schemas.microsoft.com/office/drawing/2014/main" id="{7EC8E12D-52D2-C4A1-6B04-9031FBFF5B11}"/>
              </a:ext>
            </a:extLst>
          </p:cNvPr>
          <p:cNvSpPr txBox="1"/>
          <p:nvPr/>
        </p:nvSpPr>
        <p:spPr>
          <a:xfrm>
            <a:off x="78859" y="6536788"/>
            <a:ext cx="4239255" cy="253916"/>
          </a:xfrm>
          <a:prstGeom prst="rect">
            <a:avLst/>
          </a:prstGeom>
          <a:noFill/>
        </p:spPr>
        <p:txBody>
          <a:bodyPr wrap="square">
            <a:spAutoFit/>
          </a:bodyPr>
          <a:lstStyle/>
          <a:p>
            <a:r>
              <a:rPr lang="en-US" sz="1050" b="0" i="0" u="none" strike="noStrike">
                <a:solidFill>
                  <a:schemeClr val="bg1">
                    <a:lumMod val="75000"/>
                  </a:schemeClr>
                </a:solidFill>
                <a:effectLst/>
                <a:latin typeface="Poppins" pitchFamily="2" charset="77"/>
              </a:rPr>
              <a:t>© 2023 Horizon Media – Confidential &amp; Proprietary</a:t>
            </a:r>
            <a:r>
              <a:rPr lang="en-US" sz="1050" b="0" i="0">
                <a:solidFill>
                  <a:schemeClr val="bg1">
                    <a:lumMod val="75000"/>
                  </a:schemeClr>
                </a:solidFill>
                <a:effectLst/>
                <a:latin typeface="Poppins" pitchFamily="2" charset="77"/>
              </a:rPr>
              <a:t>​</a:t>
            </a:r>
            <a:endParaRPr lang="en-US" sz="1050">
              <a:solidFill>
                <a:schemeClr val="bg1">
                  <a:lumMod val="75000"/>
                </a:schemeClr>
              </a:solidFill>
            </a:endParaRPr>
          </a:p>
        </p:txBody>
      </p:sp>
      <p:pic>
        <p:nvPicPr>
          <p:cNvPr id="21" name="Google Shape;571;p65">
            <a:extLst>
              <a:ext uri="{FF2B5EF4-FFF2-40B4-BE49-F238E27FC236}">
                <a16:creationId xmlns:a16="http://schemas.microsoft.com/office/drawing/2014/main" id="{213FCC22-DEEB-155C-6768-C0905500AAB7}"/>
              </a:ext>
            </a:extLst>
          </p:cNvPr>
          <p:cNvPicPr preferRelativeResize="0"/>
          <p:nvPr/>
        </p:nvPicPr>
        <p:blipFill>
          <a:blip r:embed="rId4">
            <a:alphaModFix/>
          </a:blip>
          <a:stretch>
            <a:fillRect/>
          </a:stretch>
        </p:blipFill>
        <p:spPr>
          <a:xfrm>
            <a:off x="6673293" y="1429172"/>
            <a:ext cx="4227848" cy="3221485"/>
          </a:xfrm>
          <a:prstGeom prst="rect">
            <a:avLst/>
          </a:prstGeom>
          <a:noFill/>
          <a:ln>
            <a:noFill/>
          </a:ln>
        </p:spPr>
      </p:pic>
      <p:graphicFrame>
        <p:nvGraphicFramePr>
          <p:cNvPr id="22" name="Google Shape;343;p34">
            <a:extLst>
              <a:ext uri="{FF2B5EF4-FFF2-40B4-BE49-F238E27FC236}">
                <a16:creationId xmlns:a16="http://schemas.microsoft.com/office/drawing/2014/main" id="{B9CA09A4-5158-FEA7-6978-9EB402E2322B}"/>
              </a:ext>
            </a:extLst>
          </p:cNvPr>
          <p:cNvGraphicFramePr/>
          <p:nvPr/>
        </p:nvGraphicFramePr>
        <p:xfrm>
          <a:off x="830375" y="1710261"/>
          <a:ext cx="4542025" cy="3448782"/>
        </p:xfrm>
        <a:graphic>
          <a:graphicData uri="http://schemas.openxmlformats.org/drawingml/2006/table">
            <a:tbl>
              <a:tblPr>
                <a:noFill/>
              </a:tblPr>
              <a:tblGrid>
                <a:gridCol w="4542025">
                  <a:extLst>
                    <a:ext uri="{9D8B030D-6E8A-4147-A177-3AD203B41FA5}">
                      <a16:colId xmlns:a16="http://schemas.microsoft.com/office/drawing/2014/main" val="20000"/>
                    </a:ext>
                  </a:extLst>
                </a:gridCol>
              </a:tblGrid>
              <a:tr h="0">
                <a:tc>
                  <a:txBody>
                    <a:bodyPr/>
                    <a:lstStyle/>
                    <a:p>
                      <a:pPr marL="1587" marR="0" lvl="0" indent="0" algn="l" rtl="0">
                        <a:lnSpc>
                          <a:spcPct val="150000"/>
                        </a:lnSpc>
                        <a:spcBef>
                          <a:spcPts val="0"/>
                        </a:spcBef>
                        <a:spcAft>
                          <a:spcPts val="0"/>
                        </a:spcAft>
                        <a:buClr>
                          <a:srgbClr val="000000"/>
                        </a:buClr>
                        <a:buSzPts val="1100"/>
                        <a:buFont typeface="Arial"/>
                        <a:buNone/>
                      </a:pPr>
                      <a:r>
                        <a:rPr lang="en-US" sz="1200">
                          <a:solidFill>
                            <a:schemeClr val="tx2">
                              <a:lumMod val="75000"/>
                            </a:schemeClr>
                          </a:solidFill>
                          <a:latin typeface="Poppins" panose="00000500000000000000" pitchFamily="2" charset="0"/>
                          <a:ea typeface="Overpass"/>
                          <a:cs typeface="Poppins" panose="00000500000000000000" pitchFamily="2" charset="0"/>
                          <a:sym typeface="Overpass"/>
                        </a:rPr>
                        <a:t>The process of creating customized experiences for visitors to a website. </a:t>
                      </a:r>
                    </a:p>
                    <a:p>
                      <a:pPr marL="1587" marR="0" lvl="0" indent="0" algn="l" rtl="0">
                        <a:lnSpc>
                          <a:spcPct val="150000"/>
                        </a:lnSpc>
                        <a:spcBef>
                          <a:spcPts val="0"/>
                        </a:spcBef>
                        <a:spcAft>
                          <a:spcPts val="0"/>
                        </a:spcAft>
                        <a:buClr>
                          <a:srgbClr val="000000"/>
                        </a:buClr>
                        <a:buSzPts val="1100"/>
                        <a:buFont typeface="Arial"/>
                        <a:buNone/>
                      </a:pPr>
                      <a:br>
                        <a:rPr lang="en-US" sz="1200">
                          <a:solidFill>
                            <a:schemeClr val="tx2">
                              <a:lumMod val="75000"/>
                            </a:schemeClr>
                          </a:solidFill>
                          <a:latin typeface="Poppins" panose="00000500000000000000" pitchFamily="2" charset="0"/>
                          <a:ea typeface="Overpass"/>
                          <a:cs typeface="Poppins" panose="00000500000000000000" pitchFamily="2" charset="0"/>
                          <a:sym typeface="Overpass"/>
                        </a:rPr>
                      </a:br>
                      <a:r>
                        <a:rPr lang="en-US" sz="1200">
                          <a:solidFill>
                            <a:schemeClr val="tx2">
                              <a:lumMod val="75000"/>
                            </a:schemeClr>
                          </a:solidFill>
                          <a:latin typeface="Poppins" panose="00000500000000000000" pitchFamily="2" charset="0"/>
                          <a:ea typeface="Overpass"/>
                          <a:cs typeface="Poppins" panose="00000500000000000000" pitchFamily="2" charset="0"/>
                          <a:sym typeface="Overpass"/>
                        </a:rPr>
                        <a:t>Rather than providing a single, broad experience, website personalization allows companies to present visitors with unique experiences tailored to their needs and desires.</a:t>
                      </a:r>
                    </a:p>
                    <a:p>
                      <a:pPr marL="1587" marR="0" lvl="0" indent="0" algn="l" rtl="0">
                        <a:lnSpc>
                          <a:spcPct val="150000"/>
                        </a:lnSpc>
                        <a:spcBef>
                          <a:spcPts val="0"/>
                        </a:spcBef>
                        <a:spcAft>
                          <a:spcPts val="0"/>
                        </a:spcAft>
                        <a:buClr>
                          <a:srgbClr val="000000"/>
                        </a:buClr>
                        <a:buSzPts val="1100"/>
                        <a:buFont typeface="Arial"/>
                        <a:buNone/>
                      </a:pPr>
                      <a:endParaRPr lang="en-US" sz="1200">
                        <a:solidFill>
                          <a:schemeClr val="tx2">
                            <a:lumMod val="75000"/>
                          </a:schemeClr>
                        </a:solidFill>
                        <a:latin typeface="Poppins" panose="00000500000000000000" pitchFamily="2" charset="0"/>
                        <a:ea typeface="Overpass"/>
                        <a:cs typeface="Poppins" panose="00000500000000000000" pitchFamily="2" charset="0"/>
                        <a:sym typeface="Overpass"/>
                      </a:endParaRPr>
                    </a:p>
                    <a:p>
                      <a:pPr marL="1587" marR="0" lvl="0" indent="0" algn="l" rtl="0">
                        <a:lnSpc>
                          <a:spcPct val="150000"/>
                        </a:lnSpc>
                        <a:spcBef>
                          <a:spcPts val="0"/>
                        </a:spcBef>
                        <a:spcAft>
                          <a:spcPts val="0"/>
                        </a:spcAft>
                        <a:buClr>
                          <a:srgbClr val="000000"/>
                        </a:buClr>
                        <a:buSzPts val="1100"/>
                        <a:buFont typeface="Arial"/>
                        <a:buNone/>
                      </a:pPr>
                      <a:r>
                        <a:rPr lang="en-US" sz="1200">
                          <a:solidFill>
                            <a:schemeClr val="tx2">
                              <a:lumMod val="75000"/>
                            </a:schemeClr>
                          </a:solidFill>
                          <a:latin typeface="Poppins" panose="00000500000000000000" pitchFamily="2" charset="0"/>
                          <a:ea typeface="Overpass"/>
                          <a:cs typeface="Poppins" panose="00000500000000000000" pitchFamily="2" charset="0"/>
                          <a:sym typeface="Overpass"/>
                        </a:rPr>
                        <a:t>Personalization is becoming increasingly sophisticated – While most orgs begin with manually setting treatments for select audiences, advanced orgs use increasingly automated / ML-based applications. </a:t>
                      </a:r>
                    </a:p>
                  </a:txBody>
                  <a:tcPr marL="91425" marR="91425" marT="91425" marB="91425">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sp>
        <p:nvSpPr>
          <p:cNvPr id="2" name="Rectangle 1">
            <a:extLst>
              <a:ext uri="{FF2B5EF4-FFF2-40B4-BE49-F238E27FC236}">
                <a16:creationId xmlns:a16="http://schemas.microsoft.com/office/drawing/2014/main" id="{23175D62-B03A-73D8-E877-039E2526FD8A}"/>
              </a:ext>
            </a:extLst>
          </p:cNvPr>
          <p:cNvSpPr/>
          <p:nvPr/>
        </p:nvSpPr>
        <p:spPr>
          <a:xfrm flipV="1">
            <a:off x="-16626" y="0"/>
            <a:ext cx="12191998" cy="1331619"/>
          </a:xfrm>
          <a:prstGeom prst="rect">
            <a:avLst/>
          </a:prstGeom>
          <a:solidFill>
            <a:srgbClr val="6699CC">
              <a:alpha val="1294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03EE4E57-9F1B-E8B6-526A-1B3338F12A41}"/>
              </a:ext>
            </a:extLst>
          </p:cNvPr>
          <p:cNvSpPr txBox="1"/>
          <p:nvPr/>
        </p:nvSpPr>
        <p:spPr>
          <a:xfrm>
            <a:off x="885079" y="476586"/>
            <a:ext cx="7981244" cy="523220"/>
          </a:xfrm>
          <a:prstGeom prst="rect">
            <a:avLst/>
          </a:prstGeom>
          <a:noFill/>
        </p:spPr>
        <p:txBody>
          <a:bodyPr wrap="square" lIns="0">
            <a:spAutoFit/>
          </a:bodyPr>
          <a:lstStyle/>
          <a:p>
            <a:pPr>
              <a:spcAft>
                <a:spcPts val="200"/>
              </a:spcAft>
            </a:pPr>
            <a:r>
              <a:rPr lang="en-US" sz="2800">
                <a:solidFill>
                  <a:srgbClr val="1A2E51"/>
                </a:solidFill>
                <a:latin typeface="Poppins SemiBold" pitchFamily="2" charset="77"/>
                <a:ea typeface="+mj-ea"/>
                <a:cs typeface="+mj-cs"/>
              </a:rPr>
              <a:t>What Is Personalization?</a:t>
            </a:r>
          </a:p>
        </p:txBody>
      </p:sp>
      <p:sp>
        <p:nvSpPr>
          <p:cNvPr id="4" name="TextBox 3">
            <a:extLst>
              <a:ext uri="{FF2B5EF4-FFF2-40B4-BE49-F238E27FC236}">
                <a16:creationId xmlns:a16="http://schemas.microsoft.com/office/drawing/2014/main" id="{60A4600C-54F7-8040-AA14-0F3E32C39CB8}"/>
              </a:ext>
            </a:extLst>
          </p:cNvPr>
          <p:cNvSpPr txBox="1"/>
          <p:nvPr/>
        </p:nvSpPr>
        <p:spPr>
          <a:xfrm>
            <a:off x="918945" y="224229"/>
            <a:ext cx="7981244" cy="307777"/>
          </a:xfrm>
          <a:prstGeom prst="rect">
            <a:avLst/>
          </a:prstGeom>
          <a:noFill/>
        </p:spPr>
        <p:txBody>
          <a:bodyPr wrap="square" lIns="0">
            <a:spAutoFit/>
          </a:bodyPr>
          <a:lstStyle/>
          <a:p>
            <a:pPr>
              <a:spcAft>
                <a:spcPts val="200"/>
              </a:spcAft>
            </a:pPr>
            <a:r>
              <a:rPr lang="en-US" sz="1400">
                <a:solidFill>
                  <a:srgbClr val="1A2E51"/>
                </a:solidFill>
                <a:latin typeface="Poppins SemiBold" pitchFamily="2" charset="77"/>
                <a:ea typeface="+mj-ea"/>
                <a:cs typeface="+mj-cs"/>
              </a:rPr>
              <a:t>CRO Team</a:t>
            </a:r>
            <a:endParaRPr lang="en-US" sz="1400">
              <a:solidFill>
                <a:srgbClr val="1A2E51"/>
              </a:solidFill>
            </a:endParaRPr>
          </a:p>
        </p:txBody>
      </p:sp>
    </p:spTree>
    <p:extLst>
      <p:ext uri="{BB962C8B-B14F-4D97-AF65-F5344CB8AC3E}">
        <p14:creationId xmlns:p14="http://schemas.microsoft.com/office/powerpoint/2010/main" val="19110194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Rectangle 84">
            <a:extLst>
              <a:ext uri="{FF2B5EF4-FFF2-40B4-BE49-F238E27FC236}">
                <a16:creationId xmlns:a16="http://schemas.microsoft.com/office/drawing/2014/main" id="{FCFC13CC-E538-1DE2-B9F3-34FEDA3B2B05}"/>
              </a:ext>
            </a:extLst>
          </p:cNvPr>
          <p:cNvSpPr/>
          <p:nvPr/>
        </p:nvSpPr>
        <p:spPr>
          <a:xfrm>
            <a:off x="-16626" y="6420726"/>
            <a:ext cx="12208625" cy="486041"/>
          </a:xfrm>
          <a:prstGeom prst="rect">
            <a:avLst/>
          </a:prstGeom>
          <a:solidFill>
            <a:srgbClr val="0100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6" name="Picture 85">
            <a:extLst>
              <a:ext uri="{FF2B5EF4-FFF2-40B4-BE49-F238E27FC236}">
                <a16:creationId xmlns:a16="http://schemas.microsoft.com/office/drawing/2014/main" id="{13BB38F0-C95D-7B7F-476A-7A82F8F144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43815" y="6576506"/>
            <a:ext cx="1401689" cy="174481"/>
          </a:xfrm>
          <a:prstGeom prst="rect">
            <a:avLst/>
          </a:prstGeom>
          <a:noFill/>
          <a:extLst>
            <a:ext uri="{909E8E84-426E-40DD-AFC4-6F175D3DCCD1}">
              <a14:hiddenFill xmlns:a14="http://schemas.microsoft.com/office/drawing/2010/main">
                <a:solidFill>
                  <a:srgbClr val="FFFFFF"/>
                </a:solidFill>
              </a14:hiddenFill>
            </a:ext>
          </a:extLst>
        </p:spPr>
      </p:pic>
      <p:sp>
        <p:nvSpPr>
          <p:cNvPr id="87" name="TextBox 86">
            <a:extLst>
              <a:ext uri="{FF2B5EF4-FFF2-40B4-BE49-F238E27FC236}">
                <a16:creationId xmlns:a16="http://schemas.microsoft.com/office/drawing/2014/main" id="{7EC8E12D-52D2-C4A1-6B04-9031FBFF5B11}"/>
              </a:ext>
            </a:extLst>
          </p:cNvPr>
          <p:cNvSpPr txBox="1"/>
          <p:nvPr/>
        </p:nvSpPr>
        <p:spPr>
          <a:xfrm>
            <a:off x="78859" y="6536788"/>
            <a:ext cx="4239255" cy="253916"/>
          </a:xfrm>
          <a:prstGeom prst="rect">
            <a:avLst/>
          </a:prstGeom>
          <a:noFill/>
        </p:spPr>
        <p:txBody>
          <a:bodyPr wrap="square">
            <a:spAutoFit/>
          </a:bodyPr>
          <a:lstStyle/>
          <a:p>
            <a:r>
              <a:rPr lang="en-US" sz="1050" b="0" i="0" u="none" strike="noStrike">
                <a:solidFill>
                  <a:schemeClr val="bg1">
                    <a:lumMod val="75000"/>
                  </a:schemeClr>
                </a:solidFill>
                <a:effectLst/>
                <a:latin typeface="Poppins" pitchFamily="2" charset="77"/>
              </a:rPr>
              <a:t>© 2023 Horizon Media – Confidential &amp; Proprietary</a:t>
            </a:r>
            <a:r>
              <a:rPr lang="en-US" sz="1050" b="0" i="0">
                <a:solidFill>
                  <a:schemeClr val="bg1">
                    <a:lumMod val="75000"/>
                  </a:schemeClr>
                </a:solidFill>
                <a:effectLst/>
                <a:latin typeface="Poppins" pitchFamily="2" charset="77"/>
              </a:rPr>
              <a:t>​</a:t>
            </a:r>
            <a:endParaRPr lang="en-US" sz="1050">
              <a:solidFill>
                <a:schemeClr val="bg1">
                  <a:lumMod val="75000"/>
                </a:schemeClr>
              </a:solidFill>
            </a:endParaRPr>
          </a:p>
        </p:txBody>
      </p:sp>
      <p:pic>
        <p:nvPicPr>
          <p:cNvPr id="2" name="Google Shape;450;p39">
            <a:extLst>
              <a:ext uri="{FF2B5EF4-FFF2-40B4-BE49-F238E27FC236}">
                <a16:creationId xmlns:a16="http://schemas.microsoft.com/office/drawing/2014/main" id="{7D253633-EBEB-F488-0549-B02773E6D251}"/>
              </a:ext>
            </a:extLst>
          </p:cNvPr>
          <p:cNvPicPr preferRelativeResize="0"/>
          <p:nvPr/>
        </p:nvPicPr>
        <p:blipFill>
          <a:blip r:embed="rId4">
            <a:alphaModFix/>
          </a:blip>
          <a:stretch>
            <a:fillRect/>
          </a:stretch>
        </p:blipFill>
        <p:spPr>
          <a:xfrm>
            <a:off x="470786" y="1331619"/>
            <a:ext cx="5767702" cy="3854759"/>
          </a:xfrm>
          <a:prstGeom prst="rect">
            <a:avLst/>
          </a:prstGeom>
          <a:noFill/>
          <a:ln>
            <a:solidFill>
              <a:schemeClr val="bg1">
                <a:lumMod val="85000"/>
              </a:schemeClr>
            </a:solidFill>
          </a:ln>
        </p:spPr>
      </p:pic>
      <p:pic>
        <p:nvPicPr>
          <p:cNvPr id="3" name="Picture 2" descr="A cover of a book&#10;&#10;Description automatically generated">
            <a:extLst>
              <a:ext uri="{FF2B5EF4-FFF2-40B4-BE49-F238E27FC236}">
                <a16:creationId xmlns:a16="http://schemas.microsoft.com/office/drawing/2014/main" id="{C29EF8DB-8B08-D6D8-0DFF-DABF70935AB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889422" y="1331619"/>
            <a:ext cx="2885658" cy="3737528"/>
          </a:xfrm>
          <a:prstGeom prst="rect">
            <a:avLst/>
          </a:prstGeom>
          <a:ln>
            <a:solidFill>
              <a:schemeClr val="bg1">
                <a:lumMod val="85000"/>
              </a:schemeClr>
            </a:solidFill>
          </a:ln>
        </p:spPr>
      </p:pic>
      <p:sp>
        <p:nvSpPr>
          <p:cNvPr id="4" name="TextBox 3">
            <a:extLst>
              <a:ext uri="{FF2B5EF4-FFF2-40B4-BE49-F238E27FC236}">
                <a16:creationId xmlns:a16="http://schemas.microsoft.com/office/drawing/2014/main" id="{116577AE-7554-48AE-F2E7-4FA01340B4B2}"/>
              </a:ext>
            </a:extLst>
          </p:cNvPr>
          <p:cNvSpPr txBox="1"/>
          <p:nvPr/>
        </p:nvSpPr>
        <p:spPr>
          <a:xfrm>
            <a:off x="470786" y="5329189"/>
            <a:ext cx="4076952" cy="938719"/>
          </a:xfrm>
          <a:prstGeom prst="rect">
            <a:avLst/>
          </a:prstGeom>
          <a:solidFill>
            <a:schemeClr val="bg1">
              <a:lumMod val="95000"/>
            </a:schemeClr>
          </a:solidFill>
          <a:ln>
            <a:solidFill>
              <a:schemeClr val="bg1">
                <a:lumMod val="85000"/>
              </a:schemeClr>
            </a:solidFill>
          </a:ln>
        </p:spPr>
        <p:txBody>
          <a:bodyPr wrap="square" tIns="91440" bIns="91440">
            <a:spAutoFit/>
          </a:bodyPr>
          <a:lstStyle/>
          <a:p>
            <a:pPr marL="0" marR="0" lvl="0" indent="0" algn="l" rtl="0">
              <a:spcAft>
                <a:spcPts val="600"/>
              </a:spcAft>
              <a:buNone/>
            </a:pPr>
            <a:r>
              <a:rPr lang="en-US" sz="1100">
                <a:solidFill>
                  <a:schemeClr val="tx2">
                    <a:lumMod val="75000"/>
                  </a:schemeClr>
                </a:solidFill>
                <a:latin typeface="Poppins" panose="00000500000000000000" pitchFamily="2" charset="0"/>
                <a:ea typeface="Overpass"/>
                <a:cs typeface="Poppins" panose="00000500000000000000" pitchFamily="2" charset="0"/>
                <a:sym typeface="Overpass"/>
              </a:rPr>
              <a:t>183 enterprise orgs who use CRO: </a:t>
            </a:r>
          </a:p>
          <a:p>
            <a:pPr marL="196850" marR="0" lvl="0" indent="-171450" algn="l" rtl="0">
              <a:buClr>
                <a:srgbClr val="666666"/>
              </a:buClr>
              <a:buSzPts val="1400"/>
              <a:buFont typeface="Arial" panose="020B0604020202020204" pitchFamily="34" charset="0"/>
              <a:buChar char="•"/>
            </a:pPr>
            <a:r>
              <a:rPr lang="en-US" sz="1100">
                <a:solidFill>
                  <a:schemeClr val="tx2">
                    <a:lumMod val="75000"/>
                  </a:schemeClr>
                </a:solidFill>
                <a:latin typeface="Poppins" panose="00000500000000000000" pitchFamily="2" charset="0"/>
                <a:ea typeface="Overpass"/>
                <a:cs typeface="Poppins" panose="00000500000000000000" pitchFamily="2" charset="0"/>
                <a:sym typeface="Overpass"/>
              </a:rPr>
              <a:t>66%: saw increase in average visitor value</a:t>
            </a:r>
          </a:p>
          <a:p>
            <a:pPr marL="196850" marR="0" lvl="0" indent="-171450" algn="l" rtl="0">
              <a:buClr>
                <a:srgbClr val="666666"/>
              </a:buClr>
              <a:buSzPts val="1400"/>
              <a:buFont typeface="Arial" panose="020B0604020202020204" pitchFamily="34" charset="0"/>
              <a:buChar char="•"/>
            </a:pPr>
            <a:r>
              <a:rPr lang="en-US" sz="1100">
                <a:solidFill>
                  <a:schemeClr val="tx2">
                    <a:lumMod val="75000"/>
                  </a:schemeClr>
                </a:solidFill>
                <a:latin typeface="Poppins" panose="00000500000000000000" pitchFamily="2" charset="0"/>
                <a:ea typeface="Overpass"/>
                <a:cs typeface="Poppins" panose="00000500000000000000" pitchFamily="2" charset="0"/>
                <a:sym typeface="Overpass"/>
              </a:rPr>
              <a:t>63%: saw increase in customer satisfaction</a:t>
            </a:r>
          </a:p>
          <a:p>
            <a:pPr marL="196850" marR="0" lvl="0" indent="-171450" algn="l" rtl="0">
              <a:buClr>
                <a:srgbClr val="666666"/>
              </a:buClr>
              <a:buSzPts val="1400"/>
              <a:buFont typeface="Arial" panose="020B0604020202020204" pitchFamily="34" charset="0"/>
              <a:buChar char="•"/>
            </a:pPr>
            <a:r>
              <a:rPr lang="en-US" sz="1100">
                <a:solidFill>
                  <a:schemeClr val="tx2">
                    <a:lumMod val="75000"/>
                  </a:schemeClr>
                </a:solidFill>
                <a:latin typeface="Poppins" panose="00000500000000000000" pitchFamily="2" charset="0"/>
                <a:ea typeface="Overpass"/>
                <a:cs typeface="Poppins" panose="00000500000000000000" pitchFamily="2" charset="0"/>
                <a:sym typeface="Overpass"/>
              </a:rPr>
              <a:t>60%: saw increase in customer lifetime value</a:t>
            </a:r>
            <a:endParaRPr lang="en-US" sz="1100">
              <a:solidFill>
                <a:schemeClr val="tx2">
                  <a:lumMod val="75000"/>
                </a:schemeClr>
              </a:solidFill>
              <a:latin typeface="Poppins" panose="00000500000000000000" pitchFamily="2" charset="0"/>
              <a:cs typeface="Poppins" panose="00000500000000000000" pitchFamily="2" charset="0"/>
            </a:endParaRPr>
          </a:p>
        </p:txBody>
      </p:sp>
      <p:pic>
        <p:nvPicPr>
          <p:cNvPr id="5" name="Picture 4" descr="A graph of a graph&#10;&#10;Description automatically generated">
            <a:extLst>
              <a:ext uri="{FF2B5EF4-FFF2-40B4-BE49-F238E27FC236}">
                <a16:creationId xmlns:a16="http://schemas.microsoft.com/office/drawing/2014/main" id="{C021F003-EB8B-6A38-DC86-D0C7D7EABB8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644263" y="2713135"/>
            <a:ext cx="3994785" cy="2817495"/>
          </a:xfrm>
          <a:prstGeom prst="rect">
            <a:avLst/>
          </a:prstGeom>
          <a:ln>
            <a:solidFill>
              <a:schemeClr val="bg1">
                <a:lumMod val="85000"/>
              </a:schemeClr>
            </a:solidFill>
          </a:ln>
        </p:spPr>
      </p:pic>
      <p:sp>
        <p:nvSpPr>
          <p:cNvPr id="6" name="TextBox 5">
            <a:extLst>
              <a:ext uri="{FF2B5EF4-FFF2-40B4-BE49-F238E27FC236}">
                <a16:creationId xmlns:a16="http://schemas.microsoft.com/office/drawing/2014/main" id="{81AE60A9-C42F-9DD1-1665-CEF416B16710}"/>
              </a:ext>
            </a:extLst>
          </p:cNvPr>
          <p:cNvSpPr txBox="1"/>
          <p:nvPr/>
        </p:nvSpPr>
        <p:spPr>
          <a:xfrm>
            <a:off x="6975230" y="5667619"/>
            <a:ext cx="4076952" cy="523220"/>
          </a:xfrm>
          <a:prstGeom prst="rect">
            <a:avLst/>
          </a:prstGeom>
          <a:solidFill>
            <a:schemeClr val="bg1">
              <a:lumMod val="95000"/>
            </a:schemeClr>
          </a:solidFill>
          <a:ln>
            <a:solidFill>
              <a:schemeClr val="bg1">
                <a:lumMod val="85000"/>
              </a:schemeClr>
            </a:solidFill>
          </a:ln>
        </p:spPr>
        <p:txBody>
          <a:bodyPr wrap="square" tIns="91440" bIns="91440">
            <a:spAutoFit/>
          </a:bodyPr>
          <a:lstStyle/>
          <a:p>
            <a:pPr marL="0" marR="0" lvl="0" indent="0" algn="l" rtl="0">
              <a:buNone/>
            </a:pPr>
            <a:r>
              <a:rPr lang="en-US" sz="1100">
                <a:solidFill>
                  <a:schemeClr val="tx2">
                    <a:lumMod val="75000"/>
                  </a:schemeClr>
                </a:solidFill>
                <a:latin typeface="Poppins" panose="00000500000000000000" pitchFamily="2" charset="0"/>
                <a:ea typeface="Overpass"/>
                <a:cs typeface="Poppins" panose="00000500000000000000" pitchFamily="2" charset="0"/>
                <a:sym typeface="Overpass"/>
              </a:rPr>
              <a:t>Duke / HBR analyzed 35,262 tech startups: </a:t>
            </a:r>
          </a:p>
          <a:p>
            <a:pPr marL="0" marR="0" lvl="0" indent="0" algn="l" rtl="0">
              <a:buNone/>
            </a:pPr>
            <a:r>
              <a:rPr lang="en-US" sz="1100">
                <a:solidFill>
                  <a:schemeClr val="tx2">
                    <a:lumMod val="75000"/>
                  </a:schemeClr>
                </a:solidFill>
                <a:latin typeface="Poppins" panose="00000500000000000000" pitchFamily="2" charset="0"/>
                <a:ea typeface="Overpass"/>
                <a:cs typeface="Poppins" panose="00000500000000000000" pitchFamily="2" charset="0"/>
                <a:sym typeface="Overpass"/>
              </a:rPr>
              <a:t>Trend line of A/B testing effects over time</a:t>
            </a:r>
          </a:p>
        </p:txBody>
      </p:sp>
      <p:sp>
        <p:nvSpPr>
          <p:cNvPr id="8" name="Rectangle 7">
            <a:extLst>
              <a:ext uri="{FF2B5EF4-FFF2-40B4-BE49-F238E27FC236}">
                <a16:creationId xmlns:a16="http://schemas.microsoft.com/office/drawing/2014/main" id="{726A3D12-26C6-1A96-1E8E-B20222010662}"/>
              </a:ext>
            </a:extLst>
          </p:cNvPr>
          <p:cNvSpPr/>
          <p:nvPr/>
        </p:nvSpPr>
        <p:spPr>
          <a:xfrm flipV="1">
            <a:off x="-16626" y="0"/>
            <a:ext cx="12191998" cy="1331619"/>
          </a:xfrm>
          <a:prstGeom prst="rect">
            <a:avLst/>
          </a:prstGeom>
          <a:solidFill>
            <a:srgbClr val="6699CC">
              <a:alpha val="1294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CB8B1F4-7A62-F041-A5C6-414BFDBA8F99}"/>
              </a:ext>
            </a:extLst>
          </p:cNvPr>
          <p:cNvSpPr txBox="1"/>
          <p:nvPr/>
        </p:nvSpPr>
        <p:spPr>
          <a:xfrm>
            <a:off x="885079" y="476586"/>
            <a:ext cx="7981244" cy="523220"/>
          </a:xfrm>
          <a:prstGeom prst="rect">
            <a:avLst/>
          </a:prstGeom>
          <a:noFill/>
        </p:spPr>
        <p:txBody>
          <a:bodyPr wrap="square" lIns="0">
            <a:spAutoFit/>
          </a:bodyPr>
          <a:lstStyle/>
          <a:p>
            <a:pPr>
              <a:spcAft>
                <a:spcPts val="200"/>
              </a:spcAft>
            </a:pPr>
            <a:r>
              <a:rPr lang="en-US" sz="2800">
                <a:solidFill>
                  <a:srgbClr val="1A2E51"/>
                </a:solidFill>
                <a:latin typeface="Poppins SemiBold" pitchFamily="2" charset="77"/>
                <a:ea typeface="+mj-ea"/>
                <a:cs typeface="+mj-cs"/>
              </a:rPr>
              <a:t>Why Do It?</a:t>
            </a:r>
          </a:p>
        </p:txBody>
      </p:sp>
      <p:sp>
        <p:nvSpPr>
          <p:cNvPr id="10" name="TextBox 9">
            <a:extLst>
              <a:ext uri="{FF2B5EF4-FFF2-40B4-BE49-F238E27FC236}">
                <a16:creationId xmlns:a16="http://schemas.microsoft.com/office/drawing/2014/main" id="{0F6A2920-5644-D946-7AA4-8C5157341397}"/>
              </a:ext>
            </a:extLst>
          </p:cNvPr>
          <p:cNvSpPr txBox="1"/>
          <p:nvPr/>
        </p:nvSpPr>
        <p:spPr>
          <a:xfrm>
            <a:off x="918945" y="224229"/>
            <a:ext cx="7981244" cy="307777"/>
          </a:xfrm>
          <a:prstGeom prst="rect">
            <a:avLst/>
          </a:prstGeom>
          <a:noFill/>
        </p:spPr>
        <p:txBody>
          <a:bodyPr wrap="square" lIns="0">
            <a:spAutoFit/>
          </a:bodyPr>
          <a:lstStyle/>
          <a:p>
            <a:pPr>
              <a:spcAft>
                <a:spcPts val="200"/>
              </a:spcAft>
            </a:pPr>
            <a:r>
              <a:rPr lang="en-US" sz="1400">
                <a:solidFill>
                  <a:srgbClr val="1A2E51"/>
                </a:solidFill>
                <a:latin typeface="Poppins SemiBold" pitchFamily="2" charset="77"/>
                <a:ea typeface="+mj-ea"/>
                <a:cs typeface="+mj-cs"/>
              </a:rPr>
              <a:t>CRO Team</a:t>
            </a:r>
            <a:endParaRPr lang="en-US" sz="1400">
              <a:solidFill>
                <a:srgbClr val="1A2E51"/>
              </a:solidFill>
            </a:endParaRPr>
          </a:p>
        </p:txBody>
      </p:sp>
    </p:spTree>
    <p:extLst>
      <p:ext uri="{BB962C8B-B14F-4D97-AF65-F5344CB8AC3E}">
        <p14:creationId xmlns:p14="http://schemas.microsoft.com/office/powerpoint/2010/main" val="8591656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Rectangle 84">
            <a:extLst>
              <a:ext uri="{FF2B5EF4-FFF2-40B4-BE49-F238E27FC236}">
                <a16:creationId xmlns:a16="http://schemas.microsoft.com/office/drawing/2014/main" id="{FCFC13CC-E538-1DE2-B9F3-34FEDA3B2B05}"/>
              </a:ext>
            </a:extLst>
          </p:cNvPr>
          <p:cNvSpPr/>
          <p:nvPr/>
        </p:nvSpPr>
        <p:spPr>
          <a:xfrm>
            <a:off x="-16626" y="6420726"/>
            <a:ext cx="12208625" cy="486041"/>
          </a:xfrm>
          <a:prstGeom prst="rect">
            <a:avLst/>
          </a:prstGeom>
          <a:solidFill>
            <a:srgbClr val="0100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6" name="Picture 85">
            <a:extLst>
              <a:ext uri="{FF2B5EF4-FFF2-40B4-BE49-F238E27FC236}">
                <a16:creationId xmlns:a16="http://schemas.microsoft.com/office/drawing/2014/main" id="{13BB38F0-C95D-7B7F-476A-7A82F8F144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43815" y="6576506"/>
            <a:ext cx="1401689" cy="174481"/>
          </a:xfrm>
          <a:prstGeom prst="rect">
            <a:avLst/>
          </a:prstGeom>
          <a:noFill/>
          <a:extLst>
            <a:ext uri="{909E8E84-426E-40DD-AFC4-6F175D3DCCD1}">
              <a14:hiddenFill xmlns:a14="http://schemas.microsoft.com/office/drawing/2010/main">
                <a:solidFill>
                  <a:srgbClr val="FFFFFF"/>
                </a:solidFill>
              </a14:hiddenFill>
            </a:ext>
          </a:extLst>
        </p:spPr>
      </p:pic>
      <p:sp>
        <p:nvSpPr>
          <p:cNvPr id="87" name="TextBox 86">
            <a:extLst>
              <a:ext uri="{FF2B5EF4-FFF2-40B4-BE49-F238E27FC236}">
                <a16:creationId xmlns:a16="http://schemas.microsoft.com/office/drawing/2014/main" id="{7EC8E12D-52D2-C4A1-6B04-9031FBFF5B11}"/>
              </a:ext>
            </a:extLst>
          </p:cNvPr>
          <p:cNvSpPr txBox="1"/>
          <p:nvPr/>
        </p:nvSpPr>
        <p:spPr>
          <a:xfrm>
            <a:off x="78859" y="6536788"/>
            <a:ext cx="4239255" cy="253916"/>
          </a:xfrm>
          <a:prstGeom prst="rect">
            <a:avLst/>
          </a:prstGeom>
          <a:noFill/>
        </p:spPr>
        <p:txBody>
          <a:bodyPr wrap="square">
            <a:spAutoFit/>
          </a:bodyPr>
          <a:lstStyle/>
          <a:p>
            <a:r>
              <a:rPr lang="en-US" sz="1050" b="0" i="0" u="none" strike="noStrike">
                <a:solidFill>
                  <a:schemeClr val="bg1">
                    <a:lumMod val="75000"/>
                  </a:schemeClr>
                </a:solidFill>
                <a:effectLst/>
                <a:latin typeface="Poppins" pitchFamily="2" charset="77"/>
              </a:rPr>
              <a:t>© 2023 Horizon Media – Confidential &amp; Proprietary</a:t>
            </a:r>
            <a:r>
              <a:rPr lang="en-US" sz="1050" b="0" i="0">
                <a:solidFill>
                  <a:schemeClr val="bg1">
                    <a:lumMod val="75000"/>
                  </a:schemeClr>
                </a:solidFill>
                <a:effectLst/>
                <a:latin typeface="Poppins" pitchFamily="2" charset="77"/>
              </a:rPr>
              <a:t>​</a:t>
            </a:r>
            <a:endParaRPr lang="en-US" sz="1050">
              <a:solidFill>
                <a:schemeClr val="bg1">
                  <a:lumMod val="75000"/>
                </a:schemeClr>
              </a:solidFill>
            </a:endParaRPr>
          </a:p>
        </p:txBody>
      </p:sp>
      <p:pic>
        <p:nvPicPr>
          <p:cNvPr id="2050" name="Picture 2">
            <a:extLst>
              <a:ext uri="{FF2B5EF4-FFF2-40B4-BE49-F238E27FC236}">
                <a16:creationId xmlns:a16="http://schemas.microsoft.com/office/drawing/2014/main" id="{63508EF4-B280-EFE5-7975-9B838065B0E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21291" y="1476392"/>
            <a:ext cx="8032955" cy="4519126"/>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F8C96B25-3986-462D-64FD-069D5B430EA8}"/>
              </a:ext>
            </a:extLst>
          </p:cNvPr>
          <p:cNvSpPr/>
          <p:nvPr/>
        </p:nvSpPr>
        <p:spPr>
          <a:xfrm flipV="1">
            <a:off x="-16626" y="0"/>
            <a:ext cx="12191998" cy="1331619"/>
          </a:xfrm>
          <a:prstGeom prst="rect">
            <a:avLst/>
          </a:prstGeom>
          <a:solidFill>
            <a:srgbClr val="6699CC">
              <a:alpha val="1294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28EE668-02A0-83F7-74CB-AD999D80E847}"/>
              </a:ext>
            </a:extLst>
          </p:cNvPr>
          <p:cNvSpPr txBox="1"/>
          <p:nvPr/>
        </p:nvSpPr>
        <p:spPr>
          <a:xfrm>
            <a:off x="885079" y="476586"/>
            <a:ext cx="7981244" cy="523220"/>
          </a:xfrm>
          <a:prstGeom prst="rect">
            <a:avLst/>
          </a:prstGeom>
          <a:noFill/>
        </p:spPr>
        <p:txBody>
          <a:bodyPr wrap="square" lIns="0">
            <a:spAutoFit/>
          </a:bodyPr>
          <a:lstStyle/>
          <a:p>
            <a:pPr>
              <a:spcAft>
                <a:spcPts val="200"/>
              </a:spcAft>
            </a:pPr>
            <a:r>
              <a:rPr lang="en-US" sz="2800">
                <a:solidFill>
                  <a:srgbClr val="1A2E51"/>
                </a:solidFill>
                <a:latin typeface="Poppins SemiBold" pitchFamily="2" charset="77"/>
                <a:ea typeface="+mj-ea"/>
                <a:cs typeface="+mj-cs"/>
              </a:rPr>
              <a:t>Why Do It?</a:t>
            </a:r>
          </a:p>
        </p:txBody>
      </p:sp>
      <p:sp>
        <p:nvSpPr>
          <p:cNvPr id="4" name="TextBox 3">
            <a:extLst>
              <a:ext uri="{FF2B5EF4-FFF2-40B4-BE49-F238E27FC236}">
                <a16:creationId xmlns:a16="http://schemas.microsoft.com/office/drawing/2014/main" id="{660C43EC-82A2-89F7-6738-03CC497D5BCB}"/>
              </a:ext>
            </a:extLst>
          </p:cNvPr>
          <p:cNvSpPr txBox="1"/>
          <p:nvPr/>
        </p:nvSpPr>
        <p:spPr>
          <a:xfrm>
            <a:off x="918945" y="224229"/>
            <a:ext cx="7981244" cy="307777"/>
          </a:xfrm>
          <a:prstGeom prst="rect">
            <a:avLst/>
          </a:prstGeom>
          <a:noFill/>
        </p:spPr>
        <p:txBody>
          <a:bodyPr wrap="square" lIns="0">
            <a:spAutoFit/>
          </a:bodyPr>
          <a:lstStyle/>
          <a:p>
            <a:pPr>
              <a:spcAft>
                <a:spcPts val="200"/>
              </a:spcAft>
            </a:pPr>
            <a:r>
              <a:rPr lang="en-US" sz="1400">
                <a:solidFill>
                  <a:srgbClr val="1A2E51"/>
                </a:solidFill>
                <a:latin typeface="Poppins SemiBold" pitchFamily="2" charset="77"/>
                <a:ea typeface="+mj-ea"/>
                <a:cs typeface="+mj-cs"/>
              </a:rPr>
              <a:t>CRO Team</a:t>
            </a:r>
            <a:endParaRPr lang="en-US" sz="1400">
              <a:solidFill>
                <a:srgbClr val="1A2E51"/>
              </a:solidFill>
            </a:endParaRPr>
          </a:p>
        </p:txBody>
      </p:sp>
    </p:spTree>
    <p:extLst>
      <p:ext uri="{BB962C8B-B14F-4D97-AF65-F5344CB8AC3E}">
        <p14:creationId xmlns:p14="http://schemas.microsoft.com/office/powerpoint/2010/main" val="4965057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Rectangle 84">
            <a:extLst>
              <a:ext uri="{FF2B5EF4-FFF2-40B4-BE49-F238E27FC236}">
                <a16:creationId xmlns:a16="http://schemas.microsoft.com/office/drawing/2014/main" id="{FCFC13CC-E538-1DE2-B9F3-34FEDA3B2B05}"/>
              </a:ext>
            </a:extLst>
          </p:cNvPr>
          <p:cNvSpPr/>
          <p:nvPr/>
        </p:nvSpPr>
        <p:spPr>
          <a:xfrm>
            <a:off x="-16626" y="6420726"/>
            <a:ext cx="12208625" cy="486041"/>
          </a:xfrm>
          <a:prstGeom prst="rect">
            <a:avLst/>
          </a:prstGeom>
          <a:solidFill>
            <a:srgbClr val="0100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6" name="Picture 85">
            <a:extLst>
              <a:ext uri="{FF2B5EF4-FFF2-40B4-BE49-F238E27FC236}">
                <a16:creationId xmlns:a16="http://schemas.microsoft.com/office/drawing/2014/main" id="{13BB38F0-C95D-7B7F-476A-7A82F8F144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43815" y="6576506"/>
            <a:ext cx="1401689" cy="174481"/>
          </a:xfrm>
          <a:prstGeom prst="rect">
            <a:avLst/>
          </a:prstGeom>
          <a:noFill/>
          <a:extLst>
            <a:ext uri="{909E8E84-426E-40DD-AFC4-6F175D3DCCD1}">
              <a14:hiddenFill xmlns:a14="http://schemas.microsoft.com/office/drawing/2010/main">
                <a:solidFill>
                  <a:srgbClr val="FFFFFF"/>
                </a:solidFill>
              </a14:hiddenFill>
            </a:ext>
          </a:extLst>
        </p:spPr>
      </p:pic>
      <p:sp>
        <p:nvSpPr>
          <p:cNvPr id="87" name="TextBox 86">
            <a:extLst>
              <a:ext uri="{FF2B5EF4-FFF2-40B4-BE49-F238E27FC236}">
                <a16:creationId xmlns:a16="http://schemas.microsoft.com/office/drawing/2014/main" id="{7EC8E12D-52D2-C4A1-6B04-9031FBFF5B11}"/>
              </a:ext>
            </a:extLst>
          </p:cNvPr>
          <p:cNvSpPr txBox="1"/>
          <p:nvPr/>
        </p:nvSpPr>
        <p:spPr>
          <a:xfrm>
            <a:off x="78859" y="6536788"/>
            <a:ext cx="4239255" cy="253916"/>
          </a:xfrm>
          <a:prstGeom prst="rect">
            <a:avLst/>
          </a:prstGeom>
          <a:noFill/>
        </p:spPr>
        <p:txBody>
          <a:bodyPr wrap="square">
            <a:spAutoFit/>
          </a:bodyPr>
          <a:lstStyle/>
          <a:p>
            <a:r>
              <a:rPr lang="en-US" sz="1050" b="0" i="0" u="none" strike="noStrike">
                <a:solidFill>
                  <a:schemeClr val="bg1">
                    <a:lumMod val="75000"/>
                  </a:schemeClr>
                </a:solidFill>
                <a:effectLst/>
                <a:latin typeface="Poppins" pitchFamily="2" charset="77"/>
              </a:rPr>
              <a:t>© 2023 Horizon Media – Confidential &amp; Proprietary</a:t>
            </a:r>
            <a:r>
              <a:rPr lang="en-US" sz="1050" b="0" i="0">
                <a:solidFill>
                  <a:schemeClr val="bg1">
                    <a:lumMod val="75000"/>
                  </a:schemeClr>
                </a:solidFill>
                <a:effectLst/>
                <a:latin typeface="Poppins" pitchFamily="2" charset="77"/>
              </a:rPr>
              <a:t>​</a:t>
            </a:r>
            <a:endParaRPr lang="en-US" sz="1050">
              <a:solidFill>
                <a:schemeClr val="bg1">
                  <a:lumMod val="75000"/>
                </a:schemeClr>
              </a:solidFill>
            </a:endParaRPr>
          </a:p>
        </p:txBody>
      </p:sp>
      <p:grpSp>
        <p:nvGrpSpPr>
          <p:cNvPr id="2" name="Group 1">
            <a:extLst>
              <a:ext uri="{FF2B5EF4-FFF2-40B4-BE49-F238E27FC236}">
                <a16:creationId xmlns:a16="http://schemas.microsoft.com/office/drawing/2014/main" id="{E2CC3CB8-BBF4-DDD5-D12B-DC11A0A60F6C}"/>
              </a:ext>
            </a:extLst>
          </p:cNvPr>
          <p:cNvGrpSpPr/>
          <p:nvPr/>
        </p:nvGrpSpPr>
        <p:grpSpPr>
          <a:xfrm>
            <a:off x="395209" y="1469651"/>
            <a:ext cx="11401587" cy="4374234"/>
            <a:chOff x="633250" y="1188299"/>
            <a:chExt cx="11401587" cy="4374234"/>
          </a:xfrm>
        </p:grpSpPr>
        <p:sp>
          <p:nvSpPr>
            <p:cNvPr id="3" name="Google Shape;415;p37">
              <a:extLst>
                <a:ext uri="{FF2B5EF4-FFF2-40B4-BE49-F238E27FC236}">
                  <a16:creationId xmlns:a16="http://schemas.microsoft.com/office/drawing/2014/main" id="{345E7537-4142-B692-89B6-6E305C9A67AE}"/>
                </a:ext>
              </a:extLst>
            </p:cNvPr>
            <p:cNvSpPr/>
            <p:nvPr/>
          </p:nvSpPr>
          <p:spPr>
            <a:xfrm>
              <a:off x="4396667" y="1414623"/>
              <a:ext cx="3386700" cy="3386700"/>
            </a:xfrm>
            <a:prstGeom prst="donut">
              <a:avLst>
                <a:gd name="adj" fmla="val 16067"/>
              </a:avLst>
            </a:prstGeom>
            <a:solidFill>
              <a:srgbClr val="000000">
                <a:alpha val="10590"/>
              </a:srgbClr>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Poppins" panose="00000500000000000000" pitchFamily="2" charset="0"/>
                <a:ea typeface="Arial"/>
                <a:cs typeface="Poppins" panose="00000500000000000000" pitchFamily="2" charset="0"/>
                <a:sym typeface="Arial"/>
              </a:endParaRPr>
            </a:p>
          </p:txBody>
        </p:sp>
        <p:grpSp>
          <p:nvGrpSpPr>
            <p:cNvPr id="4" name="Google Shape;416;p37">
              <a:extLst>
                <a:ext uri="{FF2B5EF4-FFF2-40B4-BE49-F238E27FC236}">
                  <a16:creationId xmlns:a16="http://schemas.microsoft.com/office/drawing/2014/main" id="{982147CA-5E0B-66EA-C6EE-5A98FB01E355}"/>
                </a:ext>
              </a:extLst>
            </p:cNvPr>
            <p:cNvGrpSpPr/>
            <p:nvPr/>
          </p:nvGrpSpPr>
          <p:grpSpPr>
            <a:xfrm>
              <a:off x="633250" y="1188301"/>
              <a:ext cx="4410125" cy="1581561"/>
              <a:chOff x="474949" y="996025"/>
              <a:chExt cx="3307676" cy="1186200"/>
            </a:xfrm>
          </p:grpSpPr>
          <p:cxnSp>
            <p:nvCxnSpPr>
              <p:cNvPr id="23" name="Google Shape;417;p37">
                <a:extLst>
                  <a:ext uri="{FF2B5EF4-FFF2-40B4-BE49-F238E27FC236}">
                    <a16:creationId xmlns:a16="http://schemas.microsoft.com/office/drawing/2014/main" id="{5508F536-6E2B-4C8D-AD04-CF7A3952EBE2}"/>
                  </a:ext>
                </a:extLst>
              </p:cNvPr>
              <p:cNvCxnSpPr>
                <a:cxnSpLocks/>
              </p:cNvCxnSpPr>
              <p:nvPr/>
            </p:nvCxnSpPr>
            <p:spPr>
              <a:xfrm>
                <a:off x="3091131" y="1310548"/>
                <a:ext cx="691494" cy="342901"/>
              </a:xfrm>
              <a:prstGeom prst="straightConnector1">
                <a:avLst/>
              </a:prstGeom>
              <a:noFill/>
              <a:ln w="19050" cap="flat" cmpd="sng">
                <a:solidFill>
                  <a:schemeClr val="accent1"/>
                </a:solidFill>
                <a:prstDash val="solid"/>
                <a:round/>
                <a:headEnd type="oval" w="med" len="med"/>
                <a:tailEnd type="none" w="sm" len="sm"/>
              </a:ln>
            </p:spPr>
          </p:cxnSp>
          <p:sp>
            <p:nvSpPr>
              <p:cNvPr id="24" name="Google Shape;418;p37">
                <a:extLst>
                  <a:ext uri="{FF2B5EF4-FFF2-40B4-BE49-F238E27FC236}">
                    <a16:creationId xmlns:a16="http://schemas.microsoft.com/office/drawing/2014/main" id="{A8FADAEA-96A5-3960-EF70-384C0FFD843D}"/>
                  </a:ext>
                </a:extLst>
              </p:cNvPr>
              <p:cNvSpPr txBox="1"/>
              <p:nvPr/>
            </p:nvSpPr>
            <p:spPr>
              <a:xfrm>
                <a:off x="474949" y="996025"/>
                <a:ext cx="2622786" cy="1186200"/>
              </a:xfrm>
              <a:prstGeom prst="rect">
                <a:avLst/>
              </a:prstGeom>
              <a:noFill/>
              <a:ln>
                <a:noFill/>
              </a:ln>
            </p:spPr>
            <p:txBody>
              <a:bodyPr spcFirstLastPara="1" wrap="square" lIns="121900" tIns="121900" rIns="121900" bIns="121900" anchor="t" anchorCtr="0">
                <a:noAutofit/>
              </a:bodyPr>
              <a:lstStyle/>
              <a:p>
                <a:pPr marL="0" marR="0" lvl="0" indent="0" algn="r" rtl="0">
                  <a:lnSpc>
                    <a:spcPct val="115000"/>
                  </a:lnSpc>
                  <a:spcBef>
                    <a:spcPts val="0"/>
                  </a:spcBef>
                  <a:spcAft>
                    <a:spcPts val="0"/>
                  </a:spcAft>
                  <a:buClr>
                    <a:srgbClr val="000000"/>
                  </a:buClr>
                  <a:buSzPts val="1900"/>
                  <a:buFont typeface="Arial"/>
                  <a:buNone/>
                </a:pPr>
                <a:r>
                  <a:rPr lang="en" sz="1900" b="0" i="0" u="none" strike="noStrike" cap="none">
                    <a:solidFill>
                      <a:srgbClr val="1A2E51"/>
                    </a:solidFill>
                    <a:latin typeface="Poppins" panose="00000500000000000000" pitchFamily="2" charset="0"/>
                    <a:ea typeface="Nunito"/>
                    <a:cs typeface="Poppins" panose="00000500000000000000" pitchFamily="2" charset="0"/>
                    <a:sym typeface="Nunito"/>
                  </a:rPr>
                  <a:t>EVIDENCE</a:t>
                </a:r>
                <a:endParaRPr sz="1900" b="0" i="0" u="none" strike="noStrike" cap="none">
                  <a:solidFill>
                    <a:srgbClr val="1A2E51"/>
                  </a:solidFill>
                  <a:latin typeface="Poppins" panose="00000500000000000000" pitchFamily="2" charset="0"/>
                  <a:ea typeface="Nunito"/>
                  <a:cs typeface="Poppins" panose="00000500000000000000" pitchFamily="2" charset="0"/>
                  <a:sym typeface="Nunito"/>
                </a:endParaRPr>
              </a:p>
              <a:p>
                <a:pPr marL="0" marR="0" lvl="0" indent="0" algn="r" rtl="0">
                  <a:lnSpc>
                    <a:spcPct val="115000"/>
                  </a:lnSpc>
                  <a:spcBef>
                    <a:spcPts val="0"/>
                  </a:spcBef>
                  <a:spcAft>
                    <a:spcPts val="0"/>
                  </a:spcAft>
                  <a:buClr>
                    <a:srgbClr val="000000"/>
                  </a:buClr>
                  <a:buSzPts val="1300"/>
                  <a:buFont typeface="Arial"/>
                  <a:buNone/>
                </a:pPr>
                <a:endParaRPr sz="600" b="0" i="0" u="none" strike="noStrike" cap="none">
                  <a:latin typeface="Poppins" panose="00000500000000000000" pitchFamily="2" charset="0"/>
                  <a:ea typeface="Nunito"/>
                  <a:cs typeface="Poppins" panose="00000500000000000000" pitchFamily="2" charset="0"/>
                  <a:sym typeface="Nunito"/>
                </a:endParaRPr>
              </a:p>
              <a:p>
                <a:pPr marL="0" marR="0" lvl="0" indent="0" algn="r" rtl="0">
                  <a:lnSpc>
                    <a:spcPct val="115000"/>
                  </a:lnSpc>
                  <a:spcBef>
                    <a:spcPts val="0"/>
                  </a:spcBef>
                  <a:spcAft>
                    <a:spcPts val="600"/>
                  </a:spcAft>
                  <a:buClr>
                    <a:srgbClr val="000000"/>
                  </a:buClr>
                  <a:buSzPts val="1300"/>
                  <a:buFont typeface="Arial"/>
                  <a:buNone/>
                </a:pPr>
                <a:r>
                  <a:rPr lang="en" sz="1200" b="0" i="0" u="none" strike="noStrike" cap="none">
                    <a:solidFill>
                      <a:schemeClr val="tx2">
                        <a:lumMod val="75000"/>
                      </a:schemeClr>
                    </a:solidFill>
                    <a:latin typeface="Poppins" panose="00000500000000000000" pitchFamily="2" charset="0"/>
                    <a:ea typeface="Nunito"/>
                    <a:cs typeface="Poppins" panose="00000500000000000000" pitchFamily="2" charset="0"/>
                    <a:sym typeface="Nunito"/>
                  </a:rPr>
                  <a:t>Optimization is about making data-driven decisions. </a:t>
                </a:r>
                <a:r>
                  <a:rPr lang="en" sz="1200">
                    <a:solidFill>
                      <a:schemeClr val="tx2">
                        <a:lumMod val="75000"/>
                      </a:schemeClr>
                    </a:solidFill>
                    <a:latin typeface="Poppins" panose="00000500000000000000" pitchFamily="2" charset="0"/>
                    <a:ea typeface="Nunito"/>
                    <a:cs typeface="Poppins" panose="00000500000000000000" pitchFamily="2" charset="0"/>
                    <a:sym typeface="Nunito"/>
                  </a:rPr>
                  <a:t>For example, monitoring </a:t>
                </a:r>
                <a:r>
                  <a:rPr lang="en" sz="1200" b="0" i="0" u="none" strike="noStrike" cap="none">
                    <a:solidFill>
                      <a:schemeClr val="tx2">
                        <a:lumMod val="75000"/>
                      </a:schemeClr>
                    </a:solidFill>
                    <a:latin typeface="Poppins" panose="00000500000000000000" pitchFamily="2" charset="0"/>
                    <a:ea typeface="Nunito"/>
                    <a:cs typeface="Poppins" panose="00000500000000000000" pitchFamily="2" charset="0"/>
                    <a:sym typeface="Nunito"/>
                  </a:rPr>
                  <a:t>web analytics to identify landing pages that are converting poorly &amp; then using heatmap data to analyze why.</a:t>
                </a:r>
                <a:endParaRPr sz="1200" b="0" i="0" u="none" strike="noStrike" cap="none">
                  <a:solidFill>
                    <a:schemeClr val="tx2">
                      <a:lumMod val="75000"/>
                    </a:schemeClr>
                  </a:solidFill>
                  <a:latin typeface="Poppins" panose="00000500000000000000" pitchFamily="2" charset="0"/>
                  <a:ea typeface="Nunito"/>
                  <a:cs typeface="Poppins" panose="00000500000000000000" pitchFamily="2" charset="0"/>
                  <a:sym typeface="Nunito"/>
                </a:endParaRPr>
              </a:p>
            </p:txBody>
          </p:sp>
        </p:grpSp>
        <p:grpSp>
          <p:nvGrpSpPr>
            <p:cNvPr id="5" name="Google Shape;419;p37">
              <a:extLst>
                <a:ext uri="{FF2B5EF4-FFF2-40B4-BE49-F238E27FC236}">
                  <a16:creationId xmlns:a16="http://schemas.microsoft.com/office/drawing/2014/main" id="{0394E0BE-CC34-5353-7FB7-BF0D62B4C279}"/>
                </a:ext>
              </a:extLst>
            </p:cNvPr>
            <p:cNvGrpSpPr/>
            <p:nvPr/>
          </p:nvGrpSpPr>
          <p:grpSpPr>
            <a:xfrm>
              <a:off x="671906" y="4072568"/>
              <a:ext cx="4369902" cy="1489965"/>
              <a:chOff x="503942" y="3159275"/>
              <a:chExt cx="3277508" cy="1117500"/>
            </a:xfrm>
          </p:grpSpPr>
          <p:cxnSp>
            <p:nvCxnSpPr>
              <p:cNvPr id="21" name="Google Shape;420;p37">
                <a:extLst>
                  <a:ext uri="{FF2B5EF4-FFF2-40B4-BE49-F238E27FC236}">
                    <a16:creationId xmlns:a16="http://schemas.microsoft.com/office/drawing/2014/main" id="{A0BA11CF-2737-0F5E-DCF0-9694660D60E8}"/>
                  </a:ext>
                </a:extLst>
              </p:cNvPr>
              <p:cNvCxnSpPr>
                <a:cxnSpLocks/>
              </p:cNvCxnSpPr>
              <p:nvPr/>
            </p:nvCxnSpPr>
            <p:spPr>
              <a:xfrm flipV="1">
                <a:off x="3198702" y="3214626"/>
                <a:ext cx="582748" cy="171451"/>
              </a:xfrm>
              <a:prstGeom prst="straightConnector1">
                <a:avLst/>
              </a:prstGeom>
              <a:noFill/>
              <a:ln w="19050" cap="flat" cmpd="sng">
                <a:solidFill>
                  <a:schemeClr val="accent6"/>
                </a:solidFill>
                <a:prstDash val="solid"/>
                <a:round/>
                <a:headEnd type="oval" w="med" len="med"/>
                <a:tailEnd type="none" w="sm" len="sm"/>
              </a:ln>
            </p:spPr>
          </p:cxnSp>
          <p:sp>
            <p:nvSpPr>
              <p:cNvPr id="22" name="Google Shape;421;p37">
                <a:extLst>
                  <a:ext uri="{FF2B5EF4-FFF2-40B4-BE49-F238E27FC236}">
                    <a16:creationId xmlns:a16="http://schemas.microsoft.com/office/drawing/2014/main" id="{6AF20322-3EBA-F060-7DA0-FD43FB031256}"/>
                  </a:ext>
                </a:extLst>
              </p:cNvPr>
              <p:cNvSpPr txBox="1"/>
              <p:nvPr/>
            </p:nvSpPr>
            <p:spPr>
              <a:xfrm>
                <a:off x="503942" y="3159275"/>
                <a:ext cx="2671500" cy="1117500"/>
              </a:xfrm>
              <a:prstGeom prst="rect">
                <a:avLst/>
              </a:prstGeom>
              <a:noFill/>
              <a:ln>
                <a:noFill/>
              </a:ln>
            </p:spPr>
            <p:txBody>
              <a:bodyPr spcFirstLastPara="1" wrap="square" lIns="121900" tIns="121900" rIns="121900" bIns="121900" anchor="t" anchorCtr="0">
                <a:noAutofit/>
              </a:bodyPr>
              <a:lstStyle/>
              <a:p>
                <a:pPr marL="0" marR="0" lvl="0" indent="0" algn="r" rtl="0">
                  <a:lnSpc>
                    <a:spcPct val="115000"/>
                  </a:lnSpc>
                  <a:spcBef>
                    <a:spcPts val="0"/>
                  </a:spcBef>
                  <a:spcAft>
                    <a:spcPts val="0"/>
                  </a:spcAft>
                  <a:buClr>
                    <a:srgbClr val="000000"/>
                  </a:buClr>
                  <a:buSzPts val="1900"/>
                  <a:buFont typeface="Arial"/>
                  <a:buNone/>
                </a:pPr>
                <a:r>
                  <a:rPr lang="en" sz="1900" b="0" i="0" u="none" strike="noStrike" cap="none">
                    <a:solidFill>
                      <a:srgbClr val="1A2E51"/>
                    </a:solidFill>
                    <a:latin typeface="Poppins" panose="00000500000000000000" pitchFamily="2" charset="0"/>
                    <a:ea typeface="Nunito Light"/>
                    <a:cs typeface="Poppins" panose="00000500000000000000" pitchFamily="2" charset="0"/>
                    <a:sym typeface="Nunito Light"/>
                  </a:rPr>
                  <a:t>ACTION</a:t>
                </a:r>
                <a:endParaRPr sz="1900" b="0" i="0" u="none" strike="noStrike" cap="none">
                  <a:solidFill>
                    <a:srgbClr val="1A2E51"/>
                  </a:solidFill>
                  <a:latin typeface="Poppins" panose="00000500000000000000" pitchFamily="2" charset="0"/>
                  <a:ea typeface="Nunito Light"/>
                  <a:cs typeface="Poppins" panose="00000500000000000000" pitchFamily="2" charset="0"/>
                  <a:sym typeface="Nunito Light"/>
                </a:endParaRPr>
              </a:p>
              <a:p>
                <a:pPr marL="0" marR="0" lvl="0" indent="0" algn="r" rtl="0">
                  <a:lnSpc>
                    <a:spcPct val="115000"/>
                  </a:lnSpc>
                  <a:spcBef>
                    <a:spcPts val="0"/>
                  </a:spcBef>
                  <a:spcAft>
                    <a:spcPts val="0"/>
                  </a:spcAft>
                  <a:buClr>
                    <a:srgbClr val="000000"/>
                  </a:buClr>
                  <a:buSzPts val="1300"/>
                  <a:buFont typeface="Arial"/>
                  <a:buNone/>
                </a:pPr>
                <a:endParaRPr sz="600" b="0" i="0" u="none" strike="noStrike" cap="none">
                  <a:latin typeface="Poppins" panose="00000500000000000000" pitchFamily="2" charset="0"/>
                  <a:ea typeface="Nunito Light"/>
                  <a:cs typeface="Poppins" panose="00000500000000000000" pitchFamily="2" charset="0"/>
                  <a:sym typeface="Nunito Light"/>
                </a:endParaRPr>
              </a:p>
              <a:p>
                <a:pPr marL="0" marR="0" lvl="0" indent="0" algn="r" rtl="0">
                  <a:lnSpc>
                    <a:spcPct val="115000"/>
                  </a:lnSpc>
                  <a:spcBef>
                    <a:spcPts val="0"/>
                  </a:spcBef>
                  <a:spcAft>
                    <a:spcPts val="0"/>
                  </a:spcAft>
                  <a:buClr>
                    <a:srgbClr val="000000"/>
                  </a:buClr>
                  <a:buSzPts val="1300"/>
                  <a:buFont typeface="Arial"/>
                  <a:buNone/>
                </a:pPr>
                <a:r>
                  <a:rPr lang="en" sz="1200" b="0" i="0" u="none" strike="noStrike" cap="none">
                    <a:solidFill>
                      <a:schemeClr val="tx2">
                        <a:lumMod val="75000"/>
                      </a:schemeClr>
                    </a:solidFill>
                    <a:latin typeface="Poppins" panose="00000500000000000000" pitchFamily="2" charset="0"/>
                    <a:ea typeface="Nunito Light"/>
                    <a:cs typeface="Poppins" panose="00000500000000000000" pitchFamily="2" charset="0"/>
                    <a:sym typeface="Nunito Light"/>
                  </a:rPr>
                  <a:t>If your test idea generated more conversions, make the update in your production site. And if not, do more research to understand why – then test again. </a:t>
                </a:r>
                <a:endParaRPr sz="1200" b="0" i="0" u="none" strike="noStrike" cap="none">
                  <a:solidFill>
                    <a:schemeClr val="tx2">
                      <a:lumMod val="75000"/>
                    </a:schemeClr>
                  </a:solidFill>
                  <a:latin typeface="Poppins" panose="00000500000000000000" pitchFamily="2" charset="0"/>
                  <a:ea typeface="Nunito Light"/>
                  <a:cs typeface="Poppins" panose="00000500000000000000" pitchFamily="2" charset="0"/>
                  <a:sym typeface="Nunito Light"/>
                </a:endParaRPr>
              </a:p>
            </p:txBody>
          </p:sp>
        </p:grpSp>
        <p:sp>
          <p:nvSpPr>
            <p:cNvPr id="6" name="Google Shape;422;p37">
              <a:extLst>
                <a:ext uri="{FF2B5EF4-FFF2-40B4-BE49-F238E27FC236}">
                  <a16:creationId xmlns:a16="http://schemas.microsoft.com/office/drawing/2014/main" id="{0B6788E4-9359-CEF1-E2B5-0EA7BC845543}"/>
                </a:ext>
              </a:extLst>
            </p:cNvPr>
            <p:cNvSpPr/>
            <p:nvPr/>
          </p:nvSpPr>
          <p:spPr>
            <a:xfrm rot="-1800095" flipH="1">
              <a:off x="4296035" y="1308872"/>
              <a:ext cx="3587828" cy="3587828"/>
            </a:xfrm>
            <a:prstGeom prst="blockArc">
              <a:avLst>
                <a:gd name="adj1" fmla="val 14348563"/>
                <a:gd name="adj2" fmla="val 19872341"/>
                <a:gd name="adj3" fmla="val 9100"/>
              </a:avLst>
            </a:prstGeom>
            <a:solidFill>
              <a:schemeClr val="accent1"/>
            </a:solidFill>
            <a:ln>
              <a:noFill/>
            </a:ln>
            <a:effectLst>
              <a:outerShdw blurRad="71438" dist="9525" dir="5400000" algn="bl" rotWithShape="0">
                <a:srgbClr val="000000">
                  <a:alpha val="40000"/>
                </a:srgbClr>
              </a:outerShdw>
              <a:reflection endPos="30000" dist="38100" dir="5400000" fadeDir="5400012" sy="-100000" algn="bl" rotWithShape="0"/>
            </a:effectLst>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Poppins" panose="00000500000000000000" pitchFamily="2" charset="0"/>
                <a:ea typeface="Arial"/>
                <a:cs typeface="Poppins" panose="00000500000000000000" pitchFamily="2" charset="0"/>
                <a:sym typeface="Arial"/>
              </a:endParaRPr>
            </a:p>
          </p:txBody>
        </p:sp>
        <p:grpSp>
          <p:nvGrpSpPr>
            <p:cNvPr id="7" name="Google Shape;423;p37">
              <a:extLst>
                <a:ext uri="{FF2B5EF4-FFF2-40B4-BE49-F238E27FC236}">
                  <a16:creationId xmlns:a16="http://schemas.microsoft.com/office/drawing/2014/main" id="{3F4E6948-1FD3-9C9F-A7F6-30A71480B21C}"/>
                </a:ext>
              </a:extLst>
            </p:cNvPr>
            <p:cNvGrpSpPr/>
            <p:nvPr/>
          </p:nvGrpSpPr>
          <p:grpSpPr>
            <a:xfrm>
              <a:off x="7124391" y="4063652"/>
              <a:ext cx="4701343" cy="1300770"/>
              <a:chOff x="5343425" y="3152585"/>
              <a:chExt cx="3526095" cy="975600"/>
            </a:xfrm>
          </p:grpSpPr>
          <p:cxnSp>
            <p:nvCxnSpPr>
              <p:cNvPr id="19" name="Google Shape;424;p37">
                <a:extLst>
                  <a:ext uri="{FF2B5EF4-FFF2-40B4-BE49-F238E27FC236}">
                    <a16:creationId xmlns:a16="http://schemas.microsoft.com/office/drawing/2014/main" id="{B4687E20-6DD1-1257-20F0-8A79162233F1}"/>
                  </a:ext>
                </a:extLst>
              </p:cNvPr>
              <p:cNvCxnSpPr>
                <a:cxnSpLocks/>
              </p:cNvCxnSpPr>
              <p:nvPr/>
            </p:nvCxnSpPr>
            <p:spPr>
              <a:xfrm flipH="1" flipV="1">
                <a:off x="5343425" y="3214625"/>
                <a:ext cx="601815" cy="171451"/>
              </a:xfrm>
              <a:prstGeom prst="straightConnector1">
                <a:avLst/>
              </a:prstGeom>
              <a:noFill/>
              <a:ln w="19050" cap="flat" cmpd="sng">
                <a:solidFill>
                  <a:schemeClr val="accent1"/>
                </a:solidFill>
                <a:prstDash val="solid"/>
                <a:round/>
                <a:headEnd type="oval" w="med" len="med"/>
                <a:tailEnd type="none" w="sm" len="sm"/>
              </a:ln>
            </p:spPr>
          </p:cxnSp>
          <p:sp>
            <p:nvSpPr>
              <p:cNvPr id="20" name="Google Shape;425;p37">
                <a:extLst>
                  <a:ext uri="{FF2B5EF4-FFF2-40B4-BE49-F238E27FC236}">
                    <a16:creationId xmlns:a16="http://schemas.microsoft.com/office/drawing/2014/main" id="{32F06059-12BE-D347-E38A-0FD736582C49}"/>
                  </a:ext>
                </a:extLst>
              </p:cNvPr>
              <p:cNvSpPr txBox="1"/>
              <p:nvPr/>
            </p:nvSpPr>
            <p:spPr>
              <a:xfrm>
                <a:off x="6044121" y="3152585"/>
                <a:ext cx="2825399" cy="975600"/>
              </a:xfrm>
              <a:prstGeom prst="rect">
                <a:avLst/>
              </a:prstGeom>
              <a:noFill/>
              <a:ln>
                <a:noFill/>
              </a:ln>
            </p:spPr>
            <p:txBody>
              <a:bodyPr spcFirstLastPara="1" wrap="square" lIns="121900" tIns="121900" rIns="121900" bIns="121900" anchor="t" anchorCtr="0">
                <a:noAutofit/>
              </a:bodyPr>
              <a:lstStyle/>
              <a:p>
                <a:pPr marL="0" marR="0" lvl="0" indent="0" algn="l" rtl="0">
                  <a:lnSpc>
                    <a:spcPct val="115000"/>
                  </a:lnSpc>
                  <a:spcBef>
                    <a:spcPts val="0"/>
                  </a:spcBef>
                  <a:spcAft>
                    <a:spcPts val="0"/>
                  </a:spcAft>
                  <a:buClr>
                    <a:srgbClr val="000000"/>
                  </a:buClr>
                  <a:buSzPts val="1900"/>
                  <a:buFont typeface="Arial"/>
                  <a:buNone/>
                </a:pPr>
                <a:r>
                  <a:rPr lang="en" sz="1900" b="0" i="0" u="none" strike="noStrike" cap="none">
                    <a:solidFill>
                      <a:srgbClr val="1A2E51"/>
                    </a:solidFill>
                    <a:latin typeface="Poppins" panose="00000500000000000000" pitchFamily="2" charset="0"/>
                    <a:ea typeface="Nunito Light"/>
                    <a:cs typeface="Poppins" panose="00000500000000000000" pitchFamily="2" charset="0"/>
                    <a:sym typeface="Nunito Light"/>
                  </a:rPr>
                  <a:t>EXPERIMENTATION</a:t>
                </a:r>
                <a:endParaRPr sz="1900" b="0" i="0" u="none" strike="noStrike" cap="none">
                  <a:solidFill>
                    <a:srgbClr val="1A2E51"/>
                  </a:solidFill>
                  <a:latin typeface="Poppins" panose="00000500000000000000" pitchFamily="2" charset="0"/>
                  <a:ea typeface="Nunito Light"/>
                  <a:cs typeface="Poppins" panose="00000500000000000000" pitchFamily="2" charset="0"/>
                  <a:sym typeface="Nunito Light"/>
                </a:endParaRPr>
              </a:p>
              <a:p>
                <a:pPr marL="0" marR="0" lvl="0" indent="0" algn="l" rtl="0">
                  <a:lnSpc>
                    <a:spcPct val="115000"/>
                  </a:lnSpc>
                  <a:spcBef>
                    <a:spcPts val="0"/>
                  </a:spcBef>
                  <a:spcAft>
                    <a:spcPts val="0"/>
                  </a:spcAft>
                  <a:buClr>
                    <a:srgbClr val="000000"/>
                  </a:buClr>
                  <a:buSzPts val="1300"/>
                  <a:buFont typeface="Arial"/>
                  <a:buNone/>
                </a:pPr>
                <a:endParaRPr sz="600" b="0" i="0" u="none" strike="noStrike" cap="none">
                  <a:latin typeface="Poppins" panose="00000500000000000000" pitchFamily="2" charset="0"/>
                  <a:ea typeface="Nunito Light"/>
                  <a:cs typeface="Poppins" panose="00000500000000000000" pitchFamily="2" charset="0"/>
                  <a:sym typeface="Nunito Light"/>
                </a:endParaRPr>
              </a:p>
              <a:p>
                <a:pPr marL="0" marR="0" lvl="0" indent="0" algn="l" rtl="0">
                  <a:lnSpc>
                    <a:spcPct val="115000"/>
                  </a:lnSpc>
                  <a:spcBef>
                    <a:spcPts val="0"/>
                  </a:spcBef>
                  <a:spcAft>
                    <a:spcPts val="0"/>
                  </a:spcAft>
                  <a:buClr>
                    <a:srgbClr val="000000"/>
                  </a:buClr>
                  <a:buSzPts val="1300"/>
                  <a:buFont typeface="Arial"/>
                  <a:buNone/>
                </a:pPr>
                <a:r>
                  <a:rPr lang="en" sz="1200" b="0" i="0" u="none" strike="noStrike" cap="none">
                    <a:solidFill>
                      <a:schemeClr val="tx2">
                        <a:lumMod val="75000"/>
                      </a:schemeClr>
                    </a:solidFill>
                    <a:latin typeface="Poppins" panose="00000500000000000000" pitchFamily="2" charset="0"/>
                    <a:ea typeface="Nunito Light"/>
                    <a:cs typeface="Poppins" panose="00000500000000000000" pitchFamily="2" charset="0"/>
                    <a:sym typeface="Nunito Light"/>
                  </a:rPr>
                  <a:t>Once test ideas have been vetted and approved, they can be built in a testing platform. The two asset versions can be compared in your real market, to see which gets the best conversion rate. </a:t>
                </a:r>
                <a:endParaRPr sz="1200" b="0" i="0" u="none" strike="noStrike" cap="none">
                  <a:solidFill>
                    <a:schemeClr val="tx2">
                      <a:lumMod val="75000"/>
                    </a:schemeClr>
                  </a:solidFill>
                  <a:latin typeface="Poppins" panose="00000500000000000000" pitchFamily="2" charset="0"/>
                  <a:ea typeface="Nunito Light"/>
                  <a:cs typeface="Poppins" panose="00000500000000000000" pitchFamily="2" charset="0"/>
                  <a:sym typeface="Nunito Light"/>
                </a:endParaRPr>
              </a:p>
            </p:txBody>
          </p:sp>
        </p:grpSp>
        <p:grpSp>
          <p:nvGrpSpPr>
            <p:cNvPr id="8" name="Google Shape;426;p37">
              <a:extLst>
                <a:ext uri="{FF2B5EF4-FFF2-40B4-BE49-F238E27FC236}">
                  <a16:creationId xmlns:a16="http://schemas.microsoft.com/office/drawing/2014/main" id="{7C81CC15-E21E-BB5A-BC0A-3931874898DB}"/>
                </a:ext>
              </a:extLst>
            </p:cNvPr>
            <p:cNvGrpSpPr/>
            <p:nvPr/>
          </p:nvGrpSpPr>
          <p:grpSpPr>
            <a:xfrm>
              <a:off x="7126192" y="1188299"/>
              <a:ext cx="4908645" cy="1300766"/>
              <a:chOff x="5344775" y="996025"/>
              <a:chExt cx="3681574" cy="975600"/>
            </a:xfrm>
          </p:grpSpPr>
          <p:cxnSp>
            <p:nvCxnSpPr>
              <p:cNvPr id="17" name="Google Shape;427;p37">
                <a:extLst>
                  <a:ext uri="{FF2B5EF4-FFF2-40B4-BE49-F238E27FC236}">
                    <a16:creationId xmlns:a16="http://schemas.microsoft.com/office/drawing/2014/main" id="{164673B1-575D-F21C-A9EA-BF2C22F81DF9}"/>
                  </a:ext>
                </a:extLst>
              </p:cNvPr>
              <p:cNvCxnSpPr>
                <a:cxnSpLocks/>
              </p:cNvCxnSpPr>
              <p:nvPr/>
            </p:nvCxnSpPr>
            <p:spPr>
              <a:xfrm flipH="1">
                <a:off x="5344775" y="1303350"/>
                <a:ext cx="784112" cy="350101"/>
              </a:xfrm>
              <a:prstGeom prst="straightConnector1">
                <a:avLst/>
              </a:prstGeom>
              <a:noFill/>
              <a:ln w="19050" cap="flat" cmpd="sng">
                <a:solidFill>
                  <a:schemeClr val="accent6"/>
                </a:solidFill>
                <a:prstDash val="solid"/>
                <a:round/>
                <a:headEnd type="oval" w="med" len="med"/>
                <a:tailEnd type="none" w="sm" len="sm"/>
              </a:ln>
            </p:spPr>
          </p:cxnSp>
          <p:sp>
            <p:nvSpPr>
              <p:cNvPr id="18" name="Google Shape;428;p37">
                <a:extLst>
                  <a:ext uri="{FF2B5EF4-FFF2-40B4-BE49-F238E27FC236}">
                    <a16:creationId xmlns:a16="http://schemas.microsoft.com/office/drawing/2014/main" id="{59633AA8-6812-6DD2-5D63-428B4057470C}"/>
                  </a:ext>
                </a:extLst>
              </p:cNvPr>
              <p:cNvSpPr txBox="1"/>
              <p:nvPr/>
            </p:nvSpPr>
            <p:spPr>
              <a:xfrm>
                <a:off x="6131075" y="996025"/>
                <a:ext cx="2895274" cy="975600"/>
              </a:xfrm>
              <a:prstGeom prst="rect">
                <a:avLst/>
              </a:prstGeom>
              <a:noFill/>
              <a:ln>
                <a:noFill/>
              </a:ln>
            </p:spPr>
            <p:txBody>
              <a:bodyPr spcFirstLastPara="1" wrap="square" lIns="121900" tIns="121900" rIns="121900" bIns="121900" anchor="t" anchorCtr="0">
                <a:noAutofit/>
              </a:bodyPr>
              <a:lstStyle/>
              <a:p>
                <a:pPr marL="0" marR="0" lvl="0" indent="0" algn="l" rtl="0">
                  <a:lnSpc>
                    <a:spcPct val="115000"/>
                  </a:lnSpc>
                  <a:spcBef>
                    <a:spcPts val="0"/>
                  </a:spcBef>
                  <a:spcAft>
                    <a:spcPts val="0"/>
                  </a:spcAft>
                  <a:buClr>
                    <a:srgbClr val="000000"/>
                  </a:buClr>
                  <a:buSzPts val="1900"/>
                  <a:buFont typeface="Arial"/>
                  <a:buNone/>
                </a:pPr>
                <a:r>
                  <a:rPr lang="en" sz="1900" b="0" i="0" u="none" strike="noStrike" cap="none">
                    <a:solidFill>
                      <a:srgbClr val="1A2E51"/>
                    </a:solidFill>
                    <a:latin typeface="Poppins" panose="00000500000000000000" pitchFamily="2" charset="0"/>
                    <a:ea typeface="Nunito Light"/>
                    <a:cs typeface="Poppins" panose="00000500000000000000" pitchFamily="2" charset="0"/>
                    <a:sym typeface="Nunito Light"/>
                  </a:rPr>
                  <a:t>IDEATION</a:t>
                </a:r>
                <a:endParaRPr sz="1900" b="0" i="0" u="none" strike="noStrike" cap="none">
                  <a:solidFill>
                    <a:srgbClr val="1A2E51"/>
                  </a:solidFill>
                  <a:latin typeface="Poppins" panose="00000500000000000000" pitchFamily="2" charset="0"/>
                  <a:ea typeface="Nunito Light"/>
                  <a:cs typeface="Poppins" panose="00000500000000000000" pitchFamily="2" charset="0"/>
                  <a:sym typeface="Nunito Light"/>
                </a:endParaRPr>
              </a:p>
              <a:p>
                <a:pPr marL="0" marR="0" lvl="0" indent="0" algn="l" rtl="0">
                  <a:lnSpc>
                    <a:spcPct val="115000"/>
                  </a:lnSpc>
                  <a:spcBef>
                    <a:spcPts val="0"/>
                  </a:spcBef>
                  <a:spcAft>
                    <a:spcPts val="0"/>
                  </a:spcAft>
                  <a:buClr>
                    <a:srgbClr val="000000"/>
                  </a:buClr>
                  <a:buSzPts val="1300"/>
                  <a:buFont typeface="Arial"/>
                  <a:buNone/>
                </a:pPr>
                <a:endParaRPr sz="600" b="0" i="0" u="none" strike="noStrike" cap="none">
                  <a:latin typeface="Poppins" panose="00000500000000000000" pitchFamily="2" charset="0"/>
                  <a:ea typeface="Nunito Light"/>
                  <a:cs typeface="Poppins" panose="00000500000000000000" pitchFamily="2" charset="0"/>
                  <a:sym typeface="Nunito Light"/>
                </a:endParaRPr>
              </a:p>
              <a:p>
                <a:pPr marL="0" marR="0" lvl="0" indent="0" algn="l" rtl="0">
                  <a:lnSpc>
                    <a:spcPct val="115000"/>
                  </a:lnSpc>
                  <a:spcBef>
                    <a:spcPts val="0"/>
                  </a:spcBef>
                  <a:spcAft>
                    <a:spcPts val="0"/>
                  </a:spcAft>
                  <a:buClr>
                    <a:srgbClr val="000000"/>
                  </a:buClr>
                  <a:buSzPts val="1300"/>
                  <a:buFont typeface="Arial"/>
                  <a:buNone/>
                </a:pPr>
                <a:r>
                  <a:rPr lang="en" sz="1200" b="0" i="0" u="none" strike="noStrike" cap="none">
                    <a:solidFill>
                      <a:schemeClr val="tx2">
                        <a:lumMod val="75000"/>
                      </a:schemeClr>
                    </a:solidFill>
                    <a:latin typeface="Poppins" panose="00000500000000000000" pitchFamily="2" charset="0"/>
                    <a:ea typeface="Nunito Light"/>
                    <a:cs typeface="Poppins" panose="00000500000000000000" pitchFamily="2" charset="0"/>
                    <a:sym typeface="Nunito Light"/>
                  </a:rPr>
                  <a:t>Ideation requires sufficient knowledge (e.g. data) to understand why your desired engagement &amp; conversion actions aren’t taking place. From there, ideas for getting more visitors to take these actions can be generated. Often, the category landscape is assessed to find inspiration.</a:t>
                </a:r>
                <a:endParaRPr sz="1200" b="0" i="0" u="none" strike="noStrike" cap="none">
                  <a:solidFill>
                    <a:schemeClr val="tx2">
                      <a:lumMod val="75000"/>
                    </a:schemeClr>
                  </a:solidFill>
                  <a:latin typeface="Poppins" panose="00000500000000000000" pitchFamily="2" charset="0"/>
                  <a:ea typeface="Nunito Light"/>
                  <a:cs typeface="Poppins" panose="00000500000000000000" pitchFamily="2" charset="0"/>
                  <a:sym typeface="Nunito Light"/>
                </a:endParaRPr>
              </a:p>
            </p:txBody>
          </p:sp>
        </p:grpSp>
        <p:sp>
          <p:nvSpPr>
            <p:cNvPr id="9" name="Google Shape;429;p37">
              <a:extLst>
                <a:ext uri="{FF2B5EF4-FFF2-40B4-BE49-F238E27FC236}">
                  <a16:creationId xmlns:a16="http://schemas.microsoft.com/office/drawing/2014/main" id="{BD60CC74-8BCE-C176-C69B-9AC65E64E209}"/>
                </a:ext>
              </a:extLst>
            </p:cNvPr>
            <p:cNvSpPr txBox="1"/>
            <p:nvPr/>
          </p:nvSpPr>
          <p:spPr>
            <a:xfrm>
              <a:off x="5127712" y="2602247"/>
              <a:ext cx="1924800" cy="1072500"/>
            </a:xfrm>
            <a:prstGeom prst="rect">
              <a:avLst/>
            </a:prstGeom>
            <a:noFill/>
            <a:ln>
              <a:noFill/>
            </a:ln>
          </p:spPr>
          <p:txBody>
            <a:bodyPr spcFirstLastPara="1" wrap="square" lIns="121900" tIns="121900" rIns="121900" bIns="121900" anchor="ctr" anchorCtr="0">
              <a:noAutofit/>
            </a:bodyPr>
            <a:lstStyle/>
            <a:p>
              <a:pPr marL="0" marR="0" lvl="0" indent="0" algn="ctr" rtl="0">
                <a:lnSpc>
                  <a:spcPct val="115000"/>
                </a:lnSpc>
                <a:spcBef>
                  <a:spcPts val="0"/>
                </a:spcBef>
                <a:spcAft>
                  <a:spcPts val="0"/>
                </a:spcAft>
                <a:buClr>
                  <a:srgbClr val="000000"/>
                </a:buClr>
                <a:buSzPts val="1600"/>
                <a:buFont typeface="Arial"/>
                <a:buNone/>
              </a:pPr>
              <a:r>
                <a:rPr lang="en" sz="1600" b="0" i="0" u="none" strike="noStrike" cap="none">
                  <a:solidFill>
                    <a:srgbClr val="020202"/>
                  </a:solidFill>
                  <a:latin typeface="Poppins" panose="00000500000000000000" pitchFamily="2" charset="0"/>
                  <a:ea typeface="Nunito SemiBold"/>
                  <a:cs typeface="Poppins" panose="00000500000000000000" pitchFamily="2" charset="0"/>
                  <a:sym typeface="Nunito SemiBold"/>
                </a:rPr>
                <a:t>Optimization Process Flow</a:t>
              </a:r>
              <a:endParaRPr sz="1600" b="0" i="0" u="none" strike="noStrike" cap="none">
                <a:solidFill>
                  <a:srgbClr val="000000"/>
                </a:solidFill>
                <a:latin typeface="Poppins" panose="00000500000000000000" pitchFamily="2" charset="0"/>
                <a:ea typeface="Nunito SemiBold"/>
                <a:cs typeface="Poppins" panose="00000500000000000000" pitchFamily="2" charset="0"/>
                <a:sym typeface="Nunito SemiBold"/>
              </a:endParaRPr>
            </a:p>
          </p:txBody>
        </p:sp>
        <p:sp>
          <p:nvSpPr>
            <p:cNvPr id="10" name="Google Shape;430;p37">
              <a:extLst>
                <a:ext uri="{FF2B5EF4-FFF2-40B4-BE49-F238E27FC236}">
                  <a16:creationId xmlns:a16="http://schemas.microsoft.com/office/drawing/2014/main" id="{B2C87A86-8A73-29CD-F4B7-980E4810AE8A}"/>
                </a:ext>
              </a:extLst>
            </p:cNvPr>
            <p:cNvSpPr/>
            <p:nvPr/>
          </p:nvSpPr>
          <p:spPr>
            <a:xfrm rot="1800095">
              <a:off x="4293117" y="1308872"/>
              <a:ext cx="3587828" cy="3587828"/>
            </a:xfrm>
            <a:prstGeom prst="blockArc">
              <a:avLst>
                <a:gd name="adj1" fmla="val 14545937"/>
                <a:gd name="adj2" fmla="val 19902139"/>
                <a:gd name="adj3" fmla="val 9115"/>
              </a:avLst>
            </a:prstGeom>
            <a:solidFill>
              <a:schemeClr val="accent6"/>
            </a:solidFill>
            <a:ln>
              <a:solidFill>
                <a:schemeClr val="accent6"/>
              </a:solidFill>
            </a:ln>
            <a:effectLst>
              <a:outerShdw blurRad="71438" dist="9525" dir="5400000" algn="bl" rotWithShape="0">
                <a:srgbClr val="000000">
                  <a:alpha val="40000"/>
                </a:srgbClr>
              </a:outerShdw>
            </a:effectLst>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Poppins" panose="00000500000000000000" pitchFamily="2" charset="0"/>
                <a:ea typeface="Arial"/>
                <a:cs typeface="Poppins" panose="00000500000000000000" pitchFamily="2" charset="0"/>
                <a:sym typeface="Arial"/>
              </a:endParaRPr>
            </a:p>
          </p:txBody>
        </p:sp>
        <p:sp>
          <p:nvSpPr>
            <p:cNvPr id="11" name="Google Shape;431;p37">
              <a:extLst>
                <a:ext uri="{FF2B5EF4-FFF2-40B4-BE49-F238E27FC236}">
                  <a16:creationId xmlns:a16="http://schemas.microsoft.com/office/drawing/2014/main" id="{B370829C-9685-0F13-BC0D-AB195E596B0D}"/>
                </a:ext>
              </a:extLst>
            </p:cNvPr>
            <p:cNvSpPr/>
            <p:nvPr/>
          </p:nvSpPr>
          <p:spPr>
            <a:xfrm rot="9000757">
              <a:off x="4285285" y="1308327"/>
              <a:ext cx="3586968" cy="3586968"/>
            </a:xfrm>
            <a:prstGeom prst="blockArc">
              <a:avLst>
                <a:gd name="adj1" fmla="val 18041678"/>
                <a:gd name="adj2" fmla="val 1798478"/>
                <a:gd name="adj3" fmla="val 9595"/>
              </a:avLst>
            </a:prstGeom>
            <a:solidFill>
              <a:schemeClr val="accent6"/>
            </a:solidFill>
            <a:ln>
              <a:solidFill>
                <a:schemeClr val="accent6"/>
              </a:solidFill>
            </a:ln>
            <a:effectLst>
              <a:outerShdw blurRad="71438" dist="9525" algn="bl" rotWithShape="0">
                <a:srgbClr val="000000">
                  <a:alpha val="40000"/>
                </a:srgbClr>
              </a:outerShdw>
            </a:effectLst>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Poppins" panose="00000500000000000000" pitchFamily="2" charset="0"/>
                <a:ea typeface="Arial"/>
                <a:cs typeface="Poppins" panose="00000500000000000000" pitchFamily="2" charset="0"/>
                <a:sym typeface="Arial"/>
              </a:endParaRPr>
            </a:p>
          </p:txBody>
        </p:sp>
        <p:sp>
          <p:nvSpPr>
            <p:cNvPr id="12" name="Google Shape;432;p37">
              <a:extLst>
                <a:ext uri="{FF2B5EF4-FFF2-40B4-BE49-F238E27FC236}">
                  <a16:creationId xmlns:a16="http://schemas.microsoft.com/office/drawing/2014/main" id="{595EFDA3-23BE-5740-7319-E526C145DDDA}"/>
                </a:ext>
              </a:extLst>
            </p:cNvPr>
            <p:cNvSpPr/>
            <p:nvPr/>
          </p:nvSpPr>
          <p:spPr>
            <a:xfrm rot="-9000757" flipH="1">
              <a:off x="4295512" y="1309327"/>
              <a:ext cx="3586968" cy="3586968"/>
            </a:xfrm>
            <a:prstGeom prst="blockArc">
              <a:avLst>
                <a:gd name="adj1" fmla="val 17967225"/>
                <a:gd name="adj2" fmla="val 1529547"/>
                <a:gd name="adj3" fmla="val 9279"/>
              </a:avLst>
            </a:prstGeom>
            <a:solidFill>
              <a:schemeClr val="accent1"/>
            </a:solidFill>
            <a:ln>
              <a:noFill/>
            </a:ln>
            <a:effectLst>
              <a:outerShdw blurRad="71438" dist="9525" dir="5400000" algn="bl" rotWithShape="0">
                <a:srgbClr val="000000">
                  <a:alpha val="40000"/>
                </a:srgbClr>
              </a:outerShdw>
            </a:effectLst>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Poppins" panose="00000500000000000000" pitchFamily="2" charset="0"/>
                <a:ea typeface="Arial"/>
                <a:cs typeface="Poppins" panose="00000500000000000000" pitchFamily="2" charset="0"/>
                <a:sym typeface="Arial"/>
              </a:endParaRPr>
            </a:p>
          </p:txBody>
        </p:sp>
        <p:sp>
          <p:nvSpPr>
            <p:cNvPr id="13" name="Google Shape;433;p37">
              <a:extLst>
                <a:ext uri="{FF2B5EF4-FFF2-40B4-BE49-F238E27FC236}">
                  <a16:creationId xmlns:a16="http://schemas.microsoft.com/office/drawing/2014/main" id="{31237877-F0AA-DD8E-6250-CD94C30EEBA8}"/>
                </a:ext>
              </a:extLst>
            </p:cNvPr>
            <p:cNvSpPr/>
            <p:nvPr/>
          </p:nvSpPr>
          <p:spPr>
            <a:xfrm rot="8100000">
              <a:off x="4221663" y="2870304"/>
              <a:ext cx="484085" cy="484085"/>
            </a:xfrm>
            <a:prstGeom prst="rtTriangle">
              <a:avLst/>
            </a:prstGeom>
            <a:solidFill>
              <a:schemeClr val="accent6"/>
            </a:solidFill>
            <a:ln>
              <a:solidFill>
                <a:schemeClr val="accent6"/>
              </a:solid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Poppins" panose="00000500000000000000" pitchFamily="2" charset="0"/>
                <a:ea typeface="Arial"/>
                <a:cs typeface="Poppins" panose="00000500000000000000" pitchFamily="2" charset="0"/>
                <a:sym typeface="Arial"/>
              </a:endParaRPr>
            </a:p>
          </p:txBody>
        </p:sp>
        <p:sp>
          <p:nvSpPr>
            <p:cNvPr id="14" name="Google Shape;434;p37">
              <a:extLst>
                <a:ext uri="{FF2B5EF4-FFF2-40B4-BE49-F238E27FC236}">
                  <a16:creationId xmlns:a16="http://schemas.microsoft.com/office/drawing/2014/main" id="{CF96FFBF-E35D-A533-02A1-A20D43143B55}"/>
                </a:ext>
              </a:extLst>
            </p:cNvPr>
            <p:cNvSpPr/>
            <p:nvPr/>
          </p:nvSpPr>
          <p:spPr>
            <a:xfrm rot="-2700000">
              <a:off x="7464808" y="2860755"/>
              <a:ext cx="484085" cy="484085"/>
            </a:xfrm>
            <a:prstGeom prst="rtTriangle">
              <a:avLst/>
            </a:prstGeom>
            <a:solidFill>
              <a:schemeClr val="accent6"/>
            </a:solidFill>
            <a:ln>
              <a:solidFill>
                <a:schemeClr val="accent6"/>
              </a:solid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Poppins" panose="00000500000000000000" pitchFamily="2" charset="0"/>
                <a:ea typeface="Arial"/>
                <a:cs typeface="Poppins" panose="00000500000000000000" pitchFamily="2" charset="0"/>
                <a:sym typeface="Arial"/>
              </a:endParaRPr>
            </a:p>
          </p:txBody>
        </p:sp>
        <p:sp>
          <p:nvSpPr>
            <p:cNvPr id="15" name="Google Shape;435;p37">
              <a:extLst>
                <a:ext uri="{FF2B5EF4-FFF2-40B4-BE49-F238E27FC236}">
                  <a16:creationId xmlns:a16="http://schemas.microsoft.com/office/drawing/2014/main" id="{35A75208-7078-E6C3-E695-E1170B640B1C}"/>
                </a:ext>
              </a:extLst>
            </p:cNvPr>
            <p:cNvSpPr/>
            <p:nvPr/>
          </p:nvSpPr>
          <p:spPr>
            <a:xfrm rot="2700000">
              <a:off x="5842768" y="4477685"/>
              <a:ext cx="484085" cy="484085"/>
            </a:xfrm>
            <a:prstGeom prst="rtTriangle">
              <a:avLst/>
            </a:prstGeom>
            <a:solidFill>
              <a:schemeClr val="accent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Poppins" panose="00000500000000000000" pitchFamily="2" charset="0"/>
                <a:ea typeface="Arial"/>
                <a:cs typeface="Poppins" panose="00000500000000000000" pitchFamily="2" charset="0"/>
                <a:sym typeface="Arial"/>
              </a:endParaRPr>
            </a:p>
          </p:txBody>
        </p:sp>
        <p:sp>
          <p:nvSpPr>
            <p:cNvPr id="16" name="Google Shape;436;p37">
              <a:extLst>
                <a:ext uri="{FF2B5EF4-FFF2-40B4-BE49-F238E27FC236}">
                  <a16:creationId xmlns:a16="http://schemas.microsoft.com/office/drawing/2014/main" id="{31870CEB-B6AA-83AF-AFB7-351D70AC2952}"/>
                </a:ext>
              </a:extLst>
            </p:cNvPr>
            <p:cNvSpPr/>
            <p:nvPr/>
          </p:nvSpPr>
          <p:spPr>
            <a:xfrm rot="-8100000">
              <a:off x="5843691" y="1230328"/>
              <a:ext cx="484085" cy="484085"/>
            </a:xfrm>
            <a:prstGeom prst="rtTriangle">
              <a:avLst/>
            </a:prstGeom>
            <a:solidFill>
              <a:schemeClr val="accent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Poppins" panose="00000500000000000000" pitchFamily="2" charset="0"/>
                <a:ea typeface="Arial"/>
                <a:cs typeface="Poppins" panose="00000500000000000000" pitchFamily="2" charset="0"/>
                <a:sym typeface="Arial"/>
              </a:endParaRPr>
            </a:p>
          </p:txBody>
        </p:sp>
      </p:grpSp>
      <p:sp>
        <p:nvSpPr>
          <p:cNvPr id="29" name="Rectangle 28">
            <a:extLst>
              <a:ext uri="{FF2B5EF4-FFF2-40B4-BE49-F238E27FC236}">
                <a16:creationId xmlns:a16="http://schemas.microsoft.com/office/drawing/2014/main" id="{399667DE-E257-2A2B-3917-00A5B32EC705}"/>
              </a:ext>
            </a:extLst>
          </p:cNvPr>
          <p:cNvSpPr/>
          <p:nvPr/>
        </p:nvSpPr>
        <p:spPr>
          <a:xfrm flipV="1">
            <a:off x="-16626" y="0"/>
            <a:ext cx="12191998" cy="1331619"/>
          </a:xfrm>
          <a:prstGeom prst="rect">
            <a:avLst/>
          </a:prstGeom>
          <a:solidFill>
            <a:srgbClr val="6699CC">
              <a:alpha val="1294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76F43C37-BCBC-3896-F3F6-C69E112F7EF4}"/>
              </a:ext>
            </a:extLst>
          </p:cNvPr>
          <p:cNvSpPr txBox="1"/>
          <p:nvPr/>
        </p:nvSpPr>
        <p:spPr>
          <a:xfrm>
            <a:off x="885079" y="476586"/>
            <a:ext cx="7981244" cy="523220"/>
          </a:xfrm>
          <a:prstGeom prst="rect">
            <a:avLst/>
          </a:prstGeom>
          <a:noFill/>
        </p:spPr>
        <p:txBody>
          <a:bodyPr wrap="square" lIns="0">
            <a:spAutoFit/>
          </a:bodyPr>
          <a:lstStyle/>
          <a:p>
            <a:pPr>
              <a:spcAft>
                <a:spcPts val="200"/>
              </a:spcAft>
            </a:pPr>
            <a:r>
              <a:rPr lang="en-US" sz="2800">
                <a:solidFill>
                  <a:srgbClr val="1A2E51"/>
                </a:solidFill>
                <a:latin typeface="Poppins SemiBold" pitchFamily="2" charset="77"/>
                <a:ea typeface="+mj-ea"/>
                <a:cs typeface="+mj-cs"/>
              </a:rPr>
              <a:t>How Does It Work?</a:t>
            </a:r>
          </a:p>
        </p:txBody>
      </p:sp>
      <p:sp>
        <p:nvSpPr>
          <p:cNvPr id="31" name="TextBox 30">
            <a:extLst>
              <a:ext uri="{FF2B5EF4-FFF2-40B4-BE49-F238E27FC236}">
                <a16:creationId xmlns:a16="http://schemas.microsoft.com/office/drawing/2014/main" id="{CB03A389-D6F9-46A0-DD3F-9361F2C3B980}"/>
              </a:ext>
            </a:extLst>
          </p:cNvPr>
          <p:cNvSpPr txBox="1"/>
          <p:nvPr/>
        </p:nvSpPr>
        <p:spPr>
          <a:xfrm>
            <a:off x="918945" y="224229"/>
            <a:ext cx="7981244" cy="307777"/>
          </a:xfrm>
          <a:prstGeom prst="rect">
            <a:avLst/>
          </a:prstGeom>
          <a:noFill/>
        </p:spPr>
        <p:txBody>
          <a:bodyPr wrap="square" lIns="0">
            <a:spAutoFit/>
          </a:bodyPr>
          <a:lstStyle/>
          <a:p>
            <a:pPr>
              <a:spcAft>
                <a:spcPts val="200"/>
              </a:spcAft>
            </a:pPr>
            <a:r>
              <a:rPr lang="en-US" sz="1400">
                <a:solidFill>
                  <a:srgbClr val="1A2E51"/>
                </a:solidFill>
                <a:latin typeface="Poppins SemiBold" pitchFamily="2" charset="77"/>
                <a:ea typeface="+mj-ea"/>
                <a:cs typeface="+mj-cs"/>
              </a:rPr>
              <a:t>CRO Team</a:t>
            </a:r>
            <a:endParaRPr lang="en-US" sz="1400">
              <a:solidFill>
                <a:srgbClr val="1A2E51"/>
              </a:solidFill>
            </a:endParaRPr>
          </a:p>
        </p:txBody>
      </p:sp>
    </p:spTree>
    <p:extLst>
      <p:ext uri="{BB962C8B-B14F-4D97-AF65-F5344CB8AC3E}">
        <p14:creationId xmlns:p14="http://schemas.microsoft.com/office/powerpoint/2010/main" val="24139340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Rectangle 84">
            <a:extLst>
              <a:ext uri="{FF2B5EF4-FFF2-40B4-BE49-F238E27FC236}">
                <a16:creationId xmlns:a16="http://schemas.microsoft.com/office/drawing/2014/main" id="{FCFC13CC-E538-1DE2-B9F3-34FEDA3B2B05}"/>
              </a:ext>
            </a:extLst>
          </p:cNvPr>
          <p:cNvSpPr/>
          <p:nvPr/>
        </p:nvSpPr>
        <p:spPr>
          <a:xfrm>
            <a:off x="-16626" y="6420726"/>
            <a:ext cx="12208625" cy="486041"/>
          </a:xfrm>
          <a:prstGeom prst="rect">
            <a:avLst/>
          </a:prstGeom>
          <a:solidFill>
            <a:srgbClr val="0100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6" name="Picture 85">
            <a:extLst>
              <a:ext uri="{FF2B5EF4-FFF2-40B4-BE49-F238E27FC236}">
                <a16:creationId xmlns:a16="http://schemas.microsoft.com/office/drawing/2014/main" id="{13BB38F0-C95D-7B7F-476A-7A82F8F144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43815" y="6576506"/>
            <a:ext cx="1401689" cy="174481"/>
          </a:xfrm>
          <a:prstGeom prst="rect">
            <a:avLst/>
          </a:prstGeom>
          <a:noFill/>
          <a:extLst>
            <a:ext uri="{909E8E84-426E-40DD-AFC4-6F175D3DCCD1}">
              <a14:hiddenFill xmlns:a14="http://schemas.microsoft.com/office/drawing/2010/main">
                <a:solidFill>
                  <a:srgbClr val="FFFFFF"/>
                </a:solidFill>
              </a14:hiddenFill>
            </a:ext>
          </a:extLst>
        </p:spPr>
      </p:pic>
      <p:sp>
        <p:nvSpPr>
          <p:cNvPr id="87" name="TextBox 86">
            <a:extLst>
              <a:ext uri="{FF2B5EF4-FFF2-40B4-BE49-F238E27FC236}">
                <a16:creationId xmlns:a16="http://schemas.microsoft.com/office/drawing/2014/main" id="{7EC8E12D-52D2-C4A1-6B04-9031FBFF5B11}"/>
              </a:ext>
            </a:extLst>
          </p:cNvPr>
          <p:cNvSpPr txBox="1"/>
          <p:nvPr/>
        </p:nvSpPr>
        <p:spPr>
          <a:xfrm>
            <a:off x="78859" y="6536788"/>
            <a:ext cx="4239255" cy="253916"/>
          </a:xfrm>
          <a:prstGeom prst="rect">
            <a:avLst/>
          </a:prstGeom>
          <a:noFill/>
        </p:spPr>
        <p:txBody>
          <a:bodyPr wrap="square">
            <a:spAutoFit/>
          </a:bodyPr>
          <a:lstStyle/>
          <a:p>
            <a:r>
              <a:rPr lang="en-US" sz="1050" b="0" i="0" u="none" strike="noStrike">
                <a:solidFill>
                  <a:schemeClr val="bg1">
                    <a:lumMod val="75000"/>
                  </a:schemeClr>
                </a:solidFill>
                <a:effectLst/>
                <a:latin typeface="Poppins" pitchFamily="2" charset="77"/>
              </a:rPr>
              <a:t>© 2023 Horizon Media – Confidential &amp; Proprietary</a:t>
            </a:r>
            <a:r>
              <a:rPr lang="en-US" sz="1050" b="0" i="0">
                <a:solidFill>
                  <a:schemeClr val="bg1">
                    <a:lumMod val="75000"/>
                  </a:schemeClr>
                </a:solidFill>
                <a:effectLst/>
                <a:latin typeface="Poppins" pitchFamily="2" charset="77"/>
              </a:rPr>
              <a:t>​</a:t>
            </a:r>
            <a:endParaRPr lang="en-US" sz="1050">
              <a:solidFill>
                <a:schemeClr val="bg1">
                  <a:lumMod val="75000"/>
                </a:schemeClr>
              </a:solidFill>
            </a:endParaRPr>
          </a:p>
        </p:txBody>
      </p:sp>
      <p:sp>
        <p:nvSpPr>
          <p:cNvPr id="50" name="Rectangle 49">
            <a:extLst>
              <a:ext uri="{FF2B5EF4-FFF2-40B4-BE49-F238E27FC236}">
                <a16:creationId xmlns:a16="http://schemas.microsoft.com/office/drawing/2014/main" id="{99FA5158-1764-537A-90BC-CCE19EC41D3F}"/>
              </a:ext>
            </a:extLst>
          </p:cNvPr>
          <p:cNvSpPr/>
          <p:nvPr/>
        </p:nvSpPr>
        <p:spPr>
          <a:xfrm flipV="1">
            <a:off x="-16626" y="0"/>
            <a:ext cx="12191998" cy="1331619"/>
          </a:xfrm>
          <a:prstGeom prst="rect">
            <a:avLst/>
          </a:prstGeom>
          <a:solidFill>
            <a:srgbClr val="6699CC">
              <a:alpha val="1294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73165088-95D9-0886-1B5B-FB4820C3A300}"/>
              </a:ext>
            </a:extLst>
          </p:cNvPr>
          <p:cNvSpPr/>
          <p:nvPr/>
        </p:nvSpPr>
        <p:spPr>
          <a:xfrm>
            <a:off x="885079" y="944385"/>
            <a:ext cx="1063653" cy="56954"/>
          </a:xfrm>
          <a:prstGeom prst="rect">
            <a:avLst/>
          </a:prstGeom>
          <a:solidFill>
            <a:srgbClr val="1A2E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1A2E51"/>
              </a:solidFill>
              <a:latin typeface="Arial" panose="020B0604020202020204" pitchFamily="34" charset="0"/>
            </a:endParaRPr>
          </a:p>
        </p:txBody>
      </p:sp>
      <p:sp>
        <p:nvSpPr>
          <p:cNvPr id="52" name="TextBox 51">
            <a:extLst>
              <a:ext uri="{FF2B5EF4-FFF2-40B4-BE49-F238E27FC236}">
                <a16:creationId xmlns:a16="http://schemas.microsoft.com/office/drawing/2014/main" id="{AAA5F3F3-E2CB-BE31-83D9-604EA7F41B55}"/>
              </a:ext>
            </a:extLst>
          </p:cNvPr>
          <p:cNvSpPr txBox="1"/>
          <p:nvPr/>
        </p:nvSpPr>
        <p:spPr>
          <a:xfrm>
            <a:off x="885079" y="476586"/>
            <a:ext cx="7981244" cy="523220"/>
          </a:xfrm>
          <a:prstGeom prst="rect">
            <a:avLst/>
          </a:prstGeom>
          <a:noFill/>
        </p:spPr>
        <p:txBody>
          <a:bodyPr wrap="square" lIns="0">
            <a:spAutoFit/>
          </a:bodyPr>
          <a:lstStyle/>
          <a:p>
            <a:pPr>
              <a:spcAft>
                <a:spcPts val="200"/>
              </a:spcAft>
            </a:pPr>
            <a:r>
              <a:rPr lang="en-US" sz="2800">
                <a:solidFill>
                  <a:srgbClr val="1A2E51"/>
                </a:solidFill>
                <a:latin typeface="Poppins SemiBold" pitchFamily="2" charset="77"/>
                <a:ea typeface="+mj-ea"/>
                <a:cs typeface="+mj-cs"/>
              </a:rPr>
              <a:t>Services</a:t>
            </a:r>
          </a:p>
        </p:txBody>
      </p:sp>
      <p:sp>
        <p:nvSpPr>
          <p:cNvPr id="53" name="TextBox 52">
            <a:extLst>
              <a:ext uri="{FF2B5EF4-FFF2-40B4-BE49-F238E27FC236}">
                <a16:creationId xmlns:a16="http://schemas.microsoft.com/office/drawing/2014/main" id="{F5F55756-39DB-7311-DAD5-6B25D5089CDC}"/>
              </a:ext>
            </a:extLst>
          </p:cNvPr>
          <p:cNvSpPr txBox="1"/>
          <p:nvPr/>
        </p:nvSpPr>
        <p:spPr>
          <a:xfrm>
            <a:off x="918945" y="224229"/>
            <a:ext cx="7981244" cy="307777"/>
          </a:xfrm>
          <a:prstGeom prst="rect">
            <a:avLst/>
          </a:prstGeom>
          <a:noFill/>
        </p:spPr>
        <p:txBody>
          <a:bodyPr wrap="square" lIns="0">
            <a:spAutoFit/>
          </a:bodyPr>
          <a:lstStyle/>
          <a:p>
            <a:pPr>
              <a:spcAft>
                <a:spcPts val="200"/>
              </a:spcAft>
            </a:pPr>
            <a:r>
              <a:rPr lang="en-US" sz="1400">
                <a:solidFill>
                  <a:srgbClr val="1A2E51"/>
                </a:solidFill>
                <a:latin typeface="Poppins SemiBold" pitchFamily="2" charset="77"/>
                <a:ea typeface="+mj-ea"/>
                <a:cs typeface="+mj-cs"/>
              </a:rPr>
              <a:t>CRO Team</a:t>
            </a:r>
            <a:endParaRPr lang="en-US" sz="1400">
              <a:solidFill>
                <a:srgbClr val="1A2E51"/>
              </a:solidFill>
            </a:endParaRPr>
          </a:p>
        </p:txBody>
      </p:sp>
      <p:grpSp>
        <p:nvGrpSpPr>
          <p:cNvPr id="57" name="Group 56">
            <a:extLst>
              <a:ext uri="{FF2B5EF4-FFF2-40B4-BE49-F238E27FC236}">
                <a16:creationId xmlns:a16="http://schemas.microsoft.com/office/drawing/2014/main" id="{D5AD0827-3E04-EB3F-E5D0-18121A4C10A2}"/>
              </a:ext>
            </a:extLst>
          </p:cNvPr>
          <p:cNvGrpSpPr/>
          <p:nvPr/>
        </p:nvGrpSpPr>
        <p:grpSpPr>
          <a:xfrm>
            <a:off x="748266" y="1537542"/>
            <a:ext cx="10695468" cy="4689074"/>
            <a:chOff x="1000382" y="1739800"/>
            <a:chExt cx="10695468" cy="4689074"/>
          </a:xfrm>
        </p:grpSpPr>
        <p:sp>
          <p:nvSpPr>
            <p:cNvPr id="58" name="Google Shape;1847;p106">
              <a:extLst>
                <a:ext uri="{FF2B5EF4-FFF2-40B4-BE49-F238E27FC236}">
                  <a16:creationId xmlns:a16="http://schemas.microsoft.com/office/drawing/2014/main" id="{8E58E01B-EC96-3480-1646-0145CCA0F2EE}"/>
                </a:ext>
              </a:extLst>
            </p:cNvPr>
            <p:cNvSpPr txBox="1"/>
            <p:nvPr/>
          </p:nvSpPr>
          <p:spPr>
            <a:xfrm>
              <a:off x="1421850" y="2083100"/>
              <a:ext cx="4674300" cy="2275500"/>
            </a:xfrm>
            <a:prstGeom prst="rect">
              <a:avLst/>
            </a:prstGeom>
            <a:noFill/>
            <a:ln>
              <a:noFill/>
            </a:ln>
          </p:spPr>
          <p:txBody>
            <a:bodyPr spcFirstLastPara="1" wrap="square" lIns="0" tIns="11275" rIns="0" bIns="0" anchor="t" anchorCtr="0">
              <a:noAutofit/>
            </a:bodyPr>
            <a:lstStyle/>
            <a:p>
              <a:pPr marL="0" marR="372110" lvl="0" indent="0" algn="l" rtl="0">
                <a:lnSpc>
                  <a:spcPct val="101099"/>
                </a:lnSpc>
                <a:spcBef>
                  <a:spcPts val="0"/>
                </a:spcBef>
                <a:spcAft>
                  <a:spcPts val="0"/>
                </a:spcAft>
                <a:buClr>
                  <a:srgbClr val="000000"/>
                </a:buClr>
                <a:buSzPts val="1000"/>
                <a:buFont typeface="Arial"/>
                <a:buNone/>
              </a:pPr>
              <a:r>
                <a:rPr lang="en" sz="1000" b="0" i="0" u="none" strike="noStrike" cap="none">
                  <a:solidFill>
                    <a:srgbClr val="0499C5"/>
                  </a:solidFill>
                  <a:latin typeface="Poppins" panose="00000500000000000000" pitchFamily="2" charset="0"/>
                  <a:ea typeface="Red Hat Display"/>
                  <a:cs typeface="Poppins" panose="00000500000000000000" pitchFamily="2" charset="0"/>
                  <a:sym typeface="Red Hat Display"/>
                </a:rPr>
                <a:t>Roadmap / Backlog </a:t>
              </a:r>
              <a:r>
                <a:rPr lang="en" sz="1000">
                  <a:solidFill>
                    <a:srgbClr val="0499C5"/>
                  </a:solidFill>
                  <a:latin typeface="Poppins" panose="00000500000000000000" pitchFamily="2" charset="0"/>
                  <a:ea typeface="Red Hat Display"/>
                  <a:cs typeface="Poppins" panose="00000500000000000000" pitchFamily="2" charset="0"/>
                  <a:sym typeface="Red Hat Display"/>
                </a:rPr>
                <a:t>M</a:t>
              </a:r>
              <a:r>
                <a:rPr lang="en" sz="1000" b="0" i="0" u="none" strike="noStrike" cap="none">
                  <a:solidFill>
                    <a:srgbClr val="0499C5"/>
                  </a:solidFill>
                  <a:latin typeface="Poppins" panose="00000500000000000000" pitchFamily="2" charset="0"/>
                  <a:ea typeface="Red Hat Display"/>
                  <a:cs typeface="Poppins" panose="00000500000000000000" pitchFamily="2" charset="0"/>
                  <a:sym typeface="Red Hat Display"/>
                </a:rPr>
                <a:t>anagement  </a:t>
              </a:r>
              <a:endParaRPr sz="1000" b="0" i="0" u="none" strike="noStrike" cap="none">
                <a:solidFill>
                  <a:srgbClr val="0499C5"/>
                </a:solidFill>
                <a:latin typeface="Poppins" panose="00000500000000000000" pitchFamily="2" charset="0"/>
                <a:ea typeface="Red Hat Display"/>
                <a:cs typeface="Poppins" panose="00000500000000000000" pitchFamily="2" charset="0"/>
                <a:sym typeface="Red Hat Display"/>
              </a:endParaRPr>
            </a:p>
            <a:p>
              <a:pPr marL="12700" marR="372110" lvl="0" indent="0" algn="l" rtl="0">
                <a:lnSpc>
                  <a:spcPct val="101099"/>
                </a:lnSpc>
                <a:spcBef>
                  <a:spcPts val="0"/>
                </a:spcBef>
                <a:spcAft>
                  <a:spcPts val="0"/>
                </a:spcAft>
                <a:buClr>
                  <a:srgbClr val="000000"/>
                </a:buClr>
                <a:buSzPts val="1000"/>
                <a:buFont typeface="Arial"/>
                <a:buNone/>
              </a:pPr>
              <a:r>
                <a:rPr lang="en" sz="1000" b="0" i="0" u="none" strike="noStrike" cap="none">
                  <a:solidFill>
                    <a:schemeClr val="tx2">
                      <a:lumMod val="75000"/>
                    </a:schemeClr>
                  </a:solidFill>
                  <a:latin typeface="Poppins" panose="00000500000000000000" pitchFamily="2" charset="0"/>
                  <a:ea typeface="Red Hat Display"/>
                  <a:cs typeface="Poppins" panose="00000500000000000000" pitchFamily="2" charset="0"/>
                  <a:sym typeface="Red Hat Display"/>
                </a:rPr>
                <a:t>Ensure ideas are documented as well formulated hypotheses, scored methodically for prioritization (including gathering evidence and data to support), and groomed regularly for roadmap consideration</a:t>
              </a:r>
              <a:endParaRPr sz="1000" b="0" i="0" u="none" strike="noStrike" cap="none">
                <a:solidFill>
                  <a:schemeClr val="tx2">
                    <a:lumMod val="75000"/>
                  </a:schemeClr>
                </a:solidFill>
                <a:latin typeface="Poppins" panose="00000500000000000000" pitchFamily="2" charset="0"/>
                <a:ea typeface="Red Hat Display"/>
                <a:cs typeface="Poppins" panose="00000500000000000000" pitchFamily="2" charset="0"/>
                <a:sym typeface="Red Hat Display"/>
              </a:endParaRPr>
            </a:p>
            <a:p>
              <a:pPr marL="0" marR="0" lvl="0" indent="0" algn="l" rtl="0">
                <a:lnSpc>
                  <a:spcPct val="100000"/>
                </a:lnSpc>
                <a:spcBef>
                  <a:spcPts val="5"/>
                </a:spcBef>
                <a:spcAft>
                  <a:spcPts val="0"/>
                </a:spcAft>
                <a:buClr>
                  <a:srgbClr val="000000"/>
                </a:buClr>
                <a:buSzPts val="1000"/>
                <a:buFont typeface="Arial"/>
                <a:buNone/>
              </a:pPr>
              <a:endParaRPr sz="1000" b="0" i="0" u="none" strike="noStrike" cap="none">
                <a:solidFill>
                  <a:srgbClr val="000000"/>
                </a:solidFill>
                <a:latin typeface="Poppins" panose="00000500000000000000" pitchFamily="2" charset="0"/>
                <a:ea typeface="Red Hat Display"/>
                <a:cs typeface="Poppins" panose="00000500000000000000" pitchFamily="2" charset="0"/>
                <a:sym typeface="Red Hat Display"/>
              </a:endParaRPr>
            </a:p>
            <a:p>
              <a:pPr marL="12700" marR="0" lvl="0" indent="0" algn="l" rtl="0">
                <a:lnSpc>
                  <a:spcPct val="100000"/>
                </a:lnSpc>
                <a:spcBef>
                  <a:spcPts val="0"/>
                </a:spcBef>
                <a:spcAft>
                  <a:spcPts val="0"/>
                </a:spcAft>
                <a:buClr>
                  <a:srgbClr val="000000"/>
                </a:buClr>
                <a:buSzPts val="1000"/>
                <a:buFont typeface="Arial"/>
                <a:buNone/>
              </a:pPr>
              <a:r>
                <a:rPr lang="en" sz="1000" b="0" i="0" u="none" strike="noStrike" cap="none">
                  <a:solidFill>
                    <a:srgbClr val="0499C5"/>
                  </a:solidFill>
                  <a:latin typeface="Poppins" panose="00000500000000000000" pitchFamily="2" charset="0"/>
                  <a:ea typeface="Red Hat Display"/>
                  <a:cs typeface="Poppins" panose="00000500000000000000" pitchFamily="2" charset="0"/>
                  <a:sym typeface="Red Hat Display"/>
                </a:rPr>
                <a:t>Technical Test </a:t>
              </a:r>
              <a:r>
                <a:rPr lang="en" sz="1000">
                  <a:solidFill>
                    <a:srgbClr val="0499C5"/>
                  </a:solidFill>
                  <a:latin typeface="Poppins" panose="00000500000000000000" pitchFamily="2" charset="0"/>
                  <a:ea typeface="Red Hat Display"/>
                  <a:cs typeface="Poppins" panose="00000500000000000000" pitchFamily="2" charset="0"/>
                  <a:sym typeface="Red Hat Display"/>
                </a:rPr>
                <a:t>D</a:t>
              </a:r>
              <a:r>
                <a:rPr lang="en" sz="1000" b="0" i="0" u="none" strike="noStrike" cap="none">
                  <a:solidFill>
                    <a:srgbClr val="0499C5"/>
                  </a:solidFill>
                  <a:latin typeface="Poppins" panose="00000500000000000000" pitchFamily="2" charset="0"/>
                  <a:ea typeface="Red Hat Display"/>
                  <a:cs typeface="Poppins" panose="00000500000000000000" pitchFamily="2" charset="0"/>
                  <a:sym typeface="Red Hat Display"/>
                </a:rPr>
                <a:t>esign</a:t>
              </a:r>
              <a:endParaRPr sz="1000" b="0" i="0" u="none" strike="noStrike" cap="none">
                <a:solidFill>
                  <a:srgbClr val="0499C5"/>
                </a:solidFill>
                <a:latin typeface="Poppins" panose="00000500000000000000" pitchFamily="2" charset="0"/>
                <a:ea typeface="Red Hat Display"/>
                <a:cs typeface="Poppins" panose="00000500000000000000" pitchFamily="2" charset="0"/>
                <a:sym typeface="Red Hat Display"/>
              </a:endParaRPr>
            </a:p>
            <a:p>
              <a:pPr marL="12700" marR="86360" lvl="0" indent="0" algn="l" rtl="0">
                <a:lnSpc>
                  <a:spcPct val="100000"/>
                </a:lnSpc>
                <a:spcBef>
                  <a:spcPts val="40"/>
                </a:spcBef>
                <a:spcAft>
                  <a:spcPts val="0"/>
                </a:spcAft>
                <a:buClr>
                  <a:srgbClr val="000000"/>
                </a:buClr>
                <a:buSzPts val="1000"/>
                <a:buFont typeface="Arial"/>
                <a:buNone/>
              </a:pPr>
              <a:r>
                <a:rPr lang="en" sz="1000" b="0" i="0" u="none" strike="noStrike" cap="none">
                  <a:solidFill>
                    <a:schemeClr val="tx2">
                      <a:lumMod val="75000"/>
                    </a:schemeClr>
                  </a:solidFill>
                  <a:latin typeface="Poppins" panose="00000500000000000000" pitchFamily="2" charset="0"/>
                  <a:ea typeface="Red Hat Display"/>
                  <a:cs typeface="Poppins" panose="00000500000000000000" pitchFamily="2" charset="0"/>
                  <a:sym typeface="Red Hat Display"/>
                </a:rPr>
                <a:t>Determine how best to test a given hypothesis given available traffic, KPIs,  and decision model rigor to produce a test plan with specified run time, error controls and sensitivity</a:t>
              </a:r>
              <a:endParaRPr sz="1000" b="0" i="0" u="none" strike="noStrike" cap="none">
                <a:solidFill>
                  <a:schemeClr val="tx2">
                    <a:lumMod val="75000"/>
                  </a:schemeClr>
                </a:solidFill>
                <a:latin typeface="Poppins" panose="00000500000000000000" pitchFamily="2" charset="0"/>
                <a:ea typeface="Red Hat Display"/>
                <a:cs typeface="Poppins" panose="00000500000000000000" pitchFamily="2" charset="0"/>
                <a:sym typeface="Red Hat Display"/>
              </a:endParaRPr>
            </a:p>
            <a:p>
              <a:pPr marL="0" marR="0" lvl="0" indent="0" algn="l" rtl="0">
                <a:lnSpc>
                  <a:spcPct val="100000"/>
                </a:lnSpc>
                <a:spcBef>
                  <a:spcPts val="10"/>
                </a:spcBef>
                <a:spcAft>
                  <a:spcPts val="0"/>
                </a:spcAft>
                <a:buClr>
                  <a:srgbClr val="000000"/>
                </a:buClr>
                <a:buSzPts val="1000"/>
                <a:buFont typeface="Arial"/>
                <a:buNone/>
              </a:pPr>
              <a:endParaRPr sz="1000" b="0" i="0" u="none" strike="noStrike" cap="none">
                <a:solidFill>
                  <a:srgbClr val="000000"/>
                </a:solidFill>
                <a:latin typeface="Poppins" panose="00000500000000000000" pitchFamily="2" charset="0"/>
                <a:ea typeface="Red Hat Display"/>
                <a:cs typeface="Poppins" panose="00000500000000000000" pitchFamily="2" charset="0"/>
                <a:sym typeface="Red Hat Display"/>
              </a:endParaRPr>
            </a:p>
            <a:p>
              <a:pPr marL="12700" marR="0" lvl="0" indent="0" algn="l" rtl="0">
                <a:lnSpc>
                  <a:spcPct val="100000"/>
                </a:lnSpc>
                <a:spcBef>
                  <a:spcPts val="0"/>
                </a:spcBef>
                <a:spcAft>
                  <a:spcPts val="0"/>
                </a:spcAft>
                <a:buClr>
                  <a:srgbClr val="000000"/>
                </a:buClr>
                <a:buSzPts val="1000"/>
                <a:buFont typeface="Arial"/>
                <a:buNone/>
              </a:pPr>
              <a:r>
                <a:rPr lang="en" sz="1000" b="0" i="0" u="none" strike="noStrike" cap="none">
                  <a:solidFill>
                    <a:srgbClr val="0499C5"/>
                  </a:solidFill>
                  <a:latin typeface="Poppins" panose="00000500000000000000" pitchFamily="2" charset="0"/>
                  <a:ea typeface="Red Hat Display"/>
                  <a:cs typeface="Poppins" panose="00000500000000000000" pitchFamily="2" charset="0"/>
                  <a:sym typeface="Red Hat Display"/>
                </a:rPr>
                <a:t>Test Management</a:t>
              </a:r>
              <a:endParaRPr sz="1000" b="0" i="0" u="none" strike="noStrike" cap="none">
                <a:solidFill>
                  <a:srgbClr val="0499C5"/>
                </a:solidFill>
                <a:latin typeface="Poppins" panose="00000500000000000000" pitchFamily="2" charset="0"/>
                <a:ea typeface="Red Hat Display"/>
                <a:cs typeface="Poppins" panose="00000500000000000000" pitchFamily="2" charset="0"/>
                <a:sym typeface="Red Hat Display"/>
              </a:endParaRPr>
            </a:p>
            <a:p>
              <a:pPr marL="12700" marR="204470" lvl="0" indent="0" algn="l" rtl="0">
                <a:lnSpc>
                  <a:spcPct val="100000"/>
                </a:lnSpc>
                <a:spcBef>
                  <a:spcPts val="40"/>
                </a:spcBef>
                <a:spcAft>
                  <a:spcPts val="0"/>
                </a:spcAft>
                <a:buClr>
                  <a:srgbClr val="000000"/>
                </a:buClr>
                <a:buSzPts val="1000"/>
                <a:buFont typeface="Arial"/>
                <a:buNone/>
              </a:pPr>
              <a:r>
                <a:rPr lang="en" sz="1000" b="0" i="0" u="none" strike="noStrike" cap="none">
                  <a:solidFill>
                    <a:schemeClr val="tx2">
                      <a:lumMod val="75000"/>
                    </a:schemeClr>
                  </a:solidFill>
                  <a:latin typeface="Poppins" panose="00000500000000000000" pitchFamily="2" charset="0"/>
                  <a:ea typeface="Red Hat Display"/>
                  <a:cs typeface="Poppins" panose="00000500000000000000" pitchFamily="2" charset="0"/>
                  <a:sym typeface="Red Hat Display"/>
                </a:rPr>
                <a:t>Take concepts from hypothesis to execution, working with stakeholders to  create and document test plans and managing test projects through their lifecycle of design, development, QA, execution and analysis</a:t>
              </a:r>
              <a:endParaRPr sz="1000" b="0" i="0" u="none" strike="noStrike" cap="none">
                <a:solidFill>
                  <a:schemeClr val="tx2">
                    <a:lumMod val="75000"/>
                  </a:schemeClr>
                </a:solidFill>
                <a:latin typeface="Poppins" panose="00000500000000000000" pitchFamily="2" charset="0"/>
                <a:ea typeface="Red Hat Display"/>
                <a:cs typeface="Poppins" panose="00000500000000000000" pitchFamily="2" charset="0"/>
                <a:sym typeface="Red Hat Display"/>
              </a:endParaRPr>
            </a:p>
            <a:p>
              <a:pPr marL="12700" marR="165100" lvl="0" indent="0" algn="l" rtl="0">
                <a:lnSpc>
                  <a:spcPct val="100000"/>
                </a:lnSpc>
                <a:spcBef>
                  <a:spcPts val="0"/>
                </a:spcBef>
                <a:spcAft>
                  <a:spcPts val="0"/>
                </a:spcAft>
                <a:buClr>
                  <a:srgbClr val="000000"/>
                </a:buClr>
                <a:buSzPts val="1000"/>
                <a:buFont typeface="Arial"/>
                <a:buNone/>
              </a:pPr>
              <a:endParaRPr sz="1000" b="0" i="0" u="none" strike="noStrike" cap="none">
                <a:solidFill>
                  <a:srgbClr val="468FBE"/>
                </a:solidFill>
                <a:latin typeface="Poppins" panose="00000500000000000000" pitchFamily="2" charset="0"/>
                <a:ea typeface="Red Hat Display"/>
                <a:cs typeface="Poppins" panose="00000500000000000000" pitchFamily="2" charset="0"/>
                <a:sym typeface="Red Hat Display"/>
              </a:endParaRPr>
            </a:p>
          </p:txBody>
        </p:sp>
        <p:sp>
          <p:nvSpPr>
            <p:cNvPr id="59" name="Google Shape;1848;p106">
              <a:extLst>
                <a:ext uri="{FF2B5EF4-FFF2-40B4-BE49-F238E27FC236}">
                  <a16:creationId xmlns:a16="http://schemas.microsoft.com/office/drawing/2014/main" id="{729D77A4-8B5C-1CEB-FA5A-555D95CBCF87}"/>
                </a:ext>
              </a:extLst>
            </p:cNvPr>
            <p:cNvSpPr txBox="1"/>
            <p:nvPr/>
          </p:nvSpPr>
          <p:spPr>
            <a:xfrm>
              <a:off x="1118075" y="1739800"/>
              <a:ext cx="1855500" cy="259800"/>
            </a:xfrm>
            <a:prstGeom prst="rect">
              <a:avLst/>
            </a:prstGeom>
            <a:solidFill>
              <a:srgbClr val="0499C5"/>
            </a:solidFill>
            <a:ln>
              <a:noFill/>
            </a:ln>
          </p:spPr>
          <p:txBody>
            <a:bodyPr spcFirstLastPara="1" wrap="square" lIns="0" tIns="31150" rIns="0" bIns="0" anchor="ctr" anchorCtr="0">
              <a:noAutofit/>
            </a:bodyPr>
            <a:lstStyle/>
            <a:p>
              <a:pPr marL="76200" marR="0" lvl="0" indent="0" algn="l" rtl="0">
                <a:lnSpc>
                  <a:spcPct val="100000"/>
                </a:lnSpc>
                <a:spcBef>
                  <a:spcPts val="0"/>
                </a:spcBef>
                <a:spcAft>
                  <a:spcPts val="0"/>
                </a:spcAft>
                <a:buClr>
                  <a:srgbClr val="000000"/>
                </a:buClr>
                <a:buSzPts val="1100"/>
                <a:buFont typeface="Arial"/>
                <a:buNone/>
              </a:pPr>
              <a:r>
                <a:rPr lang="en" sz="1100" b="0" i="0" u="none" strike="noStrike" cap="none">
                  <a:solidFill>
                    <a:srgbClr val="FFFFFF"/>
                  </a:solidFill>
                  <a:latin typeface="Poppins" panose="00000500000000000000" pitchFamily="2" charset="0"/>
                  <a:ea typeface="Red Hat Display"/>
                  <a:cs typeface="Poppins" panose="00000500000000000000" pitchFamily="2" charset="0"/>
                  <a:sym typeface="Red Hat Display"/>
                </a:rPr>
                <a:t>Strategy</a:t>
              </a:r>
              <a:endParaRPr sz="1100" b="0" i="0" u="none" strike="noStrike" cap="none">
                <a:solidFill>
                  <a:srgbClr val="FFFFFF"/>
                </a:solidFill>
                <a:latin typeface="Poppins" panose="00000500000000000000" pitchFamily="2" charset="0"/>
                <a:ea typeface="Red Hat Display"/>
                <a:cs typeface="Poppins" panose="00000500000000000000" pitchFamily="2" charset="0"/>
                <a:sym typeface="Red Hat Display"/>
              </a:endParaRPr>
            </a:p>
          </p:txBody>
        </p:sp>
        <p:sp>
          <p:nvSpPr>
            <p:cNvPr id="60" name="Google Shape;1849;p106">
              <a:extLst>
                <a:ext uri="{FF2B5EF4-FFF2-40B4-BE49-F238E27FC236}">
                  <a16:creationId xmlns:a16="http://schemas.microsoft.com/office/drawing/2014/main" id="{93501802-2251-E4DE-EA5D-2898428306E0}"/>
                </a:ext>
              </a:extLst>
            </p:cNvPr>
            <p:cNvSpPr txBox="1"/>
            <p:nvPr/>
          </p:nvSpPr>
          <p:spPr>
            <a:xfrm>
              <a:off x="7068125" y="4665174"/>
              <a:ext cx="4562400" cy="1763700"/>
            </a:xfrm>
            <a:prstGeom prst="rect">
              <a:avLst/>
            </a:prstGeom>
            <a:noFill/>
            <a:ln>
              <a:noFill/>
            </a:ln>
          </p:spPr>
          <p:txBody>
            <a:bodyPr spcFirstLastPara="1" wrap="square" lIns="0" tIns="11275" rIns="0" bIns="0" anchor="t" anchorCtr="0">
              <a:noAutofit/>
            </a:bodyPr>
            <a:lstStyle/>
            <a:p>
              <a:pPr marL="12700" marR="0" lvl="0" indent="0" algn="l" rtl="0">
                <a:lnSpc>
                  <a:spcPct val="100000"/>
                </a:lnSpc>
                <a:spcBef>
                  <a:spcPts val="0"/>
                </a:spcBef>
                <a:spcAft>
                  <a:spcPts val="0"/>
                </a:spcAft>
                <a:buClr>
                  <a:srgbClr val="000000"/>
                </a:buClr>
                <a:buSzPts val="1000"/>
                <a:buFont typeface="Arial"/>
                <a:buNone/>
              </a:pPr>
              <a:r>
                <a:rPr lang="en" sz="1000" b="0" i="0" u="none" strike="noStrike" cap="none">
                  <a:solidFill>
                    <a:srgbClr val="7030A0"/>
                  </a:solidFill>
                  <a:latin typeface="Poppins" panose="00000500000000000000" pitchFamily="2" charset="0"/>
                  <a:ea typeface="Red Hat Display"/>
                  <a:cs typeface="Poppins" panose="00000500000000000000" pitchFamily="2" charset="0"/>
                  <a:sym typeface="Red Hat Display"/>
                </a:rPr>
                <a:t>Test Development </a:t>
              </a:r>
              <a:endParaRPr sz="1000" b="0" i="0" u="none" strike="noStrike" cap="none">
                <a:solidFill>
                  <a:srgbClr val="7030A0"/>
                </a:solidFill>
                <a:latin typeface="Poppins" panose="00000500000000000000" pitchFamily="2" charset="0"/>
                <a:ea typeface="Red Hat Display"/>
                <a:cs typeface="Poppins" panose="00000500000000000000" pitchFamily="2" charset="0"/>
                <a:sym typeface="Red Hat Display"/>
              </a:endParaRPr>
            </a:p>
            <a:p>
              <a:pPr marL="12700" marR="5080" lvl="0" indent="0" algn="l" rtl="0">
                <a:lnSpc>
                  <a:spcPct val="100000"/>
                </a:lnSpc>
                <a:spcBef>
                  <a:spcPts val="40"/>
                </a:spcBef>
                <a:spcAft>
                  <a:spcPts val="0"/>
                </a:spcAft>
                <a:buClr>
                  <a:srgbClr val="000000"/>
                </a:buClr>
                <a:buSzPts val="1000"/>
                <a:buFont typeface="Arial"/>
                <a:buNone/>
              </a:pPr>
              <a:r>
                <a:rPr lang="en" sz="1000" b="0" i="0" u="none" strike="noStrike" cap="none">
                  <a:solidFill>
                    <a:schemeClr val="tx2">
                      <a:lumMod val="75000"/>
                    </a:schemeClr>
                  </a:solidFill>
                  <a:latin typeface="Poppins" panose="00000500000000000000" pitchFamily="2" charset="0"/>
                  <a:ea typeface="Red Hat Display"/>
                  <a:cs typeface="Poppins" panose="00000500000000000000" pitchFamily="2" charset="0"/>
                  <a:sym typeface="Red Hat Display"/>
                </a:rPr>
                <a:t>Support or ownership of test development both front-end and within experimentation platform</a:t>
              </a:r>
              <a:endParaRPr sz="1000" b="0" i="0" u="none" strike="noStrike" cap="none">
                <a:solidFill>
                  <a:schemeClr val="tx2">
                    <a:lumMod val="75000"/>
                  </a:schemeClr>
                </a:solidFill>
                <a:latin typeface="Poppins" panose="00000500000000000000" pitchFamily="2" charset="0"/>
                <a:ea typeface="Red Hat Display"/>
                <a:cs typeface="Poppins" panose="00000500000000000000" pitchFamily="2" charset="0"/>
                <a:sym typeface="Red Hat Display"/>
              </a:endParaRPr>
            </a:p>
            <a:p>
              <a:pPr marL="0" marR="0" lvl="0" indent="0" algn="l" rtl="0">
                <a:lnSpc>
                  <a:spcPct val="100000"/>
                </a:lnSpc>
                <a:spcBef>
                  <a:spcPts val="10"/>
                </a:spcBef>
                <a:spcAft>
                  <a:spcPts val="0"/>
                </a:spcAft>
                <a:buClr>
                  <a:srgbClr val="000000"/>
                </a:buClr>
                <a:buSzPts val="1000"/>
                <a:buFont typeface="Arial"/>
                <a:buNone/>
              </a:pPr>
              <a:endParaRPr sz="1000" b="0" i="0" u="none" strike="noStrike" cap="none">
                <a:solidFill>
                  <a:srgbClr val="000000"/>
                </a:solidFill>
                <a:latin typeface="Poppins" panose="00000500000000000000" pitchFamily="2" charset="0"/>
                <a:ea typeface="Red Hat Display"/>
                <a:cs typeface="Poppins" panose="00000500000000000000" pitchFamily="2" charset="0"/>
                <a:sym typeface="Red Hat Display"/>
              </a:endParaRPr>
            </a:p>
            <a:p>
              <a:pPr marL="12700" marR="0" lvl="0" indent="0" algn="l" rtl="0">
                <a:lnSpc>
                  <a:spcPct val="100000"/>
                </a:lnSpc>
                <a:spcBef>
                  <a:spcPts val="0"/>
                </a:spcBef>
                <a:spcAft>
                  <a:spcPts val="0"/>
                </a:spcAft>
                <a:buClr>
                  <a:srgbClr val="000000"/>
                </a:buClr>
                <a:buSzPts val="1000"/>
                <a:buFont typeface="Arial"/>
                <a:buNone/>
              </a:pPr>
              <a:r>
                <a:rPr lang="en" sz="1000" b="0" i="0" u="none" strike="noStrike" cap="none">
                  <a:solidFill>
                    <a:srgbClr val="7030A0"/>
                  </a:solidFill>
                  <a:latin typeface="Poppins" panose="00000500000000000000" pitchFamily="2" charset="0"/>
                  <a:ea typeface="Red Hat Display"/>
                  <a:cs typeface="Poppins" panose="00000500000000000000" pitchFamily="2" charset="0"/>
                  <a:sym typeface="Red Hat Display"/>
                </a:rPr>
                <a:t>Test QA </a:t>
              </a:r>
              <a:endParaRPr sz="1000" b="0" i="0" u="none" strike="noStrike" cap="none">
                <a:solidFill>
                  <a:srgbClr val="7030A0"/>
                </a:solidFill>
                <a:latin typeface="Poppins" panose="00000500000000000000" pitchFamily="2" charset="0"/>
                <a:ea typeface="Red Hat Display"/>
                <a:cs typeface="Poppins" panose="00000500000000000000" pitchFamily="2" charset="0"/>
                <a:sym typeface="Red Hat Display"/>
              </a:endParaRPr>
            </a:p>
            <a:p>
              <a:pPr marL="12700" marR="47625" lvl="0" indent="0" algn="l" rtl="0">
                <a:lnSpc>
                  <a:spcPct val="100000"/>
                </a:lnSpc>
                <a:spcBef>
                  <a:spcPts val="40"/>
                </a:spcBef>
                <a:spcAft>
                  <a:spcPts val="0"/>
                </a:spcAft>
                <a:buClr>
                  <a:srgbClr val="000000"/>
                </a:buClr>
                <a:buSzPts val="1000"/>
                <a:buFont typeface="Arial"/>
                <a:buNone/>
              </a:pPr>
              <a:r>
                <a:rPr lang="en" sz="1000" b="0" i="0" u="none" strike="noStrike" cap="none">
                  <a:solidFill>
                    <a:schemeClr val="tx2">
                      <a:lumMod val="75000"/>
                    </a:schemeClr>
                  </a:solidFill>
                  <a:latin typeface="Poppins" panose="00000500000000000000" pitchFamily="2" charset="0"/>
                  <a:ea typeface="Red Hat Display"/>
                  <a:cs typeface="Poppins" panose="00000500000000000000" pitchFamily="2" charset="0"/>
                  <a:sym typeface="Red Hat Display"/>
                </a:rPr>
                <a:t>Use preview, QA methods, and checklists to ensure test is operable on a variety of browsers and devices and maps to the original test plan</a:t>
              </a:r>
              <a:endParaRPr sz="1000" b="0" i="0" u="none" strike="noStrike" cap="none">
                <a:solidFill>
                  <a:schemeClr val="tx2">
                    <a:lumMod val="75000"/>
                  </a:schemeClr>
                </a:solidFill>
                <a:latin typeface="Poppins" panose="00000500000000000000" pitchFamily="2" charset="0"/>
                <a:ea typeface="Red Hat Display"/>
                <a:cs typeface="Poppins" panose="00000500000000000000" pitchFamily="2" charset="0"/>
                <a:sym typeface="Red Hat Display"/>
              </a:endParaRPr>
            </a:p>
            <a:p>
              <a:pPr marL="0" marR="0" lvl="0" indent="0" algn="l" rtl="0">
                <a:lnSpc>
                  <a:spcPct val="100000"/>
                </a:lnSpc>
                <a:spcBef>
                  <a:spcPts val="5"/>
                </a:spcBef>
                <a:spcAft>
                  <a:spcPts val="0"/>
                </a:spcAft>
                <a:buClr>
                  <a:srgbClr val="000000"/>
                </a:buClr>
                <a:buSzPts val="1000"/>
                <a:buFont typeface="Arial"/>
                <a:buNone/>
              </a:pPr>
              <a:endParaRPr sz="1000" b="0" i="0" u="none" strike="noStrike" cap="none">
                <a:solidFill>
                  <a:srgbClr val="000000"/>
                </a:solidFill>
                <a:latin typeface="Poppins" panose="00000500000000000000" pitchFamily="2" charset="0"/>
                <a:ea typeface="Red Hat Display"/>
                <a:cs typeface="Poppins" panose="00000500000000000000" pitchFamily="2" charset="0"/>
                <a:sym typeface="Red Hat Display"/>
              </a:endParaRPr>
            </a:p>
            <a:p>
              <a:pPr marL="12700" marR="0" lvl="0" indent="0" algn="l" rtl="0">
                <a:lnSpc>
                  <a:spcPct val="100000"/>
                </a:lnSpc>
                <a:spcBef>
                  <a:spcPts val="0"/>
                </a:spcBef>
                <a:spcAft>
                  <a:spcPts val="0"/>
                </a:spcAft>
                <a:buClr>
                  <a:srgbClr val="000000"/>
                </a:buClr>
                <a:buSzPts val="1000"/>
                <a:buFont typeface="Arial"/>
                <a:buNone/>
              </a:pPr>
              <a:r>
                <a:rPr lang="en" sz="1000" b="0" i="0" u="none" strike="noStrike" cap="none">
                  <a:solidFill>
                    <a:srgbClr val="7030A0"/>
                  </a:solidFill>
                  <a:latin typeface="Poppins" panose="00000500000000000000" pitchFamily="2" charset="0"/>
                  <a:ea typeface="Red Hat Display"/>
                  <a:cs typeface="Poppins" panose="00000500000000000000" pitchFamily="2" charset="0"/>
                  <a:sym typeface="Red Hat Display"/>
                </a:rPr>
                <a:t>Test Administration </a:t>
              </a:r>
              <a:endParaRPr sz="1000" b="0" i="0" u="none" strike="noStrike" cap="none">
                <a:solidFill>
                  <a:srgbClr val="7030A0"/>
                </a:solidFill>
                <a:latin typeface="Poppins" panose="00000500000000000000" pitchFamily="2" charset="0"/>
                <a:ea typeface="Red Hat Display"/>
                <a:cs typeface="Poppins" panose="00000500000000000000" pitchFamily="2" charset="0"/>
                <a:sym typeface="Red Hat Display"/>
              </a:endParaRPr>
            </a:p>
            <a:p>
              <a:pPr marL="12700" marR="0" lvl="0" indent="0" algn="l" rtl="0">
                <a:lnSpc>
                  <a:spcPct val="100000"/>
                </a:lnSpc>
                <a:spcBef>
                  <a:spcPts val="0"/>
                </a:spcBef>
                <a:spcAft>
                  <a:spcPts val="0"/>
                </a:spcAft>
                <a:buClr>
                  <a:srgbClr val="000000"/>
                </a:buClr>
                <a:buSzPts val="1000"/>
                <a:buFont typeface="Arial"/>
                <a:buNone/>
              </a:pPr>
              <a:r>
                <a:rPr lang="en" sz="1000" b="0" i="0" u="none" strike="noStrike" cap="none">
                  <a:solidFill>
                    <a:schemeClr val="tx2">
                      <a:lumMod val="75000"/>
                    </a:schemeClr>
                  </a:solidFill>
                  <a:latin typeface="Poppins" panose="00000500000000000000" pitchFamily="2" charset="0"/>
                  <a:ea typeface="Red Hat Display"/>
                  <a:cs typeface="Poppins" panose="00000500000000000000" pitchFamily="2" charset="0"/>
                  <a:sym typeface="Red Hat Display"/>
                </a:rPr>
                <a:t>Coordinate and execute test start, monitor, and stop through test life cycle</a:t>
              </a:r>
              <a:endParaRPr sz="1000" b="0" i="0" u="none" strike="noStrike" cap="none">
                <a:solidFill>
                  <a:schemeClr val="tx2">
                    <a:lumMod val="75000"/>
                  </a:schemeClr>
                </a:solidFill>
                <a:latin typeface="Poppins" panose="00000500000000000000" pitchFamily="2" charset="0"/>
                <a:ea typeface="Red Hat Display"/>
                <a:cs typeface="Poppins" panose="00000500000000000000" pitchFamily="2" charset="0"/>
                <a:sym typeface="Red Hat Display"/>
              </a:endParaRPr>
            </a:p>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rgbClr val="6C6D6A"/>
                </a:solidFill>
                <a:latin typeface="Poppins" panose="00000500000000000000" pitchFamily="2" charset="0"/>
                <a:ea typeface="Red Hat Display"/>
                <a:cs typeface="Poppins" panose="00000500000000000000" pitchFamily="2" charset="0"/>
                <a:sym typeface="Red Hat Display"/>
              </a:endParaRPr>
            </a:p>
          </p:txBody>
        </p:sp>
        <p:sp>
          <p:nvSpPr>
            <p:cNvPr id="61" name="Google Shape;1850;p106">
              <a:extLst>
                <a:ext uri="{FF2B5EF4-FFF2-40B4-BE49-F238E27FC236}">
                  <a16:creationId xmlns:a16="http://schemas.microsoft.com/office/drawing/2014/main" id="{C8B84E95-D962-2685-01F6-D06B1C3E9311}"/>
                </a:ext>
              </a:extLst>
            </p:cNvPr>
            <p:cNvSpPr txBox="1"/>
            <p:nvPr/>
          </p:nvSpPr>
          <p:spPr>
            <a:xfrm>
              <a:off x="6705600" y="4298100"/>
              <a:ext cx="1296600" cy="259800"/>
            </a:xfrm>
            <a:prstGeom prst="rect">
              <a:avLst/>
            </a:prstGeom>
            <a:solidFill>
              <a:srgbClr val="7030A0"/>
            </a:solidFill>
            <a:ln>
              <a:noFill/>
            </a:ln>
          </p:spPr>
          <p:txBody>
            <a:bodyPr spcFirstLastPara="1" wrap="square" lIns="0" tIns="31650" rIns="0" bIns="0" anchor="ctr" anchorCtr="0">
              <a:noAutofit/>
            </a:bodyPr>
            <a:lstStyle/>
            <a:p>
              <a:pPr marL="76200" marR="0" lvl="0" indent="0" algn="l" rtl="0">
                <a:lnSpc>
                  <a:spcPct val="100000"/>
                </a:lnSpc>
                <a:spcBef>
                  <a:spcPts val="0"/>
                </a:spcBef>
                <a:spcAft>
                  <a:spcPts val="0"/>
                </a:spcAft>
                <a:buClr>
                  <a:srgbClr val="000000"/>
                </a:buClr>
                <a:buSzPts val="1100"/>
                <a:buFont typeface="Arial"/>
                <a:buNone/>
              </a:pPr>
              <a:r>
                <a:rPr lang="en" sz="1100" b="0" i="0" u="none" strike="noStrike" cap="none">
                  <a:solidFill>
                    <a:srgbClr val="FFFFFF"/>
                  </a:solidFill>
                  <a:latin typeface="Poppins" panose="00000500000000000000" pitchFamily="2" charset="0"/>
                  <a:ea typeface="Red Hat Display"/>
                  <a:cs typeface="Poppins" panose="00000500000000000000" pitchFamily="2" charset="0"/>
                  <a:sym typeface="Red Hat Display"/>
                </a:rPr>
                <a:t>Technical</a:t>
              </a:r>
              <a:endParaRPr sz="1100" b="0" i="0" u="none" strike="noStrike" cap="none">
                <a:solidFill>
                  <a:srgbClr val="FFFFFF"/>
                </a:solidFill>
                <a:latin typeface="Poppins" panose="00000500000000000000" pitchFamily="2" charset="0"/>
                <a:ea typeface="Red Hat Display"/>
                <a:cs typeface="Poppins" panose="00000500000000000000" pitchFamily="2" charset="0"/>
                <a:sym typeface="Red Hat Display"/>
              </a:endParaRPr>
            </a:p>
          </p:txBody>
        </p:sp>
        <p:sp>
          <p:nvSpPr>
            <p:cNvPr id="62" name="Google Shape;1851;p106">
              <a:extLst>
                <a:ext uri="{FF2B5EF4-FFF2-40B4-BE49-F238E27FC236}">
                  <a16:creationId xmlns:a16="http://schemas.microsoft.com/office/drawing/2014/main" id="{23080645-6C19-A64A-080B-797D5A1E5046}"/>
                </a:ext>
              </a:extLst>
            </p:cNvPr>
            <p:cNvSpPr txBox="1"/>
            <p:nvPr/>
          </p:nvSpPr>
          <p:spPr>
            <a:xfrm>
              <a:off x="7086050" y="2083100"/>
              <a:ext cx="4609800" cy="2118600"/>
            </a:xfrm>
            <a:prstGeom prst="rect">
              <a:avLst/>
            </a:prstGeom>
            <a:noFill/>
            <a:ln>
              <a:noFill/>
            </a:ln>
          </p:spPr>
          <p:txBody>
            <a:bodyPr spcFirstLastPara="1" wrap="square" lIns="0" tIns="11275" rIns="0" bIns="0" anchor="t" anchorCtr="0">
              <a:noAutofit/>
            </a:bodyPr>
            <a:lstStyle/>
            <a:p>
              <a:pPr marL="12700" marR="0" lvl="0" indent="0" algn="l" rtl="0">
                <a:lnSpc>
                  <a:spcPct val="100000"/>
                </a:lnSpc>
                <a:spcBef>
                  <a:spcPts val="0"/>
                </a:spcBef>
                <a:spcAft>
                  <a:spcPts val="0"/>
                </a:spcAft>
                <a:buClr>
                  <a:srgbClr val="000000"/>
                </a:buClr>
                <a:buSzPts val="1000"/>
                <a:buFont typeface="Arial"/>
                <a:buNone/>
              </a:pPr>
              <a:r>
                <a:rPr lang="en" sz="1000" b="0" i="0" u="none" strike="noStrike" cap="none">
                  <a:solidFill>
                    <a:srgbClr val="43ADAF"/>
                  </a:solidFill>
                  <a:latin typeface="Poppins" panose="00000500000000000000" pitchFamily="2" charset="0"/>
                  <a:ea typeface="Red Hat Display"/>
                  <a:cs typeface="Poppins" panose="00000500000000000000" pitchFamily="2" charset="0"/>
                  <a:sym typeface="Red Hat Display"/>
                </a:rPr>
                <a:t>Ideation</a:t>
              </a:r>
              <a:endParaRPr sz="1000" b="0" i="0" u="none" strike="noStrike" cap="none">
                <a:solidFill>
                  <a:srgbClr val="43ADAF"/>
                </a:solidFill>
                <a:latin typeface="Poppins" panose="00000500000000000000" pitchFamily="2" charset="0"/>
                <a:ea typeface="Red Hat Display"/>
                <a:cs typeface="Poppins" panose="00000500000000000000" pitchFamily="2" charset="0"/>
                <a:sym typeface="Red Hat Display"/>
              </a:endParaRPr>
            </a:p>
            <a:p>
              <a:pPr marL="12700" marR="5080" lvl="0" indent="0" algn="l" rtl="0">
                <a:lnSpc>
                  <a:spcPct val="100000"/>
                </a:lnSpc>
                <a:spcBef>
                  <a:spcPts val="40"/>
                </a:spcBef>
                <a:spcAft>
                  <a:spcPts val="0"/>
                </a:spcAft>
                <a:buClr>
                  <a:srgbClr val="000000"/>
                </a:buClr>
                <a:buSzPts val="1000"/>
                <a:buFont typeface="Arial"/>
                <a:buNone/>
              </a:pPr>
              <a:r>
                <a:rPr lang="en" sz="1000" b="0" i="0" u="none" strike="noStrike" cap="none">
                  <a:solidFill>
                    <a:schemeClr val="tx2">
                      <a:lumMod val="75000"/>
                    </a:schemeClr>
                  </a:solidFill>
                  <a:latin typeface="Poppins" panose="00000500000000000000" pitchFamily="2" charset="0"/>
                  <a:ea typeface="Red Hat Display"/>
                  <a:cs typeface="Poppins" panose="00000500000000000000" pitchFamily="2" charset="0"/>
                  <a:sym typeface="Red Hat Display"/>
                </a:rPr>
                <a:t>Fuel testing roadmap with continuous pipeline of optimization ideas derived  from activities such as: user testing, heuristics analysis,  comparative / competitive analysis, digital behavior analysis, voice of customer analysis, and design thinking workshops</a:t>
              </a:r>
              <a:endParaRPr sz="1000" b="0" i="0" u="none" strike="noStrike" cap="none">
                <a:solidFill>
                  <a:schemeClr val="tx2">
                    <a:lumMod val="75000"/>
                  </a:schemeClr>
                </a:solidFill>
                <a:latin typeface="Poppins" panose="00000500000000000000" pitchFamily="2" charset="0"/>
                <a:ea typeface="Red Hat Display"/>
                <a:cs typeface="Poppins" panose="00000500000000000000" pitchFamily="2" charset="0"/>
                <a:sym typeface="Red Hat Display"/>
              </a:endParaRPr>
            </a:p>
            <a:p>
              <a:pPr marL="12700" marR="0" lvl="0" indent="0" algn="l" rtl="0">
                <a:lnSpc>
                  <a:spcPct val="100000"/>
                </a:lnSpc>
                <a:spcBef>
                  <a:spcPts val="1000"/>
                </a:spcBef>
                <a:spcAft>
                  <a:spcPts val="0"/>
                </a:spcAft>
                <a:buClr>
                  <a:srgbClr val="000000"/>
                </a:buClr>
                <a:buSzPts val="1000"/>
                <a:buFont typeface="Arial"/>
                <a:buNone/>
              </a:pPr>
              <a:r>
                <a:rPr lang="en" sz="1000" b="0" i="0" u="none" strike="noStrike" cap="none">
                  <a:solidFill>
                    <a:srgbClr val="43ADAF"/>
                  </a:solidFill>
                  <a:latin typeface="Poppins" panose="00000500000000000000" pitchFamily="2" charset="0"/>
                  <a:ea typeface="Red Hat Display"/>
                  <a:cs typeface="Poppins" panose="00000500000000000000" pitchFamily="2" charset="0"/>
                  <a:sym typeface="Red Hat Display"/>
                </a:rPr>
                <a:t>Test Analysis</a:t>
              </a:r>
              <a:endParaRPr sz="1000" b="0" i="0" u="none" strike="noStrike" cap="none">
                <a:solidFill>
                  <a:srgbClr val="43ADAF"/>
                </a:solidFill>
                <a:latin typeface="Poppins" panose="00000500000000000000" pitchFamily="2" charset="0"/>
                <a:ea typeface="Red Hat Display"/>
                <a:cs typeface="Poppins" panose="00000500000000000000" pitchFamily="2" charset="0"/>
                <a:sym typeface="Red Hat Display"/>
              </a:endParaRPr>
            </a:p>
            <a:p>
              <a:pPr marL="12700" marR="109854" lvl="0" indent="0" algn="l" rtl="0">
                <a:lnSpc>
                  <a:spcPct val="100000"/>
                </a:lnSpc>
                <a:spcBef>
                  <a:spcPts val="40"/>
                </a:spcBef>
                <a:spcAft>
                  <a:spcPts val="0"/>
                </a:spcAft>
                <a:buClr>
                  <a:srgbClr val="000000"/>
                </a:buClr>
                <a:buSzPts val="1000"/>
                <a:buFont typeface="Arial"/>
                <a:buNone/>
              </a:pPr>
              <a:r>
                <a:rPr lang="en" sz="1000" b="0" i="0" u="none" strike="noStrike" cap="none">
                  <a:solidFill>
                    <a:schemeClr val="tx2">
                      <a:lumMod val="75000"/>
                    </a:schemeClr>
                  </a:solidFill>
                  <a:latin typeface="Poppins" panose="00000500000000000000" pitchFamily="2" charset="0"/>
                  <a:ea typeface="Red Hat Display"/>
                  <a:cs typeface="Poppins" panose="00000500000000000000" pitchFamily="2" charset="0"/>
                  <a:sym typeface="Red Hat Display"/>
                </a:rPr>
                <a:t>Perform statistical analysis and deep dive analysis of additional metrics and segments and deliver insights, learnings, and recommendations</a:t>
              </a:r>
              <a:endParaRPr sz="1000" b="0" i="0" u="none" strike="noStrike" cap="none">
                <a:solidFill>
                  <a:schemeClr val="tx2">
                    <a:lumMod val="75000"/>
                  </a:schemeClr>
                </a:solidFill>
                <a:latin typeface="Poppins" panose="00000500000000000000" pitchFamily="2" charset="0"/>
                <a:ea typeface="Red Hat Display"/>
                <a:cs typeface="Poppins" panose="00000500000000000000" pitchFamily="2" charset="0"/>
                <a:sym typeface="Red Hat Display"/>
              </a:endParaRPr>
            </a:p>
            <a:p>
              <a:pPr marL="0" marR="0" lvl="0" indent="0" algn="l" rtl="0">
                <a:lnSpc>
                  <a:spcPct val="100000"/>
                </a:lnSpc>
                <a:spcBef>
                  <a:spcPts val="5"/>
                </a:spcBef>
                <a:spcAft>
                  <a:spcPts val="0"/>
                </a:spcAft>
                <a:buClr>
                  <a:srgbClr val="000000"/>
                </a:buClr>
                <a:buSzPts val="1000"/>
                <a:buFont typeface="Arial"/>
                <a:buNone/>
              </a:pPr>
              <a:endParaRPr sz="1000" b="0" i="0" u="none" strike="noStrike" cap="none">
                <a:solidFill>
                  <a:srgbClr val="000000"/>
                </a:solidFill>
                <a:latin typeface="Poppins" panose="00000500000000000000" pitchFamily="2" charset="0"/>
                <a:ea typeface="Red Hat Display"/>
                <a:cs typeface="Poppins" panose="00000500000000000000" pitchFamily="2" charset="0"/>
                <a:sym typeface="Red Hat Display"/>
              </a:endParaRPr>
            </a:p>
            <a:p>
              <a:pPr marL="12700" marR="0" lvl="0" indent="0" algn="l" rtl="0">
                <a:lnSpc>
                  <a:spcPct val="100000"/>
                </a:lnSpc>
                <a:spcBef>
                  <a:spcPts val="0"/>
                </a:spcBef>
                <a:spcAft>
                  <a:spcPts val="0"/>
                </a:spcAft>
                <a:buClr>
                  <a:srgbClr val="000000"/>
                </a:buClr>
                <a:buSzPts val="1000"/>
                <a:buFont typeface="Arial"/>
                <a:buNone/>
              </a:pPr>
              <a:r>
                <a:rPr lang="en-US" sz="1000" b="0" i="0" u="none" strike="noStrike" cap="none">
                  <a:solidFill>
                    <a:srgbClr val="43ADAF"/>
                  </a:solidFill>
                  <a:latin typeface="Poppins" panose="00000500000000000000" pitchFamily="2" charset="0"/>
                  <a:ea typeface="Red Hat Display"/>
                  <a:cs typeface="Poppins" panose="00000500000000000000" pitchFamily="2" charset="0"/>
                  <a:sym typeface="Red Hat Display"/>
                </a:rPr>
                <a:t>CRO Report (Test Archive)</a:t>
              </a:r>
              <a:endParaRPr sz="1000" b="0" i="0" u="none" strike="noStrike" cap="none">
                <a:solidFill>
                  <a:srgbClr val="43ADAF"/>
                </a:solidFill>
                <a:latin typeface="Poppins" panose="00000500000000000000" pitchFamily="2" charset="0"/>
                <a:ea typeface="Red Hat Display"/>
                <a:cs typeface="Poppins" panose="00000500000000000000" pitchFamily="2" charset="0"/>
                <a:sym typeface="Red Hat Display"/>
              </a:endParaRPr>
            </a:p>
            <a:p>
              <a:pPr marL="12700" marR="5080" lvl="0" indent="0" algn="l" rtl="0">
                <a:lnSpc>
                  <a:spcPct val="100000"/>
                </a:lnSpc>
                <a:spcBef>
                  <a:spcPts val="40"/>
                </a:spcBef>
                <a:spcAft>
                  <a:spcPts val="0"/>
                </a:spcAft>
                <a:buClr>
                  <a:srgbClr val="000000"/>
                </a:buClr>
                <a:buSzPts val="1000"/>
                <a:buFont typeface="Arial"/>
                <a:buNone/>
              </a:pPr>
              <a:r>
                <a:rPr lang="en" sz="1000" b="0" i="0" u="none" strike="noStrike" cap="none">
                  <a:solidFill>
                    <a:schemeClr val="tx2">
                      <a:lumMod val="75000"/>
                    </a:schemeClr>
                  </a:solidFill>
                  <a:latin typeface="Poppins" panose="00000500000000000000" pitchFamily="2" charset="0"/>
                  <a:ea typeface="Red Hat Display"/>
                  <a:cs typeface="Poppins" panose="00000500000000000000" pitchFamily="2" charset="0"/>
                  <a:sym typeface="Red Hat Display"/>
                </a:rPr>
                <a:t>Maintain searchable history and documentation of test outcomes, insights, and recommendations grouped by learning agenda</a:t>
              </a:r>
              <a:endParaRPr sz="1000" b="0" i="0" u="none" strike="noStrike" cap="none">
                <a:solidFill>
                  <a:schemeClr val="tx2">
                    <a:lumMod val="75000"/>
                  </a:schemeClr>
                </a:solidFill>
                <a:latin typeface="Poppins" panose="00000500000000000000" pitchFamily="2" charset="0"/>
                <a:ea typeface="Red Hat Display"/>
                <a:cs typeface="Poppins" panose="00000500000000000000" pitchFamily="2" charset="0"/>
                <a:sym typeface="Red Hat Display"/>
              </a:endParaRPr>
            </a:p>
          </p:txBody>
        </p:sp>
        <p:sp>
          <p:nvSpPr>
            <p:cNvPr id="63" name="Google Shape;1853;p106">
              <a:extLst>
                <a:ext uri="{FF2B5EF4-FFF2-40B4-BE49-F238E27FC236}">
                  <a16:creationId xmlns:a16="http://schemas.microsoft.com/office/drawing/2014/main" id="{4CB597CC-F536-CDB9-9C22-20870A1AD656}"/>
                </a:ext>
              </a:extLst>
            </p:cNvPr>
            <p:cNvSpPr txBox="1"/>
            <p:nvPr/>
          </p:nvSpPr>
          <p:spPr>
            <a:xfrm>
              <a:off x="6719579" y="1739800"/>
              <a:ext cx="1841400" cy="259800"/>
            </a:xfrm>
            <a:prstGeom prst="rect">
              <a:avLst/>
            </a:prstGeom>
            <a:solidFill>
              <a:srgbClr val="43ADAF"/>
            </a:solidFill>
            <a:ln>
              <a:noFill/>
            </a:ln>
          </p:spPr>
          <p:txBody>
            <a:bodyPr spcFirstLastPara="1" wrap="square" lIns="0" tIns="31150" rIns="0" bIns="0" anchor="ctr" anchorCtr="0">
              <a:noAutofit/>
            </a:bodyPr>
            <a:lstStyle/>
            <a:p>
              <a:pPr marL="76200" marR="0" lvl="0" indent="0" algn="l" rtl="0">
                <a:lnSpc>
                  <a:spcPct val="100000"/>
                </a:lnSpc>
                <a:spcBef>
                  <a:spcPts val="0"/>
                </a:spcBef>
                <a:spcAft>
                  <a:spcPts val="0"/>
                </a:spcAft>
                <a:buClr>
                  <a:srgbClr val="000000"/>
                </a:buClr>
                <a:buSzPts val="1100"/>
                <a:buFont typeface="Arial"/>
                <a:buNone/>
              </a:pPr>
              <a:r>
                <a:rPr lang="en" sz="1100" b="0" i="0" u="none" strike="noStrike" cap="none">
                  <a:solidFill>
                    <a:srgbClr val="FFFFFF"/>
                  </a:solidFill>
                  <a:latin typeface="Poppins" panose="00000500000000000000" pitchFamily="2" charset="0"/>
                  <a:ea typeface="Red Hat Display"/>
                  <a:cs typeface="Poppins" panose="00000500000000000000" pitchFamily="2" charset="0"/>
                  <a:sym typeface="Red Hat Display"/>
                </a:rPr>
                <a:t>Analysis</a:t>
              </a:r>
              <a:endParaRPr sz="1100" b="0" i="0" u="none" strike="noStrike" cap="none">
                <a:solidFill>
                  <a:srgbClr val="FFFFFF"/>
                </a:solidFill>
                <a:latin typeface="Poppins" panose="00000500000000000000" pitchFamily="2" charset="0"/>
                <a:ea typeface="Red Hat Display"/>
                <a:cs typeface="Poppins" panose="00000500000000000000" pitchFamily="2" charset="0"/>
                <a:sym typeface="Red Hat Display"/>
              </a:endParaRPr>
            </a:p>
          </p:txBody>
        </p:sp>
        <p:pic>
          <p:nvPicPr>
            <p:cNvPr id="64" name="Google Shape;1856;p106">
              <a:extLst>
                <a:ext uri="{FF2B5EF4-FFF2-40B4-BE49-F238E27FC236}">
                  <a16:creationId xmlns:a16="http://schemas.microsoft.com/office/drawing/2014/main" id="{CD5FBDEE-08F6-3A7F-44AE-EE342509C706}"/>
                </a:ext>
              </a:extLst>
            </p:cNvPr>
            <p:cNvPicPr preferRelativeResize="0"/>
            <p:nvPr/>
          </p:nvPicPr>
          <p:blipFill rotWithShape="1">
            <a:blip r:embed="rId4">
              <a:alphaModFix amt="38000"/>
            </a:blip>
            <a:srcRect/>
            <a:stretch/>
          </p:blipFill>
          <p:spPr>
            <a:xfrm>
              <a:off x="6678524" y="2134072"/>
              <a:ext cx="310599" cy="310599"/>
            </a:xfrm>
            <a:prstGeom prst="rect">
              <a:avLst/>
            </a:prstGeom>
            <a:noFill/>
            <a:ln>
              <a:noFill/>
            </a:ln>
          </p:spPr>
        </p:pic>
        <p:pic>
          <p:nvPicPr>
            <p:cNvPr id="65" name="Google Shape;1857;p106">
              <a:extLst>
                <a:ext uri="{FF2B5EF4-FFF2-40B4-BE49-F238E27FC236}">
                  <a16:creationId xmlns:a16="http://schemas.microsoft.com/office/drawing/2014/main" id="{EBDFE4FA-3C5E-525C-83D0-13F8EE1905FE}"/>
                </a:ext>
              </a:extLst>
            </p:cNvPr>
            <p:cNvPicPr preferRelativeResize="0"/>
            <p:nvPr/>
          </p:nvPicPr>
          <p:blipFill rotWithShape="1">
            <a:blip r:embed="rId5">
              <a:alphaModFix amt="30000"/>
            </a:blip>
            <a:srcRect/>
            <a:stretch/>
          </p:blipFill>
          <p:spPr>
            <a:xfrm>
              <a:off x="1022923" y="2183696"/>
              <a:ext cx="310600" cy="310600"/>
            </a:xfrm>
            <a:prstGeom prst="rect">
              <a:avLst/>
            </a:prstGeom>
            <a:noFill/>
            <a:ln>
              <a:noFill/>
            </a:ln>
          </p:spPr>
        </p:pic>
        <p:pic>
          <p:nvPicPr>
            <p:cNvPr id="66" name="Google Shape;1858;p106">
              <a:extLst>
                <a:ext uri="{FF2B5EF4-FFF2-40B4-BE49-F238E27FC236}">
                  <a16:creationId xmlns:a16="http://schemas.microsoft.com/office/drawing/2014/main" id="{64E87DAB-4ED5-00BB-AB0F-749E50A7EE30}"/>
                </a:ext>
              </a:extLst>
            </p:cNvPr>
            <p:cNvPicPr preferRelativeResize="0"/>
            <p:nvPr/>
          </p:nvPicPr>
          <p:blipFill rotWithShape="1">
            <a:blip r:embed="rId6">
              <a:alphaModFix amt="34000"/>
            </a:blip>
            <a:srcRect/>
            <a:stretch/>
          </p:blipFill>
          <p:spPr>
            <a:xfrm>
              <a:off x="1000382" y="3654017"/>
              <a:ext cx="355682" cy="355682"/>
            </a:xfrm>
            <a:prstGeom prst="rect">
              <a:avLst/>
            </a:prstGeom>
            <a:noFill/>
            <a:ln>
              <a:noFill/>
            </a:ln>
          </p:spPr>
        </p:pic>
        <p:pic>
          <p:nvPicPr>
            <p:cNvPr id="67" name="Google Shape;1860;p106">
              <a:extLst>
                <a:ext uri="{FF2B5EF4-FFF2-40B4-BE49-F238E27FC236}">
                  <a16:creationId xmlns:a16="http://schemas.microsoft.com/office/drawing/2014/main" id="{2A9E8B26-22CB-717F-13CB-C528858EBC7D}"/>
                </a:ext>
              </a:extLst>
            </p:cNvPr>
            <p:cNvPicPr preferRelativeResize="0"/>
            <p:nvPr/>
          </p:nvPicPr>
          <p:blipFill rotWithShape="1">
            <a:blip r:embed="rId7">
              <a:alphaModFix amt="27000"/>
            </a:blip>
            <a:srcRect/>
            <a:stretch/>
          </p:blipFill>
          <p:spPr>
            <a:xfrm>
              <a:off x="1048294" y="2923815"/>
              <a:ext cx="259858" cy="259858"/>
            </a:xfrm>
            <a:prstGeom prst="rect">
              <a:avLst/>
            </a:prstGeom>
            <a:noFill/>
            <a:ln>
              <a:noFill/>
            </a:ln>
          </p:spPr>
        </p:pic>
        <p:pic>
          <p:nvPicPr>
            <p:cNvPr id="68" name="Google Shape;1861;p106">
              <a:extLst>
                <a:ext uri="{FF2B5EF4-FFF2-40B4-BE49-F238E27FC236}">
                  <a16:creationId xmlns:a16="http://schemas.microsoft.com/office/drawing/2014/main" id="{DFAF6D38-B666-B9B4-3327-12655CF0CBEF}"/>
                </a:ext>
              </a:extLst>
            </p:cNvPr>
            <p:cNvPicPr preferRelativeResize="0"/>
            <p:nvPr/>
          </p:nvPicPr>
          <p:blipFill rotWithShape="1">
            <a:blip r:embed="rId8">
              <a:alphaModFix amt="28000"/>
            </a:blip>
            <a:srcRect/>
            <a:stretch/>
          </p:blipFill>
          <p:spPr>
            <a:xfrm>
              <a:off x="6703894" y="3006946"/>
              <a:ext cx="259859" cy="259859"/>
            </a:xfrm>
            <a:prstGeom prst="rect">
              <a:avLst/>
            </a:prstGeom>
            <a:noFill/>
            <a:ln>
              <a:noFill/>
            </a:ln>
          </p:spPr>
        </p:pic>
        <p:pic>
          <p:nvPicPr>
            <p:cNvPr id="69" name="Google Shape;1862;p106">
              <a:extLst>
                <a:ext uri="{FF2B5EF4-FFF2-40B4-BE49-F238E27FC236}">
                  <a16:creationId xmlns:a16="http://schemas.microsoft.com/office/drawing/2014/main" id="{FC40AC2F-B307-65AD-A15C-6D59FA64A02B}"/>
                </a:ext>
              </a:extLst>
            </p:cNvPr>
            <p:cNvPicPr preferRelativeResize="0"/>
            <p:nvPr/>
          </p:nvPicPr>
          <p:blipFill rotWithShape="1">
            <a:blip r:embed="rId9">
              <a:alphaModFix amt="27000"/>
            </a:blip>
            <a:srcRect/>
            <a:stretch/>
          </p:blipFill>
          <p:spPr>
            <a:xfrm>
              <a:off x="6678523" y="3634025"/>
              <a:ext cx="310599" cy="310600"/>
            </a:xfrm>
            <a:prstGeom prst="rect">
              <a:avLst/>
            </a:prstGeom>
            <a:noFill/>
            <a:ln>
              <a:noFill/>
            </a:ln>
          </p:spPr>
        </p:pic>
        <p:pic>
          <p:nvPicPr>
            <p:cNvPr id="70" name="Google Shape;1863;p106">
              <a:extLst>
                <a:ext uri="{FF2B5EF4-FFF2-40B4-BE49-F238E27FC236}">
                  <a16:creationId xmlns:a16="http://schemas.microsoft.com/office/drawing/2014/main" id="{C5A3EA0A-98D3-30FE-CAA7-AAE29EC66102}"/>
                </a:ext>
              </a:extLst>
            </p:cNvPr>
            <p:cNvPicPr preferRelativeResize="0"/>
            <p:nvPr/>
          </p:nvPicPr>
          <p:blipFill rotWithShape="1">
            <a:blip r:embed="rId10">
              <a:alphaModFix amt="48000"/>
            </a:blip>
            <a:srcRect/>
            <a:stretch/>
          </p:blipFill>
          <p:spPr>
            <a:xfrm>
              <a:off x="6721853" y="4726075"/>
              <a:ext cx="223940" cy="234593"/>
            </a:xfrm>
            <a:prstGeom prst="rect">
              <a:avLst/>
            </a:prstGeom>
            <a:noFill/>
            <a:ln>
              <a:noFill/>
            </a:ln>
          </p:spPr>
        </p:pic>
        <p:pic>
          <p:nvPicPr>
            <p:cNvPr id="71" name="Google Shape;1864;p106">
              <a:extLst>
                <a:ext uri="{FF2B5EF4-FFF2-40B4-BE49-F238E27FC236}">
                  <a16:creationId xmlns:a16="http://schemas.microsoft.com/office/drawing/2014/main" id="{76A89C15-8C5D-C81C-466C-4152823F7318}"/>
                </a:ext>
              </a:extLst>
            </p:cNvPr>
            <p:cNvPicPr preferRelativeResize="0"/>
            <p:nvPr/>
          </p:nvPicPr>
          <p:blipFill rotWithShape="1">
            <a:blip r:embed="rId11">
              <a:alphaModFix amt="26000"/>
            </a:blip>
            <a:srcRect/>
            <a:stretch/>
          </p:blipFill>
          <p:spPr>
            <a:xfrm>
              <a:off x="6721853" y="5260044"/>
              <a:ext cx="223940" cy="263752"/>
            </a:xfrm>
            <a:prstGeom prst="rect">
              <a:avLst/>
            </a:prstGeom>
            <a:noFill/>
            <a:ln>
              <a:noFill/>
            </a:ln>
          </p:spPr>
        </p:pic>
        <p:pic>
          <p:nvPicPr>
            <p:cNvPr id="72" name="Google Shape;1865;p106">
              <a:extLst>
                <a:ext uri="{FF2B5EF4-FFF2-40B4-BE49-F238E27FC236}">
                  <a16:creationId xmlns:a16="http://schemas.microsoft.com/office/drawing/2014/main" id="{74A76087-6FA4-4713-38D4-4BA5E875A7F5}"/>
                </a:ext>
              </a:extLst>
            </p:cNvPr>
            <p:cNvPicPr preferRelativeResize="0"/>
            <p:nvPr/>
          </p:nvPicPr>
          <p:blipFill rotWithShape="1">
            <a:blip r:embed="rId12">
              <a:alphaModFix amt="33000"/>
            </a:blip>
            <a:srcRect/>
            <a:stretch/>
          </p:blipFill>
          <p:spPr>
            <a:xfrm>
              <a:off x="6721852" y="5796586"/>
              <a:ext cx="223941" cy="223941"/>
            </a:xfrm>
            <a:prstGeom prst="rect">
              <a:avLst/>
            </a:prstGeom>
            <a:noFill/>
            <a:ln>
              <a:noFill/>
            </a:ln>
          </p:spPr>
        </p:pic>
      </p:grpSp>
    </p:spTree>
    <p:extLst>
      <p:ext uri="{BB962C8B-B14F-4D97-AF65-F5344CB8AC3E}">
        <p14:creationId xmlns:p14="http://schemas.microsoft.com/office/powerpoint/2010/main" val="26513486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Rectangle 84">
            <a:extLst>
              <a:ext uri="{FF2B5EF4-FFF2-40B4-BE49-F238E27FC236}">
                <a16:creationId xmlns:a16="http://schemas.microsoft.com/office/drawing/2014/main" id="{FCFC13CC-E538-1DE2-B9F3-34FEDA3B2B05}"/>
              </a:ext>
            </a:extLst>
          </p:cNvPr>
          <p:cNvSpPr/>
          <p:nvPr/>
        </p:nvSpPr>
        <p:spPr>
          <a:xfrm>
            <a:off x="-16626" y="6420726"/>
            <a:ext cx="12208625" cy="486041"/>
          </a:xfrm>
          <a:prstGeom prst="rect">
            <a:avLst/>
          </a:prstGeom>
          <a:solidFill>
            <a:srgbClr val="0100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6" name="Picture 85">
            <a:extLst>
              <a:ext uri="{FF2B5EF4-FFF2-40B4-BE49-F238E27FC236}">
                <a16:creationId xmlns:a16="http://schemas.microsoft.com/office/drawing/2014/main" id="{13BB38F0-C95D-7B7F-476A-7A82F8F144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43815" y="6576506"/>
            <a:ext cx="1401689" cy="174481"/>
          </a:xfrm>
          <a:prstGeom prst="rect">
            <a:avLst/>
          </a:prstGeom>
          <a:noFill/>
          <a:extLst>
            <a:ext uri="{909E8E84-426E-40DD-AFC4-6F175D3DCCD1}">
              <a14:hiddenFill xmlns:a14="http://schemas.microsoft.com/office/drawing/2010/main">
                <a:solidFill>
                  <a:srgbClr val="FFFFFF"/>
                </a:solidFill>
              </a14:hiddenFill>
            </a:ext>
          </a:extLst>
        </p:spPr>
      </p:pic>
      <p:sp>
        <p:nvSpPr>
          <p:cNvPr id="87" name="TextBox 86">
            <a:extLst>
              <a:ext uri="{FF2B5EF4-FFF2-40B4-BE49-F238E27FC236}">
                <a16:creationId xmlns:a16="http://schemas.microsoft.com/office/drawing/2014/main" id="{7EC8E12D-52D2-C4A1-6B04-9031FBFF5B11}"/>
              </a:ext>
            </a:extLst>
          </p:cNvPr>
          <p:cNvSpPr txBox="1"/>
          <p:nvPr/>
        </p:nvSpPr>
        <p:spPr>
          <a:xfrm>
            <a:off x="78859" y="6536788"/>
            <a:ext cx="4239255" cy="253916"/>
          </a:xfrm>
          <a:prstGeom prst="rect">
            <a:avLst/>
          </a:prstGeom>
          <a:noFill/>
        </p:spPr>
        <p:txBody>
          <a:bodyPr wrap="square">
            <a:spAutoFit/>
          </a:bodyPr>
          <a:lstStyle/>
          <a:p>
            <a:r>
              <a:rPr lang="en-US" sz="1050" b="0" i="0" u="none" strike="noStrike">
                <a:solidFill>
                  <a:schemeClr val="bg1">
                    <a:lumMod val="75000"/>
                  </a:schemeClr>
                </a:solidFill>
                <a:effectLst/>
                <a:latin typeface="Poppins" pitchFamily="2" charset="77"/>
              </a:rPr>
              <a:t>© 2023 Horizon Media – Confidential &amp; Proprietary</a:t>
            </a:r>
            <a:r>
              <a:rPr lang="en-US" sz="1050" b="0" i="0">
                <a:solidFill>
                  <a:schemeClr val="bg1">
                    <a:lumMod val="75000"/>
                  </a:schemeClr>
                </a:solidFill>
                <a:effectLst/>
                <a:latin typeface="Poppins" pitchFamily="2" charset="77"/>
              </a:rPr>
              <a:t>​</a:t>
            </a:r>
            <a:endParaRPr lang="en-US" sz="1050">
              <a:solidFill>
                <a:schemeClr val="bg1">
                  <a:lumMod val="75000"/>
                </a:schemeClr>
              </a:solidFill>
            </a:endParaRPr>
          </a:p>
        </p:txBody>
      </p:sp>
      <p:sp>
        <p:nvSpPr>
          <p:cNvPr id="50" name="Rectangle 49">
            <a:extLst>
              <a:ext uri="{FF2B5EF4-FFF2-40B4-BE49-F238E27FC236}">
                <a16:creationId xmlns:a16="http://schemas.microsoft.com/office/drawing/2014/main" id="{99FA5158-1764-537A-90BC-CCE19EC41D3F}"/>
              </a:ext>
            </a:extLst>
          </p:cNvPr>
          <p:cNvSpPr/>
          <p:nvPr/>
        </p:nvSpPr>
        <p:spPr>
          <a:xfrm flipV="1">
            <a:off x="-16626" y="0"/>
            <a:ext cx="12191998" cy="1331619"/>
          </a:xfrm>
          <a:prstGeom prst="rect">
            <a:avLst/>
          </a:prstGeom>
          <a:solidFill>
            <a:srgbClr val="6699CC">
              <a:alpha val="1294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73165088-95D9-0886-1B5B-FB4820C3A300}"/>
              </a:ext>
            </a:extLst>
          </p:cNvPr>
          <p:cNvSpPr/>
          <p:nvPr/>
        </p:nvSpPr>
        <p:spPr>
          <a:xfrm>
            <a:off x="885079" y="944385"/>
            <a:ext cx="1063653" cy="56954"/>
          </a:xfrm>
          <a:prstGeom prst="rect">
            <a:avLst/>
          </a:prstGeom>
          <a:solidFill>
            <a:srgbClr val="1A2E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1A2E51"/>
              </a:solidFill>
              <a:latin typeface="Arial" panose="020B0604020202020204" pitchFamily="34" charset="0"/>
            </a:endParaRPr>
          </a:p>
        </p:txBody>
      </p:sp>
      <p:sp>
        <p:nvSpPr>
          <p:cNvPr id="52" name="TextBox 51">
            <a:extLst>
              <a:ext uri="{FF2B5EF4-FFF2-40B4-BE49-F238E27FC236}">
                <a16:creationId xmlns:a16="http://schemas.microsoft.com/office/drawing/2014/main" id="{AAA5F3F3-E2CB-BE31-83D9-604EA7F41B55}"/>
              </a:ext>
            </a:extLst>
          </p:cNvPr>
          <p:cNvSpPr txBox="1"/>
          <p:nvPr/>
        </p:nvSpPr>
        <p:spPr>
          <a:xfrm>
            <a:off x="885079" y="476586"/>
            <a:ext cx="7981244" cy="523220"/>
          </a:xfrm>
          <a:prstGeom prst="rect">
            <a:avLst/>
          </a:prstGeom>
          <a:noFill/>
        </p:spPr>
        <p:txBody>
          <a:bodyPr wrap="square" lIns="0">
            <a:spAutoFit/>
          </a:bodyPr>
          <a:lstStyle/>
          <a:p>
            <a:pPr>
              <a:spcAft>
                <a:spcPts val="200"/>
              </a:spcAft>
            </a:pPr>
            <a:r>
              <a:rPr lang="en-US" sz="2800">
                <a:solidFill>
                  <a:srgbClr val="1A2E51"/>
                </a:solidFill>
                <a:latin typeface="Poppins SemiBold" pitchFamily="2" charset="77"/>
                <a:ea typeface="+mj-ea"/>
                <a:cs typeface="+mj-cs"/>
              </a:rPr>
              <a:t>Process-Driven Procedure</a:t>
            </a:r>
          </a:p>
        </p:txBody>
      </p:sp>
      <p:sp>
        <p:nvSpPr>
          <p:cNvPr id="53" name="TextBox 52">
            <a:extLst>
              <a:ext uri="{FF2B5EF4-FFF2-40B4-BE49-F238E27FC236}">
                <a16:creationId xmlns:a16="http://schemas.microsoft.com/office/drawing/2014/main" id="{F5F55756-39DB-7311-DAD5-6B25D5089CDC}"/>
              </a:ext>
            </a:extLst>
          </p:cNvPr>
          <p:cNvSpPr txBox="1"/>
          <p:nvPr/>
        </p:nvSpPr>
        <p:spPr>
          <a:xfrm>
            <a:off x="918945" y="224229"/>
            <a:ext cx="7981244" cy="307777"/>
          </a:xfrm>
          <a:prstGeom prst="rect">
            <a:avLst/>
          </a:prstGeom>
          <a:noFill/>
        </p:spPr>
        <p:txBody>
          <a:bodyPr wrap="square" lIns="0">
            <a:spAutoFit/>
          </a:bodyPr>
          <a:lstStyle/>
          <a:p>
            <a:pPr>
              <a:spcAft>
                <a:spcPts val="200"/>
              </a:spcAft>
            </a:pPr>
            <a:r>
              <a:rPr lang="en-US" sz="1400">
                <a:solidFill>
                  <a:srgbClr val="1A2E51"/>
                </a:solidFill>
                <a:latin typeface="Poppins SemiBold" pitchFamily="2" charset="77"/>
                <a:ea typeface="+mj-ea"/>
                <a:cs typeface="+mj-cs"/>
              </a:rPr>
              <a:t>CRO Team</a:t>
            </a:r>
            <a:endParaRPr lang="en-US" sz="1400">
              <a:solidFill>
                <a:srgbClr val="1A2E51"/>
              </a:solidFill>
            </a:endParaRPr>
          </a:p>
        </p:txBody>
      </p:sp>
      <p:pic>
        <p:nvPicPr>
          <p:cNvPr id="10" name="Picture 9" descr="A screenshot of a computer&#10;&#10;Description automatically generated">
            <a:extLst>
              <a:ext uri="{FF2B5EF4-FFF2-40B4-BE49-F238E27FC236}">
                <a16:creationId xmlns:a16="http://schemas.microsoft.com/office/drawing/2014/main" id="{AEE610D2-F40B-F317-CC23-074B678750C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8983" y="1886936"/>
            <a:ext cx="2963008" cy="2922846"/>
          </a:xfrm>
          <a:prstGeom prst="rect">
            <a:avLst/>
          </a:prstGeom>
        </p:spPr>
      </p:pic>
      <p:pic>
        <p:nvPicPr>
          <p:cNvPr id="12" name="Picture 11" descr="A screenshot of a computer&#10;&#10;Description automatically generated">
            <a:extLst>
              <a:ext uri="{FF2B5EF4-FFF2-40B4-BE49-F238E27FC236}">
                <a16:creationId xmlns:a16="http://schemas.microsoft.com/office/drawing/2014/main" id="{E98B014C-39C1-7A84-F385-E52297F8B04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612001" y="1886936"/>
            <a:ext cx="3874070" cy="2716821"/>
          </a:xfrm>
          <a:prstGeom prst="rect">
            <a:avLst/>
          </a:prstGeom>
        </p:spPr>
      </p:pic>
      <p:pic>
        <p:nvPicPr>
          <p:cNvPr id="14" name="Picture 13" descr="A screenshot of a computer&#10;&#10;Description automatically generated">
            <a:extLst>
              <a:ext uri="{FF2B5EF4-FFF2-40B4-BE49-F238E27FC236}">
                <a16:creationId xmlns:a16="http://schemas.microsoft.com/office/drawing/2014/main" id="{4360550A-26BC-11B0-AF7C-296267EC8E4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713762" y="2017382"/>
            <a:ext cx="4239255" cy="2661954"/>
          </a:xfrm>
          <a:prstGeom prst="rect">
            <a:avLst/>
          </a:prstGeom>
        </p:spPr>
      </p:pic>
      <p:pic>
        <p:nvPicPr>
          <p:cNvPr id="8" name="Picture 7">
            <a:extLst>
              <a:ext uri="{FF2B5EF4-FFF2-40B4-BE49-F238E27FC236}">
                <a16:creationId xmlns:a16="http://schemas.microsoft.com/office/drawing/2014/main" id="{47C30EA7-0D9B-01D3-2CDB-EA823086512E}"/>
              </a:ext>
            </a:extLst>
          </p:cNvPr>
          <p:cNvPicPr>
            <a:picLocks noChangeAspect="1"/>
          </p:cNvPicPr>
          <p:nvPr/>
        </p:nvPicPr>
        <p:blipFill>
          <a:blip r:embed="rId7"/>
          <a:stretch>
            <a:fillRect/>
          </a:stretch>
        </p:blipFill>
        <p:spPr>
          <a:xfrm>
            <a:off x="918945" y="4424419"/>
            <a:ext cx="2394222" cy="1616211"/>
          </a:xfrm>
          <a:prstGeom prst="rect">
            <a:avLst/>
          </a:prstGeom>
        </p:spPr>
      </p:pic>
      <p:pic>
        <p:nvPicPr>
          <p:cNvPr id="19" name="Picture 18">
            <a:extLst>
              <a:ext uri="{FF2B5EF4-FFF2-40B4-BE49-F238E27FC236}">
                <a16:creationId xmlns:a16="http://schemas.microsoft.com/office/drawing/2014/main" id="{24A86AB3-C9ED-0B91-8BBC-72E06A2BD43F}"/>
              </a:ext>
            </a:extLst>
          </p:cNvPr>
          <p:cNvPicPr>
            <a:picLocks noChangeAspect="1"/>
          </p:cNvPicPr>
          <p:nvPr/>
        </p:nvPicPr>
        <p:blipFill>
          <a:blip r:embed="rId8"/>
          <a:stretch>
            <a:fillRect/>
          </a:stretch>
        </p:blipFill>
        <p:spPr>
          <a:xfrm>
            <a:off x="4318114" y="4603757"/>
            <a:ext cx="3018231" cy="1331619"/>
          </a:xfrm>
          <a:prstGeom prst="rect">
            <a:avLst/>
          </a:prstGeom>
        </p:spPr>
      </p:pic>
      <p:pic>
        <p:nvPicPr>
          <p:cNvPr id="21" name="Picture 20">
            <a:extLst>
              <a:ext uri="{FF2B5EF4-FFF2-40B4-BE49-F238E27FC236}">
                <a16:creationId xmlns:a16="http://schemas.microsoft.com/office/drawing/2014/main" id="{DDACA682-C1A9-66A3-69FB-2A2F279B23D1}"/>
              </a:ext>
            </a:extLst>
          </p:cNvPr>
          <p:cNvPicPr>
            <a:picLocks noChangeAspect="1"/>
          </p:cNvPicPr>
          <p:nvPr/>
        </p:nvPicPr>
        <p:blipFill>
          <a:blip r:embed="rId9"/>
          <a:stretch>
            <a:fillRect/>
          </a:stretch>
        </p:blipFill>
        <p:spPr>
          <a:xfrm>
            <a:off x="8611703" y="4462315"/>
            <a:ext cx="3214565" cy="1540418"/>
          </a:xfrm>
          <a:prstGeom prst="rect">
            <a:avLst/>
          </a:prstGeom>
        </p:spPr>
      </p:pic>
      <p:sp>
        <p:nvSpPr>
          <p:cNvPr id="22" name="TextBox 21">
            <a:extLst>
              <a:ext uri="{FF2B5EF4-FFF2-40B4-BE49-F238E27FC236}">
                <a16:creationId xmlns:a16="http://schemas.microsoft.com/office/drawing/2014/main" id="{BCDFE2F0-6B43-2C2E-EE5E-7BA9B1649B3B}"/>
              </a:ext>
            </a:extLst>
          </p:cNvPr>
          <p:cNvSpPr txBox="1"/>
          <p:nvPr/>
        </p:nvSpPr>
        <p:spPr>
          <a:xfrm>
            <a:off x="646389" y="1611112"/>
            <a:ext cx="2305041" cy="276999"/>
          </a:xfrm>
          <a:prstGeom prst="rect">
            <a:avLst/>
          </a:prstGeom>
          <a:noFill/>
        </p:spPr>
        <p:txBody>
          <a:bodyPr wrap="square" lIns="0">
            <a:spAutoFit/>
          </a:bodyPr>
          <a:lstStyle/>
          <a:p>
            <a:pPr>
              <a:spcAft>
                <a:spcPts val="200"/>
              </a:spcAft>
            </a:pPr>
            <a:r>
              <a:rPr lang="en-US" sz="1200">
                <a:solidFill>
                  <a:srgbClr val="1A2E51"/>
                </a:solidFill>
                <a:latin typeface="Poppins" panose="00000500000000000000" pitchFamily="2" charset="0"/>
                <a:cs typeface="Poppins" panose="00000500000000000000" pitchFamily="2" charset="0"/>
              </a:rPr>
              <a:t>Standardized Benchmarking</a:t>
            </a:r>
          </a:p>
        </p:txBody>
      </p:sp>
      <p:sp>
        <p:nvSpPr>
          <p:cNvPr id="23" name="TextBox 22">
            <a:extLst>
              <a:ext uri="{FF2B5EF4-FFF2-40B4-BE49-F238E27FC236}">
                <a16:creationId xmlns:a16="http://schemas.microsoft.com/office/drawing/2014/main" id="{35D63C5B-0862-21CE-9B04-E1F2ADDD9662}"/>
              </a:ext>
            </a:extLst>
          </p:cNvPr>
          <p:cNvSpPr txBox="1"/>
          <p:nvPr/>
        </p:nvSpPr>
        <p:spPr>
          <a:xfrm>
            <a:off x="3906374" y="1592926"/>
            <a:ext cx="3520430" cy="276999"/>
          </a:xfrm>
          <a:prstGeom prst="rect">
            <a:avLst/>
          </a:prstGeom>
          <a:noFill/>
        </p:spPr>
        <p:txBody>
          <a:bodyPr wrap="square" lIns="0">
            <a:spAutoFit/>
          </a:bodyPr>
          <a:lstStyle/>
          <a:p>
            <a:pPr>
              <a:spcAft>
                <a:spcPts val="200"/>
              </a:spcAft>
            </a:pPr>
            <a:r>
              <a:rPr lang="en-US" sz="1200">
                <a:solidFill>
                  <a:srgbClr val="1A2E51"/>
                </a:solidFill>
                <a:latin typeface="Poppins" panose="00000500000000000000" pitchFamily="2" charset="0"/>
                <a:cs typeface="Poppins" panose="00000500000000000000" pitchFamily="2" charset="0"/>
              </a:rPr>
              <a:t>Collaborative Workflow &amp; Communication</a:t>
            </a:r>
          </a:p>
        </p:txBody>
      </p:sp>
      <p:sp>
        <p:nvSpPr>
          <p:cNvPr id="24" name="TextBox 23">
            <a:extLst>
              <a:ext uri="{FF2B5EF4-FFF2-40B4-BE49-F238E27FC236}">
                <a16:creationId xmlns:a16="http://schemas.microsoft.com/office/drawing/2014/main" id="{F2890B4E-1119-A959-1A67-2A223E607DAA}"/>
              </a:ext>
            </a:extLst>
          </p:cNvPr>
          <p:cNvSpPr txBox="1"/>
          <p:nvPr/>
        </p:nvSpPr>
        <p:spPr>
          <a:xfrm>
            <a:off x="8501271" y="1592926"/>
            <a:ext cx="2788400" cy="276999"/>
          </a:xfrm>
          <a:prstGeom prst="rect">
            <a:avLst/>
          </a:prstGeom>
          <a:noFill/>
        </p:spPr>
        <p:txBody>
          <a:bodyPr wrap="square" lIns="0">
            <a:spAutoFit/>
          </a:bodyPr>
          <a:lstStyle/>
          <a:p>
            <a:pPr>
              <a:spcAft>
                <a:spcPts val="200"/>
              </a:spcAft>
            </a:pPr>
            <a:r>
              <a:rPr lang="en-US" sz="1200">
                <a:solidFill>
                  <a:srgbClr val="1A2E51"/>
                </a:solidFill>
                <a:latin typeface="Poppins" panose="00000500000000000000" pitchFamily="2" charset="0"/>
                <a:cs typeface="Poppins" panose="00000500000000000000" pitchFamily="2" charset="0"/>
              </a:rPr>
              <a:t>Structured Evergreen Launches</a:t>
            </a:r>
          </a:p>
        </p:txBody>
      </p:sp>
    </p:spTree>
    <p:extLst>
      <p:ext uri="{BB962C8B-B14F-4D97-AF65-F5344CB8AC3E}">
        <p14:creationId xmlns:p14="http://schemas.microsoft.com/office/powerpoint/2010/main" val="18870629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6C32B-B929-10A2-1CC3-621B4D67BE17}"/>
            </a:ext>
          </a:extLst>
        </p:cNvPr>
        <p:cNvGrpSpPr/>
        <p:nvPr/>
      </p:nvGrpSpPr>
      <p:grpSpPr>
        <a:xfrm>
          <a:off x="0" y="0"/>
          <a:ext cx="0" cy="0"/>
          <a:chOff x="0" y="0"/>
          <a:chExt cx="0" cy="0"/>
        </a:xfrm>
      </p:grpSpPr>
      <p:sp>
        <p:nvSpPr>
          <p:cNvPr id="85" name="Rectangle 84">
            <a:extLst>
              <a:ext uri="{FF2B5EF4-FFF2-40B4-BE49-F238E27FC236}">
                <a16:creationId xmlns:a16="http://schemas.microsoft.com/office/drawing/2014/main" id="{C8D456C1-6066-25AF-A336-858F50203BEE}"/>
              </a:ext>
            </a:extLst>
          </p:cNvPr>
          <p:cNvSpPr/>
          <p:nvPr/>
        </p:nvSpPr>
        <p:spPr>
          <a:xfrm>
            <a:off x="-16626" y="6420726"/>
            <a:ext cx="12208625" cy="486041"/>
          </a:xfrm>
          <a:prstGeom prst="rect">
            <a:avLst/>
          </a:prstGeom>
          <a:solidFill>
            <a:srgbClr val="0100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6" name="Picture 85">
            <a:extLst>
              <a:ext uri="{FF2B5EF4-FFF2-40B4-BE49-F238E27FC236}">
                <a16:creationId xmlns:a16="http://schemas.microsoft.com/office/drawing/2014/main" id="{AB3793F5-02E2-0B40-6094-D23FE05C20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43815" y="6576506"/>
            <a:ext cx="1401689" cy="174481"/>
          </a:xfrm>
          <a:prstGeom prst="rect">
            <a:avLst/>
          </a:prstGeom>
          <a:noFill/>
          <a:extLst>
            <a:ext uri="{909E8E84-426E-40DD-AFC4-6F175D3DCCD1}">
              <a14:hiddenFill xmlns:a14="http://schemas.microsoft.com/office/drawing/2010/main">
                <a:solidFill>
                  <a:srgbClr val="FFFFFF"/>
                </a:solidFill>
              </a14:hiddenFill>
            </a:ext>
          </a:extLst>
        </p:spPr>
      </p:pic>
      <p:sp>
        <p:nvSpPr>
          <p:cNvPr id="87" name="TextBox 86">
            <a:extLst>
              <a:ext uri="{FF2B5EF4-FFF2-40B4-BE49-F238E27FC236}">
                <a16:creationId xmlns:a16="http://schemas.microsoft.com/office/drawing/2014/main" id="{48C00048-6757-7E4C-FF49-105BE7618DEA}"/>
              </a:ext>
            </a:extLst>
          </p:cNvPr>
          <p:cNvSpPr txBox="1"/>
          <p:nvPr/>
        </p:nvSpPr>
        <p:spPr>
          <a:xfrm>
            <a:off x="78859" y="6536788"/>
            <a:ext cx="4239255" cy="253916"/>
          </a:xfrm>
          <a:prstGeom prst="rect">
            <a:avLst/>
          </a:prstGeom>
          <a:noFill/>
        </p:spPr>
        <p:txBody>
          <a:bodyPr wrap="square">
            <a:spAutoFit/>
          </a:bodyPr>
          <a:lstStyle/>
          <a:p>
            <a:r>
              <a:rPr lang="en-US" sz="1050" b="0" i="0" u="none" strike="noStrike">
                <a:solidFill>
                  <a:schemeClr val="bg1">
                    <a:lumMod val="75000"/>
                  </a:schemeClr>
                </a:solidFill>
                <a:effectLst/>
                <a:latin typeface="Poppins" pitchFamily="2" charset="77"/>
              </a:rPr>
              <a:t>© 2023 Horizon Media – Confidential &amp; Proprietary</a:t>
            </a:r>
            <a:r>
              <a:rPr lang="en-US" sz="1050" b="0" i="0">
                <a:solidFill>
                  <a:schemeClr val="bg1">
                    <a:lumMod val="75000"/>
                  </a:schemeClr>
                </a:solidFill>
                <a:effectLst/>
                <a:latin typeface="Poppins" pitchFamily="2" charset="77"/>
              </a:rPr>
              <a:t>​</a:t>
            </a:r>
            <a:endParaRPr lang="en-US" sz="1050">
              <a:solidFill>
                <a:schemeClr val="bg1">
                  <a:lumMod val="75000"/>
                </a:schemeClr>
              </a:solidFill>
            </a:endParaRPr>
          </a:p>
        </p:txBody>
      </p:sp>
      <p:sp>
        <p:nvSpPr>
          <p:cNvPr id="50" name="Rectangle 49">
            <a:extLst>
              <a:ext uri="{FF2B5EF4-FFF2-40B4-BE49-F238E27FC236}">
                <a16:creationId xmlns:a16="http://schemas.microsoft.com/office/drawing/2014/main" id="{8C7E46EE-8616-4F56-1CC8-D595B4CC17C0}"/>
              </a:ext>
            </a:extLst>
          </p:cNvPr>
          <p:cNvSpPr/>
          <p:nvPr/>
        </p:nvSpPr>
        <p:spPr>
          <a:xfrm flipV="1">
            <a:off x="-16626" y="0"/>
            <a:ext cx="12191998" cy="1331619"/>
          </a:xfrm>
          <a:prstGeom prst="rect">
            <a:avLst/>
          </a:prstGeom>
          <a:solidFill>
            <a:srgbClr val="6699CC">
              <a:alpha val="1294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F58BEFB8-759B-9269-5141-CA7D004046BE}"/>
              </a:ext>
            </a:extLst>
          </p:cNvPr>
          <p:cNvSpPr/>
          <p:nvPr/>
        </p:nvSpPr>
        <p:spPr>
          <a:xfrm>
            <a:off x="885079" y="944385"/>
            <a:ext cx="1063653" cy="56954"/>
          </a:xfrm>
          <a:prstGeom prst="rect">
            <a:avLst/>
          </a:prstGeom>
          <a:solidFill>
            <a:srgbClr val="1A2E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1A2E51"/>
              </a:solidFill>
              <a:latin typeface="Arial" panose="020B0604020202020204" pitchFamily="34" charset="0"/>
            </a:endParaRPr>
          </a:p>
        </p:txBody>
      </p:sp>
      <p:sp>
        <p:nvSpPr>
          <p:cNvPr id="52" name="TextBox 51">
            <a:extLst>
              <a:ext uri="{FF2B5EF4-FFF2-40B4-BE49-F238E27FC236}">
                <a16:creationId xmlns:a16="http://schemas.microsoft.com/office/drawing/2014/main" id="{D6B0F1B0-3A29-555D-BC5B-CF91771EDA1F}"/>
              </a:ext>
            </a:extLst>
          </p:cNvPr>
          <p:cNvSpPr txBox="1"/>
          <p:nvPr/>
        </p:nvSpPr>
        <p:spPr>
          <a:xfrm>
            <a:off x="885079" y="476586"/>
            <a:ext cx="7981244" cy="523220"/>
          </a:xfrm>
          <a:prstGeom prst="rect">
            <a:avLst/>
          </a:prstGeom>
          <a:noFill/>
        </p:spPr>
        <p:txBody>
          <a:bodyPr wrap="square" lIns="0">
            <a:spAutoFit/>
          </a:bodyPr>
          <a:lstStyle/>
          <a:p>
            <a:pPr>
              <a:spcAft>
                <a:spcPts val="200"/>
              </a:spcAft>
            </a:pPr>
            <a:r>
              <a:rPr lang="en-US" sz="2800">
                <a:solidFill>
                  <a:srgbClr val="1A2E51"/>
                </a:solidFill>
                <a:latin typeface="Poppins SemiBold" pitchFamily="2" charset="77"/>
                <a:ea typeface="+mj-ea"/>
                <a:cs typeface="+mj-cs"/>
              </a:rPr>
              <a:t>Process-Driven Outcomes</a:t>
            </a:r>
          </a:p>
        </p:txBody>
      </p:sp>
      <p:sp>
        <p:nvSpPr>
          <p:cNvPr id="53" name="TextBox 52">
            <a:extLst>
              <a:ext uri="{FF2B5EF4-FFF2-40B4-BE49-F238E27FC236}">
                <a16:creationId xmlns:a16="http://schemas.microsoft.com/office/drawing/2014/main" id="{BB9D12A8-D54C-F4AD-B361-8DEB6C8A7A9A}"/>
              </a:ext>
            </a:extLst>
          </p:cNvPr>
          <p:cNvSpPr txBox="1"/>
          <p:nvPr/>
        </p:nvSpPr>
        <p:spPr>
          <a:xfrm>
            <a:off x="918945" y="224229"/>
            <a:ext cx="7981244" cy="307777"/>
          </a:xfrm>
          <a:prstGeom prst="rect">
            <a:avLst/>
          </a:prstGeom>
          <a:noFill/>
        </p:spPr>
        <p:txBody>
          <a:bodyPr wrap="square" lIns="0">
            <a:spAutoFit/>
          </a:bodyPr>
          <a:lstStyle/>
          <a:p>
            <a:pPr>
              <a:spcAft>
                <a:spcPts val="200"/>
              </a:spcAft>
            </a:pPr>
            <a:r>
              <a:rPr lang="en-US" sz="1400">
                <a:solidFill>
                  <a:srgbClr val="1A2E51"/>
                </a:solidFill>
                <a:latin typeface="Poppins SemiBold" pitchFamily="2" charset="77"/>
                <a:ea typeface="+mj-ea"/>
                <a:cs typeface="+mj-cs"/>
              </a:rPr>
              <a:t>CRO Team</a:t>
            </a:r>
            <a:endParaRPr lang="en-US" sz="1400">
              <a:solidFill>
                <a:srgbClr val="1A2E51"/>
              </a:solidFill>
            </a:endParaRPr>
          </a:p>
        </p:txBody>
      </p:sp>
      <p:sp>
        <p:nvSpPr>
          <p:cNvPr id="2" name="Google Shape;1587;p95">
            <a:extLst>
              <a:ext uri="{FF2B5EF4-FFF2-40B4-BE49-F238E27FC236}">
                <a16:creationId xmlns:a16="http://schemas.microsoft.com/office/drawing/2014/main" id="{7BE6745D-9BFC-5DB6-61F9-5DE62E5452F3}"/>
              </a:ext>
            </a:extLst>
          </p:cNvPr>
          <p:cNvSpPr/>
          <p:nvPr/>
        </p:nvSpPr>
        <p:spPr>
          <a:xfrm>
            <a:off x="6558197" y="4500337"/>
            <a:ext cx="5368269" cy="536315"/>
          </a:xfrm>
          <a:prstGeom prst="trapezoid">
            <a:avLst>
              <a:gd name="adj" fmla="val 25000"/>
            </a:avLst>
          </a:prstGeom>
          <a:solidFill>
            <a:srgbClr val="025C76"/>
          </a:solidFill>
          <a:ln w="19050" cap="flat" cmpd="sng">
            <a:solidFill>
              <a:srgbClr val="FFFFFF"/>
            </a:solidFill>
            <a:prstDash val="solid"/>
            <a:round/>
            <a:headEnd type="none" w="sm" len="sm"/>
            <a:tailEnd type="none" w="sm" len="sm"/>
          </a:ln>
        </p:spPr>
        <p:txBody>
          <a:bodyPr spcFirstLastPara="1" wrap="square" lIns="75575" tIns="75575" rIns="75575" bIns="7557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FFFFFF"/>
                </a:solidFill>
                <a:latin typeface="Poppins"/>
                <a:ea typeface="Red Hat Display"/>
                <a:cs typeface="Poppins"/>
                <a:sym typeface="Red Hat Display"/>
              </a:rPr>
              <a:t>Documentation</a:t>
            </a:r>
          </a:p>
        </p:txBody>
      </p:sp>
      <p:sp>
        <p:nvSpPr>
          <p:cNvPr id="3" name="Google Shape;1588;p95">
            <a:extLst>
              <a:ext uri="{FF2B5EF4-FFF2-40B4-BE49-F238E27FC236}">
                <a16:creationId xmlns:a16="http://schemas.microsoft.com/office/drawing/2014/main" id="{B099301C-327F-6881-B532-20D1EAA2ED91}"/>
              </a:ext>
            </a:extLst>
          </p:cNvPr>
          <p:cNvSpPr/>
          <p:nvPr/>
        </p:nvSpPr>
        <p:spPr>
          <a:xfrm>
            <a:off x="6857533" y="3956343"/>
            <a:ext cx="4769597" cy="536315"/>
          </a:xfrm>
          <a:prstGeom prst="trapezoid">
            <a:avLst>
              <a:gd name="adj" fmla="val 25000"/>
            </a:avLst>
          </a:prstGeom>
          <a:solidFill>
            <a:srgbClr val="037A9E"/>
          </a:solidFill>
          <a:ln w="19050" cap="flat" cmpd="sng">
            <a:solidFill>
              <a:srgbClr val="FFFFFF"/>
            </a:solidFill>
            <a:prstDash val="solid"/>
            <a:round/>
            <a:headEnd type="none" w="sm" len="sm"/>
            <a:tailEnd type="none" w="sm" len="sm"/>
          </a:ln>
        </p:spPr>
        <p:txBody>
          <a:bodyPr spcFirstLastPara="1" wrap="square" lIns="75575" tIns="75575" rIns="75575" bIns="7557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FFFFFF"/>
                </a:solidFill>
                <a:latin typeface="Poppins"/>
                <a:ea typeface="Red Hat Display"/>
                <a:cs typeface="Poppins"/>
                <a:sym typeface="Red Hat Display"/>
              </a:rPr>
              <a:t>Measurement</a:t>
            </a:r>
          </a:p>
        </p:txBody>
      </p:sp>
      <p:sp>
        <p:nvSpPr>
          <p:cNvPr id="4" name="Google Shape;1589;p95">
            <a:extLst>
              <a:ext uri="{FF2B5EF4-FFF2-40B4-BE49-F238E27FC236}">
                <a16:creationId xmlns:a16="http://schemas.microsoft.com/office/drawing/2014/main" id="{13758B33-E000-4CBF-80EF-8A53B51B362B}"/>
              </a:ext>
            </a:extLst>
          </p:cNvPr>
          <p:cNvSpPr/>
          <p:nvPr/>
        </p:nvSpPr>
        <p:spPr>
          <a:xfrm>
            <a:off x="7156985" y="3412348"/>
            <a:ext cx="4170693" cy="536315"/>
          </a:xfrm>
          <a:prstGeom prst="trapezoid">
            <a:avLst>
              <a:gd name="adj" fmla="val 25000"/>
            </a:avLst>
          </a:prstGeom>
          <a:solidFill>
            <a:srgbClr val="0499C5"/>
          </a:solidFill>
          <a:ln w="19050" cap="flat" cmpd="sng">
            <a:solidFill>
              <a:srgbClr val="FFFFFF"/>
            </a:solidFill>
            <a:prstDash val="solid"/>
            <a:round/>
            <a:headEnd type="none" w="sm" len="sm"/>
            <a:tailEnd type="none" w="sm" len="sm"/>
          </a:ln>
        </p:spPr>
        <p:txBody>
          <a:bodyPr spcFirstLastPara="1" wrap="square" lIns="75575" tIns="75575" rIns="75575" bIns="7557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FFFFFF"/>
                </a:solidFill>
                <a:latin typeface="Poppins"/>
                <a:ea typeface="Red Hat Display"/>
                <a:cs typeface="Poppins"/>
                <a:sym typeface="Red Hat Display"/>
              </a:rPr>
              <a:t>Continuous Improvement</a:t>
            </a:r>
          </a:p>
        </p:txBody>
      </p:sp>
      <p:sp>
        <p:nvSpPr>
          <p:cNvPr id="5" name="Google Shape;1590;p95">
            <a:extLst>
              <a:ext uri="{FF2B5EF4-FFF2-40B4-BE49-F238E27FC236}">
                <a16:creationId xmlns:a16="http://schemas.microsoft.com/office/drawing/2014/main" id="{35BE1D0A-90D9-BFB3-EC55-634789788A45}"/>
              </a:ext>
            </a:extLst>
          </p:cNvPr>
          <p:cNvSpPr/>
          <p:nvPr/>
        </p:nvSpPr>
        <p:spPr>
          <a:xfrm>
            <a:off x="7485870" y="2868357"/>
            <a:ext cx="3512922" cy="536315"/>
          </a:xfrm>
          <a:prstGeom prst="trapezoid">
            <a:avLst>
              <a:gd name="adj" fmla="val 25000"/>
            </a:avLst>
          </a:prstGeom>
          <a:solidFill>
            <a:srgbClr val="4CB6D6"/>
          </a:solidFill>
          <a:ln w="19050" cap="flat" cmpd="sng">
            <a:solidFill>
              <a:srgbClr val="FFFFFF"/>
            </a:solidFill>
            <a:prstDash val="solid"/>
            <a:round/>
            <a:headEnd type="none" w="sm" len="sm"/>
            <a:tailEnd type="none" w="sm" len="sm"/>
          </a:ln>
        </p:spPr>
        <p:txBody>
          <a:bodyPr spcFirstLastPara="1" wrap="square" lIns="75575" tIns="75575" rIns="75575" bIns="7557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FFFFFF"/>
                </a:solidFill>
                <a:latin typeface="Poppins"/>
                <a:ea typeface="Red Hat Display"/>
                <a:cs typeface="Poppins"/>
                <a:sym typeface="Red Hat Display"/>
              </a:rPr>
              <a:t>Increased Velocity</a:t>
            </a:r>
          </a:p>
        </p:txBody>
      </p:sp>
      <p:sp>
        <p:nvSpPr>
          <p:cNvPr id="6" name="Google Shape;1591;p95">
            <a:extLst>
              <a:ext uri="{FF2B5EF4-FFF2-40B4-BE49-F238E27FC236}">
                <a16:creationId xmlns:a16="http://schemas.microsoft.com/office/drawing/2014/main" id="{73E21506-0D82-7DC0-DF97-F951C26EE9EE}"/>
              </a:ext>
            </a:extLst>
          </p:cNvPr>
          <p:cNvSpPr/>
          <p:nvPr/>
        </p:nvSpPr>
        <p:spPr>
          <a:xfrm>
            <a:off x="7834417" y="2324362"/>
            <a:ext cx="2815828" cy="536315"/>
          </a:xfrm>
          <a:prstGeom prst="trapezoid">
            <a:avLst>
              <a:gd name="adj" fmla="val 25000"/>
            </a:avLst>
          </a:prstGeom>
          <a:solidFill>
            <a:srgbClr val="93D3E6"/>
          </a:solidFill>
          <a:ln w="19050" cap="flat" cmpd="sng">
            <a:solidFill>
              <a:srgbClr val="FFFFFF"/>
            </a:solidFill>
            <a:prstDash val="solid"/>
            <a:round/>
            <a:headEnd type="none" w="sm" len="sm"/>
            <a:tailEnd type="none" w="sm" len="sm"/>
          </a:ln>
        </p:spPr>
        <p:txBody>
          <a:bodyPr spcFirstLastPara="1" wrap="square" lIns="75575" tIns="75575" rIns="75575" bIns="7557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FFFFFF"/>
                </a:solidFill>
                <a:latin typeface="Poppins"/>
                <a:ea typeface="Red Hat Display"/>
                <a:cs typeface="Poppins"/>
                <a:sym typeface="Red Hat Display"/>
              </a:rPr>
              <a:t>Improved Outcomes</a:t>
            </a:r>
          </a:p>
        </p:txBody>
      </p:sp>
      <p:pic>
        <p:nvPicPr>
          <p:cNvPr id="10" name="Picture 9" descr="A screenshot of a computer&#10;&#10;Description automatically generated">
            <a:extLst>
              <a:ext uri="{FF2B5EF4-FFF2-40B4-BE49-F238E27FC236}">
                <a16:creationId xmlns:a16="http://schemas.microsoft.com/office/drawing/2014/main" id="{01851AC3-8D3E-719C-58A3-D7C3F437E02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8087" y="1555848"/>
            <a:ext cx="2607335" cy="2571995"/>
          </a:xfrm>
          <a:prstGeom prst="rect">
            <a:avLst/>
          </a:prstGeom>
        </p:spPr>
      </p:pic>
      <p:pic>
        <p:nvPicPr>
          <p:cNvPr id="12" name="Picture 11" descr="A screenshot of a computer&#10;&#10;Description automatically generated">
            <a:extLst>
              <a:ext uri="{FF2B5EF4-FFF2-40B4-BE49-F238E27FC236}">
                <a16:creationId xmlns:a16="http://schemas.microsoft.com/office/drawing/2014/main" id="{217AEDDF-5902-3C13-C4E3-35549F0FE9E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82222" y="2208489"/>
            <a:ext cx="3667554" cy="2571995"/>
          </a:xfrm>
          <a:prstGeom prst="rect">
            <a:avLst/>
          </a:prstGeom>
        </p:spPr>
      </p:pic>
      <p:pic>
        <p:nvPicPr>
          <p:cNvPr id="14" name="Picture 13" descr="A screenshot of a computer&#10;&#10;Description automatically generated">
            <a:extLst>
              <a:ext uri="{FF2B5EF4-FFF2-40B4-BE49-F238E27FC236}">
                <a16:creationId xmlns:a16="http://schemas.microsoft.com/office/drawing/2014/main" id="{666E94DE-18C0-5BB2-15A1-DA3A6264183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916313" y="3088668"/>
            <a:ext cx="3509262" cy="2203570"/>
          </a:xfrm>
          <a:prstGeom prst="rect">
            <a:avLst/>
          </a:prstGeom>
        </p:spPr>
      </p:pic>
      <p:sp>
        <p:nvSpPr>
          <p:cNvPr id="7" name="Arrow: Right 6">
            <a:extLst>
              <a:ext uri="{FF2B5EF4-FFF2-40B4-BE49-F238E27FC236}">
                <a16:creationId xmlns:a16="http://schemas.microsoft.com/office/drawing/2014/main" id="{FA91855D-D7F3-22E1-048B-267E06C2BA88}"/>
              </a:ext>
            </a:extLst>
          </p:cNvPr>
          <p:cNvSpPr/>
          <p:nvPr/>
        </p:nvSpPr>
        <p:spPr>
          <a:xfrm>
            <a:off x="5658416" y="3811509"/>
            <a:ext cx="1108011" cy="309826"/>
          </a:xfrm>
          <a:prstGeom prst="right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Poppins"/>
              <a:cs typeface="Poppins"/>
            </a:endParaRPr>
          </a:p>
        </p:txBody>
      </p:sp>
    </p:spTree>
    <p:extLst>
      <p:ext uri="{BB962C8B-B14F-4D97-AF65-F5344CB8AC3E}">
        <p14:creationId xmlns:p14="http://schemas.microsoft.com/office/powerpoint/2010/main" val="15570679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FEF208-BB9F-EBF2-E941-2419E836B7C8}"/>
            </a:ext>
          </a:extLst>
        </p:cNvPr>
        <p:cNvGrpSpPr/>
        <p:nvPr/>
      </p:nvGrpSpPr>
      <p:grpSpPr>
        <a:xfrm>
          <a:off x="0" y="0"/>
          <a:ext cx="0" cy="0"/>
          <a:chOff x="0" y="0"/>
          <a:chExt cx="0" cy="0"/>
        </a:xfrm>
      </p:grpSpPr>
      <p:pic>
        <p:nvPicPr>
          <p:cNvPr id="19" name="Picture 18">
            <a:extLst>
              <a:ext uri="{FF2B5EF4-FFF2-40B4-BE49-F238E27FC236}">
                <a16:creationId xmlns:a16="http://schemas.microsoft.com/office/drawing/2014/main" id="{001725B2-6E14-1F9E-820E-BD4D1E3DE422}"/>
              </a:ext>
            </a:extLst>
          </p:cNvPr>
          <p:cNvPicPr>
            <a:picLocks noChangeAspect="1"/>
          </p:cNvPicPr>
          <p:nvPr/>
        </p:nvPicPr>
        <p:blipFill>
          <a:blip r:embed="rId3"/>
          <a:stretch>
            <a:fillRect/>
          </a:stretch>
        </p:blipFill>
        <p:spPr>
          <a:xfrm>
            <a:off x="5990431" y="2337719"/>
            <a:ext cx="2842136" cy="1413503"/>
          </a:xfrm>
          <a:prstGeom prst="rect">
            <a:avLst/>
          </a:prstGeom>
        </p:spPr>
      </p:pic>
      <p:sp>
        <p:nvSpPr>
          <p:cNvPr id="85" name="Rectangle 84">
            <a:extLst>
              <a:ext uri="{FF2B5EF4-FFF2-40B4-BE49-F238E27FC236}">
                <a16:creationId xmlns:a16="http://schemas.microsoft.com/office/drawing/2014/main" id="{4F9A3C8A-A212-1401-CC1C-4B153A33BA71}"/>
              </a:ext>
            </a:extLst>
          </p:cNvPr>
          <p:cNvSpPr/>
          <p:nvPr/>
        </p:nvSpPr>
        <p:spPr>
          <a:xfrm>
            <a:off x="-16626" y="6420726"/>
            <a:ext cx="12208625" cy="486041"/>
          </a:xfrm>
          <a:prstGeom prst="rect">
            <a:avLst/>
          </a:prstGeom>
          <a:solidFill>
            <a:srgbClr val="0100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6" name="Picture 85">
            <a:extLst>
              <a:ext uri="{FF2B5EF4-FFF2-40B4-BE49-F238E27FC236}">
                <a16:creationId xmlns:a16="http://schemas.microsoft.com/office/drawing/2014/main" id="{C223EF74-AE4E-CB2B-3FEA-6B2E51B34B6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43815" y="6576506"/>
            <a:ext cx="1401689" cy="174481"/>
          </a:xfrm>
          <a:prstGeom prst="rect">
            <a:avLst/>
          </a:prstGeom>
          <a:noFill/>
          <a:extLst>
            <a:ext uri="{909E8E84-426E-40DD-AFC4-6F175D3DCCD1}">
              <a14:hiddenFill xmlns:a14="http://schemas.microsoft.com/office/drawing/2010/main">
                <a:solidFill>
                  <a:srgbClr val="FFFFFF"/>
                </a:solidFill>
              </a14:hiddenFill>
            </a:ext>
          </a:extLst>
        </p:spPr>
      </p:pic>
      <p:sp>
        <p:nvSpPr>
          <p:cNvPr id="87" name="TextBox 86">
            <a:extLst>
              <a:ext uri="{FF2B5EF4-FFF2-40B4-BE49-F238E27FC236}">
                <a16:creationId xmlns:a16="http://schemas.microsoft.com/office/drawing/2014/main" id="{133D7791-2A51-AB97-D689-F8C9E26FB58A}"/>
              </a:ext>
            </a:extLst>
          </p:cNvPr>
          <p:cNvSpPr txBox="1"/>
          <p:nvPr/>
        </p:nvSpPr>
        <p:spPr>
          <a:xfrm>
            <a:off x="78859" y="6536788"/>
            <a:ext cx="4239255" cy="253916"/>
          </a:xfrm>
          <a:prstGeom prst="rect">
            <a:avLst/>
          </a:prstGeom>
          <a:noFill/>
        </p:spPr>
        <p:txBody>
          <a:bodyPr wrap="square">
            <a:spAutoFit/>
          </a:bodyPr>
          <a:lstStyle/>
          <a:p>
            <a:r>
              <a:rPr lang="en-US" sz="1050" b="0" i="0" u="none" strike="noStrike">
                <a:solidFill>
                  <a:schemeClr val="bg1">
                    <a:lumMod val="75000"/>
                  </a:schemeClr>
                </a:solidFill>
                <a:effectLst/>
                <a:latin typeface="Poppins" pitchFamily="2" charset="77"/>
              </a:rPr>
              <a:t>© 2023 Horizon Media – Confidential &amp; Proprietary</a:t>
            </a:r>
            <a:r>
              <a:rPr lang="en-US" sz="1050" b="0" i="0">
                <a:solidFill>
                  <a:schemeClr val="bg1">
                    <a:lumMod val="75000"/>
                  </a:schemeClr>
                </a:solidFill>
                <a:effectLst/>
                <a:latin typeface="Poppins" pitchFamily="2" charset="77"/>
              </a:rPr>
              <a:t>​</a:t>
            </a:r>
            <a:endParaRPr lang="en-US" sz="1050">
              <a:solidFill>
                <a:schemeClr val="bg1">
                  <a:lumMod val="75000"/>
                </a:schemeClr>
              </a:solidFill>
            </a:endParaRPr>
          </a:p>
        </p:txBody>
      </p:sp>
      <p:sp>
        <p:nvSpPr>
          <p:cNvPr id="50" name="Rectangle 49">
            <a:extLst>
              <a:ext uri="{FF2B5EF4-FFF2-40B4-BE49-F238E27FC236}">
                <a16:creationId xmlns:a16="http://schemas.microsoft.com/office/drawing/2014/main" id="{54084615-E1F7-85BF-7DB4-B7C98A3BA0D5}"/>
              </a:ext>
            </a:extLst>
          </p:cNvPr>
          <p:cNvSpPr/>
          <p:nvPr/>
        </p:nvSpPr>
        <p:spPr>
          <a:xfrm flipV="1">
            <a:off x="-16626" y="0"/>
            <a:ext cx="12191998" cy="1331619"/>
          </a:xfrm>
          <a:prstGeom prst="rect">
            <a:avLst/>
          </a:prstGeom>
          <a:solidFill>
            <a:srgbClr val="6699CC">
              <a:alpha val="1294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65905BF9-32EA-B293-1AE9-3810022CE921}"/>
              </a:ext>
            </a:extLst>
          </p:cNvPr>
          <p:cNvSpPr/>
          <p:nvPr/>
        </p:nvSpPr>
        <p:spPr>
          <a:xfrm>
            <a:off x="885079" y="944385"/>
            <a:ext cx="1063653" cy="56954"/>
          </a:xfrm>
          <a:prstGeom prst="rect">
            <a:avLst/>
          </a:prstGeom>
          <a:solidFill>
            <a:srgbClr val="1A2E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1A2E51"/>
              </a:solidFill>
              <a:latin typeface="Arial" panose="020B0604020202020204" pitchFamily="34" charset="0"/>
            </a:endParaRPr>
          </a:p>
        </p:txBody>
      </p:sp>
      <p:sp>
        <p:nvSpPr>
          <p:cNvPr id="52" name="TextBox 51">
            <a:extLst>
              <a:ext uri="{FF2B5EF4-FFF2-40B4-BE49-F238E27FC236}">
                <a16:creationId xmlns:a16="http://schemas.microsoft.com/office/drawing/2014/main" id="{D76B38DF-77F1-1F03-B9D2-B58F0446DFC6}"/>
              </a:ext>
            </a:extLst>
          </p:cNvPr>
          <p:cNvSpPr txBox="1"/>
          <p:nvPr/>
        </p:nvSpPr>
        <p:spPr>
          <a:xfrm>
            <a:off x="885079" y="476586"/>
            <a:ext cx="7981244" cy="523220"/>
          </a:xfrm>
          <a:prstGeom prst="rect">
            <a:avLst/>
          </a:prstGeom>
          <a:noFill/>
        </p:spPr>
        <p:txBody>
          <a:bodyPr wrap="square" lIns="0">
            <a:spAutoFit/>
          </a:bodyPr>
          <a:lstStyle/>
          <a:p>
            <a:pPr>
              <a:spcAft>
                <a:spcPts val="200"/>
              </a:spcAft>
            </a:pPr>
            <a:r>
              <a:rPr lang="en-US" sz="2800">
                <a:solidFill>
                  <a:srgbClr val="1A2E51"/>
                </a:solidFill>
                <a:latin typeface="Poppins SemiBold" pitchFamily="2" charset="77"/>
                <a:ea typeface="+mj-ea"/>
                <a:cs typeface="+mj-cs"/>
              </a:rPr>
              <a:t>Improvements In Process </a:t>
            </a:r>
          </a:p>
        </p:txBody>
      </p:sp>
      <p:sp>
        <p:nvSpPr>
          <p:cNvPr id="53" name="TextBox 52">
            <a:extLst>
              <a:ext uri="{FF2B5EF4-FFF2-40B4-BE49-F238E27FC236}">
                <a16:creationId xmlns:a16="http://schemas.microsoft.com/office/drawing/2014/main" id="{9888E1CC-45CB-6125-31EE-6A44641FC679}"/>
              </a:ext>
            </a:extLst>
          </p:cNvPr>
          <p:cNvSpPr txBox="1"/>
          <p:nvPr/>
        </p:nvSpPr>
        <p:spPr>
          <a:xfrm>
            <a:off x="918945" y="224229"/>
            <a:ext cx="7981244" cy="307777"/>
          </a:xfrm>
          <a:prstGeom prst="rect">
            <a:avLst/>
          </a:prstGeom>
          <a:noFill/>
        </p:spPr>
        <p:txBody>
          <a:bodyPr wrap="square" lIns="0">
            <a:spAutoFit/>
          </a:bodyPr>
          <a:lstStyle/>
          <a:p>
            <a:pPr>
              <a:spcAft>
                <a:spcPts val="200"/>
              </a:spcAft>
            </a:pPr>
            <a:r>
              <a:rPr lang="en-US" sz="1400">
                <a:solidFill>
                  <a:srgbClr val="1A2E51"/>
                </a:solidFill>
                <a:latin typeface="Poppins SemiBold" pitchFamily="2" charset="77"/>
                <a:ea typeface="+mj-ea"/>
                <a:cs typeface="+mj-cs"/>
              </a:rPr>
              <a:t>CRO Team</a:t>
            </a:r>
            <a:endParaRPr lang="en-US" sz="1400">
              <a:solidFill>
                <a:srgbClr val="1A2E51"/>
              </a:solidFill>
            </a:endParaRPr>
          </a:p>
        </p:txBody>
      </p:sp>
      <p:pic>
        <p:nvPicPr>
          <p:cNvPr id="7" name="Picture 6">
            <a:extLst>
              <a:ext uri="{FF2B5EF4-FFF2-40B4-BE49-F238E27FC236}">
                <a16:creationId xmlns:a16="http://schemas.microsoft.com/office/drawing/2014/main" id="{C0683A71-4C2B-53FF-C96B-8A6F452A854F}"/>
              </a:ext>
            </a:extLst>
          </p:cNvPr>
          <p:cNvPicPr>
            <a:picLocks noChangeAspect="1"/>
          </p:cNvPicPr>
          <p:nvPr/>
        </p:nvPicPr>
        <p:blipFill>
          <a:blip r:embed="rId5"/>
          <a:stretch>
            <a:fillRect/>
          </a:stretch>
        </p:blipFill>
        <p:spPr>
          <a:xfrm>
            <a:off x="2315557" y="2157796"/>
            <a:ext cx="3199775" cy="3535162"/>
          </a:xfrm>
          <a:prstGeom prst="rect">
            <a:avLst/>
          </a:prstGeom>
        </p:spPr>
      </p:pic>
      <p:pic>
        <p:nvPicPr>
          <p:cNvPr id="11" name="Picture 10">
            <a:extLst>
              <a:ext uri="{FF2B5EF4-FFF2-40B4-BE49-F238E27FC236}">
                <a16:creationId xmlns:a16="http://schemas.microsoft.com/office/drawing/2014/main" id="{D06926B5-431B-DEF1-6929-6B045658524B}"/>
              </a:ext>
            </a:extLst>
          </p:cNvPr>
          <p:cNvPicPr>
            <a:picLocks noChangeAspect="1"/>
          </p:cNvPicPr>
          <p:nvPr/>
        </p:nvPicPr>
        <p:blipFill>
          <a:blip r:embed="rId6"/>
          <a:stretch>
            <a:fillRect/>
          </a:stretch>
        </p:blipFill>
        <p:spPr>
          <a:xfrm>
            <a:off x="6873645" y="2932000"/>
            <a:ext cx="2655106" cy="1331619"/>
          </a:xfrm>
          <a:prstGeom prst="rect">
            <a:avLst/>
          </a:prstGeom>
        </p:spPr>
      </p:pic>
      <p:pic>
        <p:nvPicPr>
          <p:cNvPr id="15" name="Picture 14">
            <a:extLst>
              <a:ext uri="{FF2B5EF4-FFF2-40B4-BE49-F238E27FC236}">
                <a16:creationId xmlns:a16="http://schemas.microsoft.com/office/drawing/2014/main" id="{48BF722A-13D3-962A-927C-2E63B559AF69}"/>
              </a:ext>
            </a:extLst>
          </p:cNvPr>
          <p:cNvPicPr>
            <a:picLocks noChangeAspect="1"/>
          </p:cNvPicPr>
          <p:nvPr/>
        </p:nvPicPr>
        <p:blipFill>
          <a:blip r:embed="rId7"/>
          <a:stretch>
            <a:fillRect/>
          </a:stretch>
        </p:blipFill>
        <p:spPr>
          <a:xfrm>
            <a:off x="7716764" y="3886625"/>
            <a:ext cx="2529306" cy="1272412"/>
          </a:xfrm>
          <a:prstGeom prst="rect">
            <a:avLst/>
          </a:prstGeom>
        </p:spPr>
      </p:pic>
      <p:sp>
        <p:nvSpPr>
          <p:cNvPr id="16" name="TextBox 15">
            <a:extLst>
              <a:ext uri="{FF2B5EF4-FFF2-40B4-BE49-F238E27FC236}">
                <a16:creationId xmlns:a16="http://schemas.microsoft.com/office/drawing/2014/main" id="{D6E59407-9894-9F1F-BECB-26BD7611F434}"/>
              </a:ext>
            </a:extLst>
          </p:cNvPr>
          <p:cNvSpPr txBox="1"/>
          <p:nvPr/>
        </p:nvSpPr>
        <p:spPr>
          <a:xfrm>
            <a:off x="2362597" y="1781106"/>
            <a:ext cx="3199775" cy="276999"/>
          </a:xfrm>
          <a:prstGeom prst="rect">
            <a:avLst/>
          </a:prstGeom>
          <a:noFill/>
        </p:spPr>
        <p:txBody>
          <a:bodyPr wrap="square" lIns="0">
            <a:spAutoFit/>
          </a:bodyPr>
          <a:lstStyle/>
          <a:p>
            <a:pPr>
              <a:spcAft>
                <a:spcPts val="200"/>
              </a:spcAft>
            </a:pPr>
            <a:r>
              <a:rPr lang="en-US" sz="1200">
                <a:solidFill>
                  <a:srgbClr val="1A2E51"/>
                </a:solidFill>
                <a:latin typeface="Poppins" panose="00000500000000000000" pitchFamily="2" charset="0"/>
                <a:cs typeface="Poppins" panose="00000500000000000000" pitchFamily="2" charset="0"/>
              </a:rPr>
              <a:t>Creative Brief Refinement Based Off LOE </a:t>
            </a:r>
          </a:p>
        </p:txBody>
      </p:sp>
      <p:sp>
        <p:nvSpPr>
          <p:cNvPr id="17" name="TextBox 16">
            <a:extLst>
              <a:ext uri="{FF2B5EF4-FFF2-40B4-BE49-F238E27FC236}">
                <a16:creationId xmlns:a16="http://schemas.microsoft.com/office/drawing/2014/main" id="{B76D65C6-0FC0-48E0-7990-ECB91E678451}"/>
              </a:ext>
            </a:extLst>
          </p:cNvPr>
          <p:cNvSpPr txBox="1"/>
          <p:nvPr/>
        </p:nvSpPr>
        <p:spPr>
          <a:xfrm>
            <a:off x="6115780" y="1809637"/>
            <a:ext cx="3680736" cy="276999"/>
          </a:xfrm>
          <a:prstGeom prst="rect">
            <a:avLst/>
          </a:prstGeom>
          <a:noFill/>
        </p:spPr>
        <p:txBody>
          <a:bodyPr wrap="square" lIns="0">
            <a:spAutoFit/>
          </a:bodyPr>
          <a:lstStyle/>
          <a:p>
            <a:pPr>
              <a:spcAft>
                <a:spcPts val="200"/>
              </a:spcAft>
            </a:pPr>
            <a:r>
              <a:rPr lang="en-US" sz="1200">
                <a:solidFill>
                  <a:srgbClr val="1A2E51"/>
                </a:solidFill>
                <a:latin typeface="Poppins" panose="00000500000000000000" pitchFamily="2" charset="0"/>
                <a:cs typeface="Poppins" panose="00000500000000000000" pitchFamily="2" charset="0"/>
              </a:rPr>
              <a:t>CRO Retro Workshopping/Test Ideation For CE</a:t>
            </a:r>
          </a:p>
        </p:txBody>
      </p:sp>
    </p:spTree>
    <p:extLst>
      <p:ext uri="{BB962C8B-B14F-4D97-AF65-F5344CB8AC3E}">
        <p14:creationId xmlns:p14="http://schemas.microsoft.com/office/powerpoint/2010/main" val="16995604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Rectangle 87">
            <a:extLst>
              <a:ext uri="{FF2B5EF4-FFF2-40B4-BE49-F238E27FC236}">
                <a16:creationId xmlns:a16="http://schemas.microsoft.com/office/drawing/2014/main" id="{45459944-BA63-8A63-1C6E-BD383736785B}"/>
              </a:ext>
            </a:extLst>
          </p:cNvPr>
          <p:cNvSpPr/>
          <p:nvPr/>
        </p:nvSpPr>
        <p:spPr>
          <a:xfrm flipV="1">
            <a:off x="-16627" y="-8933"/>
            <a:ext cx="12208625" cy="540940"/>
          </a:xfrm>
          <a:prstGeom prst="rect">
            <a:avLst/>
          </a:prstGeom>
          <a:solidFill>
            <a:srgbClr val="6699CC">
              <a:alpha val="1294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84">
            <a:extLst>
              <a:ext uri="{FF2B5EF4-FFF2-40B4-BE49-F238E27FC236}">
                <a16:creationId xmlns:a16="http://schemas.microsoft.com/office/drawing/2014/main" id="{FCFC13CC-E538-1DE2-B9F3-34FEDA3B2B05}"/>
              </a:ext>
            </a:extLst>
          </p:cNvPr>
          <p:cNvSpPr/>
          <p:nvPr/>
        </p:nvSpPr>
        <p:spPr>
          <a:xfrm>
            <a:off x="-16626" y="6420726"/>
            <a:ext cx="12208625" cy="486041"/>
          </a:xfrm>
          <a:prstGeom prst="rect">
            <a:avLst/>
          </a:prstGeom>
          <a:solidFill>
            <a:srgbClr val="0100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6" name="Picture 85">
            <a:extLst>
              <a:ext uri="{FF2B5EF4-FFF2-40B4-BE49-F238E27FC236}">
                <a16:creationId xmlns:a16="http://schemas.microsoft.com/office/drawing/2014/main" id="{13BB38F0-C95D-7B7F-476A-7A82F8F144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43815" y="6576506"/>
            <a:ext cx="1401689" cy="174481"/>
          </a:xfrm>
          <a:prstGeom prst="rect">
            <a:avLst/>
          </a:prstGeom>
          <a:noFill/>
          <a:extLst>
            <a:ext uri="{909E8E84-426E-40DD-AFC4-6F175D3DCCD1}">
              <a14:hiddenFill xmlns:a14="http://schemas.microsoft.com/office/drawing/2010/main">
                <a:solidFill>
                  <a:srgbClr val="FFFFFF"/>
                </a:solidFill>
              </a14:hiddenFill>
            </a:ext>
          </a:extLst>
        </p:spPr>
      </p:pic>
      <p:sp>
        <p:nvSpPr>
          <p:cNvPr id="87" name="TextBox 86">
            <a:extLst>
              <a:ext uri="{FF2B5EF4-FFF2-40B4-BE49-F238E27FC236}">
                <a16:creationId xmlns:a16="http://schemas.microsoft.com/office/drawing/2014/main" id="{7EC8E12D-52D2-C4A1-6B04-9031FBFF5B11}"/>
              </a:ext>
            </a:extLst>
          </p:cNvPr>
          <p:cNvSpPr txBox="1"/>
          <p:nvPr/>
        </p:nvSpPr>
        <p:spPr>
          <a:xfrm>
            <a:off x="78859" y="6536788"/>
            <a:ext cx="4239255" cy="253916"/>
          </a:xfrm>
          <a:prstGeom prst="rect">
            <a:avLst/>
          </a:prstGeom>
          <a:noFill/>
        </p:spPr>
        <p:txBody>
          <a:bodyPr wrap="square">
            <a:spAutoFit/>
          </a:bodyPr>
          <a:lstStyle/>
          <a:p>
            <a:r>
              <a:rPr lang="en-US" sz="1050" b="0" i="0" u="none" strike="noStrike">
                <a:solidFill>
                  <a:schemeClr val="bg1">
                    <a:lumMod val="75000"/>
                  </a:schemeClr>
                </a:solidFill>
                <a:effectLst/>
                <a:latin typeface="Poppins" pitchFamily="2" charset="77"/>
              </a:rPr>
              <a:t>© 2023 Horizon Media – Confidential &amp; Proprietary</a:t>
            </a:r>
            <a:r>
              <a:rPr lang="en-US" sz="1050" b="0" i="0">
                <a:solidFill>
                  <a:schemeClr val="bg1">
                    <a:lumMod val="75000"/>
                  </a:schemeClr>
                </a:solidFill>
                <a:effectLst/>
                <a:latin typeface="Poppins" pitchFamily="2" charset="77"/>
              </a:rPr>
              <a:t>​</a:t>
            </a:r>
            <a:endParaRPr lang="en-US" sz="1050">
              <a:solidFill>
                <a:schemeClr val="bg1">
                  <a:lumMod val="75000"/>
                </a:schemeClr>
              </a:solidFill>
            </a:endParaRPr>
          </a:p>
        </p:txBody>
      </p:sp>
      <p:sp>
        <p:nvSpPr>
          <p:cNvPr id="3" name="TextBox 2">
            <a:extLst>
              <a:ext uri="{FF2B5EF4-FFF2-40B4-BE49-F238E27FC236}">
                <a16:creationId xmlns:a16="http://schemas.microsoft.com/office/drawing/2014/main" id="{A2B1836E-A4E7-B277-CB8C-B48C2589C273}"/>
              </a:ext>
            </a:extLst>
          </p:cNvPr>
          <p:cNvSpPr txBox="1"/>
          <p:nvPr/>
        </p:nvSpPr>
        <p:spPr>
          <a:xfrm>
            <a:off x="1938846" y="113457"/>
            <a:ext cx="558167" cy="307777"/>
          </a:xfrm>
          <a:prstGeom prst="rect">
            <a:avLst/>
          </a:prstGeom>
          <a:noFill/>
        </p:spPr>
        <p:txBody>
          <a:bodyPr wrap="square" lIns="0">
            <a:spAutoFit/>
          </a:bodyPr>
          <a:lstStyle/>
          <a:p>
            <a:pPr>
              <a:spcAft>
                <a:spcPts val="200"/>
              </a:spcAft>
            </a:pPr>
            <a:r>
              <a:rPr lang="en-US" sz="1400">
                <a:solidFill>
                  <a:srgbClr val="1A2E51"/>
                </a:solidFill>
                <a:latin typeface="Poppins SemiBold" pitchFamily="2" charset="77"/>
                <a:ea typeface="+mj-ea"/>
                <a:cs typeface="+mj-cs"/>
              </a:rPr>
              <a:t>Plan</a:t>
            </a:r>
            <a:endParaRPr lang="en-US" sz="1400">
              <a:solidFill>
                <a:srgbClr val="1A2E51"/>
              </a:solidFill>
            </a:endParaRPr>
          </a:p>
        </p:txBody>
      </p:sp>
      <p:sp>
        <p:nvSpPr>
          <p:cNvPr id="5" name="TextBox 4">
            <a:extLst>
              <a:ext uri="{FF2B5EF4-FFF2-40B4-BE49-F238E27FC236}">
                <a16:creationId xmlns:a16="http://schemas.microsoft.com/office/drawing/2014/main" id="{0270D86B-9078-B11F-2BA4-F41C55A9DE1C}"/>
              </a:ext>
            </a:extLst>
          </p:cNvPr>
          <p:cNvSpPr txBox="1"/>
          <p:nvPr/>
        </p:nvSpPr>
        <p:spPr>
          <a:xfrm>
            <a:off x="5809642" y="113457"/>
            <a:ext cx="558166" cy="307777"/>
          </a:xfrm>
          <a:prstGeom prst="rect">
            <a:avLst/>
          </a:prstGeom>
          <a:noFill/>
        </p:spPr>
        <p:txBody>
          <a:bodyPr wrap="square" lIns="0">
            <a:spAutoFit/>
          </a:bodyPr>
          <a:lstStyle/>
          <a:p>
            <a:pPr>
              <a:spcAft>
                <a:spcPts val="200"/>
              </a:spcAft>
            </a:pPr>
            <a:r>
              <a:rPr lang="en-US" sz="1400">
                <a:solidFill>
                  <a:srgbClr val="1A2E51"/>
                </a:solidFill>
                <a:latin typeface="Poppins SemiBold" pitchFamily="2" charset="77"/>
                <a:ea typeface="+mj-ea"/>
                <a:cs typeface="+mj-cs"/>
              </a:rPr>
              <a:t>Build</a:t>
            </a:r>
            <a:endParaRPr lang="en-US" sz="1400">
              <a:solidFill>
                <a:srgbClr val="1A2E51"/>
              </a:solidFill>
            </a:endParaRPr>
          </a:p>
        </p:txBody>
      </p:sp>
      <p:sp>
        <p:nvSpPr>
          <p:cNvPr id="7" name="TextBox 6">
            <a:extLst>
              <a:ext uri="{FF2B5EF4-FFF2-40B4-BE49-F238E27FC236}">
                <a16:creationId xmlns:a16="http://schemas.microsoft.com/office/drawing/2014/main" id="{2825DF59-76D0-3C84-D276-387C5468A92B}"/>
              </a:ext>
            </a:extLst>
          </p:cNvPr>
          <p:cNvSpPr txBox="1"/>
          <p:nvPr/>
        </p:nvSpPr>
        <p:spPr>
          <a:xfrm>
            <a:off x="9516312" y="113457"/>
            <a:ext cx="1387499" cy="307777"/>
          </a:xfrm>
          <a:prstGeom prst="rect">
            <a:avLst/>
          </a:prstGeom>
          <a:noFill/>
        </p:spPr>
        <p:txBody>
          <a:bodyPr wrap="square" lIns="0">
            <a:spAutoFit/>
          </a:bodyPr>
          <a:lstStyle/>
          <a:p>
            <a:pPr>
              <a:spcAft>
                <a:spcPts val="200"/>
              </a:spcAft>
            </a:pPr>
            <a:r>
              <a:rPr lang="en-US" sz="1400">
                <a:solidFill>
                  <a:srgbClr val="1A2E51"/>
                </a:solidFill>
                <a:latin typeface="Poppins SemiBold" pitchFamily="2" charset="77"/>
                <a:ea typeface="+mj-ea"/>
                <a:cs typeface="+mj-cs"/>
              </a:rPr>
              <a:t>Run &amp; Analyze</a:t>
            </a:r>
            <a:endParaRPr lang="en-US" sz="1400">
              <a:solidFill>
                <a:srgbClr val="1A2E51"/>
              </a:solidFill>
            </a:endParaRPr>
          </a:p>
        </p:txBody>
      </p:sp>
      <p:cxnSp>
        <p:nvCxnSpPr>
          <p:cNvPr id="9" name="Straight Connector 8">
            <a:extLst>
              <a:ext uri="{FF2B5EF4-FFF2-40B4-BE49-F238E27FC236}">
                <a16:creationId xmlns:a16="http://schemas.microsoft.com/office/drawing/2014/main" id="{36A81568-567C-C766-D3EA-DB05E41F4E61}"/>
              </a:ext>
            </a:extLst>
          </p:cNvPr>
          <p:cNvCxnSpPr/>
          <p:nvPr/>
        </p:nvCxnSpPr>
        <p:spPr>
          <a:xfrm>
            <a:off x="4052915" y="726834"/>
            <a:ext cx="0" cy="4900246"/>
          </a:xfrm>
          <a:prstGeom prst="line">
            <a:avLst/>
          </a:prstGeom>
          <a:ln>
            <a:solidFill>
              <a:srgbClr val="1B5585"/>
            </a:solidFill>
            <a:prstDash val="dash"/>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6BBC6D75-6F61-39E6-A453-0B53348873D2}"/>
              </a:ext>
            </a:extLst>
          </p:cNvPr>
          <p:cNvCxnSpPr/>
          <p:nvPr/>
        </p:nvCxnSpPr>
        <p:spPr>
          <a:xfrm>
            <a:off x="8122457" y="726834"/>
            <a:ext cx="0" cy="4900246"/>
          </a:xfrm>
          <a:prstGeom prst="line">
            <a:avLst/>
          </a:prstGeom>
          <a:ln>
            <a:solidFill>
              <a:srgbClr val="1B5585"/>
            </a:solidFill>
            <a:prstDash val="dash"/>
          </a:ln>
        </p:spPr>
        <p:style>
          <a:lnRef idx="1">
            <a:schemeClr val="accent1"/>
          </a:lnRef>
          <a:fillRef idx="0">
            <a:schemeClr val="accent1"/>
          </a:fillRef>
          <a:effectRef idx="0">
            <a:schemeClr val="accent1"/>
          </a:effectRef>
          <a:fontRef idx="minor">
            <a:schemeClr val="tx1"/>
          </a:fontRef>
        </p:style>
      </p:cxnSp>
      <p:pic>
        <p:nvPicPr>
          <p:cNvPr id="15" name="image1.png" descr="Macintosh HD:Users:phannon:Desktop:Optimization Program Processes.pdf">
            <a:extLst>
              <a:ext uri="{FF2B5EF4-FFF2-40B4-BE49-F238E27FC236}">
                <a16:creationId xmlns:a16="http://schemas.microsoft.com/office/drawing/2014/main" id="{321CB1E0-72F5-6B45-8356-438279C39E62}"/>
              </a:ext>
            </a:extLst>
          </p:cNvPr>
          <p:cNvPicPr/>
          <p:nvPr/>
        </p:nvPicPr>
        <p:blipFill rotWithShape="1">
          <a:blip r:embed="rId4"/>
          <a:srcRect l="51977" t="27655" r="40521" b="63187"/>
          <a:stretch/>
        </p:blipFill>
        <p:spPr>
          <a:xfrm>
            <a:off x="4379925" y="2141392"/>
            <a:ext cx="730786" cy="502469"/>
          </a:xfrm>
          <a:prstGeom prst="rect">
            <a:avLst/>
          </a:prstGeom>
          <a:ln/>
        </p:spPr>
      </p:pic>
      <p:pic>
        <p:nvPicPr>
          <p:cNvPr id="17" name="image1.png" descr="Macintosh HD:Users:phannon:Desktop:Optimization Program Processes.pdf">
            <a:extLst>
              <a:ext uri="{FF2B5EF4-FFF2-40B4-BE49-F238E27FC236}">
                <a16:creationId xmlns:a16="http://schemas.microsoft.com/office/drawing/2014/main" id="{49953DA0-466C-B270-D534-4FD2B5032F48}"/>
              </a:ext>
            </a:extLst>
          </p:cNvPr>
          <p:cNvPicPr/>
          <p:nvPr/>
        </p:nvPicPr>
        <p:blipFill rotWithShape="1">
          <a:blip r:embed="rId4"/>
          <a:srcRect l="53032" t="56752" r="40069" b="34089"/>
          <a:stretch/>
        </p:blipFill>
        <p:spPr>
          <a:xfrm>
            <a:off x="4332791" y="4049582"/>
            <a:ext cx="672029" cy="502469"/>
          </a:xfrm>
          <a:prstGeom prst="rect">
            <a:avLst/>
          </a:prstGeom>
          <a:ln/>
        </p:spPr>
      </p:pic>
      <p:pic>
        <p:nvPicPr>
          <p:cNvPr id="18" name="image1.png" descr="Macintosh HD:Users:phannon:Desktop:Optimization Program Processes.pdf">
            <a:extLst>
              <a:ext uri="{FF2B5EF4-FFF2-40B4-BE49-F238E27FC236}">
                <a16:creationId xmlns:a16="http://schemas.microsoft.com/office/drawing/2014/main" id="{606A93F9-5007-198D-CD40-6B1DCFA80D77}"/>
              </a:ext>
            </a:extLst>
          </p:cNvPr>
          <p:cNvPicPr/>
          <p:nvPr/>
        </p:nvPicPr>
        <p:blipFill rotWithShape="1">
          <a:blip r:embed="rId4"/>
          <a:srcRect l="27529" t="82209" r="66986" b="11262"/>
          <a:stretch/>
        </p:blipFill>
        <p:spPr>
          <a:xfrm>
            <a:off x="4433997" y="5187586"/>
            <a:ext cx="534318" cy="358176"/>
          </a:xfrm>
          <a:prstGeom prst="rect">
            <a:avLst/>
          </a:prstGeom>
          <a:ln/>
        </p:spPr>
      </p:pic>
      <p:pic>
        <p:nvPicPr>
          <p:cNvPr id="16" name="image1.png" descr="Macintosh HD:Users:phannon:Desktop:Optimization Program Processes.pdf">
            <a:extLst>
              <a:ext uri="{FF2B5EF4-FFF2-40B4-BE49-F238E27FC236}">
                <a16:creationId xmlns:a16="http://schemas.microsoft.com/office/drawing/2014/main" id="{600F43D2-8BCB-73F0-49A6-89AB1509485B}"/>
              </a:ext>
            </a:extLst>
          </p:cNvPr>
          <p:cNvPicPr/>
          <p:nvPr/>
        </p:nvPicPr>
        <p:blipFill rotWithShape="1">
          <a:blip r:embed="rId4"/>
          <a:srcRect l="64078" t="36490" r="28420" b="57564"/>
          <a:stretch/>
        </p:blipFill>
        <p:spPr>
          <a:xfrm>
            <a:off x="4412757" y="3088483"/>
            <a:ext cx="730786" cy="326199"/>
          </a:xfrm>
          <a:prstGeom prst="rect">
            <a:avLst/>
          </a:prstGeom>
          <a:ln/>
        </p:spPr>
      </p:pic>
      <p:grpSp>
        <p:nvGrpSpPr>
          <p:cNvPr id="43" name="Group 42">
            <a:extLst>
              <a:ext uri="{FF2B5EF4-FFF2-40B4-BE49-F238E27FC236}">
                <a16:creationId xmlns:a16="http://schemas.microsoft.com/office/drawing/2014/main" id="{6B9D03F5-AE2E-D0B6-02DC-F3D1B6E29F66}"/>
              </a:ext>
            </a:extLst>
          </p:cNvPr>
          <p:cNvGrpSpPr/>
          <p:nvPr/>
        </p:nvGrpSpPr>
        <p:grpSpPr>
          <a:xfrm>
            <a:off x="763820" y="770943"/>
            <a:ext cx="2816002" cy="1118255"/>
            <a:chOff x="763820" y="864723"/>
            <a:chExt cx="2816002" cy="1118255"/>
          </a:xfrm>
        </p:grpSpPr>
        <p:pic>
          <p:nvPicPr>
            <p:cNvPr id="12" name="image1.png" descr="Macintosh HD:Users:phannon:Desktop:Optimization Program Processes.pdf">
              <a:extLst>
                <a:ext uri="{FF2B5EF4-FFF2-40B4-BE49-F238E27FC236}">
                  <a16:creationId xmlns:a16="http://schemas.microsoft.com/office/drawing/2014/main" id="{4685344D-155A-F591-E8C1-5D463E751185}"/>
                </a:ext>
              </a:extLst>
            </p:cNvPr>
            <p:cNvPicPr/>
            <p:nvPr/>
          </p:nvPicPr>
          <p:blipFill rotWithShape="1">
            <a:blip r:embed="rId4"/>
            <a:srcRect l="11496" t="49864" r="83866" b="42881"/>
            <a:stretch/>
          </p:blipFill>
          <p:spPr>
            <a:xfrm>
              <a:off x="763820" y="911615"/>
              <a:ext cx="451821" cy="398033"/>
            </a:xfrm>
            <a:prstGeom prst="rect">
              <a:avLst/>
            </a:prstGeom>
            <a:ln/>
          </p:spPr>
        </p:pic>
        <p:sp>
          <p:nvSpPr>
            <p:cNvPr id="2" name="TextBox 1">
              <a:extLst>
                <a:ext uri="{FF2B5EF4-FFF2-40B4-BE49-F238E27FC236}">
                  <a16:creationId xmlns:a16="http://schemas.microsoft.com/office/drawing/2014/main" id="{7ED5F56F-50DA-0671-CF81-95B45B891142}"/>
                </a:ext>
              </a:extLst>
            </p:cNvPr>
            <p:cNvSpPr txBox="1"/>
            <p:nvPr/>
          </p:nvSpPr>
          <p:spPr>
            <a:xfrm>
              <a:off x="1395046" y="864723"/>
              <a:ext cx="2184776" cy="1118255"/>
            </a:xfrm>
            <a:prstGeom prst="rect">
              <a:avLst/>
            </a:prstGeom>
            <a:noFill/>
          </p:spPr>
          <p:txBody>
            <a:bodyPr wrap="square" rtlCol="0">
              <a:spAutoFit/>
            </a:bodyPr>
            <a:lstStyle/>
            <a:p>
              <a:pPr>
                <a:spcAft>
                  <a:spcPts val="200"/>
                </a:spcAft>
              </a:pPr>
              <a:r>
                <a:rPr lang="en-US" sz="1000">
                  <a:latin typeface="Poppins" panose="00000500000000000000" pitchFamily="2" charset="0"/>
                  <a:cs typeface="Poppins" panose="00000500000000000000" pitchFamily="2" charset="0"/>
                </a:rPr>
                <a:t>Input</a:t>
              </a:r>
            </a:p>
            <a:p>
              <a:pPr marL="171450" indent="-171450">
                <a:buFont typeface="Arial" panose="020B0604020202020204" pitchFamily="34" charset="0"/>
                <a:buChar char="•"/>
              </a:pPr>
              <a:r>
                <a:rPr lang="en-US" sz="900" i="1">
                  <a:solidFill>
                    <a:schemeClr val="tx2"/>
                  </a:solidFill>
                  <a:latin typeface="Poppins" panose="00000500000000000000" pitchFamily="2" charset="0"/>
                  <a:cs typeface="Poppins" panose="00000500000000000000" pitchFamily="2" charset="0"/>
                </a:rPr>
                <a:t>Clients’ strategic priorities</a:t>
              </a:r>
            </a:p>
            <a:p>
              <a:pPr marL="171450" indent="-171450">
                <a:buFont typeface="Arial" panose="020B0604020202020204" pitchFamily="34" charset="0"/>
                <a:buChar char="•"/>
              </a:pPr>
              <a:r>
                <a:rPr lang="en-US" sz="900" i="1">
                  <a:solidFill>
                    <a:schemeClr val="tx2"/>
                  </a:solidFill>
                  <a:latin typeface="Poppins" panose="00000500000000000000" pitchFamily="2" charset="0"/>
                  <a:cs typeface="Poppins" panose="00000500000000000000" pitchFamily="2" charset="0"/>
                </a:rPr>
                <a:t>NM analysis (audits, analytic deep dives</a:t>
              </a:r>
            </a:p>
            <a:p>
              <a:pPr marL="171450" indent="-171450">
                <a:buFont typeface="Arial" panose="020B0604020202020204" pitchFamily="34" charset="0"/>
                <a:buChar char="•"/>
              </a:pPr>
              <a:r>
                <a:rPr lang="en-US" sz="900" i="1">
                  <a:solidFill>
                    <a:schemeClr val="tx2"/>
                  </a:solidFill>
                  <a:latin typeface="Poppins" panose="00000500000000000000" pitchFamily="2" charset="0"/>
                  <a:cs typeface="Poppins" panose="00000500000000000000" pitchFamily="2" charset="0"/>
                </a:rPr>
                <a:t>CVR not hitting target benchmarks)</a:t>
              </a:r>
            </a:p>
            <a:p>
              <a:r>
                <a:rPr lang="en-US" sz="1000">
                  <a:latin typeface="Poppins" panose="00000500000000000000" pitchFamily="2" charset="0"/>
                  <a:cs typeface="Poppins" panose="00000500000000000000" pitchFamily="2" charset="0"/>
                </a:rPr>
                <a:t> </a:t>
              </a:r>
            </a:p>
          </p:txBody>
        </p:sp>
      </p:grpSp>
      <p:grpSp>
        <p:nvGrpSpPr>
          <p:cNvPr id="42" name="Group 41">
            <a:extLst>
              <a:ext uri="{FF2B5EF4-FFF2-40B4-BE49-F238E27FC236}">
                <a16:creationId xmlns:a16="http://schemas.microsoft.com/office/drawing/2014/main" id="{2135BED8-DCB9-92AC-C4E0-9C0B8CA33A4F}"/>
              </a:ext>
            </a:extLst>
          </p:cNvPr>
          <p:cNvGrpSpPr/>
          <p:nvPr/>
        </p:nvGrpSpPr>
        <p:grpSpPr>
          <a:xfrm>
            <a:off x="763820" y="1927878"/>
            <a:ext cx="2816002" cy="979755"/>
            <a:chOff x="763820" y="1947974"/>
            <a:chExt cx="2816002" cy="979755"/>
          </a:xfrm>
        </p:grpSpPr>
        <p:pic>
          <p:nvPicPr>
            <p:cNvPr id="11" name="image1.png" descr="Macintosh HD:Users:phannon:Desktop:Optimization Program Processes.pdf">
              <a:extLst>
                <a:ext uri="{FF2B5EF4-FFF2-40B4-BE49-F238E27FC236}">
                  <a16:creationId xmlns:a16="http://schemas.microsoft.com/office/drawing/2014/main" id="{61A9AEA7-002B-11D8-9D34-FAE4DD7A5AD0}"/>
                </a:ext>
              </a:extLst>
            </p:cNvPr>
            <p:cNvPicPr/>
            <p:nvPr/>
          </p:nvPicPr>
          <p:blipFill rotWithShape="1">
            <a:blip r:embed="rId4"/>
            <a:srcRect l="11496" t="23775" r="83866" b="68970"/>
            <a:stretch/>
          </p:blipFill>
          <p:spPr>
            <a:xfrm>
              <a:off x="763820" y="1970569"/>
              <a:ext cx="451821" cy="398033"/>
            </a:xfrm>
            <a:prstGeom prst="rect">
              <a:avLst/>
            </a:prstGeom>
            <a:ln/>
          </p:spPr>
        </p:pic>
        <p:sp>
          <p:nvSpPr>
            <p:cNvPr id="4" name="TextBox 3">
              <a:extLst>
                <a:ext uri="{FF2B5EF4-FFF2-40B4-BE49-F238E27FC236}">
                  <a16:creationId xmlns:a16="http://schemas.microsoft.com/office/drawing/2014/main" id="{00649C21-FF0B-4248-D199-979062278593}"/>
                </a:ext>
              </a:extLst>
            </p:cNvPr>
            <p:cNvSpPr txBox="1"/>
            <p:nvPr/>
          </p:nvSpPr>
          <p:spPr>
            <a:xfrm>
              <a:off x="1395046" y="1947974"/>
              <a:ext cx="2184776" cy="979755"/>
            </a:xfrm>
            <a:prstGeom prst="rect">
              <a:avLst/>
            </a:prstGeom>
            <a:noFill/>
          </p:spPr>
          <p:txBody>
            <a:bodyPr wrap="square" rtlCol="0">
              <a:spAutoFit/>
            </a:bodyPr>
            <a:lstStyle/>
            <a:p>
              <a:pPr>
                <a:spcAft>
                  <a:spcPts val="200"/>
                </a:spcAft>
              </a:pPr>
              <a:r>
                <a:rPr lang="en-US" sz="1000">
                  <a:latin typeface="Poppins" panose="00000500000000000000" pitchFamily="2" charset="0"/>
                  <a:cs typeface="Poppins" panose="00000500000000000000" pitchFamily="2" charset="0"/>
                </a:rPr>
                <a:t>Test Roadmap</a:t>
              </a:r>
            </a:p>
            <a:p>
              <a:pPr marL="171450" indent="-171450">
                <a:buFont typeface="Arial" panose="020B0604020202020204" pitchFamily="34" charset="0"/>
                <a:buChar char="•"/>
              </a:pPr>
              <a:r>
                <a:rPr lang="en-US" sz="900" i="1">
                  <a:solidFill>
                    <a:schemeClr val="tx2"/>
                  </a:solidFill>
                  <a:latin typeface="Poppins" panose="00000500000000000000" pitchFamily="2" charset="0"/>
                  <a:cs typeface="Poppins" panose="00000500000000000000" pitchFamily="2" charset="0"/>
                </a:rPr>
                <a:t>Determined cadence</a:t>
              </a:r>
            </a:p>
            <a:p>
              <a:pPr marL="171450" indent="-171450">
                <a:buFont typeface="Arial" panose="020B0604020202020204" pitchFamily="34" charset="0"/>
                <a:buChar char="•"/>
              </a:pPr>
              <a:r>
                <a:rPr lang="en-US" sz="900" i="1">
                  <a:solidFill>
                    <a:schemeClr val="tx2"/>
                  </a:solidFill>
                  <a:latin typeface="Poppins" panose="00000500000000000000" pitchFamily="2" charset="0"/>
                  <a:cs typeface="Poppins" panose="00000500000000000000" pitchFamily="2" charset="0"/>
                </a:rPr>
                <a:t>Develop a roadmap (topline testing strategy for the upcoming cycle)</a:t>
              </a:r>
            </a:p>
            <a:p>
              <a:r>
                <a:rPr lang="en-US" sz="1000">
                  <a:latin typeface="Poppins" panose="00000500000000000000" pitchFamily="2" charset="0"/>
                  <a:cs typeface="Poppins" panose="00000500000000000000" pitchFamily="2" charset="0"/>
                </a:rPr>
                <a:t> </a:t>
              </a:r>
            </a:p>
          </p:txBody>
        </p:sp>
      </p:grpSp>
      <p:grpSp>
        <p:nvGrpSpPr>
          <p:cNvPr id="41" name="Group 40">
            <a:extLst>
              <a:ext uri="{FF2B5EF4-FFF2-40B4-BE49-F238E27FC236}">
                <a16:creationId xmlns:a16="http://schemas.microsoft.com/office/drawing/2014/main" id="{646CD40E-3AB7-5040-8F05-D9FD3C1E959A}"/>
              </a:ext>
            </a:extLst>
          </p:cNvPr>
          <p:cNvGrpSpPr/>
          <p:nvPr/>
        </p:nvGrpSpPr>
        <p:grpSpPr>
          <a:xfrm>
            <a:off x="616203" y="3048291"/>
            <a:ext cx="2963619" cy="1250576"/>
            <a:chOff x="616203" y="3128675"/>
            <a:chExt cx="2963619" cy="1250576"/>
          </a:xfrm>
        </p:grpSpPr>
        <p:pic>
          <p:nvPicPr>
            <p:cNvPr id="24" name="image1.png" descr="Macintosh HD:Users:phannon:Desktop:Optimization Program Processes.pdf">
              <a:extLst>
                <a:ext uri="{FF2B5EF4-FFF2-40B4-BE49-F238E27FC236}">
                  <a16:creationId xmlns:a16="http://schemas.microsoft.com/office/drawing/2014/main" id="{965A896C-0F5F-7C9B-752C-B73C5033DE43}"/>
                </a:ext>
              </a:extLst>
            </p:cNvPr>
            <p:cNvPicPr/>
            <p:nvPr/>
          </p:nvPicPr>
          <p:blipFill rotWithShape="1">
            <a:blip r:embed="rId4"/>
            <a:srcRect l="73670" t="81844" r="19837" b="11122"/>
            <a:stretch/>
          </p:blipFill>
          <p:spPr>
            <a:xfrm>
              <a:off x="616203" y="3128675"/>
              <a:ext cx="632552" cy="385845"/>
            </a:xfrm>
            <a:prstGeom prst="rect">
              <a:avLst/>
            </a:prstGeom>
            <a:ln/>
          </p:spPr>
        </p:pic>
        <p:sp>
          <p:nvSpPr>
            <p:cNvPr id="6" name="TextBox 5">
              <a:extLst>
                <a:ext uri="{FF2B5EF4-FFF2-40B4-BE49-F238E27FC236}">
                  <a16:creationId xmlns:a16="http://schemas.microsoft.com/office/drawing/2014/main" id="{9FF302EB-5712-7130-0591-D721770595DB}"/>
                </a:ext>
              </a:extLst>
            </p:cNvPr>
            <p:cNvSpPr txBox="1"/>
            <p:nvPr/>
          </p:nvSpPr>
          <p:spPr>
            <a:xfrm>
              <a:off x="1395046" y="3137886"/>
              <a:ext cx="2184776" cy="1241365"/>
            </a:xfrm>
            <a:prstGeom prst="rect">
              <a:avLst/>
            </a:prstGeom>
            <a:noFill/>
          </p:spPr>
          <p:txBody>
            <a:bodyPr wrap="square" rtlCol="0">
              <a:spAutoFit/>
            </a:bodyPr>
            <a:lstStyle/>
            <a:p>
              <a:pPr>
                <a:spcAft>
                  <a:spcPts val="200"/>
                </a:spcAft>
              </a:pPr>
              <a:r>
                <a:rPr lang="en-US" sz="1000">
                  <a:latin typeface="Poppins" panose="00000500000000000000" pitchFamily="2" charset="0"/>
                  <a:cs typeface="Poppins" panose="00000500000000000000" pitchFamily="2" charset="0"/>
                </a:rPr>
                <a:t>Test Concepts</a:t>
              </a:r>
            </a:p>
            <a:p>
              <a:pPr marL="171450" indent="-171450">
                <a:buFont typeface="Arial" panose="020B0604020202020204" pitchFamily="34" charset="0"/>
                <a:buChar char="•"/>
              </a:pPr>
              <a:r>
                <a:rPr lang="en-US" sz="900" i="1">
                  <a:solidFill>
                    <a:schemeClr val="tx2"/>
                  </a:solidFill>
                  <a:latin typeface="Poppins" panose="00000500000000000000" pitchFamily="2" charset="0"/>
                  <a:cs typeface="Poppins" panose="00000500000000000000" pitchFamily="2" charset="0"/>
                </a:rPr>
                <a:t>On approval, present test concept slides for all the initial ideas</a:t>
              </a:r>
            </a:p>
            <a:p>
              <a:pPr marL="171450" indent="-171450">
                <a:buFont typeface="Arial" panose="020B0604020202020204" pitchFamily="34" charset="0"/>
                <a:buChar char="•"/>
              </a:pPr>
              <a:r>
                <a:rPr lang="en-US" sz="900" i="1">
                  <a:solidFill>
                    <a:schemeClr val="tx2"/>
                  </a:solidFill>
                  <a:latin typeface="Poppins" panose="00000500000000000000" pitchFamily="2" charset="0"/>
                  <a:cs typeface="Poppins" panose="00000500000000000000" pitchFamily="2" charset="0"/>
                </a:rPr>
                <a:t>(After this, can present successive test concepts ad-hoc / when previous test is done)</a:t>
              </a:r>
              <a:endParaRPr lang="en-US" sz="1000">
                <a:latin typeface="Poppins" panose="00000500000000000000" pitchFamily="2" charset="0"/>
                <a:cs typeface="Poppins" panose="00000500000000000000" pitchFamily="2" charset="0"/>
              </a:endParaRPr>
            </a:p>
          </p:txBody>
        </p:sp>
      </p:grpSp>
      <p:grpSp>
        <p:nvGrpSpPr>
          <p:cNvPr id="40" name="Group 39">
            <a:extLst>
              <a:ext uri="{FF2B5EF4-FFF2-40B4-BE49-F238E27FC236}">
                <a16:creationId xmlns:a16="http://schemas.microsoft.com/office/drawing/2014/main" id="{F7D627F7-EE92-0BA8-C111-D72D88A35214}"/>
              </a:ext>
            </a:extLst>
          </p:cNvPr>
          <p:cNvGrpSpPr/>
          <p:nvPr/>
        </p:nvGrpSpPr>
        <p:grpSpPr>
          <a:xfrm>
            <a:off x="778479" y="4533319"/>
            <a:ext cx="2796389" cy="702756"/>
            <a:chOff x="778479" y="4503175"/>
            <a:chExt cx="2796389" cy="702756"/>
          </a:xfrm>
        </p:grpSpPr>
        <p:pic>
          <p:nvPicPr>
            <p:cNvPr id="13" name="image1.png" descr="Macintosh HD:Users:phannon:Desktop:Optimization Program Processes.pdf">
              <a:extLst>
                <a:ext uri="{FF2B5EF4-FFF2-40B4-BE49-F238E27FC236}">
                  <a16:creationId xmlns:a16="http://schemas.microsoft.com/office/drawing/2014/main" id="{EB781832-5610-74BC-CC0B-A5089ABC0B5B}"/>
                </a:ext>
              </a:extLst>
            </p:cNvPr>
            <p:cNvPicPr/>
            <p:nvPr/>
          </p:nvPicPr>
          <p:blipFill rotWithShape="1">
            <a:blip r:embed="rId4"/>
            <a:srcRect l="11515" t="83197" r="83847" b="9548"/>
            <a:stretch/>
          </p:blipFill>
          <p:spPr>
            <a:xfrm>
              <a:off x="778479" y="4511797"/>
              <a:ext cx="451821" cy="398033"/>
            </a:xfrm>
            <a:prstGeom prst="rect">
              <a:avLst/>
            </a:prstGeom>
            <a:ln/>
          </p:spPr>
        </p:pic>
        <p:sp>
          <p:nvSpPr>
            <p:cNvPr id="8" name="TextBox 7">
              <a:extLst>
                <a:ext uri="{FF2B5EF4-FFF2-40B4-BE49-F238E27FC236}">
                  <a16:creationId xmlns:a16="http://schemas.microsoft.com/office/drawing/2014/main" id="{E4A13A4A-E632-6E7A-6139-8970544FAA47}"/>
                </a:ext>
              </a:extLst>
            </p:cNvPr>
            <p:cNvSpPr txBox="1"/>
            <p:nvPr/>
          </p:nvSpPr>
          <p:spPr>
            <a:xfrm>
              <a:off x="1390092" y="4503175"/>
              <a:ext cx="2184776" cy="702756"/>
            </a:xfrm>
            <a:prstGeom prst="rect">
              <a:avLst/>
            </a:prstGeom>
            <a:noFill/>
          </p:spPr>
          <p:txBody>
            <a:bodyPr wrap="square" rtlCol="0">
              <a:spAutoFit/>
            </a:bodyPr>
            <a:lstStyle/>
            <a:p>
              <a:pPr>
                <a:spcAft>
                  <a:spcPts val="200"/>
                </a:spcAft>
              </a:pPr>
              <a:r>
                <a:rPr lang="en-US" sz="1000">
                  <a:latin typeface="Poppins" panose="00000500000000000000" pitchFamily="2" charset="0"/>
                  <a:cs typeface="Poppins" panose="00000500000000000000" pitchFamily="2" charset="0"/>
                </a:rPr>
                <a:t>Prioritized Backlog</a:t>
              </a:r>
            </a:p>
            <a:p>
              <a:pPr marL="171450" indent="-171450">
                <a:buFont typeface="Arial" panose="020B0604020202020204" pitchFamily="34" charset="0"/>
                <a:buChar char="•"/>
              </a:pPr>
              <a:r>
                <a:rPr lang="en-US" sz="900" i="1">
                  <a:solidFill>
                    <a:schemeClr val="tx2"/>
                  </a:solidFill>
                  <a:latin typeface="Poppins" panose="00000500000000000000" pitchFamily="2" charset="0"/>
                  <a:cs typeface="Poppins" panose="00000500000000000000" pitchFamily="2" charset="0"/>
                </a:rPr>
                <a:t>On approval, present XLS view of test priority order</a:t>
              </a:r>
            </a:p>
            <a:p>
              <a:r>
                <a:rPr lang="en-US" sz="1000">
                  <a:latin typeface="Poppins" panose="00000500000000000000" pitchFamily="2" charset="0"/>
                  <a:cs typeface="Poppins" panose="00000500000000000000" pitchFamily="2" charset="0"/>
                </a:rPr>
                <a:t> </a:t>
              </a:r>
            </a:p>
          </p:txBody>
        </p:sp>
      </p:grpSp>
      <p:grpSp>
        <p:nvGrpSpPr>
          <p:cNvPr id="44" name="Group 43">
            <a:extLst>
              <a:ext uri="{FF2B5EF4-FFF2-40B4-BE49-F238E27FC236}">
                <a16:creationId xmlns:a16="http://schemas.microsoft.com/office/drawing/2014/main" id="{F97EAC75-3535-FADA-ACB2-57ED63D6E094}"/>
              </a:ext>
            </a:extLst>
          </p:cNvPr>
          <p:cNvGrpSpPr/>
          <p:nvPr/>
        </p:nvGrpSpPr>
        <p:grpSpPr>
          <a:xfrm>
            <a:off x="4485816" y="770943"/>
            <a:ext cx="3287370" cy="1395254"/>
            <a:chOff x="4485816" y="853001"/>
            <a:chExt cx="3287370" cy="1395254"/>
          </a:xfrm>
        </p:grpSpPr>
        <p:pic>
          <p:nvPicPr>
            <p:cNvPr id="14" name="image1.png" descr="Macintosh HD:Users:phannon:Desktop:Optimization Program Processes.pdf">
              <a:extLst>
                <a:ext uri="{FF2B5EF4-FFF2-40B4-BE49-F238E27FC236}">
                  <a16:creationId xmlns:a16="http://schemas.microsoft.com/office/drawing/2014/main" id="{861751F9-36BC-262F-0C49-B03D7015CD63}"/>
                </a:ext>
              </a:extLst>
            </p:cNvPr>
            <p:cNvPicPr/>
            <p:nvPr/>
          </p:nvPicPr>
          <p:blipFill rotWithShape="1">
            <a:blip r:embed="rId4"/>
            <a:srcRect l="41371" t="36008" r="53301" b="56641"/>
            <a:stretch/>
          </p:blipFill>
          <p:spPr>
            <a:xfrm>
              <a:off x="4485816" y="911615"/>
              <a:ext cx="519004" cy="403317"/>
            </a:xfrm>
            <a:prstGeom prst="rect">
              <a:avLst/>
            </a:prstGeom>
            <a:ln/>
          </p:spPr>
        </p:pic>
        <p:sp>
          <p:nvSpPr>
            <p:cNvPr id="25" name="TextBox 24">
              <a:extLst>
                <a:ext uri="{FF2B5EF4-FFF2-40B4-BE49-F238E27FC236}">
                  <a16:creationId xmlns:a16="http://schemas.microsoft.com/office/drawing/2014/main" id="{C7D99AD6-16F6-956F-45ED-480FF81DF91C}"/>
                </a:ext>
              </a:extLst>
            </p:cNvPr>
            <p:cNvSpPr txBox="1"/>
            <p:nvPr/>
          </p:nvSpPr>
          <p:spPr>
            <a:xfrm>
              <a:off x="5211421" y="853001"/>
              <a:ext cx="2561765" cy="1395254"/>
            </a:xfrm>
            <a:prstGeom prst="rect">
              <a:avLst/>
            </a:prstGeom>
            <a:noFill/>
          </p:spPr>
          <p:txBody>
            <a:bodyPr wrap="square" rtlCol="0">
              <a:spAutoFit/>
            </a:bodyPr>
            <a:lstStyle/>
            <a:p>
              <a:pPr>
                <a:spcAft>
                  <a:spcPts val="200"/>
                </a:spcAft>
              </a:pPr>
              <a:r>
                <a:rPr lang="en-US" sz="1000">
                  <a:latin typeface="Poppins" panose="00000500000000000000" pitchFamily="2" charset="0"/>
                  <a:cs typeface="Poppins" panose="00000500000000000000" pitchFamily="2" charset="0"/>
                </a:rPr>
                <a:t>Test Creative</a:t>
              </a:r>
            </a:p>
            <a:p>
              <a:pPr marL="171450" indent="-171450">
                <a:buFont typeface="Arial" panose="020B0604020202020204" pitchFamily="34" charset="0"/>
                <a:buChar char="•"/>
              </a:pPr>
              <a:r>
                <a:rPr lang="en-US" sz="900" i="1">
                  <a:solidFill>
                    <a:schemeClr val="tx2"/>
                  </a:solidFill>
                  <a:latin typeface="Poppins" panose="00000500000000000000" pitchFamily="2" charset="0"/>
                  <a:cs typeface="Poppins" panose="00000500000000000000" pitchFamily="2" charset="0"/>
                </a:rPr>
                <a:t>On approval, develop Creative Brief describing the test exp</a:t>
              </a:r>
            </a:p>
            <a:p>
              <a:pPr marL="171450" indent="-171450">
                <a:buFont typeface="Arial" panose="020B0604020202020204" pitchFamily="34" charset="0"/>
                <a:buChar char="•"/>
              </a:pPr>
              <a:r>
                <a:rPr lang="en-US" sz="900" i="1">
                  <a:solidFill>
                    <a:schemeClr val="tx2"/>
                  </a:solidFill>
                  <a:latin typeface="Poppins" panose="00000500000000000000" pitchFamily="2" charset="0"/>
                  <a:cs typeface="Poppins" panose="00000500000000000000" pitchFamily="2" charset="0"/>
                </a:rPr>
                <a:t>If wireframing is needed (e.g. page redesign, new feature), indicate a CX step needed</a:t>
              </a:r>
            </a:p>
            <a:p>
              <a:pPr marL="171450" indent="-171450">
                <a:buFont typeface="Arial" panose="020B0604020202020204" pitchFamily="34" charset="0"/>
                <a:buChar char="•"/>
              </a:pPr>
              <a:r>
                <a:rPr lang="en-US" sz="900" i="1">
                  <a:solidFill>
                    <a:schemeClr val="tx2"/>
                  </a:solidFill>
                  <a:latin typeface="Poppins" panose="00000500000000000000" pitchFamily="2" charset="0"/>
                  <a:cs typeface="Poppins" panose="00000500000000000000" pitchFamily="2" charset="0"/>
                </a:rPr>
                <a:t>Have CX/Design walk client through designs as needed</a:t>
              </a:r>
            </a:p>
            <a:p>
              <a:r>
                <a:rPr lang="en-US" sz="1000">
                  <a:latin typeface="Poppins" panose="00000500000000000000" pitchFamily="2" charset="0"/>
                  <a:cs typeface="Poppins" panose="00000500000000000000" pitchFamily="2" charset="0"/>
                </a:rPr>
                <a:t> </a:t>
              </a:r>
            </a:p>
          </p:txBody>
        </p:sp>
      </p:grpSp>
      <p:sp>
        <p:nvSpPr>
          <p:cNvPr id="26" name="TextBox 25">
            <a:extLst>
              <a:ext uri="{FF2B5EF4-FFF2-40B4-BE49-F238E27FC236}">
                <a16:creationId xmlns:a16="http://schemas.microsoft.com/office/drawing/2014/main" id="{3BA2E810-E3B1-86A2-E3AA-4F367059FCE3}"/>
              </a:ext>
            </a:extLst>
          </p:cNvPr>
          <p:cNvSpPr txBox="1"/>
          <p:nvPr/>
        </p:nvSpPr>
        <p:spPr>
          <a:xfrm>
            <a:off x="5220595" y="2107075"/>
            <a:ext cx="2251289" cy="979755"/>
          </a:xfrm>
          <a:prstGeom prst="rect">
            <a:avLst/>
          </a:prstGeom>
          <a:noFill/>
        </p:spPr>
        <p:txBody>
          <a:bodyPr wrap="square" rtlCol="0">
            <a:spAutoFit/>
          </a:bodyPr>
          <a:lstStyle/>
          <a:p>
            <a:pPr>
              <a:spcAft>
                <a:spcPts val="200"/>
              </a:spcAft>
            </a:pPr>
            <a:r>
              <a:rPr lang="en-US" sz="1000">
                <a:latin typeface="Poppins" panose="00000500000000000000" pitchFamily="2" charset="0"/>
                <a:cs typeface="Poppins" panose="00000500000000000000" pitchFamily="2" charset="0"/>
              </a:rPr>
              <a:t>Test Configuration</a:t>
            </a:r>
          </a:p>
          <a:p>
            <a:pPr marL="171450" indent="-171450">
              <a:buFont typeface="Arial" panose="020B0604020202020204" pitchFamily="34" charset="0"/>
              <a:buChar char="•"/>
            </a:pPr>
            <a:r>
              <a:rPr lang="en-US" sz="900" i="1">
                <a:solidFill>
                  <a:schemeClr val="tx2"/>
                </a:solidFill>
                <a:latin typeface="Poppins" panose="00000500000000000000" pitchFamily="2" charset="0"/>
                <a:cs typeface="Poppins" panose="00000500000000000000" pitchFamily="2" charset="0"/>
              </a:rPr>
              <a:t>On approval, create Dev Deck &amp; begin filling QA sheet. </a:t>
            </a:r>
          </a:p>
          <a:p>
            <a:pPr marL="171450" indent="-171450">
              <a:buFont typeface="Arial" panose="020B0604020202020204" pitchFamily="34" charset="0"/>
              <a:buChar char="•"/>
            </a:pPr>
            <a:r>
              <a:rPr lang="en-US" sz="900" i="1">
                <a:solidFill>
                  <a:schemeClr val="tx2"/>
                </a:solidFill>
                <a:latin typeface="Poppins" panose="00000500000000000000" pitchFamily="2" charset="0"/>
                <a:cs typeface="Poppins" panose="00000500000000000000" pitchFamily="2" charset="0"/>
              </a:rPr>
              <a:t>Submit items in dev request to build test.</a:t>
            </a:r>
          </a:p>
          <a:p>
            <a:r>
              <a:rPr lang="en-US" sz="1000">
                <a:latin typeface="Poppins" panose="00000500000000000000" pitchFamily="2" charset="0"/>
                <a:cs typeface="Poppins" panose="00000500000000000000" pitchFamily="2" charset="0"/>
              </a:rPr>
              <a:t> </a:t>
            </a:r>
          </a:p>
        </p:txBody>
      </p:sp>
      <p:sp>
        <p:nvSpPr>
          <p:cNvPr id="27" name="TextBox 26">
            <a:extLst>
              <a:ext uri="{FF2B5EF4-FFF2-40B4-BE49-F238E27FC236}">
                <a16:creationId xmlns:a16="http://schemas.microsoft.com/office/drawing/2014/main" id="{424CAB4E-2289-9FD9-17B6-A35D5CF7A47F}"/>
              </a:ext>
            </a:extLst>
          </p:cNvPr>
          <p:cNvSpPr txBox="1"/>
          <p:nvPr/>
        </p:nvSpPr>
        <p:spPr>
          <a:xfrm>
            <a:off x="5220595" y="3085972"/>
            <a:ext cx="2251289" cy="979755"/>
          </a:xfrm>
          <a:prstGeom prst="rect">
            <a:avLst/>
          </a:prstGeom>
          <a:noFill/>
        </p:spPr>
        <p:txBody>
          <a:bodyPr wrap="square" rtlCol="0">
            <a:spAutoFit/>
          </a:bodyPr>
          <a:lstStyle/>
          <a:p>
            <a:pPr>
              <a:spcAft>
                <a:spcPts val="200"/>
              </a:spcAft>
            </a:pPr>
            <a:r>
              <a:rPr lang="en-US" sz="1000">
                <a:latin typeface="Poppins" panose="00000500000000000000" pitchFamily="2" charset="0"/>
                <a:cs typeface="Poppins" panose="00000500000000000000" pitchFamily="2" charset="0"/>
              </a:rPr>
              <a:t>Test Development</a:t>
            </a:r>
          </a:p>
          <a:p>
            <a:pPr marL="171450" indent="-171450">
              <a:buFont typeface="Arial" panose="020B0604020202020204" pitchFamily="34" charset="0"/>
              <a:buChar char="•"/>
            </a:pPr>
            <a:r>
              <a:rPr lang="en-US" sz="900" i="1">
                <a:solidFill>
                  <a:schemeClr val="tx2"/>
                </a:solidFill>
                <a:latin typeface="Poppins" panose="00000500000000000000" pitchFamily="2" charset="0"/>
                <a:cs typeface="Poppins" panose="00000500000000000000" pitchFamily="2" charset="0"/>
              </a:rPr>
              <a:t>Dev team builds test experience. </a:t>
            </a:r>
          </a:p>
          <a:p>
            <a:pPr marL="171450" indent="-171450">
              <a:buFont typeface="Arial" panose="020B0604020202020204" pitchFamily="34" charset="0"/>
              <a:buChar char="•"/>
            </a:pPr>
            <a:r>
              <a:rPr lang="en-US" sz="900" i="1">
                <a:solidFill>
                  <a:schemeClr val="tx2"/>
                </a:solidFill>
                <a:latin typeface="Poppins" panose="00000500000000000000" pitchFamily="2" charset="0"/>
                <a:cs typeface="Poppins" panose="00000500000000000000" pitchFamily="2" charset="0"/>
              </a:rPr>
              <a:t>Provides informal QA to ensure test experience is resilient in browser.</a:t>
            </a:r>
          </a:p>
          <a:p>
            <a:r>
              <a:rPr lang="en-US" sz="1000">
                <a:latin typeface="Poppins" panose="00000500000000000000" pitchFamily="2" charset="0"/>
                <a:cs typeface="Poppins" panose="00000500000000000000" pitchFamily="2" charset="0"/>
              </a:rPr>
              <a:t> </a:t>
            </a:r>
          </a:p>
        </p:txBody>
      </p:sp>
      <p:sp>
        <p:nvSpPr>
          <p:cNvPr id="28" name="TextBox 27">
            <a:extLst>
              <a:ext uri="{FF2B5EF4-FFF2-40B4-BE49-F238E27FC236}">
                <a16:creationId xmlns:a16="http://schemas.microsoft.com/office/drawing/2014/main" id="{B3D9F3E4-5E0C-AB40-1640-3449696C5EAC}"/>
              </a:ext>
            </a:extLst>
          </p:cNvPr>
          <p:cNvSpPr txBox="1"/>
          <p:nvPr/>
        </p:nvSpPr>
        <p:spPr>
          <a:xfrm>
            <a:off x="5215641" y="3994069"/>
            <a:ext cx="2251289" cy="1118255"/>
          </a:xfrm>
          <a:prstGeom prst="rect">
            <a:avLst/>
          </a:prstGeom>
          <a:noFill/>
        </p:spPr>
        <p:txBody>
          <a:bodyPr wrap="square" rtlCol="0">
            <a:spAutoFit/>
          </a:bodyPr>
          <a:lstStyle/>
          <a:p>
            <a:pPr>
              <a:spcAft>
                <a:spcPts val="200"/>
              </a:spcAft>
            </a:pPr>
            <a:r>
              <a:rPr lang="en-US" sz="1000">
                <a:latin typeface="Poppins" panose="00000500000000000000" pitchFamily="2" charset="0"/>
                <a:cs typeface="Poppins" panose="00000500000000000000" pitchFamily="2" charset="0"/>
              </a:rPr>
              <a:t>Test QA</a:t>
            </a:r>
          </a:p>
          <a:p>
            <a:pPr marL="171450" indent="-171450">
              <a:buFont typeface="Arial" panose="020B0604020202020204" pitchFamily="34" charset="0"/>
              <a:buChar char="•"/>
            </a:pPr>
            <a:r>
              <a:rPr lang="en-US" sz="900" i="1">
                <a:solidFill>
                  <a:schemeClr val="tx2"/>
                </a:solidFill>
                <a:latin typeface="Poppins" panose="00000500000000000000" pitchFamily="2" charset="0"/>
                <a:cs typeface="Poppins" panose="00000500000000000000" pitchFamily="2" charset="0"/>
              </a:rPr>
              <a:t>CRO Sup provides all final content (i.e. documented instructions, links) in QA sheet</a:t>
            </a:r>
          </a:p>
          <a:p>
            <a:pPr marL="171450" indent="-171450">
              <a:buFont typeface="Arial" panose="020B0604020202020204" pitchFamily="34" charset="0"/>
              <a:buChar char="•"/>
            </a:pPr>
            <a:r>
              <a:rPr lang="en-US" sz="900" i="1">
                <a:solidFill>
                  <a:schemeClr val="tx2"/>
                </a:solidFill>
                <a:latin typeface="Poppins" panose="00000500000000000000" pitchFamily="2" charset="0"/>
                <a:cs typeface="Poppins" panose="00000500000000000000" pitchFamily="2" charset="0"/>
              </a:rPr>
              <a:t>CRO Sup / Dev QA provides formal QA, using QA sheet</a:t>
            </a:r>
          </a:p>
          <a:p>
            <a:r>
              <a:rPr lang="en-US" sz="1000">
                <a:latin typeface="Poppins" panose="00000500000000000000" pitchFamily="2" charset="0"/>
                <a:cs typeface="Poppins" panose="00000500000000000000" pitchFamily="2" charset="0"/>
              </a:rPr>
              <a:t> </a:t>
            </a:r>
          </a:p>
        </p:txBody>
      </p:sp>
      <p:sp>
        <p:nvSpPr>
          <p:cNvPr id="29" name="TextBox 28">
            <a:extLst>
              <a:ext uri="{FF2B5EF4-FFF2-40B4-BE49-F238E27FC236}">
                <a16:creationId xmlns:a16="http://schemas.microsoft.com/office/drawing/2014/main" id="{08098453-5397-9F4D-2D19-D629517B768F}"/>
              </a:ext>
            </a:extLst>
          </p:cNvPr>
          <p:cNvSpPr txBox="1"/>
          <p:nvPr/>
        </p:nvSpPr>
        <p:spPr>
          <a:xfrm>
            <a:off x="5186890" y="5175449"/>
            <a:ext cx="2251289" cy="979755"/>
          </a:xfrm>
          <a:prstGeom prst="rect">
            <a:avLst/>
          </a:prstGeom>
          <a:noFill/>
        </p:spPr>
        <p:txBody>
          <a:bodyPr wrap="square" rtlCol="0">
            <a:spAutoFit/>
          </a:bodyPr>
          <a:lstStyle/>
          <a:p>
            <a:pPr>
              <a:spcAft>
                <a:spcPts val="200"/>
              </a:spcAft>
            </a:pPr>
            <a:r>
              <a:rPr lang="en-US" sz="1000">
                <a:latin typeface="Poppins" panose="00000500000000000000" pitchFamily="2" charset="0"/>
                <a:cs typeface="Poppins" panose="00000500000000000000" pitchFamily="2" charset="0"/>
              </a:rPr>
              <a:t>Request Approval</a:t>
            </a:r>
          </a:p>
          <a:p>
            <a:pPr marL="171450" indent="-171450">
              <a:buFont typeface="Arial" panose="020B0604020202020204" pitchFamily="34" charset="0"/>
              <a:buChar char="•"/>
            </a:pPr>
            <a:r>
              <a:rPr lang="en-US" sz="900" i="1">
                <a:solidFill>
                  <a:schemeClr val="tx2"/>
                </a:solidFill>
                <a:latin typeface="Poppins" panose="00000500000000000000" pitchFamily="2" charset="0"/>
                <a:cs typeface="Poppins" panose="00000500000000000000" pitchFamily="2" charset="0"/>
              </a:rPr>
              <a:t>QA links (test w query param audience) &amp; instructions are passed to client for final approval to launch a test.</a:t>
            </a:r>
          </a:p>
          <a:p>
            <a:r>
              <a:rPr lang="en-US" sz="1000">
                <a:latin typeface="Poppins" panose="00000500000000000000" pitchFamily="2" charset="0"/>
                <a:cs typeface="Poppins" panose="00000500000000000000" pitchFamily="2" charset="0"/>
              </a:rPr>
              <a:t> </a:t>
            </a:r>
          </a:p>
        </p:txBody>
      </p:sp>
      <p:grpSp>
        <p:nvGrpSpPr>
          <p:cNvPr id="45" name="Group 44">
            <a:extLst>
              <a:ext uri="{FF2B5EF4-FFF2-40B4-BE49-F238E27FC236}">
                <a16:creationId xmlns:a16="http://schemas.microsoft.com/office/drawing/2014/main" id="{34BFEDC6-38C7-8FC9-11D9-2A1EBD965BD4}"/>
              </a:ext>
            </a:extLst>
          </p:cNvPr>
          <p:cNvGrpSpPr/>
          <p:nvPr/>
        </p:nvGrpSpPr>
        <p:grpSpPr>
          <a:xfrm>
            <a:off x="8458131" y="770943"/>
            <a:ext cx="2940985" cy="841256"/>
            <a:chOff x="8458131" y="841279"/>
            <a:chExt cx="2940985" cy="841256"/>
          </a:xfrm>
        </p:grpSpPr>
        <p:pic>
          <p:nvPicPr>
            <p:cNvPr id="19" name="image1.png" descr="Macintosh HD:Users:phannon:Desktop:Optimization Program Processes.pdf">
              <a:extLst>
                <a:ext uri="{FF2B5EF4-FFF2-40B4-BE49-F238E27FC236}">
                  <a16:creationId xmlns:a16="http://schemas.microsoft.com/office/drawing/2014/main" id="{9303B26C-5719-F724-284C-29E7A1550533}"/>
                </a:ext>
              </a:extLst>
            </p:cNvPr>
            <p:cNvPicPr/>
            <p:nvPr/>
          </p:nvPicPr>
          <p:blipFill rotWithShape="1">
            <a:blip r:embed="rId4"/>
            <a:srcRect l="38201" t="81837" r="56314" b="11634"/>
            <a:stretch/>
          </p:blipFill>
          <p:spPr>
            <a:xfrm>
              <a:off x="8458131" y="911615"/>
              <a:ext cx="534318" cy="358176"/>
            </a:xfrm>
            <a:prstGeom prst="rect">
              <a:avLst/>
            </a:prstGeom>
            <a:ln/>
          </p:spPr>
        </p:pic>
        <p:sp>
          <p:nvSpPr>
            <p:cNvPr id="30" name="TextBox 29">
              <a:extLst>
                <a:ext uri="{FF2B5EF4-FFF2-40B4-BE49-F238E27FC236}">
                  <a16:creationId xmlns:a16="http://schemas.microsoft.com/office/drawing/2014/main" id="{44DB19D8-9894-47BB-5023-232659B91F06}"/>
                </a:ext>
              </a:extLst>
            </p:cNvPr>
            <p:cNvSpPr txBox="1"/>
            <p:nvPr/>
          </p:nvSpPr>
          <p:spPr>
            <a:xfrm>
              <a:off x="9214340" y="841279"/>
              <a:ext cx="2184776" cy="841256"/>
            </a:xfrm>
            <a:prstGeom prst="rect">
              <a:avLst/>
            </a:prstGeom>
            <a:noFill/>
          </p:spPr>
          <p:txBody>
            <a:bodyPr wrap="square" rtlCol="0">
              <a:spAutoFit/>
            </a:bodyPr>
            <a:lstStyle/>
            <a:p>
              <a:pPr>
                <a:spcAft>
                  <a:spcPts val="200"/>
                </a:spcAft>
              </a:pPr>
              <a:r>
                <a:rPr lang="en-US" sz="1000">
                  <a:latin typeface="Poppins" panose="00000500000000000000" pitchFamily="2" charset="0"/>
                  <a:cs typeface="Poppins" panose="00000500000000000000" pitchFamily="2" charset="0"/>
                </a:rPr>
                <a:t>Test Launch</a:t>
              </a:r>
            </a:p>
            <a:p>
              <a:pPr marL="171450" indent="-171450">
                <a:buFont typeface="Arial" panose="020B0604020202020204" pitchFamily="34" charset="0"/>
                <a:buChar char="•"/>
              </a:pPr>
              <a:r>
                <a:rPr lang="en-US" sz="900" i="1">
                  <a:solidFill>
                    <a:schemeClr val="tx2"/>
                  </a:solidFill>
                  <a:latin typeface="Poppins" panose="00000500000000000000" pitchFamily="2" charset="0"/>
                  <a:cs typeface="Poppins" panose="00000500000000000000" pitchFamily="2" charset="0"/>
                </a:rPr>
                <a:t>After client approves the rendered test experience, a test is turned on.</a:t>
              </a:r>
            </a:p>
            <a:p>
              <a:r>
                <a:rPr lang="en-US" sz="1000">
                  <a:latin typeface="Poppins" panose="00000500000000000000" pitchFamily="2" charset="0"/>
                  <a:cs typeface="Poppins" panose="00000500000000000000" pitchFamily="2" charset="0"/>
                </a:rPr>
                <a:t> </a:t>
              </a:r>
            </a:p>
          </p:txBody>
        </p:sp>
      </p:grpSp>
      <p:grpSp>
        <p:nvGrpSpPr>
          <p:cNvPr id="46" name="Group 45">
            <a:extLst>
              <a:ext uri="{FF2B5EF4-FFF2-40B4-BE49-F238E27FC236}">
                <a16:creationId xmlns:a16="http://schemas.microsoft.com/office/drawing/2014/main" id="{D1F1D362-BB32-2152-2D9D-0A68CFD77A87}"/>
              </a:ext>
            </a:extLst>
          </p:cNvPr>
          <p:cNvGrpSpPr/>
          <p:nvPr/>
        </p:nvGrpSpPr>
        <p:grpSpPr>
          <a:xfrm>
            <a:off x="8458131" y="1592940"/>
            <a:ext cx="2940985" cy="1395254"/>
            <a:chOff x="8458131" y="1693420"/>
            <a:chExt cx="2940985" cy="1395254"/>
          </a:xfrm>
        </p:grpSpPr>
        <p:pic>
          <p:nvPicPr>
            <p:cNvPr id="20" name="image1.png" descr="Macintosh HD:Users:phannon:Desktop:Optimization Program Processes.pdf">
              <a:extLst>
                <a:ext uri="{FF2B5EF4-FFF2-40B4-BE49-F238E27FC236}">
                  <a16:creationId xmlns:a16="http://schemas.microsoft.com/office/drawing/2014/main" id="{812A5407-4CF9-E0E3-415C-21AABE740620}"/>
                </a:ext>
              </a:extLst>
            </p:cNvPr>
            <p:cNvPicPr/>
            <p:nvPr/>
          </p:nvPicPr>
          <p:blipFill rotWithShape="1">
            <a:blip r:embed="rId4"/>
            <a:srcRect l="48078" t="82187" r="46437" b="10779"/>
            <a:stretch/>
          </p:blipFill>
          <p:spPr>
            <a:xfrm>
              <a:off x="8458131" y="1739459"/>
              <a:ext cx="534318" cy="385846"/>
            </a:xfrm>
            <a:prstGeom prst="rect">
              <a:avLst/>
            </a:prstGeom>
            <a:ln/>
          </p:spPr>
        </p:pic>
        <p:sp>
          <p:nvSpPr>
            <p:cNvPr id="31" name="TextBox 30">
              <a:extLst>
                <a:ext uri="{FF2B5EF4-FFF2-40B4-BE49-F238E27FC236}">
                  <a16:creationId xmlns:a16="http://schemas.microsoft.com/office/drawing/2014/main" id="{C726CDEE-17A9-6FF0-9754-96D47064E036}"/>
                </a:ext>
              </a:extLst>
            </p:cNvPr>
            <p:cNvSpPr txBox="1"/>
            <p:nvPr/>
          </p:nvSpPr>
          <p:spPr>
            <a:xfrm>
              <a:off x="9214340" y="1693420"/>
              <a:ext cx="2184776" cy="1395254"/>
            </a:xfrm>
            <a:prstGeom prst="rect">
              <a:avLst/>
            </a:prstGeom>
            <a:noFill/>
          </p:spPr>
          <p:txBody>
            <a:bodyPr wrap="square" rtlCol="0">
              <a:spAutoFit/>
            </a:bodyPr>
            <a:lstStyle/>
            <a:p>
              <a:pPr>
                <a:spcAft>
                  <a:spcPts val="200"/>
                </a:spcAft>
              </a:pPr>
              <a:r>
                <a:rPr lang="en-US" sz="1000">
                  <a:latin typeface="Poppins" panose="00000500000000000000" pitchFamily="2" charset="0"/>
                  <a:cs typeface="Poppins" panose="00000500000000000000" pitchFamily="2" charset="0"/>
                </a:rPr>
                <a:t>Monitor Guardrails</a:t>
              </a:r>
            </a:p>
            <a:p>
              <a:pPr marL="171450" indent="-171450">
                <a:buFont typeface="Arial" panose="020B0604020202020204" pitchFamily="34" charset="0"/>
                <a:buChar char="•"/>
              </a:pPr>
              <a:r>
                <a:rPr lang="en-US" sz="900" i="1">
                  <a:solidFill>
                    <a:schemeClr val="tx2"/>
                  </a:solidFill>
                  <a:latin typeface="Poppins" panose="00000500000000000000" pitchFamily="2" charset="0"/>
                  <a:cs typeface="Poppins" panose="00000500000000000000" pitchFamily="2" charset="0"/>
                </a:rPr>
                <a:t>On Day 1, provide final update to QA sheet (primary metric working) </a:t>
              </a:r>
            </a:p>
            <a:p>
              <a:pPr marL="171450" indent="-171450">
                <a:buFont typeface="Arial" panose="020B0604020202020204" pitchFamily="34" charset="0"/>
                <a:buChar char="•"/>
              </a:pPr>
              <a:r>
                <a:rPr lang="en-US" sz="900" i="1">
                  <a:solidFill>
                    <a:schemeClr val="tx2"/>
                  </a:solidFill>
                  <a:latin typeface="Poppins" panose="00000500000000000000" pitchFamily="2" charset="0"/>
                  <a:cs typeface="Poppins" panose="00000500000000000000" pitchFamily="2" charset="0"/>
                </a:rPr>
                <a:t>In Week 1, monitor guardrail metrics closely. Tests are paused for troubleshooting if any issues are seen.</a:t>
              </a:r>
            </a:p>
            <a:p>
              <a:r>
                <a:rPr lang="en-US" sz="1000">
                  <a:latin typeface="Poppins" panose="00000500000000000000" pitchFamily="2" charset="0"/>
                  <a:cs typeface="Poppins" panose="00000500000000000000" pitchFamily="2" charset="0"/>
                </a:rPr>
                <a:t> </a:t>
              </a:r>
            </a:p>
          </p:txBody>
        </p:sp>
      </p:grpSp>
      <p:grpSp>
        <p:nvGrpSpPr>
          <p:cNvPr id="47" name="Group 46">
            <a:extLst>
              <a:ext uri="{FF2B5EF4-FFF2-40B4-BE49-F238E27FC236}">
                <a16:creationId xmlns:a16="http://schemas.microsoft.com/office/drawing/2014/main" id="{DB7C8817-7E77-3211-87AE-D00DE90ED75F}"/>
              </a:ext>
            </a:extLst>
          </p:cNvPr>
          <p:cNvGrpSpPr/>
          <p:nvPr/>
        </p:nvGrpSpPr>
        <p:grpSpPr>
          <a:xfrm>
            <a:off x="8537544" y="2963722"/>
            <a:ext cx="2861572" cy="1256754"/>
            <a:chOff x="8537544" y="3114442"/>
            <a:chExt cx="2861572" cy="1256754"/>
          </a:xfrm>
        </p:grpSpPr>
        <p:pic>
          <p:nvPicPr>
            <p:cNvPr id="21" name="image1.png" descr="Macintosh HD:Users:phannon:Desktop:Optimization Program Processes.pdf">
              <a:extLst>
                <a:ext uri="{FF2B5EF4-FFF2-40B4-BE49-F238E27FC236}">
                  <a16:creationId xmlns:a16="http://schemas.microsoft.com/office/drawing/2014/main" id="{7D3AE5FD-564C-102D-6122-36ACAA45AA6F}"/>
                </a:ext>
              </a:extLst>
            </p:cNvPr>
            <p:cNvPicPr/>
            <p:nvPr/>
          </p:nvPicPr>
          <p:blipFill rotWithShape="1">
            <a:blip r:embed="rId4"/>
            <a:srcRect l="61127" t="82625" r="35019" b="10341"/>
            <a:stretch/>
          </p:blipFill>
          <p:spPr>
            <a:xfrm>
              <a:off x="8537544" y="3128675"/>
              <a:ext cx="375492" cy="385846"/>
            </a:xfrm>
            <a:prstGeom prst="rect">
              <a:avLst/>
            </a:prstGeom>
            <a:ln/>
          </p:spPr>
        </p:pic>
        <p:sp>
          <p:nvSpPr>
            <p:cNvPr id="32" name="TextBox 31">
              <a:extLst>
                <a:ext uri="{FF2B5EF4-FFF2-40B4-BE49-F238E27FC236}">
                  <a16:creationId xmlns:a16="http://schemas.microsoft.com/office/drawing/2014/main" id="{438AADC3-3990-80C3-B38A-746120948BFB}"/>
                </a:ext>
              </a:extLst>
            </p:cNvPr>
            <p:cNvSpPr txBox="1"/>
            <p:nvPr/>
          </p:nvSpPr>
          <p:spPr>
            <a:xfrm>
              <a:off x="9214340" y="3114442"/>
              <a:ext cx="2184776" cy="1256754"/>
            </a:xfrm>
            <a:prstGeom prst="rect">
              <a:avLst/>
            </a:prstGeom>
            <a:noFill/>
          </p:spPr>
          <p:txBody>
            <a:bodyPr wrap="square" rtlCol="0">
              <a:spAutoFit/>
            </a:bodyPr>
            <a:lstStyle/>
            <a:p>
              <a:pPr>
                <a:spcAft>
                  <a:spcPts val="200"/>
                </a:spcAft>
              </a:pPr>
              <a:r>
                <a:rPr lang="en-US" sz="1000">
                  <a:latin typeface="Poppins" panose="00000500000000000000" pitchFamily="2" charset="0"/>
                  <a:cs typeface="Poppins" panose="00000500000000000000" pitchFamily="2" charset="0"/>
                </a:rPr>
                <a:t>Pause &amp; Analyze</a:t>
              </a:r>
            </a:p>
            <a:p>
              <a:pPr marL="171450" indent="-171450">
                <a:buFont typeface="Arial" panose="020B0604020202020204" pitchFamily="34" charset="0"/>
                <a:buChar char="•"/>
              </a:pPr>
              <a:r>
                <a:rPr lang="en-US" sz="900" i="1">
                  <a:solidFill>
                    <a:schemeClr val="tx2"/>
                  </a:solidFill>
                  <a:latin typeface="Poppins" panose="00000500000000000000" pitchFamily="2" charset="0"/>
                  <a:cs typeface="Poppins" panose="00000500000000000000" pitchFamily="2" charset="0"/>
                </a:rPr>
                <a:t>If no issues with guardrails / no CVR nosedive CVR by the test experience – keep running.</a:t>
              </a:r>
            </a:p>
            <a:p>
              <a:pPr marL="171450" indent="-171450">
                <a:buFont typeface="Arial" panose="020B0604020202020204" pitchFamily="34" charset="0"/>
                <a:buChar char="•"/>
              </a:pPr>
              <a:r>
                <a:rPr lang="en-US" sz="900" i="1">
                  <a:solidFill>
                    <a:schemeClr val="tx2"/>
                  </a:solidFill>
                  <a:latin typeface="Poppins" panose="00000500000000000000" pitchFamily="2" charset="0"/>
                  <a:cs typeface="Poppins" panose="00000500000000000000" pitchFamily="2" charset="0"/>
                </a:rPr>
                <a:t>Check at pre-determined intervals; stop when stat sig is detected (or at 30 days). </a:t>
              </a:r>
            </a:p>
            <a:p>
              <a:r>
                <a:rPr lang="en-US" sz="1000">
                  <a:latin typeface="Poppins" panose="00000500000000000000" pitchFamily="2" charset="0"/>
                  <a:cs typeface="Poppins" panose="00000500000000000000" pitchFamily="2" charset="0"/>
                </a:rPr>
                <a:t> </a:t>
              </a:r>
            </a:p>
          </p:txBody>
        </p:sp>
      </p:grpSp>
      <p:grpSp>
        <p:nvGrpSpPr>
          <p:cNvPr id="48" name="Group 47">
            <a:extLst>
              <a:ext uri="{FF2B5EF4-FFF2-40B4-BE49-F238E27FC236}">
                <a16:creationId xmlns:a16="http://schemas.microsoft.com/office/drawing/2014/main" id="{5BF61DB4-194F-34B1-AC6C-00D39EA9BE21}"/>
              </a:ext>
            </a:extLst>
          </p:cNvPr>
          <p:cNvGrpSpPr/>
          <p:nvPr/>
        </p:nvGrpSpPr>
        <p:grpSpPr>
          <a:xfrm>
            <a:off x="8409014" y="4032587"/>
            <a:ext cx="2985148" cy="1118255"/>
            <a:chOff x="8409014" y="4102923"/>
            <a:chExt cx="2985148" cy="1118255"/>
          </a:xfrm>
        </p:grpSpPr>
        <p:pic>
          <p:nvPicPr>
            <p:cNvPr id="22" name="image1.png" descr="Macintosh HD:Users:phannon:Desktop:Optimization Program Processes.pdf">
              <a:extLst>
                <a:ext uri="{FF2B5EF4-FFF2-40B4-BE49-F238E27FC236}">
                  <a16:creationId xmlns:a16="http://schemas.microsoft.com/office/drawing/2014/main" id="{C45A52D7-229F-34D6-DAC2-4EA7957A422B}"/>
                </a:ext>
              </a:extLst>
            </p:cNvPr>
            <p:cNvPicPr/>
            <p:nvPr/>
          </p:nvPicPr>
          <p:blipFill rotWithShape="1">
            <a:blip r:embed="rId4"/>
            <a:srcRect l="73670" t="81844" r="19837" b="11122"/>
            <a:stretch/>
          </p:blipFill>
          <p:spPr>
            <a:xfrm>
              <a:off x="8409014" y="4170158"/>
              <a:ext cx="632552" cy="385845"/>
            </a:xfrm>
            <a:prstGeom prst="rect">
              <a:avLst/>
            </a:prstGeom>
            <a:ln/>
          </p:spPr>
        </p:pic>
        <p:sp>
          <p:nvSpPr>
            <p:cNvPr id="33" name="TextBox 32">
              <a:extLst>
                <a:ext uri="{FF2B5EF4-FFF2-40B4-BE49-F238E27FC236}">
                  <a16:creationId xmlns:a16="http://schemas.microsoft.com/office/drawing/2014/main" id="{880458B4-F3F0-4835-19AD-C06717A218F2}"/>
                </a:ext>
              </a:extLst>
            </p:cNvPr>
            <p:cNvSpPr txBox="1"/>
            <p:nvPr/>
          </p:nvSpPr>
          <p:spPr>
            <a:xfrm>
              <a:off x="9209386" y="4102923"/>
              <a:ext cx="2184776" cy="1118255"/>
            </a:xfrm>
            <a:prstGeom prst="rect">
              <a:avLst/>
            </a:prstGeom>
            <a:noFill/>
          </p:spPr>
          <p:txBody>
            <a:bodyPr wrap="square" rtlCol="0">
              <a:spAutoFit/>
            </a:bodyPr>
            <a:lstStyle/>
            <a:p>
              <a:pPr>
                <a:spcAft>
                  <a:spcPts val="200"/>
                </a:spcAft>
              </a:pPr>
              <a:r>
                <a:rPr lang="en-US" sz="1000">
                  <a:latin typeface="Poppins" panose="00000500000000000000" pitchFamily="2" charset="0"/>
                  <a:cs typeface="Poppins" panose="00000500000000000000" pitchFamily="2" charset="0"/>
                </a:rPr>
                <a:t>Report &amp; Share</a:t>
              </a:r>
            </a:p>
            <a:p>
              <a:pPr marL="171450" indent="-171450">
                <a:buFont typeface="Arial" panose="020B0604020202020204" pitchFamily="34" charset="0"/>
                <a:buChar char="•"/>
              </a:pPr>
              <a:r>
                <a:rPr lang="en-US" sz="900" i="1">
                  <a:solidFill>
                    <a:schemeClr val="tx2"/>
                  </a:solidFill>
                  <a:latin typeface="Poppins" panose="00000500000000000000" pitchFamily="2" charset="0"/>
                  <a:cs typeface="Poppins" panose="00000500000000000000" pitchFamily="2" charset="0"/>
                </a:rPr>
                <a:t>On stop, do a win/loss analysis &amp; and any needed deep dives</a:t>
              </a:r>
            </a:p>
            <a:p>
              <a:pPr marL="171450" indent="-171450">
                <a:buFont typeface="Arial" panose="020B0604020202020204" pitchFamily="34" charset="0"/>
                <a:buChar char="•"/>
              </a:pPr>
              <a:r>
                <a:rPr lang="en-US" sz="900" i="1">
                  <a:solidFill>
                    <a:schemeClr val="tx2"/>
                  </a:solidFill>
                  <a:latin typeface="Poppins" panose="00000500000000000000" pitchFamily="2" charset="0"/>
                  <a:cs typeface="Poppins" panose="00000500000000000000" pitchFamily="2" charset="0"/>
                </a:rPr>
                <a:t>Send a One Sheeter with summary of win/loss to the client </a:t>
              </a:r>
            </a:p>
            <a:p>
              <a:r>
                <a:rPr lang="en-US" sz="1000">
                  <a:latin typeface="Poppins" panose="00000500000000000000" pitchFamily="2" charset="0"/>
                  <a:cs typeface="Poppins" panose="00000500000000000000" pitchFamily="2" charset="0"/>
                </a:rPr>
                <a:t> </a:t>
              </a:r>
            </a:p>
          </p:txBody>
        </p:sp>
      </p:grpSp>
      <p:grpSp>
        <p:nvGrpSpPr>
          <p:cNvPr id="49" name="Group 48">
            <a:extLst>
              <a:ext uri="{FF2B5EF4-FFF2-40B4-BE49-F238E27FC236}">
                <a16:creationId xmlns:a16="http://schemas.microsoft.com/office/drawing/2014/main" id="{C89E8624-914E-8490-0F54-709B6CEEBEFD}"/>
              </a:ext>
            </a:extLst>
          </p:cNvPr>
          <p:cNvGrpSpPr/>
          <p:nvPr/>
        </p:nvGrpSpPr>
        <p:grpSpPr>
          <a:xfrm>
            <a:off x="8559834" y="5113491"/>
            <a:ext cx="2805577" cy="1256754"/>
            <a:chOff x="8559834" y="5304403"/>
            <a:chExt cx="2805577" cy="1256754"/>
          </a:xfrm>
        </p:grpSpPr>
        <p:pic>
          <p:nvPicPr>
            <p:cNvPr id="23" name="image1.png" descr="Macintosh HD:Users:phannon:Desktop:Optimization Program Processes.pdf">
              <a:extLst>
                <a:ext uri="{FF2B5EF4-FFF2-40B4-BE49-F238E27FC236}">
                  <a16:creationId xmlns:a16="http://schemas.microsoft.com/office/drawing/2014/main" id="{7EE79BA5-3FE4-876B-EDDB-213EDC5547AF}"/>
                </a:ext>
              </a:extLst>
            </p:cNvPr>
            <p:cNvPicPr/>
            <p:nvPr/>
          </p:nvPicPr>
          <p:blipFill rotWithShape="1">
            <a:blip r:embed="rId4"/>
            <a:srcRect l="86762" t="81947" r="7958" b="10255"/>
            <a:stretch/>
          </p:blipFill>
          <p:spPr>
            <a:xfrm>
              <a:off x="8559834" y="5328262"/>
              <a:ext cx="514490" cy="427695"/>
            </a:xfrm>
            <a:prstGeom prst="rect">
              <a:avLst/>
            </a:prstGeom>
            <a:ln/>
          </p:spPr>
        </p:pic>
        <p:sp>
          <p:nvSpPr>
            <p:cNvPr id="34" name="TextBox 33">
              <a:extLst>
                <a:ext uri="{FF2B5EF4-FFF2-40B4-BE49-F238E27FC236}">
                  <a16:creationId xmlns:a16="http://schemas.microsoft.com/office/drawing/2014/main" id="{06A3E625-B144-6D5E-AE83-4880B6889979}"/>
                </a:ext>
              </a:extLst>
            </p:cNvPr>
            <p:cNvSpPr txBox="1"/>
            <p:nvPr/>
          </p:nvSpPr>
          <p:spPr>
            <a:xfrm>
              <a:off x="9180635" y="5304403"/>
              <a:ext cx="2184776" cy="1256754"/>
            </a:xfrm>
            <a:prstGeom prst="rect">
              <a:avLst/>
            </a:prstGeom>
            <a:noFill/>
          </p:spPr>
          <p:txBody>
            <a:bodyPr wrap="square" rtlCol="0">
              <a:spAutoFit/>
            </a:bodyPr>
            <a:lstStyle/>
            <a:p>
              <a:pPr>
                <a:spcAft>
                  <a:spcPts val="200"/>
                </a:spcAft>
              </a:pPr>
              <a:r>
                <a:rPr lang="en-US" sz="1000">
                  <a:latin typeface="Poppins" panose="00000500000000000000" pitchFamily="2" charset="0"/>
                  <a:cs typeface="Poppins" panose="00000500000000000000" pitchFamily="2" charset="0"/>
                </a:rPr>
                <a:t>Rollout Go/No-Go</a:t>
              </a:r>
            </a:p>
            <a:p>
              <a:pPr marL="171450" indent="-171450">
                <a:buFont typeface="Arial" panose="020B0604020202020204" pitchFamily="34" charset="0"/>
                <a:buChar char="•"/>
              </a:pPr>
              <a:r>
                <a:rPr lang="en-US" sz="900" i="1">
                  <a:solidFill>
                    <a:schemeClr val="tx2"/>
                  </a:solidFill>
                  <a:latin typeface="Poppins" panose="00000500000000000000" pitchFamily="2" charset="0"/>
                  <a:cs typeface="Poppins" panose="00000500000000000000" pitchFamily="2" charset="0"/>
                </a:rPr>
                <a:t>Analysis is discussed in a follow up call. </a:t>
              </a:r>
            </a:p>
            <a:p>
              <a:pPr marL="171450" indent="-171450">
                <a:buFont typeface="Arial" panose="020B0604020202020204" pitchFamily="34" charset="0"/>
                <a:buChar char="•"/>
              </a:pPr>
              <a:r>
                <a:rPr lang="en-US" sz="900" i="1">
                  <a:solidFill>
                    <a:schemeClr val="tx2"/>
                  </a:solidFill>
                  <a:latin typeface="Poppins" panose="00000500000000000000" pitchFamily="2" charset="0"/>
                  <a:cs typeface="Poppins" panose="00000500000000000000" pitchFamily="2" charset="0"/>
                </a:rPr>
                <a:t>Ideally, wins are auto-pushed to dev queue. (Or, client elects whether to push winning experiences to prod.)</a:t>
              </a:r>
            </a:p>
            <a:p>
              <a:r>
                <a:rPr lang="en-US" sz="1000">
                  <a:latin typeface="Poppins" panose="00000500000000000000" pitchFamily="2" charset="0"/>
                  <a:cs typeface="Poppins" panose="00000500000000000000" pitchFamily="2" charset="0"/>
                </a:rPr>
                <a:t> </a:t>
              </a:r>
            </a:p>
          </p:txBody>
        </p:sp>
      </p:grpSp>
      <p:sp>
        <p:nvSpPr>
          <p:cNvPr id="35" name="Rectangle: Rounded Corners 34">
            <a:extLst>
              <a:ext uri="{FF2B5EF4-FFF2-40B4-BE49-F238E27FC236}">
                <a16:creationId xmlns:a16="http://schemas.microsoft.com/office/drawing/2014/main" id="{5CECFC23-0902-3DD2-2A42-31EC4FD7C0E9}"/>
              </a:ext>
            </a:extLst>
          </p:cNvPr>
          <p:cNvSpPr/>
          <p:nvPr/>
        </p:nvSpPr>
        <p:spPr>
          <a:xfrm>
            <a:off x="4230395" y="2967121"/>
            <a:ext cx="3454686" cy="2047502"/>
          </a:xfrm>
          <a:prstGeom prst="roundRect">
            <a:avLst/>
          </a:prstGeom>
          <a:no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Isosceles Triangle 35">
            <a:extLst>
              <a:ext uri="{FF2B5EF4-FFF2-40B4-BE49-F238E27FC236}">
                <a16:creationId xmlns:a16="http://schemas.microsoft.com/office/drawing/2014/main" id="{C5370A23-E1E0-B2A5-9AC4-286ABD51FE92}"/>
              </a:ext>
            </a:extLst>
          </p:cNvPr>
          <p:cNvSpPr/>
          <p:nvPr/>
        </p:nvSpPr>
        <p:spPr>
          <a:xfrm rot="5400000">
            <a:off x="6756626" y="2914923"/>
            <a:ext cx="307775" cy="106876"/>
          </a:xfrm>
          <a:prstGeom prst="triangle">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5630A584-9160-66B4-3F2C-8D8E12A5C5EF}"/>
              </a:ext>
            </a:extLst>
          </p:cNvPr>
          <p:cNvSpPr txBox="1"/>
          <p:nvPr/>
        </p:nvSpPr>
        <p:spPr>
          <a:xfrm rot="5400000">
            <a:off x="6681382" y="3802830"/>
            <a:ext cx="2145072" cy="425758"/>
          </a:xfrm>
          <a:prstGeom prst="rect">
            <a:avLst/>
          </a:prstGeom>
          <a:noFill/>
        </p:spPr>
        <p:txBody>
          <a:bodyPr wrap="square" rtlCol="0">
            <a:spAutoFit/>
          </a:bodyPr>
          <a:lstStyle/>
          <a:p>
            <a:pPr>
              <a:spcAft>
                <a:spcPts val="200"/>
              </a:spcAft>
            </a:pPr>
            <a:r>
              <a:rPr lang="en-US" sz="1000">
                <a:solidFill>
                  <a:srgbClr val="92D050"/>
                </a:solidFill>
                <a:latin typeface="Poppins" panose="00000500000000000000" pitchFamily="2" charset="0"/>
                <a:cs typeface="Poppins" panose="00000500000000000000" pitchFamily="2" charset="0"/>
              </a:rPr>
              <a:t>Cycle through until passes QA</a:t>
            </a:r>
            <a:endParaRPr lang="en-US" sz="900" i="1">
              <a:solidFill>
                <a:srgbClr val="92D050"/>
              </a:solidFill>
              <a:latin typeface="Poppins" panose="00000500000000000000" pitchFamily="2" charset="0"/>
              <a:cs typeface="Poppins" panose="00000500000000000000" pitchFamily="2" charset="0"/>
            </a:endParaRPr>
          </a:p>
          <a:p>
            <a:r>
              <a:rPr lang="en-US" sz="1000">
                <a:solidFill>
                  <a:srgbClr val="92D050"/>
                </a:solidFill>
                <a:latin typeface="Poppins" panose="00000500000000000000" pitchFamily="2" charset="0"/>
                <a:cs typeface="Poppins" panose="00000500000000000000" pitchFamily="2" charset="0"/>
              </a:rPr>
              <a:t> </a:t>
            </a:r>
          </a:p>
        </p:txBody>
      </p:sp>
      <p:sp>
        <p:nvSpPr>
          <p:cNvPr id="38" name="Isosceles Triangle 37">
            <a:extLst>
              <a:ext uri="{FF2B5EF4-FFF2-40B4-BE49-F238E27FC236}">
                <a16:creationId xmlns:a16="http://schemas.microsoft.com/office/drawing/2014/main" id="{BF6040B5-41A7-BDE1-6F0E-896410AD00EE}"/>
              </a:ext>
            </a:extLst>
          </p:cNvPr>
          <p:cNvSpPr/>
          <p:nvPr/>
        </p:nvSpPr>
        <p:spPr>
          <a:xfrm rot="13256549">
            <a:off x="7329619" y="4971765"/>
            <a:ext cx="307775" cy="106876"/>
          </a:xfrm>
          <a:prstGeom prst="triangle">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Isosceles Triangle 38">
            <a:extLst>
              <a:ext uri="{FF2B5EF4-FFF2-40B4-BE49-F238E27FC236}">
                <a16:creationId xmlns:a16="http://schemas.microsoft.com/office/drawing/2014/main" id="{5121F529-379C-1CD5-9D81-0520628E0745}"/>
              </a:ext>
            </a:extLst>
          </p:cNvPr>
          <p:cNvSpPr/>
          <p:nvPr/>
        </p:nvSpPr>
        <p:spPr>
          <a:xfrm>
            <a:off x="4071674" y="3711623"/>
            <a:ext cx="307775" cy="106876"/>
          </a:xfrm>
          <a:prstGeom prst="triangle">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285642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Rectangle 84">
            <a:extLst>
              <a:ext uri="{FF2B5EF4-FFF2-40B4-BE49-F238E27FC236}">
                <a16:creationId xmlns:a16="http://schemas.microsoft.com/office/drawing/2014/main" id="{FCFC13CC-E538-1DE2-B9F3-34FEDA3B2B05}"/>
              </a:ext>
            </a:extLst>
          </p:cNvPr>
          <p:cNvSpPr/>
          <p:nvPr/>
        </p:nvSpPr>
        <p:spPr>
          <a:xfrm>
            <a:off x="-16626" y="6420726"/>
            <a:ext cx="12208625" cy="486041"/>
          </a:xfrm>
          <a:prstGeom prst="rect">
            <a:avLst/>
          </a:prstGeom>
          <a:solidFill>
            <a:srgbClr val="0100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6" name="Picture 85">
            <a:extLst>
              <a:ext uri="{FF2B5EF4-FFF2-40B4-BE49-F238E27FC236}">
                <a16:creationId xmlns:a16="http://schemas.microsoft.com/office/drawing/2014/main" id="{13BB38F0-C95D-7B7F-476A-7A82F8F144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43815" y="6576506"/>
            <a:ext cx="1401689" cy="174481"/>
          </a:xfrm>
          <a:prstGeom prst="rect">
            <a:avLst/>
          </a:prstGeom>
          <a:noFill/>
          <a:extLst>
            <a:ext uri="{909E8E84-426E-40DD-AFC4-6F175D3DCCD1}">
              <a14:hiddenFill xmlns:a14="http://schemas.microsoft.com/office/drawing/2010/main">
                <a:solidFill>
                  <a:srgbClr val="FFFFFF"/>
                </a:solidFill>
              </a14:hiddenFill>
            </a:ext>
          </a:extLst>
        </p:spPr>
      </p:pic>
      <p:sp>
        <p:nvSpPr>
          <p:cNvPr id="87" name="TextBox 86">
            <a:extLst>
              <a:ext uri="{FF2B5EF4-FFF2-40B4-BE49-F238E27FC236}">
                <a16:creationId xmlns:a16="http://schemas.microsoft.com/office/drawing/2014/main" id="{7EC8E12D-52D2-C4A1-6B04-9031FBFF5B11}"/>
              </a:ext>
            </a:extLst>
          </p:cNvPr>
          <p:cNvSpPr txBox="1"/>
          <p:nvPr/>
        </p:nvSpPr>
        <p:spPr>
          <a:xfrm>
            <a:off x="78859" y="6536788"/>
            <a:ext cx="4239255" cy="253916"/>
          </a:xfrm>
          <a:prstGeom prst="rect">
            <a:avLst/>
          </a:prstGeom>
          <a:noFill/>
        </p:spPr>
        <p:txBody>
          <a:bodyPr wrap="square">
            <a:spAutoFit/>
          </a:bodyPr>
          <a:lstStyle/>
          <a:p>
            <a:r>
              <a:rPr lang="en-US" sz="1050" b="0" i="0" u="none" strike="noStrike">
                <a:solidFill>
                  <a:schemeClr val="bg1">
                    <a:lumMod val="75000"/>
                  </a:schemeClr>
                </a:solidFill>
                <a:effectLst/>
                <a:latin typeface="Poppins" pitchFamily="2" charset="77"/>
              </a:rPr>
              <a:t>© 2023 Horizon Media – Confidential &amp; Proprietary</a:t>
            </a:r>
            <a:r>
              <a:rPr lang="en-US" sz="1050" b="0" i="0">
                <a:solidFill>
                  <a:schemeClr val="bg1">
                    <a:lumMod val="75000"/>
                  </a:schemeClr>
                </a:solidFill>
                <a:effectLst/>
                <a:latin typeface="Poppins" pitchFamily="2" charset="77"/>
              </a:rPr>
              <a:t>​</a:t>
            </a:r>
            <a:endParaRPr lang="en-US" sz="1050">
              <a:solidFill>
                <a:schemeClr val="bg1">
                  <a:lumMod val="75000"/>
                </a:schemeClr>
              </a:solidFill>
            </a:endParaRPr>
          </a:p>
        </p:txBody>
      </p:sp>
      <p:sp>
        <p:nvSpPr>
          <p:cNvPr id="50" name="Rectangle 49">
            <a:extLst>
              <a:ext uri="{FF2B5EF4-FFF2-40B4-BE49-F238E27FC236}">
                <a16:creationId xmlns:a16="http://schemas.microsoft.com/office/drawing/2014/main" id="{99FA5158-1764-537A-90BC-CCE19EC41D3F}"/>
              </a:ext>
            </a:extLst>
          </p:cNvPr>
          <p:cNvSpPr/>
          <p:nvPr/>
        </p:nvSpPr>
        <p:spPr>
          <a:xfrm flipV="1">
            <a:off x="-16626" y="0"/>
            <a:ext cx="12191998" cy="1331619"/>
          </a:xfrm>
          <a:prstGeom prst="rect">
            <a:avLst/>
          </a:prstGeom>
          <a:solidFill>
            <a:srgbClr val="6699CC">
              <a:alpha val="1294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73165088-95D9-0886-1B5B-FB4820C3A300}"/>
              </a:ext>
            </a:extLst>
          </p:cNvPr>
          <p:cNvSpPr/>
          <p:nvPr/>
        </p:nvSpPr>
        <p:spPr>
          <a:xfrm>
            <a:off x="885079" y="944385"/>
            <a:ext cx="1063653" cy="56954"/>
          </a:xfrm>
          <a:prstGeom prst="rect">
            <a:avLst/>
          </a:prstGeom>
          <a:solidFill>
            <a:srgbClr val="1A2E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1A2E51"/>
              </a:solidFill>
              <a:latin typeface="Arial" panose="020B0604020202020204" pitchFamily="34" charset="0"/>
            </a:endParaRPr>
          </a:p>
        </p:txBody>
      </p:sp>
      <p:sp>
        <p:nvSpPr>
          <p:cNvPr id="52" name="TextBox 51">
            <a:extLst>
              <a:ext uri="{FF2B5EF4-FFF2-40B4-BE49-F238E27FC236}">
                <a16:creationId xmlns:a16="http://schemas.microsoft.com/office/drawing/2014/main" id="{AAA5F3F3-E2CB-BE31-83D9-604EA7F41B55}"/>
              </a:ext>
            </a:extLst>
          </p:cNvPr>
          <p:cNvSpPr txBox="1"/>
          <p:nvPr/>
        </p:nvSpPr>
        <p:spPr>
          <a:xfrm>
            <a:off x="885079" y="476586"/>
            <a:ext cx="7981244" cy="523220"/>
          </a:xfrm>
          <a:prstGeom prst="rect">
            <a:avLst/>
          </a:prstGeom>
          <a:noFill/>
        </p:spPr>
        <p:txBody>
          <a:bodyPr wrap="square" lIns="0">
            <a:spAutoFit/>
          </a:bodyPr>
          <a:lstStyle/>
          <a:p>
            <a:pPr>
              <a:spcAft>
                <a:spcPts val="200"/>
              </a:spcAft>
            </a:pPr>
            <a:r>
              <a:rPr lang="en-US" sz="2800">
                <a:solidFill>
                  <a:srgbClr val="1A2E51"/>
                </a:solidFill>
                <a:latin typeface="Poppins SemiBold" pitchFamily="2" charset="77"/>
                <a:ea typeface="+mj-ea"/>
                <a:cs typeface="+mj-cs"/>
              </a:rPr>
              <a:t>Data-Driven</a:t>
            </a:r>
          </a:p>
        </p:txBody>
      </p:sp>
      <p:sp>
        <p:nvSpPr>
          <p:cNvPr id="53" name="TextBox 52">
            <a:extLst>
              <a:ext uri="{FF2B5EF4-FFF2-40B4-BE49-F238E27FC236}">
                <a16:creationId xmlns:a16="http://schemas.microsoft.com/office/drawing/2014/main" id="{F5F55756-39DB-7311-DAD5-6B25D5089CDC}"/>
              </a:ext>
            </a:extLst>
          </p:cNvPr>
          <p:cNvSpPr txBox="1"/>
          <p:nvPr/>
        </p:nvSpPr>
        <p:spPr>
          <a:xfrm>
            <a:off x="918945" y="224229"/>
            <a:ext cx="7981244" cy="307777"/>
          </a:xfrm>
          <a:prstGeom prst="rect">
            <a:avLst/>
          </a:prstGeom>
          <a:noFill/>
        </p:spPr>
        <p:txBody>
          <a:bodyPr wrap="square" lIns="0">
            <a:spAutoFit/>
          </a:bodyPr>
          <a:lstStyle/>
          <a:p>
            <a:pPr>
              <a:spcAft>
                <a:spcPts val="200"/>
              </a:spcAft>
            </a:pPr>
            <a:r>
              <a:rPr lang="en-US" sz="1400">
                <a:solidFill>
                  <a:srgbClr val="1A2E51"/>
                </a:solidFill>
                <a:latin typeface="Poppins SemiBold" pitchFamily="2" charset="77"/>
                <a:ea typeface="+mj-ea"/>
                <a:cs typeface="+mj-cs"/>
              </a:rPr>
              <a:t>CRO Team</a:t>
            </a:r>
            <a:endParaRPr lang="en-US" sz="1400">
              <a:solidFill>
                <a:srgbClr val="1A2E51"/>
              </a:solidFill>
            </a:endParaRPr>
          </a:p>
        </p:txBody>
      </p:sp>
      <p:pic>
        <p:nvPicPr>
          <p:cNvPr id="3" name="Picture 2">
            <a:extLst>
              <a:ext uri="{FF2B5EF4-FFF2-40B4-BE49-F238E27FC236}">
                <a16:creationId xmlns:a16="http://schemas.microsoft.com/office/drawing/2014/main" id="{ED622B67-6A58-3089-822F-AD8A00BCF444}"/>
              </a:ext>
            </a:extLst>
          </p:cNvPr>
          <p:cNvPicPr>
            <a:picLocks noChangeAspect="1"/>
          </p:cNvPicPr>
          <p:nvPr/>
        </p:nvPicPr>
        <p:blipFill>
          <a:blip r:embed="rId4"/>
          <a:stretch>
            <a:fillRect/>
          </a:stretch>
        </p:blipFill>
        <p:spPr>
          <a:xfrm>
            <a:off x="885079" y="1516177"/>
            <a:ext cx="5823655" cy="3825646"/>
          </a:xfrm>
          <a:prstGeom prst="rect">
            <a:avLst/>
          </a:prstGeom>
          <a:ln>
            <a:solidFill>
              <a:schemeClr val="tx2"/>
            </a:solidFill>
          </a:ln>
        </p:spPr>
      </p:pic>
      <p:pic>
        <p:nvPicPr>
          <p:cNvPr id="5" name="Picture 4">
            <a:extLst>
              <a:ext uri="{FF2B5EF4-FFF2-40B4-BE49-F238E27FC236}">
                <a16:creationId xmlns:a16="http://schemas.microsoft.com/office/drawing/2014/main" id="{6010AE5C-A684-96B0-188D-8DFD97335426}"/>
              </a:ext>
            </a:extLst>
          </p:cNvPr>
          <p:cNvPicPr>
            <a:picLocks noChangeAspect="1"/>
          </p:cNvPicPr>
          <p:nvPr/>
        </p:nvPicPr>
        <p:blipFill>
          <a:blip r:embed="rId5"/>
          <a:stretch>
            <a:fillRect/>
          </a:stretch>
        </p:blipFill>
        <p:spPr>
          <a:xfrm>
            <a:off x="7291512" y="2821576"/>
            <a:ext cx="3917262" cy="1214847"/>
          </a:xfrm>
          <a:prstGeom prst="rect">
            <a:avLst/>
          </a:prstGeom>
          <a:ln>
            <a:solidFill>
              <a:schemeClr val="tx2"/>
            </a:solidFill>
          </a:ln>
        </p:spPr>
      </p:pic>
    </p:spTree>
    <p:extLst>
      <p:ext uri="{BB962C8B-B14F-4D97-AF65-F5344CB8AC3E}">
        <p14:creationId xmlns:p14="http://schemas.microsoft.com/office/powerpoint/2010/main" val="1116420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A1358E-78B5-BB38-493D-8579312BAB0F}"/>
            </a:ext>
          </a:extLst>
        </p:cNvPr>
        <p:cNvGrpSpPr/>
        <p:nvPr/>
      </p:nvGrpSpPr>
      <p:grpSpPr>
        <a:xfrm>
          <a:off x="0" y="0"/>
          <a:ext cx="0" cy="0"/>
          <a:chOff x="0" y="0"/>
          <a:chExt cx="0" cy="0"/>
        </a:xfrm>
      </p:grpSpPr>
      <p:sp>
        <p:nvSpPr>
          <p:cNvPr id="85" name="Rectangle 84">
            <a:extLst>
              <a:ext uri="{FF2B5EF4-FFF2-40B4-BE49-F238E27FC236}">
                <a16:creationId xmlns:a16="http://schemas.microsoft.com/office/drawing/2014/main" id="{95A36AC5-44EF-ECEA-9641-EEDCBDEFAC26}"/>
              </a:ext>
            </a:extLst>
          </p:cNvPr>
          <p:cNvSpPr/>
          <p:nvPr/>
        </p:nvSpPr>
        <p:spPr>
          <a:xfrm>
            <a:off x="-16626" y="6420726"/>
            <a:ext cx="12208625" cy="486041"/>
          </a:xfrm>
          <a:prstGeom prst="rect">
            <a:avLst/>
          </a:prstGeom>
          <a:solidFill>
            <a:srgbClr val="0100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6" name="Picture 85">
            <a:extLst>
              <a:ext uri="{FF2B5EF4-FFF2-40B4-BE49-F238E27FC236}">
                <a16:creationId xmlns:a16="http://schemas.microsoft.com/office/drawing/2014/main" id="{42EC79D2-86C0-DCEE-1F9E-89AC477296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43815" y="6576506"/>
            <a:ext cx="1401689" cy="174481"/>
          </a:xfrm>
          <a:prstGeom prst="rect">
            <a:avLst/>
          </a:prstGeom>
          <a:noFill/>
          <a:extLst>
            <a:ext uri="{909E8E84-426E-40DD-AFC4-6F175D3DCCD1}">
              <a14:hiddenFill xmlns:a14="http://schemas.microsoft.com/office/drawing/2010/main">
                <a:solidFill>
                  <a:srgbClr val="FFFFFF"/>
                </a:solidFill>
              </a14:hiddenFill>
            </a:ext>
          </a:extLst>
        </p:spPr>
      </p:pic>
      <p:sp>
        <p:nvSpPr>
          <p:cNvPr id="87" name="TextBox 86">
            <a:extLst>
              <a:ext uri="{FF2B5EF4-FFF2-40B4-BE49-F238E27FC236}">
                <a16:creationId xmlns:a16="http://schemas.microsoft.com/office/drawing/2014/main" id="{6FE7207B-90FE-8500-07C2-BD7340DF9CC3}"/>
              </a:ext>
            </a:extLst>
          </p:cNvPr>
          <p:cNvSpPr txBox="1"/>
          <p:nvPr/>
        </p:nvSpPr>
        <p:spPr>
          <a:xfrm>
            <a:off x="78859" y="6536788"/>
            <a:ext cx="4239255" cy="253916"/>
          </a:xfrm>
          <a:prstGeom prst="rect">
            <a:avLst/>
          </a:prstGeom>
          <a:noFill/>
        </p:spPr>
        <p:txBody>
          <a:bodyPr wrap="square">
            <a:spAutoFit/>
          </a:bodyPr>
          <a:lstStyle/>
          <a:p>
            <a:r>
              <a:rPr lang="en-US" sz="1050" b="0" i="0" u="none" strike="noStrike">
                <a:solidFill>
                  <a:schemeClr val="bg1">
                    <a:lumMod val="75000"/>
                  </a:schemeClr>
                </a:solidFill>
                <a:effectLst/>
                <a:latin typeface="Poppins" pitchFamily="2" charset="77"/>
              </a:rPr>
              <a:t>© 2023 Horizon Media – Confidential &amp; Proprietary</a:t>
            </a:r>
            <a:r>
              <a:rPr lang="en-US" sz="1050" b="0" i="0">
                <a:solidFill>
                  <a:schemeClr val="bg1">
                    <a:lumMod val="75000"/>
                  </a:schemeClr>
                </a:solidFill>
                <a:effectLst/>
                <a:latin typeface="Poppins" pitchFamily="2" charset="77"/>
              </a:rPr>
              <a:t>​</a:t>
            </a:r>
            <a:endParaRPr lang="en-US" sz="1050">
              <a:solidFill>
                <a:schemeClr val="bg1">
                  <a:lumMod val="75000"/>
                </a:schemeClr>
              </a:solidFill>
            </a:endParaRPr>
          </a:p>
        </p:txBody>
      </p:sp>
      <p:sp>
        <p:nvSpPr>
          <p:cNvPr id="50" name="Rectangle 49">
            <a:extLst>
              <a:ext uri="{FF2B5EF4-FFF2-40B4-BE49-F238E27FC236}">
                <a16:creationId xmlns:a16="http://schemas.microsoft.com/office/drawing/2014/main" id="{06A700BF-59D5-EFE4-0E80-EB8FCE221845}"/>
              </a:ext>
            </a:extLst>
          </p:cNvPr>
          <p:cNvSpPr/>
          <p:nvPr/>
        </p:nvSpPr>
        <p:spPr>
          <a:xfrm flipV="1">
            <a:off x="-16626" y="0"/>
            <a:ext cx="12191998" cy="1331619"/>
          </a:xfrm>
          <a:prstGeom prst="rect">
            <a:avLst/>
          </a:prstGeom>
          <a:solidFill>
            <a:srgbClr val="6699CC">
              <a:alpha val="1294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B9633E40-5CD1-BCB6-2A05-62C7A6790756}"/>
              </a:ext>
            </a:extLst>
          </p:cNvPr>
          <p:cNvSpPr/>
          <p:nvPr/>
        </p:nvSpPr>
        <p:spPr>
          <a:xfrm>
            <a:off x="885079" y="944385"/>
            <a:ext cx="1063653" cy="56954"/>
          </a:xfrm>
          <a:prstGeom prst="rect">
            <a:avLst/>
          </a:prstGeom>
          <a:solidFill>
            <a:srgbClr val="1A2E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1A2E51"/>
              </a:solidFill>
              <a:latin typeface="Arial" panose="020B0604020202020204" pitchFamily="34" charset="0"/>
            </a:endParaRPr>
          </a:p>
        </p:txBody>
      </p:sp>
      <p:sp>
        <p:nvSpPr>
          <p:cNvPr id="52" name="TextBox 51">
            <a:extLst>
              <a:ext uri="{FF2B5EF4-FFF2-40B4-BE49-F238E27FC236}">
                <a16:creationId xmlns:a16="http://schemas.microsoft.com/office/drawing/2014/main" id="{E2430447-708E-C475-5CC5-9F9425AA5296}"/>
              </a:ext>
            </a:extLst>
          </p:cNvPr>
          <p:cNvSpPr txBox="1"/>
          <p:nvPr/>
        </p:nvSpPr>
        <p:spPr>
          <a:xfrm>
            <a:off x="885079" y="476586"/>
            <a:ext cx="7981244" cy="523220"/>
          </a:xfrm>
          <a:prstGeom prst="rect">
            <a:avLst/>
          </a:prstGeom>
          <a:noFill/>
        </p:spPr>
        <p:txBody>
          <a:bodyPr wrap="square" lIns="0">
            <a:spAutoFit/>
          </a:bodyPr>
          <a:lstStyle/>
          <a:p>
            <a:pPr>
              <a:spcAft>
                <a:spcPts val="200"/>
              </a:spcAft>
            </a:pPr>
            <a:r>
              <a:rPr lang="en-US" sz="2800">
                <a:solidFill>
                  <a:srgbClr val="1A2E51"/>
                </a:solidFill>
                <a:latin typeface="Poppins SemiBold" pitchFamily="2" charset="77"/>
                <a:ea typeface="+mj-ea"/>
                <a:cs typeface="+mj-cs"/>
              </a:rPr>
              <a:t>Data-Driven Test Planning</a:t>
            </a:r>
          </a:p>
        </p:txBody>
      </p:sp>
      <p:sp>
        <p:nvSpPr>
          <p:cNvPr id="53" name="TextBox 52">
            <a:extLst>
              <a:ext uri="{FF2B5EF4-FFF2-40B4-BE49-F238E27FC236}">
                <a16:creationId xmlns:a16="http://schemas.microsoft.com/office/drawing/2014/main" id="{95CB1839-B459-FB6E-584A-79F59F2FE5EA}"/>
              </a:ext>
            </a:extLst>
          </p:cNvPr>
          <p:cNvSpPr txBox="1"/>
          <p:nvPr/>
        </p:nvSpPr>
        <p:spPr>
          <a:xfrm>
            <a:off x="918945" y="224229"/>
            <a:ext cx="7981244" cy="307777"/>
          </a:xfrm>
          <a:prstGeom prst="rect">
            <a:avLst/>
          </a:prstGeom>
          <a:noFill/>
        </p:spPr>
        <p:txBody>
          <a:bodyPr wrap="square" lIns="0">
            <a:spAutoFit/>
          </a:bodyPr>
          <a:lstStyle/>
          <a:p>
            <a:pPr>
              <a:spcAft>
                <a:spcPts val="200"/>
              </a:spcAft>
            </a:pPr>
            <a:r>
              <a:rPr lang="en-US" sz="1400">
                <a:solidFill>
                  <a:srgbClr val="1A2E51"/>
                </a:solidFill>
                <a:latin typeface="Poppins SemiBold" pitchFamily="2" charset="77"/>
                <a:ea typeface="+mj-ea"/>
                <a:cs typeface="+mj-cs"/>
              </a:rPr>
              <a:t>CRO Team</a:t>
            </a:r>
            <a:endParaRPr lang="en-US" sz="1400">
              <a:solidFill>
                <a:srgbClr val="1A2E51"/>
              </a:solidFill>
            </a:endParaRPr>
          </a:p>
        </p:txBody>
      </p:sp>
      <p:pic>
        <p:nvPicPr>
          <p:cNvPr id="3" name="Picture 2">
            <a:extLst>
              <a:ext uri="{FF2B5EF4-FFF2-40B4-BE49-F238E27FC236}">
                <a16:creationId xmlns:a16="http://schemas.microsoft.com/office/drawing/2014/main" id="{27AFF6FF-C0B3-613A-6542-07E3016D2300}"/>
              </a:ext>
            </a:extLst>
          </p:cNvPr>
          <p:cNvPicPr>
            <a:picLocks noChangeAspect="1"/>
          </p:cNvPicPr>
          <p:nvPr/>
        </p:nvPicPr>
        <p:blipFill>
          <a:blip r:embed="rId4"/>
          <a:stretch>
            <a:fillRect/>
          </a:stretch>
        </p:blipFill>
        <p:spPr>
          <a:xfrm>
            <a:off x="531378" y="1555848"/>
            <a:ext cx="3334215" cy="4629796"/>
          </a:xfrm>
          <a:prstGeom prst="rect">
            <a:avLst/>
          </a:prstGeom>
          <a:ln>
            <a:solidFill>
              <a:schemeClr val="tx2"/>
            </a:solidFill>
          </a:ln>
        </p:spPr>
      </p:pic>
      <p:grpSp>
        <p:nvGrpSpPr>
          <p:cNvPr id="14" name="Group 13">
            <a:extLst>
              <a:ext uri="{FF2B5EF4-FFF2-40B4-BE49-F238E27FC236}">
                <a16:creationId xmlns:a16="http://schemas.microsoft.com/office/drawing/2014/main" id="{9FE0611D-C915-48AD-84FE-C5A612C7FC36}"/>
              </a:ext>
            </a:extLst>
          </p:cNvPr>
          <p:cNvGrpSpPr/>
          <p:nvPr/>
        </p:nvGrpSpPr>
        <p:grpSpPr>
          <a:xfrm>
            <a:off x="4471739" y="2378140"/>
            <a:ext cx="3327210" cy="2883853"/>
            <a:chOff x="4052077" y="2311078"/>
            <a:chExt cx="3966507" cy="3437961"/>
          </a:xfrm>
        </p:grpSpPr>
        <p:pic>
          <p:nvPicPr>
            <p:cNvPr id="9" name="Picture 8">
              <a:extLst>
                <a:ext uri="{FF2B5EF4-FFF2-40B4-BE49-F238E27FC236}">
                  <a16:creationId xmlns:a16="http://schemas.microsoft.com/office/drawing/2014/main" id="{FD5FA88C-5D8F-7FE8-EAAA-2C01089627A4}"/>
                </a:ext>
              </a:extLst>
            </p:cNvPr>
            <p:cNvPicPr>
              <a:picLocks noChangeAspect="1"/>
            </p:cNvPicPr>
            <p:nvPr/>
          </p:nvPicPr>
          <p:blipFill>
            <a:blip r:embed="rId5"/>
            <a:stretch>
              <a:fillRect/>
            </a:stretch>
          </p:blipFill>
          <p:spPr>
            <a:xfrm>
              <a:off x="4052077" y="2311078"/>
              <a:ext cx="3067738" cy="1478549"/>
            </a:xfrm>
            <a:prstGeom prst="rect">
              <a:avLst/>
            </a:prstGeom>
            <a:ln>
              <a:solidFill>
                <a:schemeClr val="tx2"/>
              </a:solidFill>
            </a:ln>
          </p:spPr>
        </p:pic>
        <p:pic>
          <p:nvPicPr>
            <p:cNvPr id="11" name="Picture 10">
              <a:extLst>
                <a:ext uri="{FF2B5EF4-FFF2-40B4-BE49-F238E27FC236}">
                  <a16:creationId xmlns:a16="http://schemas.microsoft.com/office/drawing/2014/main" id="{9337AF5A-457A-4E09-1EB1-727F6BF62F1D}"/>
                </a:ext>
              </a:extLst>
            </p:cNvPr>
            <p:cNvPicPr>
              <a:picLocks noChangeAspect="1"/>
            </p:cNvPicPr>
            <p:nvPr/>
          </p:nvPicPr>
          <p:blipFill>
            <a:blip r:embed="rId6"/>
            <a:stretch>
              <a:fillRect/>
            </a:stretch>
          </p:blipFill>
          <p:spPr>
            <a:xfrm>
              <a:off x="5102007" y="3490158"/>
              <a:ext cx="2916577" cy="1535040"/>
            </a:xfrm>
            <a:prstGeom prst="rect">
              <a:avLst/>
            </a:prstGeom>
            <a:ln>
              <a:solidFill>
                <a:schemeClr val="tx2"/>
              </a:solidFill>
            </a:ln>
          </p:spPr>
        </p:pic>
        <p:pic>
          <p:nvPicPr>
            <p:cNvPr id="13" name="Picture 12">
              <a:extLst>
                <a:ext uri="{FF2B5EF4-FFF2-40B4-BE49-F238E27FC236}">
                  <a16:creationId xmlns:a16="http://schemas.microsoft.com/office/drawing/2014/main" id="{2A65CBAF-0857-08D6-2BE8-EFF4C7595A4A}"/>
                </a:ext>
              </a:extLst>
            </p:cNvPr>
            <p:cNvPicPr>
              <a:picLocks noChangeAspect="1"/>
            </p:cNvPicPr>
            <p:nvPr/>
          </p:nvPicPr>
          <p:blipFill>
            <a:blip r:embed="rId7"/>
            <a:stretch>
              <a:fillRect/>
            </a:stretch>
          </p:blipFill>
          <p:spPr>
            <a:xfrm>
              <a:off x="4210535" y="4417420"/>
              <a:ext cx="2750821" cy="1331619"/>
            </a:xfrm>
            <a:prstGeom prst="rect">
              <a:avLst/>
            </a:prstGeom>
            <a:ln>
              <a:solidFill>
                <a:schemeClr val="tx2"/>
              </a:solidFill>
            </a:ln>
          </p:spPr>
        </p:pic>
      </p:grpSp>
      <p:pic>
        <p:nvPicPr>
          <p:cNvPr id="16" name="Picture 15">
            <a:extLst>
              <a:ext uri="{FF2B5EF4-FFF2-40B4-BE49-F238E27FC236}">
                <a16:creationId xmlns:a16="http://schemas.microsoft.com/office/drawing/2014/main" id="{45BD528A-68FE-E1F6-A531-04FDC83C75A7}"/>
              </a:ext>
            </a:extLst>
          </p:cNvPr>
          <p:cNvPicPr>
            <a:picLocks noChangeAspect="1"/>
          </p:cNvPicPr>
          <p:nvPr/>
        </p:nvPicPr>
        <p:blipFill>
          <a:blip r:embed="rId8"/>
          <a:srcRect l="5502" t="4823" r="7123" b="6676"/>
          <a:stretch/>
        </p:blipFill>
        <p:spPr>
          <a:xfrm>
            <a:off x="8034563" y="2528157"/>
            <a:ext cx="3817126" cy="2175336"/>
          </a:xfrm>
          <a:prstGeom prst="rect">
            <a:avLst/>
          </a:prstGeom>
          <a:ln>
            <a:solidFill>
              <a:schemeClr val="tx2"/>
            </a:solidFill>
          </a:ln>
        </p:spPr>
      </p:pic>
      <p:sp>
        <p:nvSpPr>
          <p:cNvPr id="17" name="Rectangle 16">
            <a:extLst>
              <a:ext uri="{FF2B5EF4-FFF2-40B4-BE49-F238E27FC236}">
                <a16:creationId xmlns:a16="http://schemas.microsoft.com/office/drawing/2014/main" id="{C83E4E80-E1E2-752B-A1EF-B101B94229AA}"/>
              </a:ext>
            </a:extLst>
          </p:cNvPr>
          <p:cNvSpPr/>
          <p:nvPr/>
        </p:nvSpPr>
        <p:spPr>
          <a:xfrm>
            <a:off x="8077199" y="3850919"/>
            <a:ext cx="2105487" cy="476911"/>
          </a:xfrm>
          <a:prstGeom prst="rect">
            <a:avLst/>
          </a:prstGeom>
          <a:noFill/>
          <a:ln>
            <a:solidFill>
              <a:schemeClr val="accent6"/>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2ECC8BC4-2A58-1F81-547B-FD56B18B4667}"/>
              </a:ext>
            </a:extLst>
          </p:cNvPr>
          <p:cNvSpPr txBox="1"/>
          <p:nvPr/>
        </p:nvSpPr>
        <p:spPr>
          <a:xfrm>
            <a:off x="4650560" y="1552868"/>
            <a:ext cx="3188928" cy="523220"/>
          </a:xfrm>
          <a:prstGeom prst="rect">
            <a:avLst/>
          </a:prstGeom>
          <a:noFill/>
        </p:spPr>
        <p:txBody>
          <a:bodyPr wrap="square">
            <a:spAutoFit/>
          </a:bodyPr>
          <a:lstStyle/>
          <a:p>
            <a:pPr algn="ctr"/>
            <a:r>
              <a:rPr lang="en-US" sz="1400">
                <a:solidFill>
                  <a:srgbClr val="002060"/>
                </a:solidFill>
                <a:latin typeface="Poppins" panose="00000500000000000000" pitchFamily="2" charset="0"/>
                <a:cs typeface="Poppins" panose="00000500000000000000" pitchFamily="2" charset="0"/>
              </a:rPr>
              <a:t>Analytics Insights Generate Effective Roadmaps</a:t>
            </a:r>
          </a:p>
        </p:txBody>
      </p:sp>
      <p:sp>
        <p:nvSpPr>
          <p:cNvPr id="6" name="TextBox 5">
            <a:extLst>
              <a:ext uri="{FF2B5EF4-FFF2-40B4-BE49-F238E27FC236}">
                <a16:creationId xmlns:a16="http://schemas.microsoft.com/office/drawing/2014/main" id="{03C55ABE-26EC-E0CF-0F71-461F76278E66}"/>
              </a:ext>
            </a:extLst>
          </p:cNvPr>
          <p:cNvSpPr txBox="1"/>
          <p:nvPr/>
        </p:nvSpPr>
        <p:spPr>
          <a:xfrm>
            <a:off x="8358856" y="1552868"/>
            <a:ext cx="3188928" cy="523220"/>
          </a:xfrm>
          <a:prstGeom prst="rect">
            <a:avLst/>
          </a:prstGeom>
          <a:noFill/>
        </p:spPr>
        <p:txBody>
          <a:bodyPr wrap="square">
            <a:spAutoFit/>
          </a:bodyPr>
          <a:lstStyle/>
          <a:p>
            <a:pPr algn="ctr"/>
            <a:r>
              <a:rPr lang="en-US" sz="1400">
                <a:solidFill>
                  <a:srgbClr val="002060"/>
                </a:solidFill>
                <a:latin typeface="Poppins" panose="00000500000000000000" pitchFamily="2" charset="0"/>
                <a:cs typeface="Poppins" panose="00000500000000000000" pitchFamily="2" charset="0"/>
              </a:rPr>
              <a:t>Data-verified Concepting Ensures High Learning Rates</a:t>
            </a:r>
          </a:p>
        </p:txBody>
      </p:sp>
      <p:pic>
        <p:nvPicPr>
          <p:cNvPr id="5" name="Picture 4">
            <a:extLst>
              <a:ext uri="{FF2B5EF4-FFF2-40B4-BE49-F238E27FC236}">
                <a16:creationId xmlns:a16="http://schemas.microsoft.com/office/drawing/2014/main" id="{8DB6868C-38E5-6C49-258D-1D30363D93A2}"/>
              </a:ext>
            </a:extLst>
          </p:cNvPr>
          <p:cNvPicPr>
            <a:picLocks noChangeAspect="1"/>
          </p:cNvPicPr>
          <p:nvPr/>
        </p:nvPicPr>
        <p:blipFill>
          <a:blip r:embed="rId9"/>
          <a:stretch>
            <a:fillRect/>
          </a:stretch>
        </p:blipFill>
        <p:spPr>
          <a:xfrm>
            <a:off x="5565076" y="4798402"/>
            <a:ext cx="2086108" cy="1171789"/>
          </a:xfrm>
          <a:prstGeom prst="rect">
            <a:avLst/>
          </a:prstGeom>
          <a:ln>
            <a:solidFill>
              <a:schemeClr val="tx2"/>
            </a:solidFill>
          </a:ln>
        </p:spPr>
      </p:pic>
    </p:spTree>
    <p:extLst>
      <p:ext uri="{BB962C8B-B14F-4D97-AF65-F5344CB8AC3E}">
        <p14:creationId xmlns:p14="http://schemas.microsoft.com/office/powerpoint/2010/main" val="207147153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D63C8D-E9EE-4E42-A04E-6D7F8EA783C4}"/>
            </a:ext>
          </a:extLst>
        </p:cNvPr>
        <p:cNvGrpSpPr/>
        <p:nvPr/>
      </p:nvGrpSpPr>
      <p:grpSpPr>
        <a:xfrm>
          <a:off x="0" y="0"/>
          <a:ext cx="0" cy="0"/>
          <a:chOff x="0" y="0"/>
          <a:chExt cx="0" cy="0"/>
        </a:xfrm>
      </p:grpSpPr>
      <p:sp>
        <p:nvSpPr>
          <p:cNvPr id="85" name="Rectangle 84">
            <a:extLst>
              <a:ext uri="{FF2B5EF4-FFF2-40B4-BE49-F238E27FC236}">
                <a16:creationId xmlns:a16="http://schemas.microsoft.com/office/drawing/2014/main" id="{607AF0C4-9B01-2DC1-D954-1AABB2BE7BC0}"/>
              </a:ext>
            </a:extLst>
          </p:cNvPr>
          <p:cNvSpPr/>
          <p:nvPr/>
        </p:nvSpPr>
        <p:spPr>
          <a:xfrm>
            <a:off x="-16626" y="6420726"/>
            <a:ext cx="12208625" cy="486041"/>
          </a:xfrm>
          <a:prstGeom prst="rect">
            <a:avLst/>
          </a:prstGeom>
          <a:solidFill>
            <a:srgbClr val="0100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6" name="Picture 85">
            <a:extLst>
              <a:ext uri="{FF2B5EF4-FFF2-40B4-BE49-F238E27FC236}">
                <a16:creationId xmlns:a16="http://schemas.microsoft.com/office/drawing/2014/main" id="{65D99943-0FF1-F9C2-B6E1-BAD0410423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43815" y="6576506"/>
            <a:ext cx="1401689" cy="174481"/>
          </a:xfrm>
          <a:prstGeom prst="rect">
            <a:avLst/>
          </a:prstGeom>
          <a:noFill/>
          <a:extLst>
            <a:ext uri="{909E8E84-426E-40DD-AFC4-6F175D3DCCD1}">
              <a14:hiddenFill xmlns:a14="http://schemas.microsoft.com/office/drawing/2010/main">
                <a:solidFill>
                  <a:srgbClr val="FFFFFF"/>
                </a:solidFill>
              </a14:hiddenFill>
            </a:ext>
          </a:extLst>
        </p:spPr>
      </p:pic>
      <p:sp>
        <p:nvSpPr>
          <p:cNvPr id="87" name="TextBox 86">
            <a:extLst>
              <a:ext uri="{FF2B5EF4-FFF2-40B4-BE49-F238E27FC236}">
                <a16:creationId xmlns:a16="http://schemas.microsoft.com/office/drawing/2014/main" id="{F2D8DE10-C69A-CFF9-210A-FFABD59B7A91}"/>
              </a:ext>
            </a:extLst>
          </p:cNvPr>
          <p:cNvSpPr txBox="1"/>
          <p:nvPr/>
        </p:nvSpPr>
        <p:spPr>
          <a:xfrm>
            <a:off x="78859" y="6536788"/>
            <a:ext cx="4239255" cy="253916"/>
          </a:xfrm>
          <a:prstGeom prst="rect">
            <a:avLst/>
          </a:prstGeom>
          <a:noFill/>
        </p:spPr>
        <p:txBody>
          <a:bodyPr wrap="square">
            <a:spAutoFit/>
          </a:bodyPr>
          <a:lstStyle/>
          <a:p>
            <a:r>
              <a:rPr lang="en-US" sz="1050" b="0" i="0" u="none" strike="noStrike">
                <a:solidFill>
                  <a:schemeClr val="bg1">
                    <a:lumMod val="75000"/>
                  </a:schemeClr>
                </a:solidFill>
                <a:effectLst/>
                <a:latin typeface="Poppins" pitchFamily="2" charset="77"/>
              </a:rPr>
              <a:t>© 2023 Horizon Media – Confidential &amp; Proprietary</a:t>
            </a:r>
            <a:r>
              <a:rPr lang="en-US" sz="1050" b="0" i="0">
                <a:solidFill>
                  <a:schemeClr val="bg1">
                    <a:lumMod val="75000"/>
                  </a:schemeClr>
                </a:solidFill>
                <a:effectLst/>
                <a:latin typeface="Poppins" pitchFamily="2" charset="77"/>
              </a:rPr>
              <a:t>​</a:t>
            </a:r>
            <a:endParaRPr lang="en-US" sz="1050">
              <a:solidFill>
                <a:schemeClr val="bg1">
                  <a:lumMod val="75000"/>
                </a:schemeClr>
              </a:solidFill>
            </a:endParaRPr>
          </a:p>
        </p:txBody>
      </p:sp>
      <p:sp>
        <p:nvSpPr>
          <p:cNvPr id="50" name="Rectangle 49">
            <a:extLst>
              <a:ext uri="{FF2B5EF4-FFF2-40B4-BE49-F238E27FC236}">
                <a16:creationId xmlns:a16="http://schemas.microsoft.com/office/drawing/2014/main" id="{39DF3B1E-7FF2-56DB-74DB-6BA2CCBE007A}"/>
              </a:ext>
            </a:extLst>
          </p:cNvPr>
          <p:cNvSpPr/>
          <p:nvPr/>
        </p:nvSpPr>
        <p:spPr>
          <a:xfrm flipV="1">
            <a:off x="-16626" y="0"/>
            <a:ext cx="12191998" cy="1331619"/>
          </a:xfrm>
          <a:prstGeom prst="rect">
            <a:avLst/>
          </a:prstGeom>
          <a:solidFill>
            <a:srgbClr val="6699CC">
              <a:alpha val="1294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DCA73EDB-7829-175D-F143-E9452F1968CF}"/>
              </a:ext>
            </a:extLst>
          </p:cNvPr>
          <p:cNvSpPr/>
          <p:nvPr/>
        </p:nvSpPr>
        <p:spPr>
          <a:xfrm>
            <a:off x="885079" y="944385"/>
            <a:ext cx="1063653" cy="56954"/>
          </a:xfrm>
          <a:prstGeom prst="rect">
            <a:avLst/>
          </a:prstGeom>
          <a:solidFill>
            <a:srgbClr val="1A2E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1A2E51"/>
              </a:solidFill>
              <a:latin typeface="Arial" panose="020B0604020202020204" pitchFamily="34" charset="0"/>
            </a:endParaRPr>
          </a:p>
        </p:txBody>
      </p:sp>
      <p:sp>
        <p:nvSpPr>
          <p:cNvPr id="52" name="TextBox 51">
            <a:extLst>
              <a:ext uri="{FF2B5EF4-FFF2-40B4-BE49-F238E27FC236}">
                <a16:creationId xmlns:a16="http://schemas.microsoft.com/office/drawing/2014/main" id="{02901CA9-3167-EA9C-95AC-DA7AD3B17257}"/>
              </a:ext>
            </a:extLst>
          </p:cNvPr>
          <p:cNvSpPr txBox="1"/>
          <p:nvPr/>
        </p:nvSpPr>
        <p:spPr>
          <a:xfrm>
            <a:off x="885079" y="476586"/>
            <a:ext cx="7981244" cy="523220"/>
          </a:xfrm>
          <a:prstGeom prst="rect">
            <a:avLst/>
          </a:prstGeom>
          <a:noFill/>
        </p:spPr>
        <p:txBody>
          <a:bodyPr wrap="square" lIns="0">
            <a:spAutoFit/>
          </a:bodyPr>
          <a:lstStyle/>
          <a:p>
            <a:pPr>
              <a:spcAft>
                <a:spcPts val="200"/>
              </a:spcAft>
            </a:pPr>
            <a:r>
              <a:rPr lang="en-US" sz="2800">
                <a:solidFill>
                  <a:srgbClr val="1A2E51"/>
                </a:solidFill>
                <a:latin typeface="Poppins SemiBold" pitchFamily="2" charset="77"/>
                <a:ea typeface="+mj-ea"/>
                <a:cs typeface="+mj-cs"/>
              </a:rPr>
              <a:t>Data-Driven Creative</a:t>
            </a:r>
          </a:p>
        </p:txBody>
      </p:sp>
      <p:sp>
        <p:nvSpPr>
          <p:cNvPr id="53" name="TextBox 52">
            <a:extLst>
              <a:ext uri="{FF2B5EF4-FFF2-40B4-BE49-F238E27FC236}">
                <a16:creationId xmlns:a16="http://schemas.microsoft.com/office/drawing/2014/main" id="{868B43E2-6C0D-A157-18BB-B2FD9279B869}"/>
              </a:ext>
            </a:extLst>
          </p:cNvPr>
          <p:cNvSpPr txBox="1"/>
          <p:nvPr/>
        </p:nvSpPr>
        <p:spPr>
          <a:xfrm>
            <a:off x="918945" y="224229"/>
            <a:ext cx="7981244" cy="307777"/>
          </a:xfrm>
          <a:prstGeom prst="rect">
            <a:avLst/>
          </a:prstGeom>
          <a:noFill/>
        </p:spPr>
        <p:txBody>
          <a:bodyPr wrap="square" lIns="0">
            <a:spAutoFit/>
          </a:bodyPr>
          <a:lstStyle/>
          <a:p>
            <a:pPr>
              <a:spcAft>
                <a:spcPts val="200"/>
              </a:spcAft>
            </a:pPr>
            <a:r>
              <a:rPr lang="en-US" sz="1400">
                <a:solidFill>
                  <a:srgbClr val="1A2E51"/>
                </a:solidFill>
                <a:latin typeface="Poppins SemiBold" pitchFamily="2" charset="77"/>
                <a:ea typeface="+mj-ea"/>
                <a:cs typeface="+mj-cs"/>
              </a:rPr>
              <a:t>CRO Team</a:t>
            </a:r>
            <a:endParaRPr lang="en-US" sz="1400">
              <a:solidFill>
                <a:srgbClr val="1A2E51"/>
              </a:solidFill>
            </a:endParaRPr>
          </a:p>
        </p:txBody>
      </p:sp>
      <p:pic>
        <p:nvPicPr>
          <p:cNvPr id="8" name="Picture 7">
            <a:extLst>
              <a:ext uri="{FF2B5EF4-FFF2-40B4-BE49-F238E27FC236}">
                <a16:creationId xmlns:a16="http://schemas.microsoft.com/office/drawing/2014/main" id="{6E82B533-EE8D-9FA5-C71C-E0BE8A4178C5}"/>
              </a:ext>
            </a:extLst>
          </p:cNvPr>
          <p:cNvPicPr>
            <a:picLocks noChangeAspect="1"/>
          </p:cNvPicPr>
          <p:nvPr/>
        </p:nvPicPr>
        <p:blipFill>
          <a:blip r:embed="rId4"/>
          <a:stretch>
            <a:fillRect/>
          </a:stretch>
        </p:blipFill>
        <p:spPr>
          <a:xfrm>
            <a:off x="8652970" y="2351231"/>
            <a:ext cx="1732770" cy="3457045"/>
          </a:xfrm>
          <a:prstGeom prst="rect">
            <a:avLst/>
          </a:prstGeom>
          <a:ln>
            <a:solidFill>
              <a:schemeClr val="tx2"/>
            </a:solidFill>
          </a:ln>
        </p:spPr>
      </p:pic>
      <p:pic>
        <p:nvPicPr>
          <p:cNvPr id="12" name="Picture 11">
            <a:extLst>
              <a:ext uri="{FF2B5EF4-FFF2-40B4-BE49-F238E27FC236}">
                <a16:creationId xmlns:a16="http://schemas.microsoft.com/office/drawing/2014/main" id="{4774F3C6-1A18-29E2-69B3-9A477B0118CA}"/>
              </a:ext>
            </a:extLst>
          </p:cNvPr>
          <p:cNvPicPr>
            <a:picLocks noChangeAspect="1"/>
          </p:cNvPicPr>
          <p:nvPr/>
        </p:nvPicPr>
        <p:blipFill>
          <a:blip r:embed="rId5"/>
          <a:stretch>
            <a:fillRect/>
          </a:stretch>
        </p:blipFill>
        <p:spPr>
          <a:xfrm>
            <a:off x="413503" y="1555848"/>
            <a:ext cx="3351439" cy="4333446"/>
          </a:xfrm>
          <a:prstGeom prst="rect">
            <a:avLst/>
          </a:prstGeom>
          <a:ln>
            <a:solidFill>
              <a:schemeClr val="tx2"/>
            </a:solidFill>
          </a:ln>
        </p:spPr>
      </p:pic>
      <p:grpSp>
        <p:nvGrpSpPr>
          <p:cNvPr id="15" name="Group 14">
            <a:extLst>
              <a:ext uri="{FF2B5EF4-FFF2-40B4-BE49-F238E27FC236}">
                <a16:creationId xmlns:a16="http://schemas.microsoft.com/office/drawing/2014/main" id="{872BDAE4-EFC7-5B3C-8407-FC0D6DC798A6}"/>
              </a:ext>
            </a:extLst>
          </p:cNvPr>
          <p:cNvGrpSpPr/>
          <p:nvPr/>
        </p:nvGrpSpPr>
        <p:grpSpPr>
          <a:xfrm>
            <a:off x="5085555" y="2486422"/>
            <a:ext cx="3041571" cy="3321854"/>
            <a:chOff x="5389581" y="2250077"/>
            <a:chExt cx="3041571" cy="3321854"/>
          </a:xfrm>
        </p:grpSpPr>
        <p:pic>
          <p:nvPicPr>
            <p:cNvPr id="6" name="Picture 5">
              <a:extLst>
                <a:ext uri="{FF2B5EF4-FFF2-40B4-BE49-F238E27FC236}">
                  <a16:creationId xmlns:a16="http://schemas.microsoft.com/office/drawing/2014/main" id="{639414E5-09BC-B5BE-9C9E-988AE8B0589F}"/>
                </a:ext>
              </a:extLst>
            </p:cNvPr>
            <p:cNvPicPr>
              <a:picLocks noChangeAspect="1"/>
            </p:cNvPicPr>
            <p:nvPr/>
          </p:nvPicPr>
          <p:blipFill>
            <a:blip r:embed="rId6"/>
            <a:stretch>
              <a:fillRect/>
            </a:stretch>
          </p:blipFill>
          <p:spPr>
            <a:xfrm>
              <a:off x="5685874" y="3950293"/>
              <a:ext cx="2485108" cy="1621638"/>
            </a:xfrm>
            <a:prstGeom prst="rect">
              <a:avLst/>
            </a:prstGeom>
            <a:ln>
              <a:solidFill>
                <a:schemeClr val="tx2"/>
              </a:solidFill>
            </a:ln>
          </p:spPr>
        </p:pic>
        <p:pic>
          <p:nvPicPr>
            <p:cNvPr id="10" name="Picture 9">
              <a:extLst>
                <a:ext uri="{FF2B5EF4-FFF2-40B4-BE49-F238E27FC236}">
                  <a16:creationId xmlns:a16="http://schemas.microsoft.com/office/drawing/2014/main" id="{E94C9310-71BA-9522-3E05-42AA1D90A900}"/>
                </a:ext>
              </a:extLst>
            </p:cNvPr>
            <p:cNvPicPr>
              <a:picLocks noChangeAspect="1"/>
            </p:cNvPicPr>
            <p:nvPr/>
          </p:nvPicPr>
          <p:blipFill>
            <a:blip r:embed="rId7"/>
            <a:stretch>
              <a:fillRect/>
            </a:stretch>
          </p:blipFill>
          <p:spPr>
            <a:xfrm>
              <a:off x="5389581" y="2250077"/>
              <a:ext cx="1626854" cy="2177886"/>
            </a:xfrm>
            <a:prstGeom prst="rect">
              <a:avLst/>
            </a:prstGeom>
            <a:ln>
              <a:solidFill>
                <a:schemeClr val="tx2"/>
              </a:solidFill>
            </a:ln>
          </p:spPr>
        </p:pic>
        <p:pic>
          <p:nvPicPr>
            <p:cNvPr id="14" name="Picture 13">
              <a:extLst>
                <a:ext uri="{FF2B5EF4-FFF2-40B4-BE49-F238E27FC236}">
                  <a16:creationId xmlns:a16="http://schemas.microsoft.com/office/drawing/2014/main" id="{7635E3C8-1989-713A-793D-32EDAE1B86C8}"/>
                </a:ext>
              </a:extLst>
            </p:cNvPr>
            <p:cNvPicPr>
              <a:picLocks noChangeAspect="1"/>
            </p:cNvPicPr>
            <p:nvPr/>
          </p:nvPicPr>
          <p:blipFill>
            <a:blip r:embed="rId8"/>
            <a:stretch>
              <a:fillRect/>
            </a:stretch>
          </p:blipFill>
          <p:spPr>
            <a:xfrm>
              <a:off x="6792568" y="2500102"/>
              <a:ext cx="1638584" cy="1648560"/>
            </a:xfrm>
            <a:prstGeom prst="rect">
              <a:avLst/>
            </a:prstGeom>
            <a:ln>
              <a:solidFill>
                <a:schemeClr val="tx2"/>
              </a:solidFill>
            </a:ln>
          </p:spPr>
        </p:pic>
      </p:grpSp>
      <p:sp>
        <p:nvSpPr>
          <p:cNvPr id="11" name="TextBox 10">
            <a:extLst>
              <a:ext uri="{FF2B5EF4-FFF2-40B4-BE49-F238E27FC236}">
                <a16:creationId xmlns:a16="http://schemas.microsoft.com/office/drawing/2014/main" id="{E1291B43-18D3-3C3B-DA20-99BB674FCA6C}"/>
              </a:ext>
            </a:extLst>
          </p:cNvPr>
          <p:cNvSpPr txBox="1"/>
          <p:nvPr/>
        </p:nvSpPr>
        <p:spPr>
          <a:xfrm>
            <a:off x="5142856" y="1601441"/>
            <a:ext cx="6106562"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2060"/>
                </a:solidFill>
                <a:effectLst/>
                <a:uLnTx/>
                <a:uFillTx/>
                <a:latin typeface="Poppins" panose="00000500000000000000" pitchFamily="2" charset="0"/>
                <a:ea typeface="+mn-ea"/>
                <a:cs typeface="Poppins" panose="00000500000000000000" pitchFamily="2" charset="0"/>
              </a:rPr>
              <a:t>Pre-design Analysis, Research, and Test Learnings Generate Improved Designs</a:t>
            </a:r>
          </a:p>
        </p:txBody>
      </p:sp>
    </p:spTree>
    <p:extLst>
      <p:ext uri="{BB962C8B-B14F-4D97-AF65-F5344CB8AC3E}">
        <p14:creationId xmlns:p14="http://schemas.microsoft.com/office/powerpoint/2010/main" val="33488513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765C7-E172-699D-FB22-EEA105C709AC}"/>
            </a:ext>
          </a:extLst>
        </p:cNvPr>
        <p:cNvGrpSpPr/>
        <p:nvPr/>
      </p:nvGrpSpPr>
      <p:grpSpPr>
        <a:xfrm>
          <a:off x="0" y="0"/>
          <a:ext cx="0" cy="0"/>
          <a:chOff x="0" y="0"/>
          <a:chExt cx="0" cy="0"/>
        </a:xfrm>
      </p:grpSpPr>
      <p:sp>
        <p:nvSpPr>
          <p:cNvPr id="85" name="Rectangle 84">
            <a:extLst>
              <a:ext uri="{FF2B5EF4-FFF2-40B4-BE49-F238E27FC236}">
                <a16:creationId xmlns:a16="http://schemas.microsoft.com/office/drawing/2014/main" id="{2DD6017B-326A-20CE-B675-3C247E2834D2}"/>
              </a:ext>
            </a:extLst>
          </p:cNvPr>
          <p:cNvSpPr/>
          <p:nvPr/>
        </p:nvSpPr>
        <p:spPr>
          <a:xfrm>
            <a:off x="-16626" y="6420726"/>
            <a:ext cx="12208625" cy="486041"/>
          </a:xfrm>
          <a:prstGeom prst="rect">
            <a:avLst/>
          </a:prstGeom>
          <a:solidFill>
            <a:srgbClr val="0100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6" name="Picture 85">
            <a:extLst>
              <a:ext uri="{FF2B5EF4-FFF2-40B4-BE49-F238E27FC236}">
                <a16:creationId xmlns:a16="http://schemas.microsoft.com/office/drawing/2014/main" id="{BD3B2A1A-76D0-DF70-C371-91E1F29CA9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43815" y="6576506"/>
            <a:ext cx="1401689" cy="174481"/>
          </a:xfrm>
          <a:prstGeom prst="rect">
            <a:avLst/>
          </a:prstGeom>
          <a:noFill/>
          <a:extLst>
            <a:ext uri="{909E8E84-426E-40DD-AFC4-6F175D3DCCD1}">
              <a14:hiddenFill xmlns:a14="http://schemas.microsoft.com/office/drawing/2010/main">
                <a:solidFill>
                  <a:srgbClr val="FFFFFF"/>
                </a:solidFill>
              </a14:hiddenFill>
            </a:ext>
          </a:extLst>
        </p:spPr>
      </p:pic>
      <p:sp>
        <p:nvSpPr>
          <p:cNvPr id="87" name="TextBox 86">
            <a:extLst>
              <a:ext uri="{FF2B5EF4-FFF2-40B4-BE49-F238E27FC236}">
                <a16:creationId xmlns:a16="http://schemas.microsoft.com/office/drawing/2014/main" id="{995F278D-10FF-43FC-2B34-5DC5642F7829}"/>
              </a:ext>
            </a:extLst>
          </p:cNvPr>
          <p:cNvSpPr txBox="1"/>
          <p:nvPr/>
        </p:nvSpPr>
        <p:spPr>
          <a:xfrm>
            <a:off x="78859" y="6536788"/>
            <a:ext cx="4239255" cy="253916"/>
          </a:xfrm>
          <a:prstGeom prst="rect">
            <a:avLst/>
          </a:prstGeom>
          <a:noFill/>
        </p:spPr>
        <p:txBody>
          <a:bodyPr wrap="square">
            <a:spAutoFit/>
          </a:bodyPr>
          <a:lstStyle/>
          <a:p>
            <a:r>
              <a:rPr lang="en-US" sz="1050" b="0" i="0" u="none" strike="noStrike">
                <a:solidFill>
                  <a:schemeClr val="bg1">
                    <a:lumMod val="75000"/>
                  </a:schemeClr>
                </a:solidFill>
                <a:effectLst/>
                <a:latin typeface="Poppins" pitchFamily="2" charset="77"/>
              </a:rPr>
              <a:t>© 2023 Horizon Media – Confidential &amp; Proprietary</a:t>
            </a:r>
            <a:r>
              <a:rPr lang="en-US" sz="1050" b="0" i="0">
                <a:solidFill>
                  <a:schemeClr val="bg1">
                    <a:lumMod val="75000"/>
                  </a:schemeClr>
                </a:solidFill>
                <a:effectLst/>
                <a:latin typeface="Poppins" pitchFamily="2" charset="77"/>
              </a:rPr>
              <a:t>​</a:t>
            </a:r>
            <a:endParaRPr lang="en-US" sz="1050">
              <a:solidFill>
                <a:schemeClr val="bg1">
                  <a:lumMod val="75000"/>
                </a:schemeClr>
              </a:solidFill>
            </a:endParaRPr>
          </a:p>
        </p:txBody>
      </p:sp>
      <p:sp>
        <p:nvSpPr>
          <p:cNvPr id="50" name="Rectangle 49">
            <a:extLst>
              <a:ext uri="{FF2B5EF4-FFF2-40B4-BE49-F238E27FC236}">
                <a16:creationId xmlns:a16="http://schemas.microsoft.com/office/drawing/2014/main" id="{590A8BB3-4E8F-8289-8522-525A319F2452}"/>
              </a:ext>
            </a:extLst>
          </p:cNvPr>
          <p:cNvSpPr/>
          <p:nvPr/>
        </p:nvSpPr>
        <p:spPr>
          <a:xfrm flipV="1">
            <a:off x="-16626" y="0"/>
            <a:ext cx="12191998" cy="1331619"/>
          </a:xfrm>
          <a:prstGeom prst="rect">
            <a:avLst/>
          </a:prstGeom>
          <a:solidFill>
            <a:srgbClr val="6699CC">
              <a:alpha val="1294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20C519D9-AC39-9E4C-E155-338C164B1550}"/>
              </a:ext>
            </a:extLst>
          </p:cNvPr>
          <p:cNvSpPr/>
          <p:nvPr/>
        </p:nvSpPr>
        <p:spPr>
          <a:xfrm>
            <a:off x="885079" y="944385"/>
            <a:ext cx="1063653" cy="56954"/>
          </a:xfrm>
          <a:prstGeom prst="rect">
            <a:avLst/>
          </a:prstGeom>
          <a:solidFill>
            <a:srgbClr val="1A2E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1A2E51"/>
              </a:solidFill>
              <a:latin typeface="Arial" panose="020B0604020202020204" pitchFamily="34" charset="0"/>
            </a:endParaRPr>
          </a:p>
        </p:txBody>
      </p:sp>
      <p:sp>
        <p:nvSpPr>
          <p:cNvPr id="52" name="TextBox 51">
            <a:extLst>
              <a:ext uri="{FF2B5EF4-FFF2-40B4-BE49-F238E27FC236}">
                <a16:creationId xmlns:a16="http://schemas.microsoft.com/office/drawing/2014/main" id="{465C1A3C-AC73-1E8C-B305-BF8BEC4306FC}"/>
              </a:ext>
            </a:extLst>
          </p:cNvPr>
          <p:cNvSpPr txBox="1"/>
          <p:nvPr/>
        </p:nvSpPr>
        <p:spPr>
          <a:xfrm>
            <a:off x="885079" y="476586"/>
            <a:ext cx="7981244" cy="523220"/>
          </a:xfrm>
          <a:prstGeom prst="rect">
            <a:avLst/>
          </a:prstGeom>
          <a:noFill/>
        </p:spPr>
        <p:txBody>
          <a:bodyPr wrap="square" lIns="0">
            <a:spAutoFit/>
          </a:bodyPr>
          <a:lstStyle/>
          <a:p>
            <a:pPr>
              <a:spcAft>
                <a:spcPts val="200"/>
              </a:spcAft>
            </a:pPr>
            <a:r>
              <a:rPr lang="en-US" sz="2800">
                <a:solidFill>
                  <a:srgbClr val="1A2E51"/>
                </a:solidFill>
                <a:latin typeface="Poppins SemiBold" pitchFamily="2" charset="77"/>
                <a:ea typeface="+mj-ea"/>
                <a:cs typeface="+mj-cs"/>
              </a:rPr>
              <a:t>Data-Driven Learnings</a:t>
            </a:r>
          </a:p>
        </p:txBody>
      </p:sp>
      <p:sp>
        <p:nvSpPr>
          <p:cNvPr id="53" name="TextBox 52">
            <a:extLst>
              <a:ext uri="{FF2B5EF4-FFF2-40B4-BE49-F238E27FC236}">
                <a16:creationId xmlns:a16="http://schemas.microsoft.com/office/drawing/2014/main" id="{63A6F8ED-7DC6-246A-CF73-F3801A6FD809}"/>
              </a:ext>
            </a:extLst>
          </p:cNvPr>
          <p:cNvSpPr txBox="1"/>
          <p:nvPr/>
        </p:nvSpPr>
        <p:spPr>
          <a:xfrm>
            <a:off x="918945" y="224229"/>
            <a:ext cx="7981244" cy="307777"/>
          </a:xfrm>
          <a:prstGeom prst="rect">
            <a:avLst/>
          </a:prstGeom>
          <a:noFill/>
        </p:spPr>
        <p:txBody>
          <a:bodyPr wrap="square" lIns="0">
            <a:spAutoFit/>
          </a:bodyPr>
          <a:lstStyle/>
          <a:p>
            <a:pPr>
              <a:spcAft>
                <a:spcPts val="200"/>
              </a:spcAft>
            </a:pPr>
            <a:r>
              <a:rPr lang="en-US" sz="1400">
                <a:solidFill>
                  <a:srgbClr val="1A2E51"/>
                </a:solidFill>
                <a:latin typeface="Poppins SemiBold" pitchFamily="2" charset="77"/>
                <a:ea typeface="+mj-ea"/>
                <a:cs typeface="+mj-cs"/>
              </a:rPr>
              <a:t>CRO Team</a:t>
            </a:r>
            <a:endParaRPr lang="en-US" sz="1400">
              <a:solidFill>
                <a:srgbClr val="1A2E51"/>
              </a:solidFill>
            </a:endParaRPr>
          </a:p>
        </p:txBody>
      </p:sp>
      <p:pic>
        <p:nvPicPr>
          <p:cNvPr id="3" name="Picture 2">
            <a:extLst>
              <a:ext uri="{FF2B5EF4-FFF2-40B4-BE49-F238E27FC236}">
                <a16:creationId xmlns:a16="http://schemas.microsoft.com/office/drawing/2014/main" id="{4B889FBC-FC37-FD1B-F97A-0C00A6327FF4}"/>
              </a:ext>
            </a:extLst>
          </p:cNvPr>
          <p:cNvPicPr>
            <a:picLocks noChangeAspect="1"/>
          </p:cNvPicPr>
          <p:nvPr/>
        </p:nvPicPr>
        <p:blipFill>
          <a:blip r:embed="rId4"/>
          <a:stretch>
            <a:fillRect/>
          </a:stretch>
        </p:blipFill>
        <p:spPr>
          <a:xfrm>
            <a:off x="426588" y="1493398"/>
            <a:ext cx="3543795" cy="4420217"/>
          </a:xfrm>
          <a:prstGeom prst="rect">
            <a:avLst/>
          </a:prstGeom>
          <a:ln>
            <a:solidFill>
              <a:schemeClr val="tx2"/>
            </a:solidFill>
          </a:ln>
        </p:spPr>
      </p:pic>
      <p:pic>
        <p:nvPicPr>
          <p:cNvPr id="5" name="Picture 4">
            <a:extLst>
              <a:ext uri="{FF2B5EF4-FFF2-40B4-BE49-F238E27FC236}">
                <a16:creationId xmlns:a16="http://schemas.microsoft.com/office/drawing/2014/main" id="{42341414-F7AD-386A-A60C-52BB9691B978}"/>
              </a:ext>
            </a:extLst>
          </p:cNvPr>
          <p:cNvPicPr>
            <a:picLocks noChangeAspect="1"/>
          </p:cNvPicPr>
          <p:nvPr/>
        </p:nvPicPr>
        <p:blipFill>
          <a:blip r:embed="rId5"/>
          <a:stretch>
            <a:fillRect/>
          </a:stretch>
        </p:blipFill>
        <p:spPr>
          <a:xfrm>
            <a:off x="4324102" y="2408153"/>
            <a:ext cx="3543796" cy="1637909"/>
          </a:xfrm>
          <a:prstGeom prst="rect">
            <a:avLst/>
          </a:prstGeom>
          <a:ln>
            <a:solidFill>
              <a:schemeClr val="tx2"/>
            </a:solidFill>
          </a:ln>
        </p:spPr>
      </p:pic>
      <p:pic>
        <p:nvPicPr>
          <p:cNvPr id="11" name="Picture 10">
            <a:extLst>
              <a:ext uri="{FF2B5EF4-FFF2-40B4-BE49-F238E27FC236}">
                <a16:creationId xmlns:a16="http://schemas.microsoft.com/office/drawing/2014/main" id="{7506BFB9-85EB-B40A-FD78-1722EADC4CC6}"/>
              </a:ext>
            </a:extLst>
          </p:cNvPr>
          <p:cNvPicPr>
            <a:picLocks noChangeAspect="1"/>
          </p:cNvPicPr>
          <p:nvPr/>
        </p:nvPicPr>
        <p:blipFill>
          <a:blip r:embed="rId6"/>
          <a:stretch>
            <a:fillRect/>
          </a:stretch>
        </p:blipFill>
        <p:spPr>
          <a:xfrm>
            <a:off x="8284736" y="2431362"/>
            <a:ext cx="3790115" cy="2148269"/>
          </a:xfrm>
          <a:prstGeom prst="rect">
            <a:avLst/>
          </a:prstGeom>
          <a:ln>
            <a:solidFill>
              <a:schemeClr val="tx2"/>
            </a:solidFill>
          </a:ln>
        </p:spPr>
      </p:pic>
      <p:sp>
        <p:nvSpPr>
          <p:cNvPr id="2" name="TextBox 1">
            <a:extLst>
              <a:ext uri="{FF2B5EF4-FFF2-40B4-BE49-F238E27FC236}">
                <a16:creationId xmlns:a16="http://schemas.microsoft.com/office/drawing/2014/main" id="{C4FC17FD-5306-A2FB-F689-58ACC801E55C}"/>
              </a:ext>
            </a:extLst>
          </p:cNvPr>
          <p:cNvSpPr txBox="1"/>
          <p:nvPr/>
        </p:nvSpPr>
        <p:spPr>
          <a:xfrm>
            <a:off x="4891386" y="1688165"/>
            <a:ext cx="2409227" cy="523220"/>
          </a:xfrm>
          <a:prstGeom prst="rect">
            <a:avLst/>
          </a:prstGeom>
          <a:noFill/>
        </p:spPr>
        <p:txBody>
          <a:bodyPr wrap="square" l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2060"/>
                </a:solidFill>
                <a:effectLst/>
                <a:uLnTx/>
                <a:uFillTx/>
                <a:latin typeface="Poppins" panose="00000500000000000000" pitchFamily="2" charset="0"/>
                <a:ea typeface="+mn-ea"/>
                <a:cs typeface="Poppins" panose="00000500000000000000" pitchFamily="2" charset="0"/>
              </a:rPr>
              <a:t>Comprehensive Test Analysis Cements Value</a:t>
            </a:r>
          </a:p>
        </p:txBody>
      </p:sp>
      <p:sp>
        <p:nvSpPr>
          <p:cNvPr id="12" name="TextBox 11">
            <a:extLst>
              <a:ext uri="{FF2B5EF4-FFF2-40B4-BE49-F238E27FC236}">
                <a16:creationId xmlns:a16="http://schemas.microsoft.com/office/drawing/2014/main" id="{4DA5A05D-813A-4EF2-2FA7-CBA845B63100}"/>
              </a:ext>
            </a:extLst>
          </p:cNvPr>
          <p:cNvSpPr txBox="1"/>
          <p:nvPr/>
        </p:nvSpPr>
        <p:spPr>
          <a:xfrm>
            <a:off x="8936074" y="1690162"/>
            <a:ext cx="2487441" cy="523220"/>
          </a:xfrm>
          <a:prstGeom prst="rect">
            <a:avLst/>
          </a:prstGeom>
          <a:noFill/>
        </p:spPr>
        <p:txBody>
          <a:bodyPr wrap="square">
            <a:spAutoFit/>
          </a:bodyPr>
          <a:lstStyle/>
          <a:p>
            <a:pPr algn="ctr"/>
            <a:r>
              <a:rPr lang="en-US" sz="1400">
                <a:solidFill>
                  <a:srgbClr val="002060"/>
                </a:solidFill>
                <a:latin typeface="Poppins" panose="00000500000000000000" pitchFamily="2" charset="0"/>
                <a:cs typeface="Poppins" panose="00000500000000000000" pitchFamily="2" charset="0"/>
              </a:rPr>
              <a:t>Learning Extraction Informs Future Decisions</a:t>
            </a:r>
          </a:p>
        </p:txBody>
      </p:sp>
      <p:pic>
        <p:nvPicPr>
          <p:cNvPr id="6" name="Picture 5">
            <a:extLst>
              <a:ext uri="{FF2B5EF4-FFF2-40B4-BE49-F238E27FC236}">
                <a16:creationId xmlns:a16="http://schemas.microsoft.com/office/drawing/2014/main" id="{B56FE664-C5B0-1940-8951-C5DA53F1042E}"/>
              </a:ext>
            </a:extLst>
          </p:cNvPr>
          <p:cNvPicPr>
            <a:picLocks noChangeAspect="1"/>
          </p:cNvPicPr>
          <p:nvPr/>
        </p:nvPicPr>
        <p:blipFill>
          <a:blip r:embed="rId7"/>
          <a:stretch>
            <a:fillRect/>
          </a:stretch>
        </p:blipFill>
        <p:spPr>
          <a:xfrm>
            <a:off x="6439936" y="4924735"/>
            <a:ext cx="1427961" cy="1194071"/>
          </a:xfrm>
          <a:prstGeom prst="rect">
            <a:avLst/>
          </a:prstGeom>
          <a:ln>
            <a:solidFill>
              <a:schemeClr val="tx2"/>
            </a:solidFill>
          </a:ln>
        </p:spPr>
      </p:pic>
      <p:pic>
        <p:nvPicPr>
          <p:cNvPr id="9" name="Picture 8">
            <a:extLst>
              <a:ext uri="{FF2B5EF4-FFF2-40B4-BE49-F238E27FC236}">
                <a16:creationId xmlns:a16="http://schemas.microsoft.com/office/drawing/2014/main" id="{B50F7783-D3E8-E3B1-246E-BFF1923DC346}"/>
              </a:ext>
            </a:extLst>
          </p:cNvPr>
          <p:cNvPicPr>
            <a:picLocks noChangeAspect="1"/>
          </p:cNvPicPr>
          <p:nvPr/>
        </p:nvPicPr>
        <p:blipFill>
          <a:blip r:embed="rId8"/>
          <a:stretch>
            <a:fillRect/>
          </a:stretch>
        </p:blipFill>
        <p:spPr>
          <a:xfrm>
            <a:off x="4318114" y="4351623"/>
            <a:ext cx="1965253" cy="1763541"/>
          </a:xfrm>
          <a:prstGeom prst="rect">
            <a:avLst/>
          </a:prstGeom>
          <a:ln>
            <a:solidFill>
              <a:schemeClr val="tx2"/>
            </a:solidFill>
          </a:ln>
        </p:spPr>
      </p:pic>
      <p:pic>
        <p:nvPicPr>
          <p:cNvPr id="1026" name="Picture 2">
            <a:extLst>
              <a:ext uri="{FF2B5EF4-FFF2-40B4-BE49-F238E27FC236}">
                <a16:creationId xmlns:a16="http://schemas.microsoft.com/office/drawing/2014/main" id="{50644503-6096-290C-F8A5-A8EF58851A8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439937" y="3926249"/>
            <a:ext cx="1427961" cy="696566"/>
          </a:xfrm>
          <a:prstGeom prst="rect">
            <a:avLst/>
          </a:prstGeom>
          <a:noFill/>
          <a:extLst>
            <a:ext uri="{909E8E84-426E-40DD-AFC4-6F175D3DCCD1}">
              <a14:hiddenFill xmlns:a14="http://schemas.microsoft.com/office/drawing/2010/main">
                <a:solidFill>
                  <a:srgbClr val="FFFFFF"/>
                </a:solidFill>
              </a14:hiddenFill>
            </a:ext>
          </a:extLst>
        </p:spPr>
      </p:pic>
      <p:sp>
        <p:nvSpPr>
          <p:cNvPr id="10" name="Arrow: Right 9">
            <a:extLst>
              <a:ext uri="{FF2B5EF4-FFF2-40B4-BE49-F238E27FC236}">
                <a16:creationId xmlns:a16="http://schemas.microsoft.com/office/drawing/2014/main" id="{FF0118A4-D717-A327-7646-93503E1CB2AD}"/>
              </a:ext>
            </a:extLst>
          </p:cNvPr>
          <p:cNvSpPr/>
          <p:nvPr/>
        </p:nvSpPr>
        <p:spPr>
          <a:xfrm>
            <a:off x="7913162" y="3286403"/>
            <a:ext cx="317508" cy="17601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Arrow: Right 12">
            <a:extLst>
              <a:ext uri="{FF2B5EF4-FFF2-40B4-BE49-F238E27FC236}">
                <a16:creationId xmlns:a16="http://schemas.microsoft.com/office/drawing/2014/main" id="{D861AAFB-AC8D-C183-1A37-13DB681563FA}"/>
              </a:ext>
            </a:extLst>
          </p:cNvPr>
          <p:cNvSpPr/>
          <p:nvPr/>
        </p:nvSpPr>
        <p:spPr>
          <a:xfrm>
            <a:off x="7913162" y="5412170"/>
            <a:ext cx="317508" cy="17601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a:extLst>
              <a:ext uri="{FF2B5EF4-FFF2-40B4-BE49-F238E27FC236}">
                <a16:creationId xmlns:a16="http://schemas.microsoft.com/office/drawing/2014/main" id="{3EFDD8C4-CB1E-8752-9868-005203A2DBAE}"/>
              </a:ext>
            </a:extLst>
          </p:cNvPr>
          <p:cNvPicPr>
            <a:picLocks noChangeAspect="1"/>
          </p:cNvPicPr>
          <p:nvPr/>
        </p:nvPicPr>
        <p:blipFill>
          <a:blip r:embed="rId7"/>
          <a:stretch>
            <a:fillRect/>
          </a:stretch>
        </p:blipFill>
        <p:spPr>
          <a:xfrm>
            <a:off x="9579979" y="4923292"/>
            <a:ext cx="1427961" cy="1194071"/>
          </a:xfrm>
          <a:prstGeom prst="rect">
            <a:avLst/>
          </a:prstGeom>
          <a:ln>
            <a:solidFill>
              <a:schemeClr val="tx2"/>
            </a:solidFill>
          </a:ln>
        </p:spPr>
      </p:pic>
      <p:sp>
        <p:nvSpPr>
          <p:cNvPr id="15" name="TextBox 14">
            <a:extLst>
              <a:ext uri="{FF2B5EF4-FFF2-40B4-BE49-F238E27FC236}">
                <a16:creationId xmlns:a16="http://schemas.microsoft.com/office/drawing/2014/main" id="{47227FAF-73F7-B616-DD61-E0F6D4902B2A}"/>
              </a:ext>
            </a:extLst>
          </p:cNvPr>
          <p:cNvSpPr txBox="1"/>
          <p:nvPr/>
        </p:nvSpPr>
        <p:spPr>
          <a:xfrm>
            <a:off x="6439935" y="4641149"/>
            <a:ext cx="1427962" cy="261610"/>
          </a:xfrm>
          <a:prstGeom prst="rect">
            <a:avLst/>
          </a:prstGeom>
          <a:noFill/>
        </p:spPr>
        <p:txBody>
          <a:bodyPr wrap="square" rtlCol="0">
            <a:spAutoFit/>
          </a:bodyPr>
          <a:lstStyle/>
          <a:p>
            <a:pPr algn="ctr"/>
            <a:r>
              <a:rPr lang="en-US" sz="1100"/>
              <a:t>Resources</a:t>
            </a:r>
          </a:p>
        </p:txBody>
      </p:sp>
      <p:sp>
        <p:nvSpPr>
          <p:cNvPr id="16" name="TextBox 15">
            <a:extLst>
              <a:ext uri="{FF2B5EF4-FFF2-40B4-BE49-F238E27FC236}">
                <a16:creationId xmlns:a16="http://schemas.microsoft.com/office/drawing/2014/main" id="{F2A3D125-3DAF-9328-E95F-D27B66340795}"/>
              </a:ext>
            </a:extLst>
          </p:cNvPr>
          <p:cNvSpPr txBox="1"/>
          <p:nvPr/>
        </p:nvSpPr>
        <p:spPr>
          <a:xfrm>
            <a:off x="9579978" y="4639706"/>
            <a:ext cx="1427962" cy="261610"/>
          </a:xfrm>
          <a:prstGeom prst="rect">
            <a:avLst/>
          </a:prstGeom>
          <a:noFill/>
        </p:spPr>
        <p:txBody>
          <a:bodyPr wrap="square" rtlCol="0">
            <a:spAutoFit/>
          </a:bodyPr>
          <a:lstStyle/>
          <a:p>
            <a:pPr algn="ctr"/>
            <a:r>
              <a:rPr lang="en-US" sz="1100"/>
              <a:t>Pre-shop Global</a:t>
            </a:r>
          </a:p>
        </p:txBody>
      </p:sp>
    </p:spTree>
    <p:extLst>
      <p:ext uri="{BB962C8B-B14F-4D97-AF65-F5344CB8AC3E}">
        <p14:creationId xmlns:p14="http://schemas.microsoft.com/office/powerpoint/2010/main" val="1994366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Rectangle 84">
            <a:extLst>
              <a:ext uri="{FF2B5EF4-FFF2-40B4-BE49-F238E27FC236}">
                <a16:creationId xmlns:a16="http://schemas.microsoft.com/office/drawing/2014/main" id="{FCFC13CC-E538-1DE2-B9F3-34FEDA3B2B05}"/>
              </a:ext>
            </a:extLst>
          </p:cNvPr>
          <p:cNvSpPr/>
          <p:nvPr/>
        </p:nvSpPr>
        <p:spPr>
          <a:xfrm>
            <a:off x="-16626" y="6420726"/>
            <a:ext cx="12208625" cy="486041"/>
          </a:xfrm>
          <a:prstGeom prst="rect">
            <a:avLst/>
          </a:prstGeom>
          <a:solidFill>
            <a:srgbClr val="0100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6" name="Picture 85">
            <a:extLst>
              <a:ext uri="{FF2B5EF4-FFF2-40B4-BE49-F238E27FC236}">
                <a16:creationId xmlns:a16="http://schemas.microsoft.com/office/drawing/2014/main" id="{13BB38F0-C95D-7B7F-476A-7A82F8F144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43815" y="6576506"/>
            <a:ext cx="1401689" cy="174481"/>
          </a:xfrm>
          <a:prstGeom prst="rect">
            <a:avLst/>
          </a:prstGeom>
          <a:noFill/>
          <a:extLst>
            <a:ext uri="{909E8E84-426E-40DD-AFC4-6F175D3DCCD1}">
              <a14:hiddenFill xmlns:a14="http://schemas.microsoft.com/office/drawing/2010/main">
                <a:solidFill>
                  <a:srgbClr val="FFFFFF"/>
                </a:solidFill>
              </a14:hiddenFill>
            </a:ext>
          </a:extLst>
        </p:spPr>
      </p:pic>
      <p:sp>
        <p:nvSpPr>
          <p:cNvPr id="87" name="TextBox 86">
            <a:extLst>
              <a:ext uri="{FF2B5EF4-FFF2-40B4-BE49-F238E27FC236}">
                <a16:creationId xmlns:a16="http://schemas.microsoft.com/office/drawing/2014/main" id="{7EC8E12D-52D2-C4A1-6B04-9031FBFF5B11}"/>
              </a:ext>
            </a:extLst>
          </p:cNvPr>
          <p:cNvSpPr txBox="1"/>
          <p:nvPr/>
        </p:nvSpPr>
        <p:spPr>
          <a:xfrm>
            <a:off x="78859" y="6536788"/>
            <a:ext cx="4239255" cy="253916"/>
          </a:xfrm>
          <a:prstGeom prst="rect">
            <a:avLst/>
          </a:prstGeom>
          <a:noFill/>
        </p:spPr>
        <p:txBody>
          <a:bodyPr wrap="square">
            <a:spAutoFit/>
          </a:bodyPr>
          <a:lstStyle/>
          <a:p>
            <a:r>
              <a:rPr lang="en-US" sz="1050" b="0" i="0" u="none" strike="noStrike">
                <a:solidFill>
                  <a:schemeClr val="bg1">
                    <a:lumMod val="75000"/>
                  </a:schemeClr>
                </a:solidFill>
                <a:effectLst/>
                <a:latin typeface="Poppins" pitchFamily="2" charset="77"/>
              </a:rPr>
              <a:t>© 2023 Horizon Media – Confidential &amp; Proprietary</a:t>
            </a:r>
            <a:r>
              <a:rPr lang="en-US" sz="1050" b="0" i="0">
                <a:solidFill>
                  <a:schemeClr val="bg1">
                    <a:lumMod val="75000"/>
                  </a:schemeClr>
                </a:solidFill>
                <a:effectLst/>
                <a:latin typeface="Poppins" pitchFamily="2" charset="77"/>
              </a:rPr>
              <a:t>​</a:t>
            </a:r>
            <a:endParaRPr lang="en-US" sz="1050">
              <a:solidFill>
                <a:schemeClr val="bg1">
                  <a:lumMod val="75000"/>
                </a:schemeClr>
              </a:solidFill>
            </a:endParaRPr>
          </a:p>
        </p:txBody>
      </p:sp>
      <p:sp>
        <p:nvSpPr>
          <p:cNvPr id="50" name="Rectangle 49">
            <a:extLst>
              <a:ext uri="{FF2B5EF4-FFF2-40B4-BE49-F238E27FC236}">
                <a16:creationId xmlns:a16="http://schemas.microsoft.com/office/drawing/2014/main" id="{99FA5158-1764-537A-90BC-CCE19EC41D3F}"/>
              </a:ext>
            </a:extLst>
          </p:cNvPr>
          <p:cNvSpPr/>
          <p:nvPr/>
        </p:nvSpPr>
        <p:spPr>
          <a:xfrm flipV="1">
            <a:off x="-16626" y="0"/>
            <a:ext cx="12191998" cy="1331619"/>
          </a:xfrm>
          <a:prstGeom prst="rect">
            <a:avLst/>
          </a:prstGeom>
          <a:solidFill>
            <a:srgbClr val="6699CC">
              <a:alpha val="1294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73165088-95D9-0886-1B5B-FB4820C3A300}"/>
              </a:ext>
            </a:extLst>
          </p:cNvPr>
          <p:cNvSpPr/>
          <p:nvPr/>
        </p:nvSpPr>
        <p:spPr>
          <a:xfrm>
            <a:off x="885079" y="944385"/>
            <a:ext cx="1063653" cy="56954"/>
          </a:xfrm>
          <a:prstGeom prst="rect">
            <a:avLst/>
          </a:prstGeom>
          <a:solidFill>
            <a:srgbClr val="1A2E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1A2E51"/>
              </a:solidFill>
              <a:latin typeface="Arial" panose="020B0604020202020204" pitchFamily="34" charset="0"/>
            </a:endParaRPr>
          </a:p>
        </p:txBody>
      </p:sp>
      <p:sp>
        <p:nvSpPr>
          <p:cNvPr id="52" name="TextBox 51">
            <a:extLst>
              <a:ext uri="{FF2B5EF4-FFF2-40B4-BE49-F238E27FC236}">
                <a16:creationId xmlns:a16="http://schemas.microsoft.com/office/drawing/2014/main" id="{AAA5F3F3-E2CB-BE31-83D9-604EA7F41B55}"/>
              </a:ext>
            </a:extLst>
          </p:cNvPr>
          <p:cNvSpPr txBox="1"/>
          <p:nvPr/>
        </p:nvSpPr>
        <p:spPr>
          <a:xfrm>
            <a:off x="885079" y="476586"/>
            <a:ext cx="7981244" cy="523220"/>
          </a:xfrm>
          <a:prstGeom prst="rect">
            <a:avLst/>
          </a:prstGeom>
          <a:noFill/>
        </p:spPr>
        <p:txBody>
          <a:bodyPr wrap="square" lIns="0">
            <a:spAutoFit/>
          </a:bodyPr>
          <a:lstStyle/>
          <a:p>
            <a:pPr>
              <a:spcAft>
                <a:spcPts val="200"/>
              </a:spcAft>
            </a:pPr>
            <a:r>
              <a:rPr lang="en-US" sz="2800">
                <a:solidFill>
                  <a:srgbClr val="1A2E51"/>
                </a:solidFill>
                <a:latin typeface="Poppins SemiBold" pitchFamily="2" charset="77"/>
                <a:ea typeface="+mj-ea"/>
                <a:cs typeface="+mj-cs"/>
              </a:rPr>
              <a:t>Maintaining Transparency</a:t>
            </a:r>
          </a:p>
        </p:txBody>
      </p:sp>
      <p:sp>
        <p:nvSpPr>
          <p:cNvPr id="53" name="TextBox 52">
            <a:extLst>
              <a:ext uri="{FF2B5EF4-FFF2-40B4-BE49-F238E27FC236}">
                <a16:creationId xmlns:a16="http://schemas.microsoft.com/office/drawing/2014/main" id="{F5F55756-39DB-7311-DAD5-6B25D5089CDC}"/>
              </a:ext>
            </a:extLst>
          </p:cNvPr>
          <p:cNvSpPr txBox="1"/>
          <p:nvPr/>
        </p:nvSpPr>
        <p:spPr>
          <a:xfrm>
            <a:off x="918945" y="224229"/>
            <a:ext cx="7981244" cy="307777"/>
          </a:xfrm>
          <a:prstGeom prst="rect">
            <a:avLst/>
          </a:prstGeom>
          <a:noFill/>
        </p:spPr>
        <p:txBody>
          <a:bodyPr wrap="square" lIns="0">
            <a:spAutoFit/>
          </a:bodyPr>
          <a:lstStyle/>
          <a:p>
            <a:pPr>
              <a:spcAft>
                <a:spcPts val="200"/>
              </a:spcAft>
            </a:pPr>
            <a:r>
              <a:rPr lang="en-US" sz="1400">
                <a:solidFill>
                  <a:srgbClr val="1A2E51"/>
                </a:solidFill>
                <a:latin typeface="Poppins SemiBold" pitchFamily="2" charset="77"/>
                <a:ea typeface="+mj-ea"/>
                <a:cs typeface="+mj-cs"/>
              </a:rPr>
              <a:t>CRO Team</a:t>
            </a:r>
            <a:endParaRPr lang="en-US" sz="1400">
              <a:solidFill>
                <a:srgbClr val="1A2E51"/>
              </a:solidFill>
            </a:endParaRPr>
          </a:p>
        </p:txBody>
      </p:sp>
      <p:pic>
        <p:nvPicPr>
          <p:cNvPr id="3" name="Picture 2" descr="A screenshot of a computer&#10;&#10;Description automatically generated">
            <a:extLst>
              <a:ext uri="{FF2B5EF4-FFF2-40B4-BE49-F238E27FC236}">
                <a16:creationId xmlns:a16="http://schemas.microsoft.com/office/drawing/2014/main" id="{1C9547A9-816E-5E0B-67C2-EDC39538F2E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7242" y="1623971"/>
            <a:ext cx="4016193" cy="2719598"/>
          </a:xfrm>
          <a:prstGeom prst="rect">
            <a:avLst/>
          </a:prstGeom>
          <a:ln>
            <a:solidFill>
              <a:schemeClr val="bg1">
                <a:lumMod val="85000"/>
              </a:schemeClr>
            </a:solidFill>
          </a:ln>
        </p:spPr>
      </p:pic>
      <p:pic>
        <p:nvPicPr>
          <p:cNvPr id="5" name="Picture 4" descr="A screenshot of a computer&#10;&#10;Description automatically generated">
            <a:extLst>
              <a:ext uri="{FF2B5EF4-FFF2-40B4-BE49-F238E27FC236}">
                <a16:creationId xmlns:a16="http://schemas.microsoft.com/office/drawing/2014/main" id="{788C69B3-783C-1D99-FE88-772F6AE770B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17554" y="2505151"/>
            <a:ext cx="3930949" cy="2742043"/>
          </a:xfrm>
          <a:prstGeom prst="rect">
            <a:avLst/>
          </a:prstGeom>
          <a:ln>
            <a:solidFill>
              <a:schemeClr val="bg1">
                <a:lumMod val="85000"/>
              </a:schemeClr>
            </a:solidFill>
          </a:ln>
        </p:spPr>
      </p:pic>
      <p:pic>
        <p:nvPicPr>
          <p:cNvPr id="147" name="Picture 146" descr="A screenshot of a computer&#10;&#10;Description automatically generated">
            <a:extLst>
              <a:ext uri="{FF2B5EF4-FFF2-40B4-BE49-F238E27FC236}">
                <a16:creationId xmlns:a16="http://schemas.microsoft.com/office/drawing/2014/main" id="{D3CFBDC2-CF92-3601-D65B-CCC3125CA12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526796" y="3189517"/>
            <a:ext cx="3794484" cy="2543279"/>
          </a:xfrm>
          <a:prstGeom prst="rect">
            <a:avLst/>
          </a:prstGeom>
          <a:ln>
            <a:solidFill>
              <a:schemeClr val="bg1">
                <a:lumMod val="85000"/>
              </a:schemeClr>
            </a:solidFill>
          </a:ln>
        </p:spPr>
      </p:pic>
      <p:sp>
        <p:nvSpPr>
          <p:cNvPr id="2" name="TextBox 1">
            <a:extLst>
              <a:ext uri="{FF2B5EF4-FFF2-40B4-BE49-F238E27FC236}">
                <a16:creationId xmlns:a16="http://schemas.microsoft.com/office/drawing/2014/main" id="{32F388AC-BBBF-AAA5-88CA-C9EA563F013D}"/>
              </a:ext>
            </a:extLst>
          </p:cNvPr>
          <p:cNvSpPr txBox="1"/>
          <p:nvPr/>
        </p:nvSpPr>
        <p:spPr>
          <a:xfrm>
            <a:off x="1745703" y="4379883"/>
            <a:ext cx="1759270" cy="276999"/>
          </a:xfrm>
          <a:prstGeom prst="rect">
            <a:avLst/>
          </a:prstGeom>
          <a:noFill/>
        </p:spPr>
        <p:txBody>
          <a:bodyPr wrap="square" lIns="0">
            <a:spAutoFit/>
          </a:bodyPr>
          <a:lstStyle/>
          <a:p>
            <a:pPr>
              <a:spcAft>
                <a:spcPts val="200"/>
              </a:spcAft>
            </a:pPr>
            <a:r>
              <a:rPr lang="en-US" sz="1200">
                <a:solidFill>
                  <a:srgbClr val="1A2E51"/>
                </a:solidFill>
                <a:latin typeface="Poppins" panose="00000500000000000000" pitchFamily="2" charset="0"/>
                <a:cs typeface="Poppins" panose="00000500000000000000" pitchFamily="2" charset="0"/>
                <a:hlinkClick r:id="rId7"/>
              </a:rPr>
              <a:t>Program Documents</a:t>
            </a:r>
            <a:endParaRPr lang="en-US" sz="1200">
              <a:solidFill>
                <a:srgbClr val="1A2E51"/>
              </a:solidFill>
              <a:latin typeface="Poppins" panose="00000500000000000000" pitchFamily="2" charset="0"/>
              <a:cs typeface="Poppins" panose="00000500000000000000" pitchFamily="2" charset="0"/>
            </a:endParaRPr>
          </a:p>
        </p:txBody>
      </p:sp>
      <p:sp>
        <p:nvSpPr>
          <p:cNvPr id="4" name="TextBox 3">
            <a:extLst>
              <a:ext uri="{FF2B5EF4-FFF2-40B4-BE49-F238E27FC236}">
                <a16:creationId xmlns:a16="http://schemas.microsoft.com/office/drawing/2014/main" id="{844A3DE2-ECF3-D043-F032-89D1A099593D}"/>
              </a:ext>
            </a:extLst>
          </p:cNvPr>
          <p:cNvSpPr txBox="1"/>
          <p:nvPr/>
        </p:nvSpPr>
        <p:spPr>
          <a:xfrm>
            <a:off x="4909567" y="5261805"/>
            <a:ext cx="1759270" cy="276999"/>
          </a:xfrm>
          <a:prstGeom prst="rect">
            <a:avLst/>
          </a:prstGeom>
          <a:noFill/>
        </p:spPr>
        <p:txBody>
          <a:bodyPr wrap="square" lIns="0">
            <a:spAutoFit/>
          </a:bodyPr>
          <a:lstStyle/>
          <a:p>
            <a:pPr>
              <a:spcAft>
                <a:spcPts val="200"/>
              </a:spcAft>
            </a:pPr>
            <a:r>
              <a:rPr lang="en-US" sz="1200">
                <a:solidFill>
                  <a:srgbClr val="1A2E51"/>
                </a:solidFill>
                <a:latin typeface="Poppins" panose="00000500000000000000" pitchFamily="2" charset="0"/>
                <a:cs typeface="Poppins" panose="00000500000000000000" pitchFamily="2" charset="0"/>
                <a:hlinkClick r:id="rId8"/>
              </a:rPr>
              <a:t>Development Pipeline</a:t>
            </a:r>
            <a:endParaRPr lang="en-US" sz="1200">
              <a:solidFill>
                <a:srgbClr val="1A2E51"/>
              </a:solidFill>
              <a:latin typeface="Poppins" panose="00000500000000000000" pitchFamily="2" charset="0"/>
              <a:cs typeface="Poppins" panose="00000500000000000000" pitchFamily="2" charset="0"/>
            </a:endParaRPr>
          </a:p>
        </p:txBody>
      </p:sp>
      <p:sp>
        <p:nvSpPr>
          <p:cNvPr id="8" name="TextBox 7">
            <a:extLst>
              <a:ext uri="{FF2B5EF4-FFF2-40B4-BE49-F238E27FC236}">
                <a16:creationId xmlns:a16="http://schemas.microsoft.com/office/drawing/2014/main" id="{669E4AC7-88E9-F7FD-DAE5-B08D96C75A8E}"/>
              </a:ext>
            </a:extLst>
          </p:cNvPr>
          <p:cNvSpPr txBox="1"/>
          <p:nvPr/>
        </p:nvSpPr>
        <p:spPr>
          <a:xfrm>
            <a:off x="8770739" y="5745713"/>
            <a:ext cx="1759270" cy="276999"/>
          </a:xfrm>
          <a:prstGeom prst="rect">
            <a:avLst/>
          </a:prstGeom>
          <a:noFill/>
        </p:spPr>
        <p:txBody>
          <a:bodyPr wrap="square" lIns="0">
            <a:spAutoFit/>
          </a:bodyPr>
          <a:lstStyle/>
          <a:p>
            <a:pPr>
              <a:spcAft>
                <a:spcPts val="200"/>
              </a:spcAft>
            </a:pPr>
            <a:r>
              <a:rPr lang="en-US" sz="1200">
                <a:solidFill>
                  <a:srgbClr val="1A2E51"/>
                </a:solidFill>
                <a:latin typeface="Poppins" panose="00000500000000000000" pitchFamily="2" charset="0"/>
                <a:cs typeface="Poppins" panose="00000500000000000000" pitchFamily="2" charset="0"/>
                <a:hlinkClick r:id="rId9"/>
              </a:rPr>
              <a:t>Test Results Library</a:t>
            </a:r>
            <a:endParaRPr lang="en-US" sz="1200">
              <a:solidFill>
                <a:srgbClr val="1A2E51"/>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133673789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18C10D-FCD5-7334-8C02-7AF1590032B1}"/>
            </a:ext>
          </a:extLst>
        </p:cNvPr>
        <p:cNvGrpSpPr/>
        <p:nvPr/>
      </p:nvGrpSpPr>
      <p:grpSpPr>
        <a:xfrm>
          <a:off x="0" y="0"/>
          <a:ext cx="0" cy="0"/>
          <a:chOff x="0" y="0"/>
          <a:chExt cx="0" cy="0"/>
        </a:xfrm>
      </p:grpSpPr>
      <p:sp>
        <p:nvSpPr>
          <p:cNvPr id="85" name="Rectangle 84">
            <a:extLst>
              <a:ext uri="{FF2B5EF4-FFF2-40B4-BE49-F238E27FC236}">
                <a16:creationId xmlns:a16="http://schemas.microsoft.com/office/drawing/2014/main" id="{15C054E3-FE11-540A-4882-25D730E09F6D}"/>
              </a:ext>
            </a:extLst>
          </p:cNvPr>
          <p:cNvSpPr/>
          <p:nvPr/>
        </p:nvSpPr>
        <p:spPr>
          <a:xfrm>
            <a:off x="-16626" y="6420726"/>
            <a:ext cx="12208625" cy="486041"/>
          </a:xfrm>
          <a:prstGeom prst="rect">
            <a:avLst/>
          </a:prstGeom>
          <a:solidFill>
            <a:srgbClr val="0100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6" name="Picture 85">
            <a:extLst>
              <a:ext uri="{FF2B5EF4-FFF2-40B4-BE49-F238E27FC236}">
                <a16:creationId xmlns:a16="http://schemas.microsoft.com/office/drawing/2014/main" id="{D3BD3097-3924-0952-514A-5304352FE2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43815" y="6576506"/>
            <a:ext cx="1401689" cy="174481"/>
          </a:xfrm>
          <a:prstGeom prst="rect">
            <a:avLst/>
          </a:prstGeom>
          <a:noFill/>
          <a:extLst>
            <a:ext uri="{909E8E84-426E-40DD-AFC4-6F175D3DCCD1}">
              <a14:hiddenFill xmlns:a14="http://schemas.microsoft.com/office/drawing/2010/main">
                <a:solidFill>
                  <a:srgbClr val="FFFFFF"/>
                </a:solidFill>
              </a14:hiddenFill>
            </a:ext>
          </a:extLst>
        </p:spPr>
      </p:pic>
      <p:sp>
        <p:nvSpPr>
          <p:cNvPr id="87" name="TextBox 86">
            <a:extLst>
              <a:ext uri="{FF2B5EF4-FFF2-40B4-BE49-F238E27FC236}">
                <a16:creationId xmlns:a16="http://schemas.microsoft.com/office/drawing/2014/main" id="{0CBE0533-86D6-2143-BFFC-9BFFACB37396}"/>
              </a:ext>
            </a:extLst>
          </p:cNvPr>
          <p:cNvSpPr txBox="1"/>
          <p:nvPr/>
        </p:nvSpPr>
        <p:spPr>
          <a:xfrm>
            <a:off x="78859" y="6536788"/>
            <a:ext cx="4239255" cy="253916"/>
          </a:xfrm>
          <a:prstGeom prst="rect">
            <a:avLst/>
          </a:prstGeom>
          <a:noFill/>
        </p:spPr>
        <p:txBody>
          <a:bodyPr wrap="square">
            <a:spAutoFit/>
          </a:bodyPr>
          <a:lstStyle/>
          <a:p>
            <a:r>
              <a:rPr lang="en-US" sz="1050" b="0" i="0" u="none" strike="noStrike">
                <a:solidFill>
                  <a:schemeClr val="bg1">
                    <a:lumMod val="75000"/>
                  </a:schemeClr>
                </a:solidFill>
                <a:effectLst/>
                <a:latin typeface="Poppins" pitchFamily="2" charset="77"/>
              </a:rPr>
              <a:t>© 2023 Horizon Media – Confidential &amp; Proprietary</a:t>
            </a:r>
            <a:r>
              <a:rPr lang="en-US" sz="1050" b="0" i="0">
                <a:solidFill>
                  <a:schemeClr val="bg1">
                    <a:lumMod val="75000"/>
                  </a:schemeClr>
                </a:solidFill>
                <a:effectLst/>
                <a:latin typeface="Poppins" pitchFamily="2" charset="77"/>
              </a:rPr>
              <a:t>​</a:t>
            </a:r>
            <a:endParaRPr lang="en-US" sz="1050">
              <a:solidFill>
                <a:schemeClr val="bg1">
                  <a:lumMod val="75000"/>
                </a:schemeClr>
              </a:solidFill>
            </a:endParaRPr>
          </a:p>
        </p:txBody>
      </p:sp>
      <p:sp>
        <p:nvSpPr>
          <p:cNvPr id="50" name="Rectangle 49">
            <a:extLst>
              <a:ext uri="{FF2B5EF4-FFF2-40B4-BE49-F238E27FC236}">
                <a16:creationId xmlns:a16="http://schemas.microsoft.com/office/drawing/2014/main" id="{D892DB9B-594A-8B66-4118-09EF3D8FE0EE}"/>
              </a:ext>
            </a:extLst>
          </p:cNvPr>
          <p:cNvSpPr/>
          <p:nvPr/>
        </p:nvSpPr>
        <p:spPr>
          <a:xfrm flipV="1">
            <a:off x="-16626" y="0"/>
            <a:ext cx="12191998" cy="1331619"/>
          </a:xfrm>
          <a:prstGeom prst="rect">
            <a:avLst/>
          </a:prstGeom>
          <a:solidFill>
            <a:srgbClr val="6699CC">
              <a:alpha val="1294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3E1A47DA-5A35-B57B-2AB2-732C2C67CD4A}"/>
              </a:ext>
            </a:extLst>
          </p:cNvPr>
          <p:cNvSpPr/>
          <p:nvPr/>
        </p:nvSpPr>
        <p:spPr>
          <a:xfrm>
            <a:off x="885079" y="944385"/>
            <a:ext cx="1063653" cy="56954"/>
          </a:xfrm>
          <a:prstGeom prst="rect">
            <a:avLst/>
          </a:prstGeom>
          <a:solidFill>
            <a:srgbClr val="1A2E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1A2E51"/>
              </a:solidFill>
              <a:latin typeface="Arial" panose="020B0604020202020204" pitchFamily="34" charset="0"/>
            </a:endParaRPr>
          </a:p>
        </p:txBody>
      </p:sp>
      <p:sp>
        <p:nvSpPr>
          <p:cNvPr id="52" name="TextBox 51">
            <a:extLst>
              <a:ext uri="{FF2B5EF4-FFF2-40B4-BE49-F238E27FC236}">
                <a16:creationId xmlns:a16="http://schemas.microsoft.com/office/drawing/2014/main" id="{6F4EA948-2E2B-DD53-2C70-A3D9606DD2DC}"/>
              </a:ext>
            </a:extLst>
          </p:cNvPr>
          <p:cNvSpPr txBox="1"/>
          <p:nvPr/>
        </p:nvSpPr>
        <p:spPr>
          <a:xfrm>
            <a:off x="885079" y="476586"/>
            <a:ext cx="7981244" cy="523220"/>
          </a:xfrm>
          <a:prstGeom prst="rect">
            <a:avLst/>
          </a:prstGeom>
          <a:noFill/>
        </p:spPr>
        <p:txBody>
          <a:bodyPr wrap="square" lIns="0">
            <a:spAutoFit/>
          </a:bodyPr>
          <a:lstStyle/>
          <a:p>
            <a:pPr>
              <a:spcAft>
                <a:spcPts val="200"/>
              </a:spcAft>
            </a:pPr>
            <a:r>
              <a:rPr lang="en-US" sz="2800">
                <a:solidFill>
                  <a:srgbClr val="1A2E51"/>
                </a:solidFill>
                <a:latin typeface="Poppins SemiBold" pitchFamily="2" charset="77"/>
                <a:ea typeface="+mj-ea"/>
                <a:cs typeface="+mj-cs"/>
              </a:rPr>
              <a:t>Testing Library</a:t>
            </a:r>
          </a:p>
        </p:txBody>
      </p:sp>
      <p:sp>
        <p:nvSpPr>
          <p:cNvPr id="53" name="TextBox 52">
            <a:extLst>
              <a:ext uri="{FF2B5EF4-FFF2-40B4-BE49-F238E27FC236}">
                <a16:creationId xmlns:a16="http://schemas.microsoft.com/office/drawing/2014/main" id="{BF1AC443-E97C-2E9E-B4D7-10B70485EAC9}"/>
              </a:ext>
            </a:extLst>
          </p:cNvPr>
          <p:cNvSpPr txBox="1"/>
          <p:nvPr/>
        </p:nvSpPr>
        <p:spPr>
          <a:xfrm>
            <a:off x="918945" y="224229"/>
            <a:ext cx="7981244" cy="307777"/>
          </a:xfrm>
          <a:prstGeom prst="rect">
            <a:avLst/>
          </a:prstGeom>
          <a:noFill/>
        </p:spPr>
        <p:txBody>
          <a:bodyPr wrap="square" lIns="0">
            <a:spAutoFit/>
          </a:bodyPr>
          <a:lstStyle/>
          <a:p>
            <a:pPr>
              <a:spcAft>
                <a:spcPts val="200"/>
              </a:spcAft>
            </a:pPr>
            <a:r>
              <a:rPr lang="en-US" sz="1400">
                <a:solidFill>
                  <a:srgbClr val="1A2E51"/>
                </a:solidFill>
                <a:latin typeface="Poppins SemiBold" pitchFamily="2" charset="77"/>
                <a:ea typeface="+mj-ea"/>
                <a:cs typeface="+mj-cs"/>
              </a:rPr>
              <a:t>CRO Team</a:t>
            </a:r>
            <a:endParaRPr lang="en-US" sz="1400">
              <a:solidFill>
                <a:srgbClr val="1A2E51"/>
              </a:solidFill>
            </a:endParaRPr>
          </a:p>
        </p:txBody>
      </p:sp>
      <p:pic>
        <p:nvPicPr>
          <p:cNvPr id="147" name="Picture 146" descr="A screenshot of a computer&#10;&#10;Description automatically generated">
            <a:extLst>
              <a:ext uri="{FF2B5EF4-FFF2-40B4-BE49-F238E27FC236}">
                <a16:creationId xmlns:a16="http://schemas.microsoft.com/office/drawing/2014/main" id="{E30596C3-1237-0279-5CAF-986B539B921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7871" y="2258122"/>
            <a:ext cx="4316703" cy="2893300"/>
          </a:xfrm>
          <a:prstGeom prst="rect">
            <a:avLst/>
          </a:prstGeom>
          <a:ln>
            <a:solidFill>
              <a:schemeClr val="bg1">
                <a:lumMod val="85000"/>
              </a:schemeClr>
            </a:solidFill>
          </a:ln>
        </p:spPr>
      </p:pic>
      <p:sp>
        <p:nvSpPr>
          <p:cNvPr id="2" name="Arrow: Right 1">
            <a:extLst>
              <a:ext uri="{FF2B5EF4-FFF2-40B4-BE49-F238E27FC236}">
                <a16:creationId xmlns:a16="http://schemas.microsoft.com/office/drawing/2014/main" id="{BAD658CF-E88B-AA94-425D-BDDF1272C116}"/>
              </a:ext>
            </a:extLst>
          </p:cNvPr>
          <p:cNvSpPr/>
          <p:nvPr/>
        </p:nvSpPr>
        <p:spPr>
          <a:xfrm>
            <a:off x="4771176" y="3566346"/>
            <a:ext cx="1108011" cy="309826"/>
          </a:xfrm>
          <a:prstGeom prst="right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EFCB836B-F67B-3958-CFCC-BCE4D6F9E0CC}"/>
              </a:ext>
            </a:extLst>
          </p:cNvPr>
          <p:cNvPicPr>
            <a:picLocks noChangeAspect="1"/>
          </p:cNvPicPr>
          <p:nvPr/>
        </p:nvPicPr>
        <p:blipFill>
          <a:blip r:embed="rId5"/>
          <a:stretch>
            <a:fillRect/>
          </a:stretch>
        </p:blipFill>
        <p:spPr>
          <a:xfrm>
            <a:off x="6126778" y="224229"/>
            <a:ext cx="4771538" cy="6381414"/>
          </a:xfrm>
          <a:prstGeom prst="rect">
            <a:avLst/>
          </a:prstGeom>
        </p:spPr>
      </p:pic>
      <p:sp>
        <p:nvSpPr>
          <p:cNvPr id="7" name="TextBox 6">
            <a:extLst>
              <a:ext uri="{FF2B5EF4-FFF2-40B4-BE49-F238E27FC236}">
                <a16:creationId xmlns:a16="http://schemas.microsoft.com/office/drawing/2014/main" id="{C48906C7-DBAC-DDAD-CAC7-45F75A7BC32C}"/>
              </a:ext>
            </a:extLst>
          </p:cNvPr>
          <p:cNvSpPr txBox="1"/>
          <p:nvPr/>
        </p:nvSpPr>
        <p:spPr>
          <a:xfrm>
            <a:off x="1516587" y="5267484"/>
            <a:ext cx="1759270" cy="276999"/>
          </a:xfrm>
          <a:prstGeom prst="rect">
            <a:avLst/>
          </a:prstGeom>
          <a:noFill/>
        </p:spPr>
        <p:txBody>
          <a:bodyPr wrap="square" lIns="0">
            <a:spAutoFit/>
          </a:bodyPr>
          <a:lstStyle/>
          <a:p>
            <a:pPr>
              <a:spcAft>
                <a:spcPts val="200"/>
              </a:spcAft>
            </a:pPr>
            <a:r>
              <a:rPr lang="en-US" sz="1200">
                <a:solidFill>
                  <a:srgbClr val="1A2E51"/>
                </a:solidFill>
                <a:latin typeface="Poppins" panose="00000500000000000000" pitchFamily="2" charset="0"/>
                <a:cs typeface="Poppins" panose="00000500000000000000" pitchFamily="2" charset="0"/>
                <a:hlinkClick r:id="rId6"/>
              </a:rPr>
              <a:t>Test Results Library</a:t>
            </a:r>
            <a:endParaRPr lang="en-US" sz="1200">
              <a:solidFill>
                <a:srgbClr val="1A2E51"/>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69257074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4AA658-1BCC-C1B1-83F7-085E0CAB7A3A}"/>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CA5433D0-6950-979D-8C3F-A561F7C6A92B}"/>
              </a:ext>
            </a:extLst>
          </p:cNvPr>
          <p:cNvSpPr txBox="1"/>
          <p:nvPr/>
        </p:nvSpPr>
        <p:spPr>
          <a:xfrm>
            <a:off x="3465689" y="2861237"/>
            <a:ext cx="7981244" cy="918200"/>
          </a:xfrm>
          <a:prstGeom prst="rect">
            <a:avLst/>
          </a:prstGeom>
          <a:noFill/>
        </p:spPr>
        <p:txBody>
          <a:bodyPr wrap="square">
            <a:spAutoFit/>
          </a:bodyPr>
          <a:lstStyle/>
          <a:p>
            <a:pPr>
              <a:spcAft>
                <a:spcPts val="200"/>
              </a:spcAft>
            </a:pPr>
            <a:r>
              <a:rPr lang="en-US" sz="3200">
                <a:solidFill>
                  <a:prstClr val="white"/>
                </a:solidFill>
                <a:latin typeface="Poppins SemiBold" pitchFamily="2" charset="77"/>
                <a:ea typeface="+mj-ea"/>
                <a:cs typeface="+mj-cs"/>
              </a:rPr>
              <a:t>Thank You!</a:t>
            </a:r>
            <a:endParaRPr lang="en-US" sz="2000">
              <a:solidFill>
                <a:prstClr val="white"/>
              </a:solidFill>
              <a:latin typeface="Poppins SemiBold" pitchFamily="2" charset="77"/>
              <a:ea typeface="+mj-ea"/>
              <a:cs typeface="+mj-cs"/>
            </a:endParaRPr>
          </a:p>
          <a:p>
            <a:pPr>
              <a:spcAft>
                <a:spcPts val="200"/>
              </a:spcAft>
            </a:pPr>
            <a:r>
              <a:rPr lang="en-US" sz="2000">
                <a:solidFill>
                  <a:prstClr val="white"/>
                </a:solidFill>
                <a:latin typeface="Poppins SemiBold" pitchFamily="2" charset="77"/>
                <a:ea typeface="+mj-ea"/>
                <a:cs typeface="+mj-cs"/>
              </a:rPr>
              <a:t> </a:t>
            </a:r>
            <a:endParaRPr lang="en-US" sz="2000"/>
          </a:p>
        </p:txBody>
      </p:sp>
      <p:pic>
        <p:nvPicPr>
          <p:cNvPr id="11" name="Picture 10" descr="A picture containing logo&#10;&#10;Description automatically generated">
            <a:extLst>
              <a:ext uri="{FF2B5EF4-FFF2-40B4-BE49-F238E27FC236}">
                <a16:creationId xmlns:a16="http://schemas.microsoft.com/office/drawing/2014/main" id="{F19F4EB2-1594-6D25-020D-F30131F1A65D}"/>
              </a:ext>
            </a:extLst>
          </p:cNvPr>
          <p:cNvPicPr>
            <a:picLocks noChangeAspect="1"/>
          </p:cNvPicPr>
          <p:nvPr/>
        </p:nvPicPr>
        <p:blipFill>
          <a:blip r:embed="rId3"/>
          <a:stretch>
            <a:fillRect/>
          </a:stretch>
        </p:blipFill>
        <p:spPr>
          <a:xfrm>
            <a:off x="1038578" y="2667537"/>
            <a:ext cx="2224927" cy="1305600"/>
          </a:xfrm>
          <a:prstGeom prst="rect">
            <a:avLst/>
          </a:prstGeom>
          <a:effectLst/>
        </p:spPr>
      </p:pic>
    </p:spTree>
    <p:extLst>
      <p:ext uri="{BB962C8B-B14F-4D97-AF65-F5344CB8AC3E}">
        <p14:creationId xmlns:p14="http://schemas.microsoft.com/office/powerpoint/2010/main" val="382807270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F79C0BB-B445-4A50-004F-434F90EEB396}"/>
            </a:ext>
          </a:extLst>
        </p:cNvPr>
        <p:cNvGrpSpPr/>
        <p:nvPr/>
      </p:nvGrpSpPr>
      <p:grpSpPr>
        <a:xfrm>
          <a:off x="0" y="0"/>
          <a:ext cx="0" cy="0"/>
          <a:chOff x="0" y="0"/>
          <a:chExt cx="0" cy="0"/>
        </a:xfrm>
      </p:grpSpPr>
      <p:graphicFrame>
        <p:nvGraphicFramePr>
          <p:cNvPr id="8" name="Chart 7">
            <a:extLst>
              <a:ext uri="{FF2B5EF4-FFF2-40B4-BE49-F238E27FC236}">
                <a16:creationId xmlns:a16="http://schemas.microsoft.com/office/drawing/2014/main" id="{F299AA0E-7A8F-3046-901C-29FB0530F16F}"/>
              </a:ext>
            </a:extLst>
          </p:cNvPr>
          <p:cNvGraphicFramePr>
            <a:graphicFrameLocks/>
          </p:cNvGraphicFramePr>
          <p:nvPr/>
        </p:nvGraphicFramePr>
        <p:xfrm>
          <a:off x="5573367" y="507555"/>
          <a:ext cx="5936589" cy="6009144"/>
        </p:xfrm>
        <a:graphic>
          <a:graphicData uri="http://schemas.openxmlformats.org/drawingml/2006/chart">
            <c:chart xmlns:c="http://schemas.openxmlformats.org/drawingml/2006/chart" xmlns:r="http://schemas.openxmlformats.org/officeDocument/2006/relationships" r:id="rId3"/>
          </a:graphicData>
        </a:graphic>
      </p:graphicFrame>
      <p:sp>
        <p:nvSpPr>
          <p:cNvPr id="2" name="TextBox 1">
            <a:extLst>
              <a:ext uri="{FF2B5EF4-FFF2-40B4-BE49-F238E27FC236}">
                <a16:creationId xmlns:a16="http://schemas.microsoft.com/office/drawing/2014/main" id="{FE197D62-A58D-9F59-12E6-CBE28895B88B}"/>
              </a:ext>
            </a:extLst>
          </p:cNvPr>
          <p:cNvSpPr txBox="1"/>
          <p:nvPr/>
        </p:nvSpPr>
        <p:spPr>
          <a:xfrm>
            <a:off x="843490" y="1010261"/>
            <a:ext cx="4821040" cy="4837478"/>
          </a:xfrm>
          <a:prstGeom prst="rect">
            <a:avLst/>
          </a:prstGeom>
          <a:noFill/>
        </p:spPr>
        <p:txBody>
          <a:bodyPr wrap="square" rtlCol="0" anchor="ctr">
            <a:spAutoFit/>
          </a:bodyPr>
          <a:lstStyle/>
          <a:p>
            <a:pPr>
              <a:lnSpc>
                <a:spcPct val="95000"/>
              </a:lnSpc>
              <a:spcBef>
                <a:spcPct val="0"/>
              </a:spcBef>
              <a:defRPr/>
            </a:pPr>
            <a:r>
              <a:rPr lang="en-US" sz="3200" b="1" dirty="0">
                <a:solidFill>
                  <a:schemeClr val="accent1"/>
                </a:solidFill>
                <a:latin typeface="+mj-lt"/>
                <a:ea typeface="+mj-ea"/>
                <a:cs typeface="+mj-cs"/>
              </a:rPr>
              <a:t>Small change costs by execution phase: Current process vs flash process</a:t>
            </a:r>
          </a:p>
          <a:p>
            <a:pPr marL="285750" indent="-285750">
              <a:lnSpc>
                <a:spcPct val="110000"/>
              </a:lnSpc>
              <a:spcBef>
                <a:spcPts val="1000"/>
              </a:spcBef>
              <a:buClr>
                <a:schemeClr val="accent1"/>
              </a:buClr>
              <a:buFont typeface="Arial" panose="020B0604020202020204" pitchFamily="34" charset="0"/>
              <a:buChar char="•"/>
              <a:defRPr/>
            </a:pPr>
            <a:r>
              <a:rPr lang="en-US" sz="1400" dirty="0">
                <a:latin typeface="Poppins" pitchFamily="2" charset="77"/>
                <a:cs typeface="Poppins" pitchFamily="2" charset="77"/>
              </a:rPr>
              <a:t>Lorem ipsum dolor sit </a:t>
            </a:r>
            <a:r>
              <a:rPr lang="en-US" sz="1400" dirty="0" err="1">
                <a:latin typeface="Poppins" pitchFamily="2" charset="77"/>
                <a:cs typeface="Poppins" pitchFamily="2" charset="77"/>
              </a:rPr>
              <a:t>amet</a:t>
            </a:r>
            <a:r>
              <a:rPr lang="en-US" sz="1400" dirty="0">
                <a:latin typeface="Poppins" pitchFamily="2" charset="77"/>
                <a:cs typeface="Poppins" pitchFamily="2" charset="77"/>
              </a:rPr>
              <a:t>, </a:t>
            </a:r>
            <a:r>
              <a:rPr lang="en-US" sz="1400" dirty="0" err="1">
                <a:latin typeface="Poppins" pitchFamily="2" charset="77"/>
                <a:cs typeface="Poppins" pitchFamily="2" charset="77"/>
              </a:rPr>
              <a:t>consectetur</a:t>
            </a:r>
            <a:r>
              <a:rPr lang="en-US" sz="1400" dirty="0">
                <a:latin typeface="Poppins" pitchFamily="2" charset="77"/>
                <a:cs typeface="Poppins" pitchFamily="2" charset="77"/>
              </a:rPr>
              <a:t> </a:t>
            </a:r>
            <a:r>
              <a:rPr lang="en-US" sz="1400" dirty="0" err="1">
                <a:latin typeface="Poppins" pitchFamily="2" charset="77"/>
                <a:cs typeface="Poppins" pitchFamily="2" charset="77"/>
              </a:rPr>
              <a:t>adipiscing</a:t>
            </a:r>
            <a:r>
              <a:rPr lang="en-US" sz="1400" dirty="0">
                <a:latin typeface="Poppins" pitchFamily="2" charset="77"/>
                <a:cs typeface="Poppins" pitchFamily="2" charset="77"/>
              </a:rPr>
              <a:t> </a:t>
            </a:r>
            <a:r>
              <a:rPr lang="en-US" sz="1400" dirty="0" err="1">
                <a:latin typeface="Poppins" pitchFamily="2" charset="77"/>
                <a:cs typeface="Poppins" pitchFamily="2" charset="77"/>
              </a:rPr>
              <a:t>elit</a:t>
            </a:r>
            <a:r>
              <a:rPr lang="en-US" sz="1400" dirty="0">
                <a:latin typeface="Poppins" pitchFamily="2" charset="77"/>
                <a:cs typeface="Poppins" pitchFamily="2" charset="77"/>
              </a:rPr>
              <a:t> sed do </a:t>
            </a:r>
            <a:r>
              <a:rPr lang="en-US" sz="1400" dirty="0" err="1">
                <a:latin typeface="Poppins" pitchFamily="2" charset="77"/>
                <a:cs typeface="Poppins" pitchFamily="2" charset="77"/>
              </a:rPr>
              <a:t>eiusmod</a:t>
            </a:r>
            <a:r>
              <a:rPr lang="en-US" sz="1400" dirty="0">
                <a:latin typeface="Poppins" pitchFamily="2" charset="77"/>
                <a:cs typeface="Poppins" pitchFamily="2" charset="77"/>
              </a:rPr>
              <a:t> </a:t>
            </a:r>
            <a:r>
              <a:rPr lang="en-US" sz="1400" dirty="0" err="1">
                <a:latin typeface="Poppins" pitchFamily="2" charset="77"/>
                <a:cs typeface="Poppins" pitchFamily="2" charset="77"/>
              </a:rPr>
              <a:t>tempor</a:t>
            </a:r>
            <a:endParaRPr lang="en-US" sz="1400" dirty="0">
              <a:latin typeface="Poppins" pitchFamily="2" charset="77"/>
              <a:cs typeface="Poppins" pitchFamily="2" charset="77"/>
            </a:endParaRPr>
          </a:p>
          <a:p>
            <a:pPr marL="285750" indent="-285750">
              <a:lnSpc>
                <a:spcPct val="110000"/>
              </a:lnSpc>
              <a:spcBef>
                <a:spcPts val="1000"/>
              </a:spcBef>
              <a:buClr>
                <a:schemeClr val="accent1"/>
              </a:buClr>
              <a:buFont typeface="Arial" panose="020B0604020202020204" pitchFamily="34" charset="0"/>
              <a:buChar char="•"/>
              <a:defRPr/>
            </a:pPr>
            <a:r>
              <a:rPr lang="en-US" sz="1400" dirty="0" err="1">
                <a:latin typeface="Poppins" pitchFamily="2" charset="77"/>
                <a:cs typeface="Poppins" pitchFamily="2" charset="77"/>
              </a:rPr>
              <a:t>Incididunt</a:t>
            </a:r>
            <a:r>
              <a:rPr lang="en-US" sz="1400" dirty="0">
                <a:latin typeface="Poppins" pitchFamily="2" charset="77"/>
                <a:cs typeface="Poppins" pitchFamily="2" charset="77"/>
              </a:rPr>
              <a:t> </a:t>
            </a:r>
            <a:r>
              <a:rPr lang="en-US" sz="1400" dirty="0" err="1">
                <a:latin typeface="Poppins" pitchFamily="2" charset="77"/>
                <a:cs typeface="Poppins" pitchFamily="2" charset="77"/>
              </a:rPr>
              <a:t>ut</a:t>
            </a:r>
            <a:r>
              <a:rPr lang="en-US" sz="1400" dirty="0">
                <a:latin typeface="Poppins" pitchFamily="2" charset="77"/>
                <a:cs typeface="Poppins" pitchFamily="2" charset="77"/>
              </a:rPr>
              <a:t> labore et dolore magna </a:t>
            </a:r>
            <a:r>
              <a:rPr lang="en-US" sz="1400" dirty="0" err="1">
                <a:latin typeface="Poppins" pitchFamily="2" charset="77"/>
                <a:cs typeface="Poppins" pitchFamily="2" charset="77"/>
              </a:rPr>
              <a:t>aliqua</a:t>
            </a:r>
            <a:r>
              <a:rPr lang="en-US" sz="1400" dirty="0">
                <a:latin typeface="Poppins" pitchFamily="2" charset="77"/>
                <a:cs typeface="Poppins" pitchFamily="2" charset="77"/>
              </a:rPr>
              <a:t>. </a:t>
            </a:r>
            <a:br>
              <a:rPr lang="en-US" sz="1400" dirty="0">
                <a:latin typeface="Poppins" pitchFamily="2" charset="77"/>
                <a:cs typeface="Poppins" pitchFamily="2" charset="77"/>
              </a:rPr>
            </a:br>
            <a:r>
              <a:rPr lang="en-US" sz="1400" dirty="0">
                <a:latin typeface="Poppins" pitchFamily="2" charset="77"/>
                <a:cs typeface="Poppins" pitchFamily="2" charset="77"/>
              </a:rPr>
              <a:t>Ut </a:t>
            </a:r>
            <a:r>
              <a:rPr lang="en-US" sz="1400" dirty="0" err="1">
                <a:latin typeface="Poppins" pitchFamily="2" charset="77"/>
                <a:cs typeface="Poppins" pitchFamily="2" charset="77"/>
              </a:rPr>
              <a:t>enim</a:t>
            </a:r>
            <a:r>
              <a:rPr lang="en-US" sz="1400" dirty="0">
                <a:latin typeface="Poppins" pitchFamily="2" charset="77"/>
                <a:cs typeface="Poppins" pitchFamily="2" charset="77"/>
              </a:rPr>
              <a:t> ad minim </a:t>
            </a:r>
            <a:r>
              <a:rPr lang="en-US" sz="1400" dirty="0" err="1">
                <a:latin typeface="Poppins" pitchFamily="2" charset="77"/>
                <a:cs typeface="Poppins" pitchFamily="2" charset="77"/>
              </a:rPr>
              <a:t>veniam</a:t>
            </a:r>
            <a:r>
              <a:rPr lang="en-US" sz="1400" dirty="0">
                <a:latin typeface="Poppins" pitchFamily="2" charset="77"/>
                <a:cs typeface="Poppins" pitchFamily="2" charset="77"/>
              </a:rPr>
              <a:t>, </a:t>
            </a:r>
            <a:r>
              <a:rPr lang="en-US" sz="1400" dirty="0" err="1">
                <a:latin typeface="Poppins" pitchFamily="2" charset="77"/>
                <a:cs typeface="Poppins" pitchFamily="2" charset="77"/>
              </a:rPr>
              <a:t>quis</a:t>
            </a:r>
            <a:r>
              <a:rPr lang="en-US" sz="1400" dirty="0">
                <a:latin typeface="Poppins" pitchFamily="2" charset="77"/>
                <a:cs typeface="Poppins" pitchFamily="2" charset="77"/>
              </a:rPr>
              <a:t> </a:t>
            </a:r>
            <a:r>
              <a:rPr lang="en-US" sz="1400" dirty="0" err="1">
                <a:latin typeface="Poppins" pitchFamily="2" charset="77"/>
                <a:cs typeface="Poppins" pitchFamily="2" charset="77"/>
              </a:rPr>
              <a:t>nostrud</a:t>
            </a:r>
            <a:r>
              <a:rPr lang="en-US" sz="1400" dirty="0">
                <a:latin typeface="Poppins" pitchFamily="2" charset="77"/>
                <a:cs typeface="Poppins" pitchFamily="2" charset="77"/>
              </a:rPr>
              <a:t> exercitation </a:t>
            </a:r>
            <a:r>
              <a:rPr lang="en-US" sz="1400" dirty="0" err="1">
                <a:latin typeface="Poppins" pitchFamily="2" charset="77"/>
                <a:cs typeface="Poppins" pitchFamily="2" charset="77"/>
              </a:rPr>
              <a:t>ullamco</a:t>
            </a:r>
            <a:r>
              <a:rPr lang="en-US" sz="1400" dirty="0">
                <a:latin typeface="Poppins" pitchFamily="2" charset="77"/>
                <a:cs typeface="Poppins" pitchFamily="2" charset="77"/>
              </a:rPr>
              <a:t> </a:t>
            </a:r>
            <a:r>
              <a:rPr lang="en-US" sz="1400" dirty="0" err="1">
                <a:latin typeface="Poppins" pitchFamily="2" charset="77"/>
                <a:cs typeface="Poppins" pitchFamily="2" charset="77"/>
              </a:rPr>
              <a:t>laboris</a:t>
            </a:r>
            <a:r>
              <a:rPr lang="en-US" sz="1400" dirty="0">
                <a:latin typeface="Poppins" pitchFamily="2" charset="77"/>
                <a:cs typeface="Poppins" pitchFamily="2" charset="77"/>
              </a:rPr>
              <a:t> nisi </a:t>
            </a:r>
            <a:r>
              <a:rPr lang="en-US" sz="1400" dirty="0" err="1">
                <a:latin typeface="Poppins" pitchFamily="2" charset="77"/>
                <a:cs typeface="Poppins" pitchFamily="2" charset="77"/>
              </a:rPr>
              <a:t>ut</a:t>
            </a:r>
            <a:r>
              <a:rPr lang="en-US" sz="1400" dirty="0">
                <a:latin typeface="Poppins" pitchFamily="2" charset="77"/>
                <a:cs typeface="Poppins" pitchFamily="2" charset="77"/>
              </a:rPr>
              <a:t> </a:t>
            </a:r>
            <a:r>
              <a:rPr lang="en-US" sz="1400" dirty="0" err="1">
                <a:latin typeface="Poppins" pitchFamily="2" charset="77"/>
                <a:cs typeface="Poppins" pitchFamily="2" charset="77"/>
              </a:rPr>
              <a:t>aliquip</a:t>
            </a:r>
            <a:r>
              <a:rPr lang="en-US" sz="1400" dirty="0">
                <a:latin typeface="Poppins" pitchFamily="2" charset="77"/>
                <a:cs typeface="Poppins" pitchFamily="2" charset="77"/>
              </a:rPr>
              <a:t> </a:t>
            </a:r>
            <a:br>
              <a:rPr lang="en-US" sz="1400" dirty="0">
                <a:latin typeface="Poppins" pitchFamily="2" charset="77"/>
                <a:cs typeface="Poppins" pitchFamily="2" charset="77"/>
              </a:rPr>
            </a:br>
            <a:r>
              <a:rPr lang="en-US" sz="1400" dirty="0">
                <a:latin typeface="Poppins" pitchFamily="2" charset="77"/>
                <a:cs typeface="Poppins" pitchFamily="2" charset="77"/>
              </a:rPr>
              <a:t>ex </a:t>
            </a:r>
            <a:r>
              <a:rPr lang="en-US" sz="1400" dirty="0" err="1">
                <a:latin typeface="Poppins" pitchFamily="2" charset="77"/>
                <a:cs typeface="Poppins" pitchFamily="2" charset="77"/>
              </a:rPr>
              <a:t>ea</a:t>
            </a:r>
            <a:r>
              <a:rPr lang="en-US" sz="1400" dirty="0">
                <a:latin typeface="Poppins" pitchFamily="2" charset="77"/>
                <a:cs typeface="Poppins" pitchFamily="2" charset="77"/>
              </a:rPr>
              <a:t> </a:t>
            </a:r>
            <a:r>
              <a:rPr lang="en-US" sz="1400" dirty="0" err="1">
                <a:latin typeface="Poppins" pitchFamily="2" charset="77"/>
                <a:cs typeface="Poppins" pitchFamily="2" charset="77"/>
              </a:rPr>
              <a:t>commodo</a:t>
            </a:r>
            <a:r>
              <a:rPr lang="en-US" sz="1400" dirty="0">
                <a:latin typeface="Poppins" pitchFamily="2" charset="77"/>
                <a:cs typeface="Poppins" pitchFamily="2" charset="77"/>
              </a:rPr>
              <a:t> </a:t>
            </a:r>
            <a:r>
              <a:rPr lang="en-US" sz="1400" dirty="0" err="1">
                <a:latin typeface="Poppins" pitchFamily="2" charset="77"/>
                <a:cs typeface="Poppins" pitchFamily="2" charset="77"/>
              </a:rPr>
              <a:t>consequat</a:t>
            </a:r>
            <a:endParaRPr lang="en-US" sz="1400" dirty="0">
              <a:latin typeface="Poppins" pitchFamily="2" charset="77"/>
              <a:cs typeface="Poppins" pitchFamily="2" charset="77"/>
            </a:endParaRPr>
          </a:p>
          <a:p>
            <a:pPr marL="285750" indent="-285750">
              <a:lnSpc>
                <a:spcPct val="110000"/>
              </a:lnSpc>
              <a:spcBef>
                <a:spcPts val="1000"/>
              </a:spcBef>
              <a:buClr>
                <a:schemeClr val="accent1"/>
              </a:buClr>
              <a:buFont typeface="Arial" panose="020B0604020202020204" pitchFamily="34" charset="0"/>
              <a:buChar char="•"/>
              <a:defRPr/>
            </a:pPr>
            <a:r>
              <a:rPr lang="en-US" sz="1400" dirty="0">
                <a:latin typeface="Poppins" pitchFamily="2" charset="77"/>
                <a:cs typeface="Poppins" pitchFamily="2" charset="77"/>
              </a:rPr>
              <a:t>Duis </a:t>
            </a:r>
            <a:r>
              <a:rPr lang="en-US" sz="1400" dirty="0" err="1">
                <a:latin typeface="Poppins" pitchFamily="2" charset="77"/>
                <a:cs typeface="Poppins" pitchFamily="2" charset="77"/>
              </a:rPr>
              <a:t>aute</a:t>
            </a:r>
            <a:r>
              <a:rPr lang="en-US" sz="1400" dirty="0">
                <a:latin typeface="Poppins" pitchFamily="2" charset="77"/>
                <a:cs typeface="Poppins" pitchFamily="2" charset="77"/>
              </a:rPr>
              <a:t> </a:t>
            </a:r>
            <a:r>
              <a:rPr lang="en-US" sz="1400" dirty="0" err="1">
                <a:latin typeface="Poppins" pitchFamily="2" charset="77"/>
                <a:cs typeface="Poppins" pitchFamily="2" charset="77"/>
              </a:rPr>
              <a:t>irure</a:t>
            </a:r>
            <a:r>
              <a:rPr lang="en-US" sz="1400" dirty="0">
                <a:latin typeface="Poppins" pitchFamily="2" charset="77"/>
                <a:cs typeface="Poppins" pitchFamily="2" charset="77"/>
              </a:rPr>
              <a:t> dolor in </a:t>
            </a:r>
            <a:r>
              <a:rPr lang="en-US" sz="1400" dirty="0" err="1">
                <a:latin typeface="Poppins" pitchFamily="2" charset="77"/>
                <a:cs typeface="Poppins" pitchFamily="2" charset="77"/>
              </a:rPr>
              <a:t>reprehenderit</a:t>
            </a:r>
            <a:r>
              <a:rPr lang="en-US" sz="1400" dirty="0">
                <a:latin typeface="Poppins" pitchFamily="2" charset="77"/>
                <a:cs typeface="Poppins" pitchFamily="2" charset="77"/>
              </a:rPr>
              <a:t> in </a:t>
            </a:r>
            <a:r>
              <a:rPr lang="en-US" sz="1400" dirty="0" err="1">
                <a:latin typeface="Poppins" pitchFamily="2" charset="77"/>
                <a:cs typeface="Poppins" pitchFamily="2" charset="77"/>
              </a:rPr>
              <a:t>voluptate</a:t>
            </a:r>
            <a:r>
              <a:rPr lang="en-US" sz="1400" dirty="0">
                <a:latin typeface="Poppins" pitchFamily="2" charset="77"/>
                <a:cs typeface="Poppins" pitchFamily="2" charset="77"/>
              </a:rPr>
              <a:t> </a:t>
            </a:r>
            <a:r>
              <a:rPr lang="en-US" sz="1400" dirty="0" err="1">
                <a:latin typeface="Poppins" pitchFamily="2" charset="77"/>
                <a:cs typeface="Poppins" pitchFamily="2" charset="77"/>
              </a:rPr>
              <a:t>velit</a:t>
            </a:r>
            <a:r>
              <a:rPr lang="en-US" sz="1400" dirty="0">
                <a:latin typeface="Poppins" pitchFamily="2" charset="77"/>
                <a:cs typeface="Poppins" pitchFamily="2" charset="77"/>
              </a:rPr>
              <a:t> </a:t>
            </a:r>
            <a:r>
              <a:rPr lang="en-US" sz="1400" dirty="0" err="1">
                <a:latin typeface="Poppins" pitchFamily="2" charset="77"/>
                <a:cs typeface="Poppins" pitchFamily="2" charset="77"/>
              </a:rPr>
              <a:t>esse</a:t>
            </a:r>
            <a:r>
              <a:rPr lang="en-US" sz="1400" dirty="0">
                <a:latin typeface="Poppins" pitchFamily="2" charset="77"/>
                <a:cs typeface="Poppins" pitchFamily="2" charset="77"/>
              </a:rPr>
              <a:t> </a:t>
            </a:r>
            <a:r>
              <a:rPr lang="en-US" sz="1400" dirty="0" err="1">
                <a:latin typeface="Poppins" pitchFamily="2" charset="77"/>
                <a:cs typeface="Poppins" pitchFamily="2" charset="77"/>
              </a:rPr>
              <a:t>cillum</a:t>
            </a:r>
            <a:r>
              <a:rPr lang="en-US" sz="1400" dirty="0">
                <a:latin typeface="Poppins" pitchFamily="2" charset="77"/>
                <a:cs typeface="Poppins" pitchFamily="2" charset="77"/>
              </a:rPr>
              <a:t> dolore </a:t>
            </a:r>
            <a:r>
              <a:rPr lang="en-US" sz="1400" dirty="0" err="1">
                <a:latin typeface="Poppins" pitchFamily="2" charset="77"/>
                <a:cs typeface="Poppins" pitchFamily="2" charset="77"/>
              </a:rPr>
              <a:t>eu</a:t>
            </a:r>
            <a:r>
              <a:rPr lang="en-US" sz="1400" dirty="0">
                <a:latin typeface="Poppins" pitchFamily="2" charset="77"/>
                <a:cs typeface="Poppins" pitchFamily="2" charset="77"/>
              </a:rPr>
              <a:t> </a:t>
            </a:r>
            <a:r>
              <a:rPr lang="en-US" sz="1400" dirty="0" err="1">
                <a:latin typeface="Poppins" pitchFamily="2" charset="77"/>
                <a:cs typeface="Poppins" pitchFamily="2" charset="77"/>
              </a:rPr>
              <a:t>fugiat</a:t>
            </a:r>
            <a:r>
              <a:rPr lang="en-US" sz="1400" dirty="0">
                <a:latin typeface="Poppins" pitchFamily="2" charset="77"/>
                <a:cs typeface="Poppins" pitchFamily="2" charset="77"/>
              </a:rPr>
              <a:t> </a:t>
            </a:r>
          </a:p>
          <a:p>
            <a:pPr marL="285750" indent="-285750">
              <a:lnSpc>
                <a:spcPct val="110000"/>
              </a:lnSpc>
              <a:spcBef>
                <a:spcPts val="1000"/>
              </a:spcBef>
              <a:buClr>
                <a:schemeClr val="accent1"/>
              </a:buClr>
              <a:buFont typeface="Arial" panose="020B0604020202020204" pitchFamily="34" charset="0"/>
              <a:buChar char="•"/>
              <a:defRPr/>
            </a:pPr>
            <a:r>
              <a:rPr lang="en-US" sz="1400" dirty="0" err="1">
                <a:latin typeface="Poppins" pitchFamily="2" charset="77"/>
                <a:cs typeface="Poppins" pitchFamily="2" charset="77"/>
              </a:rPr>
              <a:t>Excepteur</a:t>
            </a:r>
            <a:r>
              <a:rPr lang="en-US" sz="1400" dirty="0">
                <a:latin typeface="Poppins" pitchFamily="2" charset="77"/>
                <a:cs typeface="Poppins" pitchFamily="2" charset="77"/>
              </a:rPr>
              <a:t> </a:t>
            </a:r>
            <a:r>
              <a:rPr lang="en-US" sz="1400" dirty="0" err="1">
                <a:latin typeface="Poppins" pitchFamily="2" charset="77"/>
                <a:cs typeface="Poppins" pitchFamily="2" charset="77"/>
              </a:rPr>
              <a:t>sint</a:t>
            </a:r>
            <a:r>
              <a:rPr lang="en-US" sz="1400" dirty="0">
                <a:latin typeface="Poppins" pitchFamily="2" charset="77"/>
                <a:cs typeface="Poppins" pitchFamily="2" charset="77"/>
              </a:rPr>
              <a:t> </a:t>
            </a:r>
            <a:r>
              <a:rPr lang="en-US" sz="1400" dirty="0" err="1">
                <a:latin typeface="Poppins" pitchFamily="2" charset="77"/>
                <a:cs typeface="Poppins" pitchFamily="2" charset="77"/>
              </a:rPr>
              <a:t>occaecat</a:t>
            </a:r>
            <a:r>
              <a:rPr lang="en-US" sz="1400" dirty="0">
                <a:latin typeface="Poppins" pitchFamily="2" charset="77"/>
                <a:cs typeface="Poppins" pitchFamily="2" charset="77"/>
              </a:rPr>
              <a:t> </a:t>
            </a:r>
            <a:r>
              <a:rPr lang="en-US" sz="1400" dirty="0" err="1">
                <a:latin typeface="Poppins" pitchFamily="2" charset="77"/>
                <a:cs typeface="Poppins" pitchFamily="2" charset="77"/>
              </a:rPr>
              <a:t>cupidatat</a:t>
            </a:r>
            <a:r>
              <a:rPr lang="en-US" sz="1400" dirty="0">
                <a:latin typeface="Poppins" pitchFamily="2" charset="77"/>
                <a:cs typeface="Poppins" pitchFamily="2" charset="77"/>
              </a:rPr>
              <a:t> non </a:t>
            </a:r>
            <a:r>
              <a:rPr lang="en-US" sz="1400" dirty="0" err="1">
                <a:latin typeface="Poppins" pitchFamily="2" charset="77"/>
                <a:cs typeface="Poppins" pitchFamily="2" charset="77"/>
              </a:rPr>
              <a:t>proident</a:t>
            </a:r>
            <a:r>
              <a:rPr lang="en-US" sz="1400" dirty="0">
                <a:latin typeface="Poppins" pitchFamily="2" charset="77"/>
                <a:cs typeface="Poppins" pitchFamily="2" charset="77"/>
              </a:rPr>
              <a:t>, sunt in culpa qui </a:t>
            </a:r>
            <a:r>
              <a:rPr lang="en-US" sz="1400" dirty="0" err="1">
                <a:latin typeface="Poppins" pitchFamily="2" charset="77"/>
                <a:cs typeface="Poppins" pitchFamily="2" charset="77"/>
              </a:rPr>
              <a:t>officia</a:t>
            </a:r>
            <a:r>
              <a:rPr lang="en-US" sz="1400" dirty="0">
                <a:latin typeface="Poppins" pitchFamily="2" charset="77"/>
                <a:cs typeface="Poppins" pitchFamily="2" charset="77"/>
              </a:rPr>
              <a:t> </a:t>
            </a:r>
            <a:r>
              <a:rPr lang="en-US" sz="1400" dirty="0" err="1">
                <a:latin typeface="Poppins" pitchFamily="2" charset="77"/>
                <a:cs typeface="Poppins" pitchFamily="2" charset="77"/>
              </a:rPr>
              <a:t>deserunt</a:t>
            </a:r>
            <a:r>
              <a:rPr lang="en-US" sz="1400" dirty="0">
                <a:latin typeface="Poppins" pitchFamily="2" charset="77"/>
                <a:cs typeface="Poppins" pitchFamily="2" charset="77"/>
              </a:rPr>
              <a:t> </a:t>
            </a:r>
            <a:r>
              <a:rPr lang="en-US" sz="1400" dirty="0" err="1">
                <a:latin typeface="Poppins" pitchFamily="2" charset="77"/>
                <a:cs typeface="Poppins" pitchFamily="2" charset="77"/>
              </a:rPr>
              <a:t>mollit</a:t>
            </a:r>
            <a:r>
              <a:rPr lang="en-US" sz="1400" dirty="0">
                <a:latin typeface="Poppins" pitchFamily="2" charset="77"/>
                <a:cs typeface="Poppins" pitchFamily="2" charset="77"/>
              </a:rPr>
              <a:t> </a:t>
            </a:r>
            <a:r>
              <a:rPr lang="en-US" sz="1400" dirty="0" err="1">
                <a:latin typeface="Poppins" pitchFamily="2" charset="77"/>
                <a:cs typeface="Poppins" pitchFamily="2" charset="77"/>
              </a:rPr>
              <a:t>anim</a:t>
            </a:r>
            <a:r>
              <a:rPr lang="en-US" sz="1400" dirty="0">
                <a:latin typeface="Poppins" pitchFamily="2" charset="77"/>
                <a:cs typeface="Poppins" pitchFamily="2" charset="77"/>
              </a:rPr>
              <a:t> id</a:t>
            </a:r>
          </a:p>
        </p:txBody>
      </p:sp>
    </p:spTree>
    <p:extLst>
      <p:ext uri="{BB962C8B-B14F-4D97-AF65-F5344CB8AC3E}">
        <p14:creationId xmlns:p14="http://schemas.microsoft.com/office/powerpoint/2010/main" val="208882055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3" name="Picture 11" descr="国外社交媒体客户端下载安卓APP 苹果IOS客户端| 优易特创意科技">
            <a:extLst>
              <a:ext uri="{FF2B5EF4-FFF2-40B4-BE49-F238E27FC236}">
                <a16:creationId xmlns:a16="http://schemas.microsoft.com/office/drawing/2014/main" id="{8A826678-864E-B70E-6E5B-D3D41B0FD66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3655" t="22884" r="13569" b="73457"/>
          <a:stretch/>
        </p:blipFill>
        <p:spPr bwMode="auto">
          <a:xfrm>
            <a:off x="1364252" y="648146"/>
            <a:ext cx="2687175" cy="292273"/>
          </a:xfrm>
          <a:prstGeom prst="round2SameRect">
            <a:avLst>
              <a:gd name="adj1" fmla="val 50000"/>
              <a:gd name="adj2" fmla="val 0"/>
            </a:avLst>
          </a:prstGeom>
          <a:noFill/>
          <a:extLst>
            <a:ext uri="{909E8E84-426E-40DD-AFC4-6F175D3DCCD1}">
              <a14:hiddenFill xmlns:a14="http://schemas.microsoft.com/office/drawing/2010/main">
                <a:solidFill>
                  <a:srgbClr val="FFFFFF"/>
                </a:solidFill>
              </a14:hiddenFill>
            </a:ext>
          </a:extLst>
        </p:spPr>
      </p:pic>
      <p:pic>
        <p:nvPicPr>
          <p:cNvPr id="2" name="Picture 1" descr="A hand holding a cell phone&#10;&#10;Description automatically generated">
            <a:extLst>
              <a:ext uri="{FF2B5EF4-FFF2-40B4-BE49-F238E27FC236}">
                <a16:creationId xmlns:a16="http://schemas.microsoft.com/office/drawing/2014/main" id="{3C83D7D7-8D9B-A838-3F26-206545CEF918}"/>
              </a:ext>
            </a:extLst>
          </p:cNvPr>
          <p:cNvPicPr>
            <a:picLocks noChangeAspect="1"/>
          </p:cNvPicPr>
          <p:nvPr/>
        </p:nvPicPr>
        <p:blipFill rotWithShape="1">
          <a:blip r:embed="rId4">
            <a:extLst>
              <a:ext uri="{28A0092B-C50C-407E-A947-70E740481C1C}">
                <a14:useLocalDpi xmlns:a14="http://schemas.microsoft.com/office/drawing/2010/main" val="0"/>
              </a:ext>
            </a:extLst>
          </a:blip>
          <a:srcRect b="4371"/>
          <a:stretch/>
        </p:blipFill>
        <p:spPr>
          <a:xfrm>
            <a:off x="827314" y="507145"/>
            <a:ext cx="4603379" cy="6350855"/>
          </a:xfrm>
          <a:prstGeom prst="rect">
            <a:avLst/>
          </a:prstGeom>
        </p:spPr>
      </p:pic>
      <p:sp>
        <p:nvSpPr>
          <p:cNvPr id="4" name="TextBox 3">
            <a:extLst>
              <a:ext uri="{FF2B5EF4-FFF2-40B4-BE49-F238E27FC236}">
                <a16:creationId xmlns:a16="http://schemas.microsoft.com/office/drawing/2014/main" id="{6D84037E-6A70-40BF-C0A4-5DA6D8DC4D70}"/>
              </a:ext>
            </a:extLst>
          </p:cNvPr>
          <p:cNvSpPr txBox="1"/>
          <p:nvPr/>
        </p:nvSpPr>
        <p:spPr>
          <a:xfrm>
            <a:off x="5498618" y="714026"/>
            <a:ext cx="5866068" cy="5429948"/>
          </a:xfrm>
          <a:prstGeom prst="rect">
            <a:avLst/>
          </a:prstGeom>
          <a:noFill/>
        </p:spPr>
        <p:txBody>
          <a:bodyPr wrap="square" rtlCol="0" anchor="ctr">
            <a:spAutoFit/>
          </a:bodyPr>
          <a:lstStyle/>
          <a:p>
            <a:pPr>
              <a:lnSpc>
                <a:spcPct val="95000"/>
              </a:lnSpc>
              <a:spcBef>
                <a:spcPct val="0"/>
              </a:spcBef>
              <a:defRPr/>
            </a:pPr>
            <a:r>
              <a:rPr lang="en-US" sz="3200" b="1">
                <a:solidFill>
                  <a:schemeClr val="accent1"/>
                </a:solidFill>
                <a:latin typeface="+mj-lt"/>
                <a:ea typeface="+mj-ea"/>
                <a:cs typeface="+mj-cs"/>
              </a:rPr>
              <a:t>Lorem ipsum dolor sit </a:t>
            </a:r>
            <a:r>
              <a:rPr lang="en-US" sz="3200" b="1" err="1">
                <a:solidFill>
                  <a:schemeClr val="accent1"/>
                </a:solidFill>
                <a:latin typeface="+mj-lt"/>
                <a:ea typeface="+mj-ea"/>
                <a:cs typeface="+mj-cs"/>
              </a:rPr>
              <a:t>amet</a:t>
            </a:r>
            <a:r>
              <a:rPr lang="en-US" sz="3200" b="1">
                <a:solidFill>
                  <a:schemeClr val="accent1"/>
                </a:solidFill>
                <a:latin typeface="+mj-lt"/>
                <a:ea typeface="+mj-ea"/>
                <a:cs typeface="+mj-cs"/>
              </a:rPr>
              <a:t> et dolore magna</a:t>
            </a:r>
          </a:p>
          <a:p>
            <a:pPr marL="285750" indent="-285750">
              <a:lnSpc>
                <a:spcPct val="110000"/>
              </a:lnSpc>
              <a:spcBef>
                <a:spcPts val="800"/>
              </a:spcBef>
              <a:buClr>
                <a:schemeClr val="accent1"/>
              </a:buClr>
              <a:buFont typeface="Arial" panose="020B0604020202020204" pitchFamily="34" charset="0"/>
              <a:buChar char="•"/>
              <a:defRPr/>
            </a:pPr>
            <a:r>
              <a:rPr lang="en-US" sz="1400">
                <a:latin typeface="Poppins" pitchFamily="2" charset="77"/>
                <a:cs typeface="Poppins" pitchFamily="2" charset="77"/>
              </a:rPr>
              <a:t>Lorem ipsum dolor sit </a:t>
            </a:r>
            <a:r>
              <a:rPr lang="en-US" sz="1400" err="1">
                <a:latin typeface="Poppins" pitchFamily="2" charset="77"/>
                <a:cs typeface="Poppins" pitchFamily="2" charset="77"/>
              </a:rPr>
              <a:t>amet</a:t>
            </a:r>
            <a:r>
              <a:rPr lang="en-US" sz="1400">
                <a:latin typeface="Poppins" pitchFamily="2" charset="77"/>
                <a:cs typeface="Poppins" pitchFamily="2" charset="77"/>
              </a:rPr>
              <a:t>, </a:t>
            </a:r>
            <a:r>
              <a:rPr lang="en-US" sz="1400" err="1">
                <a:latin typeface="Poppins" pitchFamily="2" charset="77"/>
                <a:cs typeface="Poppins" pitchFamily="2" charset="77"/>
              </a:rPr>
              <a:t>consectetur</a:t>
            </a:r>
            <a:r>
              <a:rPr lang="en-US" sz="1400">
                <a:latin typeface="Poppins" pitchFamily="2" charset="77"/>
                <a:cs typeface="Poppins" pitchFamily="2" charset="77"/>
              </a:rPr>
              <a:t> </a:t>
            </a:r>
            <a:r>
              <a:rPr lang="en-US" sz="1400" err="1">
                <a:latin typeface="Poppins" pitchFamily="2" charset="77"/>
                <a:cs typeface="Poppins" pitchFamily="2" charset="77"/>
              </a:rPr>
              <a:t>adipiscing</a:t>
            </a:r>
            <a:r>
              <a:rPr lang="en-US" sz="1400">
                <a:latin typeface="Poppins" pitchFamily="2" charset="77"/>
                <a:cs typeface="Poppins" pitchFamily="2" charset="77"/>
              </a:rPr>
              <a:t> </a:t>
            </a:r>
            <a:r>
              <a:rPr lang="en-US" sz="1400" err="1">
                <a:latin typeface="Poppins" pitchFamily="2" charset="77"/>
                <a:cs typeface="Poppins" pitchFamily="2" charset="77"/>
              </a:rPr>
              <a:t>elit</a:t>
            </a:r>
            <a:r>
              <a:rPr lang="en-US" sz="1400">
                <a:latin typeface="Poppins" pitchFamily="2" charset="77"/>
                <a:cs typeface="Poppins" pitchFamily="2" charset="77"/>
              </a:rPr>
              <a:t>, sed do </a:t>
            </a:r>
            <a:r>
              <a:rPr lang="en-US" sz="1400" err="1">
                <a:latin typeface="Poppins" pitchFamily="2" charset="77"/>
                <a:cs typeface="Poppins" pitchFamily="2" charset="77"/>
              </a:rPr>
              <a:t>eiusmod</a:t>
            </a:r>
            <a:r>
              <a:rPr lang="en-US" sz="1400">
                <a:latin typeface="Poppins" pitchFamily="2" charset="77"/>
                <a:cs typeface="Poppins" pitchFamily="2" charset="77"/>
              </a:rPr>
              <a:t> </a:t>
            </a:r>
            <a:r>
              <a:rPr lang="en-US" sz="1400" err="1">
                <a:latin typeface="Poppins" pitchFamily="2" charset="77"/>
                <a:cs typeface="Poppins" pitchFamily="2" charset="77"/>
              </a:rPr>
              <a:t>tempor</a:t>
            </a:r>
            <a:r>
              <a:rPr lang="en-US" sz="1400">
                <a:latin typeface="Poppins" pitchFamily="2" charset="77"/>
                <a:cs typeface="Poppins" pitchFamily="2" charset="77"/>
              </a:rPr>
              <a:t> </a:t>
            </a:r>
            <a:r>
              <a:rPr lang="en-US" sz="1400" err="1">
                <a:latin typeface="Poppins" pitchFamily="2" charset="77"/>
                <a:cs typeface="Poppins" pitchFamily="2" charset="77"/>
              </a:rPr>
              <a:t>incididunt</a:t>
            </a:r>
            <a:r>
              <a:rPr lang="en-US" sz="1400">
                <a:latin typeface="Poppins" pitchFamily="2" charset="77"/>
                <a:cs typeface="Poppins" pitchFamily="2" charset="77"/>
              </a:rPr>
              <a:t> </a:t>
            </a:r>
            <a:r>
              <a:rPr lang="en-US" sz="1400" err="1">
                <a:latin typeface="Poppins" pitchFamily="2" charset="77"/>
                <a:cs typeface="Poppins" pitchFamily="2" charset="77"/>
              </a:rPr>
              <a:t>ut</a:t>
            </a:r>
            <a:r>
              <a:rPr lang="en-US" sz="1400">
                <a:latin typeface="Poppins" pitchFamily="2" charset="77"/>
                <a:cs typeface="Poppins" pitchFamily="2" charset="77"/>
              </a:rPr>
              <a:t> labore et dolore magna </a:t>
            </a:r>
            <a:r>
              <a:rPr lang="en-US" sz="1400" err="1">
                <a:latin typeface="Poppins" pitchFamily="2" charset="77"/>
                <a:cs typeface="Poppins" pitchFamily="2" charset="77"/>
              </a:rPr>
              <a:t>aliqua</a:t>
            </a:r>
            <a:r>
              <a:rPr lang="en-US" sz="1400">
                <a:latin typeface="Poppins" pitchFamily="2" charset="77"/>
                <a:cs typeface="Poppins" pitchFamily="2" charset="77"/>
              </a:rPr>
              <a:t>. Ut </a:t>
            </a:r>
            <a:r>
              <a:rPr lang="en-US" sz="1400" err="1">
                <a:latin typeface="Poppins" pitchFamily="2" charset="77"/>
                <a:cs typeface="Poppins" pitchFamily="2" charset="77"/>
              </a:rPr>
              <a:t>enim</a:t>
            </a:r>
            <a:r>
              <a:rPr lang="en-US" sz="1400">
                <a:latin typeface="Poppins" pitchFamily="2" charset="77"/>
                <a:cs typeface="Poppins" pitchFamily="2" charset="77"/>
              </a:rPr>
              <a:t> ad minim </a:t>
            </a:r>
            <a:r>
              <a:rPr lang="en-US" sz="1400" err="1">
                <a:latin typeface="Poppins" pitchFamily="2" charset="77"/>
                <a:cs typeface="Poppins" pitchFamily="2" charset="77"/>
              </a:rPr>
              <a:t>veniam</a:t>
            </a:r>
            <a:endParaRPr lang="en-US" sz="1400">
              <a:latin typeface="Poppins" pitchFamily="2" charset="77"/>
              <a:cs typeface="Poppins" pitchFamily="2" charset="77"/>
            </a:endParaRPr>
          </a:p>
          <a:p>
            <a:pPr marL="285750" indent="-285750">
              <a:lnSpc>
                <a:spcPct val="110000"/>
              </a:lnSpc>
              <a:spcBef>
                <a:spcPts val="800"/>
              </a:spcBef>
              <a:buClr>
                <a:schemeClr val="accent1"/>
              </a:buClr>
              <a:buFont typeface="Arial" panose="020B0604020202020204" pitchFamily="34" charset="0"/>
              <a:buChar char="•"/>
              <a:defRPr/>
            </a:pPr>
            <a:r>
              <a:rPr lang="en-US" sz="1400" err="1">
                <a:latin typeface="Poppins" pitchFamily="2" charset="77"/>
                <a:cs typeface="Poppins" pitchFamily="2" charset="77"/>
              </a:rPr>
              <a:t>Quis</a:t>
            </a:r>
            <a:r>
              <a:rPr lang="en-US" sz="1400">
                <a:latin typeface="Poppins" pitchFamily="2" charset="77"/>
                <a:cs typeface="Poppins" pitchFamily="2" charset="77"/>
              </a:rPr>
              <a:t> </a:t>
            </a:r>
            <a:r>
              <a:rPr lang="en-US" sz="1400" err="1">
                <a:latin typeface="Poppins" pitchFamily="2" charset="77"/>
                <a:cs typeface="Poppins" pitchFamily="2" charset="77"/>
              </a:rPr>
              <a:t>nostrud</a:t>
            </a:r>
            <a:r>
              <a:rPr lang="en-US" sz="1400">
                <a:latin typeface="Poppins" pitchFamily="2" charset="77"/>
                <a:cs typeface="Poppins" pitchFamily="2" charset="77"/>
              </a:rPr>
              <a:t> exercitation </a:t>
            </a:r>
            <a:r>
              <a:rPr lang="en-US" sz="1400" err="1">
                <a:latin typeface="Poppins" pitchFamily="2" charset="77"/>
                <a:cs typeface="Poppins" pitchFamily="2" charset="77"/>
              </a:rPr>
              <a:t>ullamco</a:t>
            </a:r>
            <a:r>
              <a:rPr lang="en-US" sz="1400">
                <a:latin typeface="Poppins" pitchFamily="2" charset="77"/>
                <a:cs typeface="Poppins" pitchFamily="2" charset="77"/>
              </a:rPr>
              <a:t> </a:t>
            </a:r>
            <a:r>
              <a:rPr lang="en-US" sz="1400" err="1">
                <a:latin typeface="Poppins" pitchFamily="2" charset="77"/>
                <a:cs typeface="Poppins" pitchFamily="2" charset="77"/>
              </a:rPr>
              <a:t>laboris</a:t>
            </a:r>
            <a:r>
              <a:rPr lang="en-US" sz="1400">
                <a:latin typeface="Poppins" pitchFamily="2" charset="77"/>
                <a:cs typeface="Poppins" pitchFamily="2" charset="77"/>
              </a:rPr>
              <a:t> nisi </a:t>
            </a:r>
            <a:r>
              <a:rPr lang="en-US" sz="1400" err="1">
                <a:latin typeface="Poppins" pitchFamily="2" charset="77"/>
                <a:cs typeface="Poppins" pitchFamily="2" charset="77"/>
              </a:rPr>
              <a:t>ut</a:t>
            </a:r>
            <a:r>
              <a:rPr lang="en-US" sz="1400">
                <a:latin typeface="Poppins" pitchFamily="2" charset="77"/>
                <a:cs typeface="Poppins" pitchFamily="2" charset="77"/>
              </a:rPr>
              <a:t> </a:t>
            </a:r>
            <a:r>
              <a:rPr lang="en-US" sz="1400" err="1">
                <a:latin typeface="Poppins" pitchFamily="2" charset="77"/>
                <a:cs typeface="Poppins" pitchFamily="2" charset="77"/>
              </a:rPr>
              <a:t>aliquip</a:t>
            </a:r>
            <a:r>
              <a:rPr lang="en-US" sz="1400">
                <a:latin typeface="Poppins" pitchFamily="2" charset="77"/>
                <a:cs typeface="Poppins" pitchFamily="2" charset="77"/>
              </a:rPr>
              <a:t> ex </a:t>
            </a:r>
            <a:r>
              <a:rPr lang="en-US" sz="1400" err="1">
                <a:latin typeface="Poppins" pitchFamily="2" charset="77"/>
                <a:cs typeface="Poppins" pitchFamily="2" charset="77"/>
              </a:rPr>
              <a:t>ea</a:t>
            </a:r>
            <a:r>
              <a:rPr lang="en-US" sz="1400">
                <a:latin typeface="Poppins" pitchFamily="2" charset="77"/>
                <a:cs typeface="Poppins" pitchFamily="2" charset="77"/>
              </a:rPr>
              <a:t> </a:t>
            </a:r>
            <a:r>
              <a:rPr lang="en-US" sz="1400" err="1">
                <a:latin typeface="Poppins" pitchFamily="2" charset="77"/>
                <a:cs typeface="Poppins" pitchFamily="2" charset="77"/>
              </a:rPr>
              <a:t>commodo</a:t>
            </a:r>
            <a:r>
              <a:rPr lang="en-US" sz="1400">
                <a:latin typeface="Poppins" pitchFamily="2" charset="77"/>
                <a:cs typeface="Poppins" pitchFamily="2" charset="77"/>
              </a:rPr>
              <a:t> </a:t>
            </a:r>
            <a:r>
              <a:rPr lang="en-US" sz="1400" err="1">
                <a:latin typeface="Poppins" pitchFamily="2" charset="77"/>
                <a:cs typeface="Poppins" pitchFamily="2" charset="77"/>
              </a:rPr>
              <a:t>consequat</a:t>
            </a:r>
            <a:r>
              <a:rPr lang="en-US" sz="1400">
                <a:latin typeface="Poppins" pitchFamily="2" charset="77"/>
                <a:cs typeface="Poppins" pitchFamily="2" charset="77"/>
              </a:rPr>
              <a:t>. Duis </a:t>
            </a:r>
            <a:r>
              <a:rPr lang="en-US" sz="1400" err="1">
                <a:latin typeface="Poppins" pitchFamily="2" charset="77"/>
                <a:cs typeface="Poppins" pitchFamily="2" charset="77"/>
              </a:rPr>
              <a:t>aute</a:t>
            </a:r>
            <a:r>
              <a:rPr lang="en-US" sz="1400">
                <a:latin typeface="Poppins" pitchFamily="2" charset="77"/>
                <a:cs typeface="Poppins" pitchFamily="2" charset="77"/>
              </a:rPr>
              <a:t> </a:t>
            </a:r>
            <a:r>
              <a:rPr lang="en-US" sz="1400" err="1">
                <a:latin typeface="Poppins" pitchFamily="2" charset="77"/>
                <a:cs typeface="Poppins" pitchFamily="2" charset="77"/>
              </a:rPr>
              <a:t>irure</a:t>
            </a:r>
            <a:r>
              <a:rPr lang="en-US" sz="1400">
                <a:latin typeface="Poppins" pitchFamily="2" charset="77"/>
                <a:cs typeface="Poppins" pitchFamily="2" charset="77"/>
              </a:rPr>
              <a:t> dolor in </a:t>
            </a:r>
            <a:r>
              <a:rPr lang="en-US" sz="1400" err="1">
                <a:latin typeface="Poppins" pitchFamily="2" charset="77"/>
                <a:cs typeface="Poppins" pitchFamily="2" charset="77"/>
              </a:rPr>
              <a:t>reprehenderit</a:t>
            </a:r>
            <a:r>
              <a:rPr lang="en-US" sz="1400">
                <a:latin typeface="Poppins" pitchFamily="2" charset="77"/>
                <a:cs typeface="Poppins" pitchFamily="2" charset="77"/>
              </a:rPr>
              <a:t> in </a:t>
            </a:r>
            <a:r>
              <a:rPr lang="en-US" sz="1400" err="1">
                <a:latin typeface="Poppins" pitchFamily="2" charset="77"/>
                <a:cs typeface="Poppins" pitchFamily="2" charset="77"/>
              </a:rPr>
              <a:t>voluptate</a:t>
            </a:r>
            <a:r>
              <a:rPr lang="en-US" sz="1400">
                <a:latin typeface="Poppins" pitchFamily="2" charset="77"/>
                <a:cs typeface="Poppins" pitchFamily="2" charset="77"/>
              </a:rPr>
              <a:t> </a:t>
            </a:r>
            <a:r>
              <a:rPr lang="en-US" sz="1400" err="1">
                <a:latin typeface="Poppins" pitchFamily="2" charset="77"/>
                <a:cs typeface="Poppins" pitchFamily="2" charset="77"/>
              </a:rPr>
              <a:t>velit</a:t>
            </a:r>
            <a:r>
              <a:rPr lang="en-US" sz="1400">
                <a:latin typeface="Poppins" pitchFamily="2" charset="77"/>
                <a:cs typeface="Poppins" pitchFamily="2" charset="77"/>
              </a:rPr>
              <a:t> </a:t>
            </a:r>
            <a:r>
              <a:rPr lang="en-US" sz="1400" err="1">
                <a:latin typeface="Poppins" pitchFamily="2" charset="77"/>
                <a:cs typeface="Poppins" pitchFamily="2" charset="77"/>
              </a:rPr>
              <a:t>esse</a:t>
            </a:r>
            <a:r>
              <a:rPr lang="en-US" sz="1400">
                <a:latin typeface="Poppins" pitchFamily="2" charset="77"/>
                <a:cs typeface="Poppins" pitchFamily="2" charset="77"/>
              </a:rPr>
              <a:t> </a:t>
            </a:r>
            <a:r>
              <a:rPr lang="en-US" sz="1400" err="1">
                <a:latin typeface="Poppins" pitchFamily="2" charset="77"/>
                <a:cs typeface="Poppins" pitchFamily="2" charset="77"/>
              </a:rPr>
              <a:t>cillum</a:t>
            </a:r>
            <a:r>
              <a:rPr lang="en-US" sz="1400">
                <a:latin typeface="Poppins" pitchFamily="2" charset="77"/>
                <a:cs typeface="Poppins" pitchFamily="2" charset="77"/>
              </a:rPr>
              <a:t> dolore </a:t>
            </a:r>
            <a:r>
              <a:rPr lang="en-US" sz="1400" err="1">
                <a:latin typeface="Poppins" pitchFamily="2" charset="77"/>
                <a:cs typeface="Poppins" pitchFamily="2" charset="77"/>
              </a:rPr>
              <a:t>eu</a:t>
            </a:r>
            <a:r>
              <a:rPr lang="en-US" sz="1400">
                <a:latin typeface="Poppins" pitchFamily="2" charset="77"/>
                <a:cs typeface="Poppins" pitchFamily="2" charset="77"/>
              </a:rPr>
              <a:t> </a:t>
            </a:r>
            <a:r>
              <a:rPr lang="en-US" sz="1400" err="1">
                <a:latin typeface="Poppins" pitchFamily="2" charset="77"/>
                <a:cs typeface="Poppins" pitchFamily="2" charset="77"/>
              </a:rPr>
              <a:t>fugiat</a:t>
            </a:r>
            <a:r>
              <a:rPr lang="en-US" sz="1400">
                <a:latin typeface="Poppins" pitchFamily="2" charset="77"/>
                <a:cs typeface="Poppins" pitchFamily="2" charset="77"/>
              </a:rPr>
              <a:t> </a:t>
            </a:r>
            <a:r>
              <a:rPr lang="en-US" sz="1400" err="1">
                <a:latin typeface="Poppins" pitchFamily="2" charset="77"/>
                <a:cs typeface="Poppins" pitchFamily="2" charset="77"/>
              </a:rPr>
              <a:t>nulla</a:t>
            </a:r>
            <a:r>
              <a:rPr lang="en-US" sz="1400">
                <a:latin typeface="Poppins" pitchFamily="2" charset="77"/>
                <a:cs typeface="Poppins" pitchFamily="2" charset="77"/>
              </a:rPr>
              <a:t> </a:t>
            </a:r>
            <a:r>
              <a:rPr lang="en-US" sz="1400" err="1">
                <a:latin typeface="Poppins" pitchFamily="2" charset="77"/>
                <a:cs typeface="Poppins" pitchFamily="2" charset="77"/>
              </a:rPr>
              <a:t>pariatur</a:t>
            </a:r>
            <a:r>
              <a:rPr lang="en-US" sz="1400">
                <a:latin typeface="Poppins" pitchFamily="2" charset="77"/>
                <a:cs typeface="Poppins" pitchFamily="2" charset="77"/>
              </a:rPr>
              <a:t>.</a:t>
            </a:r>
          </a:p>
          <a:p>
            <a:pPr marL="285750" indent="-285750">
              <a:lnSpc>
                <a:spcPct val="110000"/>
              </a:lnSpc>
              <a:spcBef>
                <a:spcPts val="800"/>
              </a:spcBef>
              <a:buClr>
                <a:schemeClr val="accent1"/>
              </a:buClr>
              <a:buFont typeface="Arial" panose="020B0604020202020204" pitchFamily="34" charset="0"/>
              <a:buChar char="•"/>
              <a:defRPr/>
            </a:pPr>
            <a:r>
              <a:rPr lang="en-US" sz="1400" err="1">
                <a:latin typeface="Poppins" pitchFamily="2" charset="77"/>
                <a:cs typeface="Poppins" pitchFamily="2" charset="77"/>
              </a:rPr>
              <a:t>Excepteur</a:t>
            </a:r>
            <a:r>
              <a:rPr lang="en-US" sz="1400">
                <a:latin typeface="Poppins" pitchFamily="2" charset="77"/>
                <a:cs typeface="Poppins" pitchFamily="2" charset="77"/>
              </a:rPr>
              <a:t> </a:t>
            </a:r>
            <a:r>
              <a:rPr lang="en-US" sz="1400" err="1">
                <a:latin typeface="Poppins" pitchFamily="2" charset="77"/>
                <a:cs typeface="Poppins" pitchFamily="2" charset="77"/>
              </a:rPr>
              <a:t>sint</a:t>
            </a:r>
            <a:r>
              <a:rPr lang="en-US" sz="1400">
                <a:latin typeface="Poppins" pitchFamily="2" charset="77"/>
                <a:cs typeface="Poppins" pitchFamily="2" charset="77"/>
              </a:rPr>
              <a:t> </a:t>
            </a:r>
            <a:r>
              <a:rPr lang="en-US" sz="1400" err="1">
                <a:latin typeface="Poppins" pitchFamily="2" charset="77"/>
                <a:cs typeface="Poppins" pitchFamily="2" charset="77"/>
              </a:rPr>
              <a:t>occaecat</a:t>
            </a:r>
            <a:r>
              <a:rPr lang="en-US" sz="1400">
                <a:latin typeface="Poppins" pitchFamily="2" charset="77"/>
                <a:cs typeface="Poppins" pitchFamily="2" charset="77"/>
              </a:rPr>
              <a:t> </a:t>
            </a:r>
            <a:r>
              <a:rPr lang="en-US" sz="1400" err="1">
                <a:latin typeface="Poppins" pitchFamily="2" charset="77"/>
                <a:cs typeface="Poppins" pitchFamily="2" charset="77"/>
              </a:rPr>
              <a:t>cupidatat</a:t>
            </a:r>
            <a:r>
              <a:rPr lang="en-US" sz="1400">
                <a:latin typeface="Poppins" pitchFamily="2" charset="77"/>
                <a:cs typeface="Poppins" pitchFamily="2" charset="77"/>
              </a:rPr>
              <a:t> non </a:t>
            </a:r>
            <a:r>
              <a:rPr lang="en-US" sz="1400" err="1">
                <a:latin typeface="Poppins" pitchFamily="2" charset="77"/>
                <a:cs typeface="Poppins" pitchFamily="2" charset="77"/>
              </a:rPr>
              <a:t>proident</a:t>
            </a:r>
            <a:r>
              <a:rPr lang="en-US" sz="1400">
                <a:latin typeface="Poppins" pitchFamily="2" charset="77"/>
                <a:cs typeface="Poppins" pitchFamily="2" charset="77"/>
              </a:rPr>
              <a:t>, sunt in culpa qui </a:t>
            </a:r>
            <a:r>
              <a:rPr lang="en-US" sz="1400" err="1">
                <a:latin typeface="Poppins" pitchFamily="2" charset="77"/>
                <a:cs typeface="Poppins" pitchFamily="2" charset="77"/>
              </a:rPr>
              <a:t>officia</a:t>
            </a:r>
            <a:r>
              <a:rPr lang="en-US" sz="1400">
                <a:latin typeface="Poppins" pitchFamily="2" charset="77"/>
                <a:cs typeface="Poppins" pitchFamily="2" charset="77"/>
              </a:rPr>
              <a:t> </a:t>
            </a:r>
            <a:r>
              <a:rPr lang="en-US" sz="1400" err="1">
                <a:latin typeface="Poppins" pitchFamily="2" charset="77"/>
                <a:cs typeface="Poppins" pitchFamily="2" charset="77"/>
              </a:rPr>
              <a:t>deserunt</a:t>
            </a:r>
            <a:r>
              <a:rPr lang="en-US" sz="1400">
                <a:latin typeface="Poppins" pitchFamily="2" charset="77"/>
                <a:cs typeface="Poppins" pitchFamily="2" charset="77"/>
              </a:rPr>
              <a:t> </a:t>
            </a:r>
            <a:r>
              <a:rPr lang="en-US" sz="1400" err="1">
                <a:latin typeface="Poppins" pitchFamily="2" charset="77"/>
                <a:cs typeface="Poppins" pitchFamily="2" charset="77"/>
              </a:rPr>
              <a:t>mollit</a:t>
            </a:r>
            <a:r>
              <a:rPr lang="en-US" sz="1400">
                <a:latin typeface="Poppins" pitchFamily="2" charset="77"/>
                <a:cs typeface="Poppins" pitchFamily="2" charset="77"/>
              </a:rPr>
              <a:t> </a:t>
            </a:r>
            <a:r>
              <a:rPr lang="en-US" sz="1400" err="1">
                <a:latin typeface="Poppins" pitchFamily="2" charset="77"/>
                <a:cs typeface="Poppins" pitchFamily="2" charset="77"/>
              </a:rPr>
              <a:t>anim</a:t>
            </a:r>
            <a:r>
              <a:rPr lang="en-US" sz="1400">
                <a:latin typeface="Poppins" pitchFamily="2" charset="77"/>
                <a:cs typeface="Poppins" pitchFamily="2" charset="77"/>
              </a:rPr>
              <a:t> id </a:t>
            </a:r>
            <a:r>
              <a:rPr lang="en-US" sz="1400" err="1">
                <a:latin typeface="Poppins" pitchFamily="2" charset="77"/>
                <a:cs typeface="Poppins" pitchFamily="2" charset="77"/>
              </a:rPr>
              <a:t>est</a:t>
            </a:r>
            <a:r>
              <a:rPr lang="en-US" sz="1400">
                <a:latin typeface="Poppins" pitchFamily="2" charset="77"/>
                <a:cs typeface="Poppins" pitchFamily="2" charset="77"/>
              </a:rPr>
              <a:t> </a:t>
            </a:r>
            <a:r>
              <a:rPr lang="en-US" sz="1400" err="1">
                <a:latin typeface="Poppins" pitchFamily="2" charset="77"/>
                <a:cs typeface="Poppins" pitchFamily="2" charset="77"/>
              </a:rPr>
              <a:t>laborum</a:t>
            </a:r>
            <a:r>
              <a:rPr lang="en-US" sz="1400">
                <a:latin typeface="Poppins" pitchFamily="2" charset="77"/>
                <a:cs typeface="Poppins" pitchFamily="2" charset="77"/>
              </a:rPr>
              <a:t>.</a:t>
            </a:r>
          </a:p>
          <a:p>
            <a:pPr marL="285750" indent="-285750">
              <a:lnSpc>
                <a:spcPct val="110000"/>
              </a:lnSpc>
              <a:spcBef>
                <a:spcPts val="800"/>
              </a:spcBef>
              <a:buClr>
                <a:schemeClr val="accent1"/>
              </a:buClr>
              <a:buFont typeface="Arial" panose="020B0604020202020204" pitchFamily="34" charset="0"/>
              <a:buChar char="•"/>
              <a:defRPr/>
            </a:pPr>
            <a:r>
              <a:rPr lang="en-US" sz="1400">
                <a:latin typeface="Poppins" pitchFamily="2" charset="77"/>
                <a:cs typeface="Poppins" pitchFamily="2" charset="77"/>
              </a:rPr>
              <a:t>Lorem ipsum dolor sit </a:t>
            </a:r>
            <a:r>
              <a:rPr lang="en-US" sz="1400" err="1">
                <a:latin typeface="Poppins" pitchFamily="2" charset="77"/>
                <a:cs typeface="Poppins" pitchFamily="2" charset="77"/>
              </a:rPr>
              <a:t>amet</a:t>
            </a:r>
            <a:r>
              <a:rPr lang="en-US" sz="1400">
                <a:latin typeface="Poppins" pitchFamily="2" charset="77"/>
                <a:cs typeface="Poppins" pitchFamily="2" charset="77"/>
              </a:rPr>
              <a:t>, </a:t>
            </a:r>
            <a:r>
              <a:rPr lang="en-US" sz="1400" err="1">
                <a:latin typeface="Poppins" pitchFamily="2" charset="77"/>
                <a:cs typeface="Poppins" pitchFamily="2" charset="77"/>
              </a:rPr>
              <a:t>consectetur</a:t>
            </a:r>
            <a:r>
              <a:rPr lang="en-US" sz="1400">
                <a:latin typeface="Poppins" pitchFamily="2" charset="77"/>
                <a:cs typeface="Poppins" pitchFamily="2" charset="77"/>
              </a:rPr>
              <a:t> </a:t>
            </a:r>
            <a:r>
              <a:rPr lang="en-US" sz="1400" err="1">
                <a:latin typeface="Poppins" pitchFamily="2" charset="77"/>
                <a:cs typeface="Poppins" pitchFamily="2" charset="77"/>
              </a:rPr>
              <a:t>adipiscing</a:t>
            </a:r>
            <a:r>
              <a:rPr lang="en-US" sz="1400">
                <a:latin typeface="Poppins" pitchFamily="2" charset="77"/>
                <a:cs typeface="Poppins" pitchFamily="2" charset="77"/>
              </a:rPr>
              <a:t> </a:t>
            </a:r>
            <a:r>
              <a:rPr lang="en-US" sz="1400" err="1">
                <a:latin typeface="Poppins" pitchFamily="2" charset="77"/>
                <a:cs typeface="Poppins" pitchFamily="2" charset="77"/>
              </a:rPr>
              <a:t>elit</a:t>
            </a:r>
            <a:r>
              <a:rPr lang="en-US" sz="1400">
                <a:latin typeface="Poppins" pitchFamily="2" charset="77"/>
                <a:cs typeface="Poppins" pitchFamily="2" charset="77"/>
              </a:rPr>
              <a:t>, sed do </a:t>
            </a:r>
            <a:r>
              <a:rPr lang="en-US" sz="1400" err="1">
                <a:latin typeface="Poppins" pitchFamily="2" charset="77"/>
                <a:cs typeface="Poppins" pitchFamily="2" charset="77"/>
              </a:rPr>
              <a:t>eiusmod</a:t>
            </a:r>
            <a:r>
              <a:rPr lang="en-US" sz="1400">
                <a:latin typeface="Poppins" pitchFamily="2" charset="77"/>
                <a:cs typeface="Poppins" pitchFamily="2" charset="77"/>
              </a:rPr>
              <a:t> </a:t>
            </a:r>
            <a:r>
              <a:rPr lang="en-US" sz="1400" err="1">
                <a:latin typeface="Poppins" pitchFamily="2" charset="77"/>
                <a:cs typeface="Poppins" pitchFamily="2" charset="77"/>
              </a:rPr>
              <a:t>tempor</a:t>
            </a:r>
            <a:r>
              <a:rPr lang="en-US" sz="1400">
                <a:latin typeface="Poppins" pitchFamily="2" charset="77"/>
                <a:cs typeface="Poppins" pitchFamily="2" charset="77"/>
              </a:rPr>
              <a:t> </a:t>
            </a:r>
            <a:r>
              <a:rPr lang="en-US" sz="1400" err="1">
                <a:latin typeface="Poppins" pitchFamily="2" charset="77"/>
                <a:cs typeface="Poppins" pitchFamily="2" charset="77"/>
              </a:rPr>
              <a:t>incididunt</a:t>
            </a:r>
            <a:r>
              <a:rPr lang="en-US" sz="1400">
                <a:latin typeface="Poppins" pitchFamily="2" charset="77"/>
                <a:cs typeface="Poppins" pitchFamily="2" charset="77"/>
              </a:rPr>
              <a:t> </a:t>
            </a:r>
            <a:r>
              <a:rPr lang="en-US" sz="1400" err="1">
                <a:latin typeface="Poppins" pitchFamily="2" charset="77"/>
                <a:cs typeface="Poppins" pitchFamily="2" charset="77"/>
              </a:rPr>
              <a:t>ut</a:t>
            </a:r>
            <a:r>
              <a:rPr lang="en-US" sz="1400">
                <a:latin typeface="Poppins" pitchFamily="2" charset="77"/>
                <a:cs typeface="Poppins" pitchFamily="2" charset="77"/>
              </a:rPr>
              <a:t> labore et dolore magna </a:t>
            </a:r>
            <a:r>
              <a:rPr lang="en-US" sz="1400" err="1">
                <a:latin typeface="Poppins" pitchFamily="2" charset="77"/>
                <a:cs typeface="Poppins" pitchFamily="2" charset="77"/>
              </a:rPr>
              <a:t>aliqua</a:t>
            </a:r>
            <a:r>
              <a:rPr lang="en-US" sz="1400">
                <a:latin typeface="Poppins" pitchFamily="2" charset="77"/>
                <a:cs typeface="Poppins" pitchFamily="2" charset="77"/>
              </a:rPr>
              <a:t>. Ut </a:t>
            </a:r>
            <a:r>
              <a:rPr lang="en-US" sz="1400" err="1">
                <a:latin typeface="Poppins" pitchFamily="2" charset="77"/>
                <a:cs typeface="Poppins" pitchFamily="2" charset="77"/>
              </a:rPr>
              <a:t>enim</a:t>
            </a:r>
            <a:r>
              <a:rPr lang="en-US" sz="1400">
                <a:latin typeface="Poppins" pitchFamily="2" charset="77"/>
                <a:cs typeface="Poppins" pitchFamily="2" charset="77"/>
              </a:rPr>
              <a:t> ad minim </a:t>
            </a:r>
            <a:r>
              <a:rPr lang="en-US" sz="1400" err="1">
                <a:latin typeface="Poppins" pitchFamily="2" charset="77"/>
                <a:cs typeface="Poppins" pitchFamily="2" charset="77"/>
              </a:rPr>
              <a:t>veniam</a:t>
            </a:r>
            <a:endParaRPr lang="en-US" sz="1400">
              <a:latin typeface="Poppins" pitchFamily="2" charset="77"/>
              <a:cs typeface="Poppins" pitchFamily="2" charset="77"/>
            </a:endParaRPr>
          </a:p>
          <a:p>
            <a:pPr marL="285750" indent="-285750">
              <a:lnSpc>
                <a:spcPct val="110000"/>
              </a:lnSpc>
              <a:spcBef>
                <a:spcPts val="800"/>
              </a:spcBef>
              <a:buClr>
                <a:schemeClr val="accent1"/>
              </a:buClr>
              <a:buFont typeface="Arial" panose="020B0604020202020204" pitchFamily="34" charset="0"/>
              <a:buChar char="•"/>
              <a:defRPr/>
            </a:pPr>
            <a:r>
              <a:rPr lang="en-US" sz="1400" err="1">
                <a:latin typeface="Poppins" pitchFamily="2" charset="77"/>
                <a:cs typeface="Poppins" pitchFamily="2" charset="77"/>
              </a:rPr>
              <a:t>Quis</a:t>
            </a:r>
            <a:r>
              <a:rPr lang="en-US" sz="1400">
                <a:latin typeface="Poppins" pitchFamily="2" charset="77"/>
                <a:cs typeface="Poppins" pitchFamily="2" charset="77"/>
              </a:rPr>
              <a:t> </a:t>
            </a:r>
            <a:r>
              <a:rPr lang="en-US" sz="1400" err="1">
                <a:latin typeface="Poppins" pitchFamily="2" charset="77"/>
                <a:cs typeface="Poppins" pitchFamily="2" charset="77"/>
              </a:rPr>
              <a:t>nostrud</a:t>
            </a:r>
            <a:r>
              <a:rPr lang="en-US" sz="1400">
                <a:latin typeface="Poppins" pitchFamily="2" charset="77"/>
                <a:cs typeface="Poppins" pitchFamily="2" charset="77"/>
              </a:rPr>
              <a:t> exercitation </a:t>
            </a:r>
            <a:r>
              <a:rPr lang="en-US" sz="1400" err="1">
                <a:latin typeface="Poppins" pitchFamily="2" charset="77"/>
                <a:cs typeface="Poppins" pitchFamily="2" charset="77"/>
              </a:rPr>
              <a:t>ullamco</a:t>
            </a:r>
            <a:r>
              <a:rPr lang="en-US" sz="1400">
                <a:latin typeface="Poppins" pitchFamily="2" charset="77"/>
                <a:cs typeface="Poppins" pitchFamily="2" charset="77"/>
              </a:rPr>
              <a:t> </a:t>
            </a:r>
            <a:r>
              <a:rPr lang="en-US" sz="1400" err="1">
                <a:latin typeface="Poppins" pitchFamily="2" charset="77"/>
                <a:cs typeface="Poppins" pitchFamily="2" charset="77"/>
              </a:rPr>
              <a:t>laboris</a:t>
            </a:r>
            <a:r>
              <a:rPr lang="en-US" sz="1400">
                <a:latin typeface="Poppins" pitchFamily="2" charset="77"/>
                <a:cs typeface="Poppins" pitchFamily="2" charset="77"/>
              </a:rPr>
              <a:t> nisi </a:t>
            </a:r>
            <a:r>
              <a:rPr lang="en-US" sz="1400" err="1">
                <a:latin typeface="Poppins" pitchFamily="2" charset="77"/>
                <a:cs typeface="Poppins" pitchFamily="2" charset="77"/>
              </a:rPr>
              <a:t>ut</a:t>
            </a:r>
            <a:r>
              <a:rPr lang="en-US" sz="1400">
                <a:latin typeface="Poppins" pitchFamily="2" charset="77"/>
                <a:cs typeface="Poppins" pitchFamily="2" charset="77"/>
              </a:rPr>
              <a:t> </a:t>
            </a:r>
            <a:r>
              <a:rPr lang="en-US" sz="1400" err="1">
                <a:latin typeface="Poppins" pitchFamily="2" charset="77"/>
                <a:cs typeface="Poppins" pitchFamily="2" charset="77"/>
              </a:rPr>
              <a:t>aliquip</a:t>
            </a:r>
            <a:r>
              <a:rPr lang="en-US" sz="1400">
                <a:latin typeface="Poppins" pitchFamily="2" charset="77"/>
                <a:cs typeface="Poppins" pitchFamily="2" charset="77"/>
              </a:rPr>
              <a:t> ex </a:t>
            </a:r>
            <a:r>
              <a:rPr lang="en-US" sz="1400" err="1">
                <a:latin typeface="Poppins" pitchFamily="2" charset="77"/>
                <a:cs typeface="Poppins" pitchFamily="2" charset="77"/>
              </a:rPr>
              <a:t>ea</a:t>
            </a:r>
            <a:r>
              <a:rPr lang="en-US" sz="1400">
                <a:latin typeface="Poppins" pitchFamily="2" charset="77"/>
                <a:cs typeface="Poppins" pitchFamily="2" charset="77"/>
              </a:rPr>
              <a:t> </a:t>
            </a:r>
            <a:r>
              <a:rPr lang="en-US" sz="1400" err="1">
                <a:latin typeface="Poppins" pitchFamily="2" charset="77"/>
                <a:cs typeface="Poppins" pitchFamily="2" charset="77"/>
              </a:rPr>
              <a:t>commodo</a:t>
            </a:r>
            <a:r>
              <a:rPr lang="en-US" sz="1400">
                <a:latin typeface="Poppins" pitchFamily="2" charset="77"/>
                <a:cs typeface="Poppins" pitchFamily="2" charset="77"/>
              </a:rPr>
              <a:t> </a:t>
            </a:r>
            <a:r>
              <a:rPr lang="en-US" sz="1400" err="1">
                <a:latin typeface="Poppins" pitchFamily="2" charset="77"/>
                <a:cs typeface="Poppins" pitchFamily="2" charset="77"/>
              </a:rPr>
              <a:t>consequat</a:t>
            </a:r>
            <a:r>
              <a:rPr lang="en-US" sz="1400">
                <a:latin typeface="Poppins" pitchFamily="2" charset="77"/>
                <a:cs typeface="Poppins" pitchFamily="2" charset="77"/>
              </a:rPr>
              <a:t>. Duis </a:t>
            </a:r>
            <a:r>
              <a:rPr lang="en-US" sz="1400" err="1">
                <a:latin typeface="Poppins" pitchFamily="2" charset="77"/>
                <a:cs typeface="Poppins" pitchFamily="2" charset="77"/>
              </a:rPr>
              <a:t>aute</a:t>
            </a:r>
            <a:r>
              <a:rPr lang="en-US" sz="1400">
                <a:latin typeface="Poppins" pitchFamily="2" charset="77"/>
                <a:cs typeface="Poppins" pitchFamily="2" charset="77"/>
              </a:rPr>
              <a:t> </a:t>
            </a:r>
            <a:r>
              <a:rPr lang="en-US" sz="1400" err="1">
                <a:latin typeface="Poppins" pitchFamily="2" charset="77"/>
                <a:cs typeface="Poppins" pitchFamily="2" charset="77"/>
              </a:rPr>
              <a:t>irure</a:t>
            </a:r>
            <a:r>
              <a:rPr lang="en-US" sz="1400">
                <a:latin typeface="Poppins" pitchFamily="2" charset="77"/>
                <a:cs typeface="Poppins" pitchFamily="2" charset="77"/>
              </a:rPr>
              <a:t> dolor in </a:t>
            </a:r>
            <a:r>
              <a:rPr lang="en-US" sz="1400" err="1">
                <a:latin typeface="Poppins" pitchFamily="2" charset="77"/>
                <a:cs typeface="Poppins" pitchFamily="2" charset="77"/>
              </a:rPr>
              <a:t>reprehenderit</a:t>
            </a:r>
            <a:r>
              <a:rPr lang="en-US" sz="1400">
                <a:latin typeface="Poppins" pitchFamily="2" charset="77"/>
                <a:cs typeface="Poppins" pitchFamily="2" charset="77"/>
              </a:rPr>
              <a:t> in </a:t>
            </a:r>
            <a:r>
              <a:rPr lang="en-US" sz="1400" err="1">
                <a:latin typeface="Poppins" pitchFamily="2" charset="77"/>
                <a:cs typeface="Poppins" pitchFamily="2" charset="77"/>
              </a:rPr>
              <a:t>voluptate</a:t>
            </a:r>
            <a:r>
              <a:rPr lang="en-US" sz="1400">
                <a:latin typeface="Poppins" pitchFamily="2" charset="77"/>
                <a:cs typeface="Poppins" pitchFamily="2" charset="77"/>
              </a:rPr>
              <a:t> </a:t>
            </a:r>
            <a:r>
              <a:rPr lang="en-US" sz="1400" err="1">
                <a:latin typeface="Poppins" pitchFamily="2" charset="77"/>
                <a:cs typeface="Poppins" pitchFamily="2" charset="77"/>
              </a:rPr>
              <a:t>velit</a:t>
            </a:r>
            <a:r>
              <a:rPr lang="en-US" sz="1400">
                <a:latin typeface="Poppins" pitchFamily="2" charset="77"/>
                <a:cs typeface="Poppins" pitchFamily="2" charset="77"/>
              </a:rPr>
              <a:t> </a:t>
            </a:r>
            <a:r>
              <a:rPr lang="en-US" sz="1400" err="1">
                <a:latin typeface="Poppins" pitchFamily="2" charset="77"/>
                <a:cs typeface="Poppins" pitchFamily="2" charset="77"/>
              </a:rPr>
              <a:t>esse</a:t>
            </a:r>
            <a:r>
              <a:rPr lang="en-US" sz="1400">
                <a:latin typeface="Poppins" pitchFamily="2" charset="77"/>
                <a:cs typeface="Poppins" pitchFamily="2" charset="77"/>
              </a:rPr>
              <a:t> </a:t>
            </a:r>
            <a:r>
              <a:rPr lang="en-US" sz="1400" err="1">
                <a:latin typeface="Poppins" pitchFamily="2" charset="77"/>
                <a:cs typeface="Poppins" pitchFamily="2" charset="77"/>
              </a:rPr>
              <a:t>cillum</a:t>
            </a:r>
            <a:r>
              <a:rPr lang="en-US" sz="1400">
                <a:latin typeface="Poppins" pitchFamily="2" charset="77"/>
                <a:cs typeface="Poppins" pitchFamily="2" charset="77"/>
              </a:rPr>
              <a:t> dolore </a:t>
            </a:r>
            <a:r>
              <a:rPr lang="en-US" sz="1400" err="1">
                <a:latin typeface="Poppins" pitchFamily="2" charset="77"/>
                <a:cs typeface="Poppins" pitchFamily="2" charset="77"/>
              </a:rPr>
              <a:t>eu</a:t>
            </a:r>
            <a:r>
              <a:rPr lang="en-US" sz="1400">
                <a:latin typeface="Poppins" pitchFamily="2" charset="77"/>
                <a:cs typeface="Poppins" pitchFamily="2" charset="77"/>
              </a:rPr>
              <a:t> </a:t>
            </a:r>
            <a:r>
              <a:rPr lang="en-US" sz="1400" err="1">
                <a:latin typeface="Poppins" pitchFamily="2" charset="77"/>
                <a:cs typeface="Poppins" pitchFamily="2" charset="77"/>
              </a:rPr>
              <a:t>fugiat</a:t>
            </a:r>
            <a:r>
              <a:rPr lang="en-US" sz="1400">
                <a:latin typeface="Poppins" pitchFamily="2" charset="77"/>
                <a:cs typeface="Poppins" pitchFamily="2" charset="77"/>
              </a:rPr>
              <a:t> </a:t>
            </a:r>
            <a:r>
              <a:rPr lang="en-US" sz="1400" err="1">
                <a:latin typeface="Poppins" pitchFamily="2" charset="77"/>
                <a:cs typeface="Poppins" pitchFamily="2" charset="77"/>
              </a:rPr>
              <a:t>nulla</a:t>
            </a:r>
            <a:r>
              <a:rPr lang="en-US" sz="1400">
                <a:latin typeface="Poppins" pitchFamily="2" charset="77"/>
                <a:cs typeface="Poppins" pitchFamily="2" charset="77"/>
              </a:rPr>
              <a:t> </a:t>
            </a:r>
            <a:r>
              <a:rPr lang="en-US" sz="1400" err="1">
                <a:latin typeface="Poppins" pitchFamily="2" charset="77"/>
                <a:cs typeface="Poppins" pitchFamily="2" charset="77"/>
              </a:rPr>
              <a:t>pariatur</a:t>
            </a:r>
            <a:r>
              <a:rPr lang="en-US" sz="1400">
                <a:latin typeface="Poppins" pitchFamily="2" charset="77"/>
                <a:cs typeface="Poppins" pitchFamily="2" charset="77"/>
              </a:rPr>
              <a:t>.</a:t>
            </a:r>
          </a:p>
          <a:p>
            <a:pPr marL="285750" indent="-285750">
              <a:lnSpc>
                <a:spcPct val="110000"/>
              </a:lnSpc>
              <a:spcBef>
                <a:spcPts val="800"/>
              </a:spcBef>
              <a:buClr>
                <a:schemeClr val="accent1"/>
              </a:buClr>
              <a:buFont typeface="Arial" panose="020B0604020202020204" pitchFamily="34" charset="0"/>
              <a:buChar char="•"/>
              <a:defRPr/>
            </a:pPr>
            <a:r>
              <a:rPr lang="en-US" sz="1400" err="1">
                <a:latin typeface="Poppins" pitchFamily="2" charset="77"/>
                <a:cs typeface="Poppins" pitchFamily="2" charset="77"/>
              </a:rPr>
              <a:t>Excepteur</a:t>
            </a:r>
            <a:r>
              <a:rPr lang="en-US" sz="1400">
                <a:latin typeface="Poppins" pitchFamily="2" charset="77"/>
                <a:cs typeface="Poppins" pitchFamily="2" charset="77"/>
              </a:rPr>
              <a:t> </a:t>
            </a:r>
            <a:r>
              <a:rPr lang="en-US" sz="1400" err="1">
                <a:latin typeface="Poppins" pitchFamily="2" charset="77"/>
                <a:cs typeface="Poppins" pitchFamily="2" charset="77"/>
              </a:rPr>
              <a:t>sint</a:t>
            </a:r>
            <a:r>
              <a:rPr lang="en-US" sz="1400">
                <a:latin typeface="Poppins" pitchFamily="2" charset="77"/>
                <a:cs typeface="Poppins" pitchFamily="2" charset="77"/>
              </a:rPr>
              <a:t> </a:t>
            </a:r>
            <a:r>
              <a:rPr lang="en-US" sz="1400" err="1">
                <a:latin typeface="Poppins" pitchFamily="2" charset="77"/>
                <a:cs typeface="Poppins" pitchFamily="2" charset="77"/>
              </a:rPr>
              <a:t>occaecat</a:t>
            </a:r>
            <a:r>
              <a:rPr lang="en-US" sz="1400">
                <a:latin typeface="Poppins" pitchFamily="2" charset="77"/>
                <a:cs typeface="Poppins" pitchFamily="2" charset="77"/>
              </a:rPr>
              <a:t> </a:t>
            </a:r>
            <a:r>
              <a:rPr lang="en-US" sz="1400" err="1">
                <a:latin typeface="Poppins" pitchFamily="2" charset="77"/>
                <a:cs typeface="Poppins" pitchFamily="2" charset="77"/>
              </a:rPr>
              <a:t>cupidatat</a:t>
            </a:r>
            <a:r>
              <a:rPr lang="en-US" sz="1400">
                <a:latin typeface="Poppins" pitchFamily="2" charset="77"/>
                <a:cs typeface="Poppins" pitchFamily="2" charset="77"/>
              </a:rPr>
              <a:t> non </a:t>
            </a:r>
            <a:r>
              <a:rPr lang="en-US" sz="1400" err="1">
                <a:latin typeface="Poppins" pitchFamily="2" charset="77"/>
                <a:cs typeface="Poppins" pitchFamily="2" charset="77"/>
              </a:rPr>
              <a:t>proident</a:t>
            </a:r>
            <a:r>
              <a:rPr lang="en-US" sz="1400">
                <a:latin typeface="Poppins" pitchFamily="2" charset="77"/>
                <a:cs typeface="Poppins" pitchFamily="2" charset="77"/>
              </a:rPr>
              <a:t>, sunt in culpa qui </a:t>
            </a:r>
            <a:r>
              <a:rPr lang="en-US" sz="1400" err="1">
                <a:latin typeface="Poppins" pitchFamily="2" charset="77"/>
                <a:cs typeface="Poppins" pitchFamily="2" charset="77"/>
              </a:rPr>
              <a:t>officia</a:t>
            </a:r>
            <a:r>
              <a:rPr lang="en-US" sz="1400">
                <a:latin typeface="Poppins" pitchFamily="2" charset="77"/>
                <a:cs typeface="Poppins" pitchFamily="2" charset="77"/>
              </a:rPr>
              <a:t> </a:t>
            </a:r>
            <a:r>
              <a:rPr lang="en-US" sz="1400" err="1">
                <a:latin typeface="Poppins" pitchFamily="2" charset="77"/>
                <a:cs typeface="Poppins" pitchFamily="2" charset="77"/>
              </a:rPr>
              <a:t>deserunt</a:t>
            </a:r>
            <a:r>
              <a:rPr lang="en-US" sz="1400">
                <a:latin typeface="Poppins" pitchFamily="2" charset="77"/>
                <a:cs typeface="Poppins" pitchFamily="2" charset="77"/>
              </a:rPr>
              <a:t> </a:t>
            </a:r>
            <a:r>
              <a:rPr lang="en-US" sz="1400" err="1">
                <a:latin typeface="Poppins" pitchFamily="2" charset="77"/>
                <a:cs typeface="Poppins" pitchFamily="2" charset="77"/>
              </a:rPr>
              <a:t>mollit</a:t>
            </a:r>
            <a:r>
              <a:rPr lang="en-US" sz="1400">
                <a:latin typeface="Poppins" pitchFamily="2" charset="77"/>
                <a:cs typeface="Poppins" pitchFamily="2" charset="77"/>
              </a:rPr>
              <a:t> </a:t>
            </a:r>
            <a:r>
              <a:rPr lang="en-US" sz="1400" err="1">
                <a:latin typeface="Poppins" pitchFamily="2" charset="77"/>
                <a:cs typeface="Poppins" pitchFamily="2" charset="77"/>
              </a:rPr>
              <a:t>anim</a:t>
            </a:r>
            <a:r>
              <a:rPr lang="en-US" sz="1400">
                <a:latin typeface="Poppins" pitchFamily="2" charset="77"/>
                <a:cs typeface="Poppins" pitchFamily="2" charset="77"/>
              </a:rPr>
              <a:t> id </a:t>
            </a:r>
            <a:r>
              <a:rPr lang="en-US" sz="1400" err="1">
                <a:latin typeface="Poppins" pitchFamily="2" charset="77"/>
                <a:cs typeface="Poppins" pitchFamily="2" charset="77"/>
              </a:rPr>
              <a:t>est</a:t>
            </a:r>
            <a:r>
              <a:rPr lang="en-US" sz="1400">
                <a:latin typeface="Poppins" pitchFamily="2" charset="77"/>
                <a:cs typeface="Poppins" pitchFamily="2" charset="77"/>
              </a:rPr>
              <a:t> </a:t>
            </a:r>
            <a:r>
              <a:rPr lang="en-US" sz="1400" err="1">
                <a:latin typeface="Poppins" pitchFamily="2" charset="77"/>
                <a:cs typeface="Poppins" pitchFamily="2" charset="77"/>
              </a:rPr>
              <a:t>laborum</a:t>
            </a:r>
            <a:r>
              <a:rPr lang="en-US" sz="1400">
                <a:latin typeface="Poppins" pitchFamily="2" charset="77"/>
                <a:cs typeface="Poppins" pitchFamily="2" charset="77"/>
              </a:rPr>
              <a:t>.</a:t>
            </a:r>
          </a:p>
        </p:txBody>
      </p:sp>
    </p:spTree>
    <p:extLst>
      <p:ext uri="{BB962C8B-B14F-4D97-AF65-F5344CB8AC3E}">
        <p14:creationId xmlns:p14="http://schemas.microsoft.com/office/powerpoint/2010/main" val="261364190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9" name="Picture 38" descr="A flat screen tv sitting on top of a computer&#10;&#10;Description automatically generated">
            <a:extLst>
              <a:ext uri="{FF2B5EF4-FFF2-40B4-BE49-F238E27FC236}">
                <a16:creationId xmlns:a16="http://schemas.microsoft.com/office/drawing/2014/main" id="{DE6EFFDB-1A1E-8208-8D7B-FF7AF78E96C6}"/>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 r="29295"/>
          <a:stretch/>
        </p:blipFill>
        <p:spPr>
          <a:xfrm>
            <a:off x="5186971" y="509601"/>
            <a:ext cx="7005030" cy="5838798"/>
          </a:xfrm>
          <a:prstGeom prst="rect">
            <a:avLst/>
          </a:prstGeom>
        </p:spPr>
      </p:pic>
      <p:sp>
        <p:nvSpPr>
          <p:cNvPr id="3" name="TextBox 2">
            <a:extLst>
              <a:ext uri="{FF2B5EF4-FFF2-40B4-BE49-F238E27FC236}">
                <a16:creationId xmlns:a16="http://schemas.microsoft.com/office/drawing/2014/main" id="{17A0A352-DFFD-A348-CF6F-933CE7A841E7}"/>
              </a:ext>
            </a:extLst>
          </p:cNvPr>
          <p:cNvSpPr txBox="1"/>
          <p:nvPr/>
        </p:nvSpPr>
        <p:spPr>
          <a:xfrm>
            <a:off x="843490" y="1072586"/>
            <a:ext cx="4556535" cy="4712829"/>
          </a:xfrm>
          <a:prstGeom prst="rect">
            <a:avLst/>
          </a:prstGeom>
          <a:noFill/>
        </p:spPr>
        <p:txBody>
          <a:bodyPr wrap="square" rtlCol="0" anchor="ctr">
            <a:spAutoFit/>
          </a:bodyPr>
          <a:lstStyle/>
          <a:p>
            <a:pPr>
              <a:lnSpc>
                <a:spcPct val="95000"/>
              </a:lnSpc>
              <a:spcBef>
                <a:spcPct val="0"/>
              </a:spcBef>
              <a:defRPr/>
            </a:pPr>
            <a:r>
              <a:rPr lang="en-US" sz="3200" b="1">
                <a:solidFill>
                  <a:schemeClr val="accent1"/>
                </a:solidFill>
                <a:latin typeface="+mj-lt"/>
                <a:ea typeface="+mj-ea"/>
                <a:cs typeface="+mj-cs"/>
              </a:rPr>
              <a:t>Lorem ipsum dolor sit </a:t>
            </a:r>
            <a:r>
              <a:rPr lang="en-US" sz="3200" b="1" err="1">
                <a:solidFill>
                  <a:schemeClr val="accent1"/>
                </a:solidFill>
                <a:latin typeface="+mj-lt"/>
                <a:ea typeface="+mj-ea"/>
                <a:cs typeface="+mj-cs"/>
              </a:rPr>
              <a:t>amet</a:t>
            </a:r>
            <a:r>
              <a:rPr lang="en-US" sz="3200" b="1">
                <a:solidFill>
                  <a:schemeClr val="accent1"/>
                </a:solidFill>
                <a:latin typeface="+mj-lt"/>
                <a:ea typeface="+mj-ea"/>
                <a:cs typeface="+mj-cs"/>
              </a:rPr>
              <a:t> et dolore magna </a:t>
            </a:r>
            <a:r>
              <a:rPr lang="en-US" sz="3200" b="1" err="1">
                <a:solidFill>
                  <a:schemeClr val="accent1"/>
                </a:solidFill>
                <a:latin typeface="+mj-lt"/>
                <a:ea typeface="+mj-ea"/>
                <a:cs typeface="+mj-cs"/>
              </a:rPr>
              <a:t>aliqua</a:t>
            </a:r>
            <a:endParaRPr lang="en-US" sz="3200" b="1">
              <a:solidFill>
                <a:schemeClr val="accent1"/>
              </a:solidFill>
              <a:latin typeface="+mj-lt"/>
              <a:ea typeface="+mj-ea"/>
              <a:cs typeface="+mj-cs"/>
            </a:endParaRPr>
          </a:p>
          <a:p>
            <a:pPr marL="285750" indent="-285750">
              <a:lnSpc>
                <a:spcPct val="110000"/>
              </a:lnSpc>
              <a:spcBef>
                <a:spcPts val="1000"/>
              </a:spcBef>
              <a:buClr>
                <a:schemeClr val="accent1"/>
              </a:buClr>
              <a:buFont typeface="Arial" panose="020B0604020202020204" pitchFamily="34" charset="0"/>
              <a:buChar char="•"/>
              <a:defRPr/>
            </a:pPr>
            <a:r>
              <a:rPr lang="en-US" sz="1400">
                <a:latin typeface="Poppins" pitchFamily="2" charset="77"/>
                <a:cs typeface="Poppins" pitchFamily="2" charset="77"/>
              </a:rPr>
              <a:t>Lorem ipsum dolor sit </a:t>
            </a:r>
            <a:r>
              <a:rPr lang="en-US" sz="1400" err="1">
                <a:latin typeface="Poppins" pitchFamily="2" charset="77"/>
                <a:cs typeface="Poppins" pitchFamily="2" charset="77"/>
              </a:rPr>
              <a:t>amet</a:t>
            </a:r>
            <a:r>
              <a:rPr lang="en-US" sz="1400">
                <a:latin typeface="Poppins" pitchFamily="2" charset="77"/>
                <a:cs typeface="Poppins" pitchFamily="2" charset="77"/>
              </a:rPr>
              <a:t>, </a:t>
            </a:r>
            <a:r>
              <a:rPr lang="en-US" sz="1400" err="1">
                <a:latin typeface="Poppins" pitchFamily="2" charset="77"/>
                <a:cs typeface="Poppins" pitchFamily="2" charset="77"/>
              </a:rPr>
              <a:t>consectetur</a:t>
            </a:r>
            <a:r>
              <a:rPr lang="en-US" sz="1400">
                <a:latin typeface="Poppins" pitchFamily="2" charset="77"/>
                <a:cs typeface="Poppins" pitchFamily="2" charset="77"/>
              </a:rPr>
              <a:t> </a:t>
            </a:r>
            <a:r>
              <a:rPr lang="en-US" sz="1400" err="1">
                <a:latin typeface="Poppins" pitchFamily="2" charset="77"/>
                <a:cs typeface="Poppins" pitchFamily="2" charset="77"/>
              </a:rPr>
              <a:t>adipiscing</a:t>
            </a:r>
            <a:r>
              <a:rPr lang="en-US" sz="1400">
                <a:latin typeface="Poppins" pitchFamily="2" charset="77"/>
                <a:cs typeface="Poppins" pitchFamily="2" charset="77"/>
              </a:rPr>
              <a:t> </a:t>
            </a:r>
            <a:r>
              <a:rPr lang="en-US" sz="1400" err="1">
                <a:latin typeface="Poppins" pitchFamily="2" charset="77"/>
                <a:cs typeface="Poppins" pitchFamily="2" charset="77"/>
              </a:rPr>
              <a:t>elit</a:t>
            </a:r>
            <a:r>
              <a:rPr lang="en-US" sz="1400">
                <a:latin typeface="Poppins" pitchFamily="2" charset="77"/>
                <a:cs typeface="Poppins" pitchFamily="2" charset="77"/>
              </a:rPr>
              <a:t> sed do </a:t>
            </a:r>
            <a:r>
              <a:rPr lang="en-US" sz="1400" err="1">
                <a:latin typeface="Poppins" pitchFamily="2" charset="77"/>
                <a:cs typeface="Poppins" pitchFamily="2" charset="77"/>
              </a:rPr>
              <a:t>eiusmod</a:t>
            </a:r>
            <a:r>
              <a:rPr lang="en-US" sz="1400">
                <a:latin typeface="Poppins" pitchFamily="2" charset="77"/>
                <a:cs typeface="Poppins" pitchFamily="2" charset="77"/>
              </a:rPr>
              <a:t> </a:t>
            </a:r>
            <a:r>
              <a:rPr lang="en-US" sz="1400" err="1">
                <a:latin typeface="Poppins" pitchFamily="2" charset="77"/>
                <a:cs typeface="Poppins" pitchFamily="2" charset="77"/>
              </a:rPr>
              <a:t>tempor</a:t>
            </a:r>
            <a:endParaRPr lang="en-US" sz="1400">
              <a:latin typeface="Poppins" pitchFamily="2" charset="77"/>
              <a:cs typeface="Poppins" pitchFamily="2" charset="77"/>
            </a:endParaRPr>
          </a:p>
          <a:p>
            <a:pPr marL="285750" indent="-285750">
              <a:lnSpc>
                <a:spcPct val="110000"/>
              </a:lnSpc>
              <a:spcBef>
                <a:spcPts val="1000"/>
              </a:spcBef>
              <a:buClr>
                <a:schemeClr val="accent1"/>
              </a:buClr>
              <a:buFont typeface="Arial" panose="020B0604020202020204" pitchFamily="34" charset="0"/>
              <a:buChar char="•"/>
              <a:defRPr/>
            </a:pPr>
            <a:r>
              <a:rPr lang="en-US" sz="1400" err="1">
                <a:latin typeface="Poppins" pitchFamily="2" charset="77"/>
                <a:cs typeface="Poppins" pitchFamily="2" charset="77"/>
              </a:rPr>
              <a:t>Incididunt</a:t>
            </a:r>
            <a:r>
              <a:rPr lang="en-US" sz="1400">
                <a:latin typeface="Poppins" pitchFamily="2" charset="77"/>
                <a:cs typeface="Poppins" pitchFamily="2" charset="77"/>
              </a:rPr>
              <a:t> </a:t>
            </a:r>
            <a:r>
              <a:rPr lang="en-US" sz="1400" err="1">
                <a:latin typeface="Poppins" pitchFamily="2" charset="77"/>
                <a:cs typeface="Poppins" pitchFamily="2" charset="77"/>
              </a:rPr>
              <a:t>ut</a:t>
            </a:r>
            <a:r>
              <a:rPr lang="en-US" sz="1400">
                <a:latin typeface="Poppins" pitchFamily="2" charset="77"/>
                <a:cs typeface="Poppins" pitchFamily="2" charset="77"/>
              </a:rPr>
              <a:t> labore et dolore magna </a:t>
            </a:r>
            <a:r>
              <a:rPr lang="en-US" sz="1400" err="1">
                <a:latin typeface="Poppins" pitchFamily="2" charset="77"/>
                <a:cs typeface="Poppins" pitchFamily="2" charset="77"/>
              </a:rPr>
              <a:t>aliqua</a:t>
            </a:r>
            <a:r>
              <a:rPr lang="en-US" sz="1400">
                <a:latin typeface="Poppins" pitchFamily="2" charset="77"/>
                <a:cs typeface="Poppins" pitchFamily="2" charset="77"/>
              </a:rPr>
              <a:t>. Ut </a:t>
            </a:r>
            <a:r>
              <a:rPr lang="en-US" sz="1400" err="1">
                <a:latin typeface="Poppins" pitchFamily="2" charset="77"/>
                <a:cs typeface="Poppins" pitchFamily="2" charset="77"/>
              </a:rPr>
              <a:t>enim</a:t>
            </a:r>
            <a:r>
              <a:rPr lang="en-US" sz="1400">
                <a:latin typeface="Poppins" pitchFamily="2" charset="77"/>
                <a:cs typeface="Poppins" pitchFamily="2" charset="77"/>
              </a:rPr>
              <a:t> ad minim </a:t>
            </a:r>
            <a:r>
              <a:rPr lang="en-US" sz="1400" err="1">
                <a:latin typeface="Poppins" pitchFamily="2" charset="77"/>
                <a:cs typeface="Poppins" pitchFamily="2" charset="77"/>
              </a:rPr>
              <a:t>veniam</a:t>
            </a:r>
            <a:r>
              <a:rPr lang="en-US" sz="1400">
                <a:latin typeface="Poppins" pitchFamily="2" charset="77"/>
                <a:cs typeface="Poppins" pitchFamily="2" charset="77"/>
              </a:rPr>
              <a:t>, </a:t>
            </a:r>
            <a:r>
              <a:rPr lang="en-US" sz="1400" err="1">
                <a:latin typeface="Poppins" pitchFamily="2" charset="77"/>
                <a:cs typeface="Poppins" pitchFamily="2" charset="77"/>
              </a:rPr>
              <a:t>quis</a:t>
            </a:r>
            <a:r>
              <a:rPr lang="en-US" sz="1400">
                <a:latin typeface="Poppins" pitchFamily="2" charset="77"/>
                <a:cs typeface="Poppins" pitchFamily="2" charset="77"/>
              </a:rPr>
              <a:t> </a:t>
            </a:r>
            <a:r>
              <a:rPr lang="en-US" sz="1400" err="1">
                <a:latin typeface="Poppins" pitchFamily="2" charset="77"/>
                <a:cs typeface="Poppins" pitchFamily="2" charset="77"/>
              </a:rPr>
              <a:t>nostrud</a:t>
            </a:r>
            <a:r>
              <a:rPr lang="en-US" sz="1400">
                <a:latin typeface="Poppins" pitchFamily="2" charset="77"/>
                <a:cs typeface="Poppins" pitchFamily="2" charset="77"/>
              </a:rPr>
              <a:t> exercitation </a:t>
            </a:r>
            <a:r>
              <a:rPr lang="en-US" sz="1400" err="1">
                <a:latin typeface="Poppins" pitchFamily="2" charset="77"/>
                <a:cs typeface="Poppins" pitchFamily="2" charset="77"/>
              </a:rPr>
              <a:t>ullamco</a:t>
            </a:r>
            <a:r>
              <a:rPr lang="en-US" sz="1400">
                <a:latin typeface="Poppins" pitchFamily="2" charset="77"/>
                <a:cs typeface="Poppins" pitchFamily="2" charset="77"/>
              </a:rPr>
              <a:t> </a:t>
            </a:r>
            <a:r>
              <a:rPr lang="en-US" sz="1400" err="1">
                <a:latin typeface="Poppins" pitchFamily="2" charset="77"/>
                <a:cs typeface="Poppins" pitchFamily="2" charset="77"/>
              </a:rPr>
              <a:t>laboris</a:t>
            </a:r>
            <a:r>
              <a:rPr lang="en-US" sz="1400">
                <a:latin typeface="Poppins" pitchFamily="2" charset="77"/>
                <a:cs typeface="Poppins" pitchFamily="2" charset="77"/>
              </a:rPr>
              <a:t> nisi </a:t>
            </a:r>
            <a:r>
              <a:rPr lang="en-US" sz="1400" err="1">
                <a:latin typeface="Poppins" pitchFamily="2" charset="77"/>
                <a:cs typeface="Poppins" pitchFamily="2" charset="77"/>
              </a:rPr>
              <a:t>ut</a:t>
            </a:r>
            <a:r>
              <a:rPr lang="en-US" sz="1400">
                <a:latin typeface="Poppins" pitchFamily="2" charset="77"/>
                <a:cs typeface="Poppins" pitchFamily="2" charset="77"/>
              </a:rPr>
              <a:t> </a:t>
            </a:r>
            <a:r>
              <a:rPr lang="en-US" sz="1400" err="1">
                <a:latin typeface="Poppins" pitchFamily="2" charset="77"/>
                <a:cs typeface="Poppins" pitchFamily="2" charset="77"/>
              </a:rPr>
              <a:t>aliquip</a:t>
            </a:r>
            <a:r>
              <a:rPr lang="en-US" sz="1400">
                <a:latin typeface="Poppins" pitchFamily="2" charset="77"/>
                <a:cs typeface="Poppins" pitchFamily="2" charset="77"/>
              </a:rPr>
              <a:t> </a:t>
            </a:r>
            <a:br>
              <a:rPr lang="en-US" sz="1400">
                <a:latin typeface="Poppins" pitchFamily="2" charset="77"/>
                <a:cs typeface="Poppins" pitchFamily="2" charset="77"/>
              </a:rPr>
            </a:br>
            <a:r>
              <a:rPr lang="en-US" sz="1400">
                <a:latin typeface="Poppins" pitchFamily="2" charset="77"/>
                <a:cs typeface="Poppins" pitchFamily="2" charset="77"/>
              </a:rPr>
              <a:t>ex </a:t>
            </a:r>
            <a:r>
              <a:rPr lang="en-US" sz="1400" err="1">
                <a:latin typeface="Poppins" pitchFamily="2" charset="77"/>
                <a:cs typeface="Poppins" pitchFamily="2" charset="77"/>
              </a:rPr>
              <a:t>ea</a:t>
            </a:r>
            <a:r>
              <a:rPr lang="en-US" sz="1400">
                <a:latin typeface="Poppins" pitchFamily="2" charset="77"/>
                <a:cs typeface="Poppins" pitchFamily="2" charset="77"/>
              </a:rPr>
              <a:t> </a:t>
            </a:r>
            <a:r>
              <a:rPr lang="en-US" sz="1400" err="1">
                <a:latin typeface="Poppins" pitchFamily="2" charset="77"/>
                <a:cs typeface="Poppins" pitchFamily="2" charset="77"/>
              </a:rPr>
              <a:t>commodo</a:t>
            </a:r>
            <a:r>
              <a:rPr lang="en-US" sz="1400">
                <a:latin typeface="Poppins" pitchFamily="2" charset="77"/>
                <a:cs typeface="Poppins" pitchFamily="2" charset="77"/>
              </a:rPr>
              <a:t> </a:t>
            </a:r>
            <a:r>
              <a:rPr lang="en-US" sz="1400" err="1">
                <a:latin typeface="Poppins" pitchFamily="2" charset="77"/>
                <a:cs typeface="Poppins" pitchFamily="2" charset="77"/>
              </a:rPr>
              <a:t>consequat</a:t>
            </a:r>
            <a:r>
              <a:rPr lang="en-US" sz="1400">
                <a:latin typeface="Poppins" pitchFamily="2" charset="77"/>
                <a:cs typeface="Poppins" pitchFamily="2" charset="77"/>
              </a:rPr>
              <a:t>.</a:t>
            </a:r>
          </a:p>
          <a:p>
            <a:pPr marL="285750" indent="-285750">
              <a:lnSpc>
                <a:spcPct val="110000"/>
              </a:lnSpc>
              <a:spcBef>
                <a:spcPts val="1000"/>
              </a:spcBef>
              <a:buClr>
                <a:schemeClr val="accent1"/>
              </a:buClr>
              <a:buFont typeface="Arial" panose="020B0604020202020204" pitchFamily="34" charset="0"/>
              <a:buChar char="•"/>
              <a:defRPr/>
            </a:pPr>
            <a:r>
              <a:rPr lang="en-US" sz="1400">
                <a:latin typeface="Poppins" pitchFamily="2" charset="77"/>
                <a:cs typeface="Poppins" pitchFamily="2" charset="77"/>
              </a:rPr>
              <a:t>Duis </a:t>
            </a:r>
            <a:r>
              <a:rPr lang="en-US" sz="1400" err="1">
                <a:latin typeface="Poppins" pitchFamily="2" charset="77"/>
                <a:cs typeface="Poppins" pitchFamily="2" charset="77"/>
              </a:rPr>
              <a:t>aute</a:t>
            </a:r>
            <a:r>
              <a:rPr lang="en-US" sz="1400">
                <a:latin typeface="Poppins" pitchFamily="2" charset="77"/>
                <a:cs typeface="Poppins" pitchFamily="2" charset="77"/>
              </a:rPr>
              <a:t> </a:t>
            </a:r>
            <a:r>
              <a:rPr lang="en-US" sz="1400" err="1">
                <a:latin typeface="Poppins" pitchFamily="2" charset="77"/>
                <a:cs typeface="Poppins" pitchFamily="2" charset="77"/>
              </a:rPr>
              <a:t>irure</a:t>
            </a:r>
            <a:r>
              <a:rPr lang="en-US" sz="1400">
                <a:latin typeface="Poppins" pitchFamily="2" charset="77"/>
                <a:cs typeface="Poppins" pitchFamily="2" charset="77"/>
              </a:rPr>
              <a:t> dolor in </a:t>
            </a:r>
            <a:r>
              <a:rPr lang="en-US" sz="1400" err="1">
                <a:latin typeface="Poppins" pitchFamily="2" charset="77"/>
                <a:cs typeface="Poppins" pitchFamily="2" charset="77"/>
              </a:rPr>
              <a:t>reprehenderit</a:t>
            </a:r>
            <a:r>
              <a:rPr lang="en-US" sz="1400">
                <a:latin typeface="Poppins" pitchFamily="2" charset="77"/>
                <a:cs typeface="Poppins" pitchFamily="2" charset="77"/>
              </a:rPr>
              <a:t> in </a:t>
            </a:r>
            <a:r>
              <a:rPr lang="en-US" sz="1400" err="1">
                <a:latin typeface="Poppins" pitchFamily="2" charset="77"/>
                <a:cs typeface="Poppins" pitchFamily="2" charset="77"/>
              </a:rPr>
              <a:t>voluptate</a:t>
            </a:r>
            <a:r>
              <a:rPr lang="en-US" sz="1400">
                <a:latin typeface="Poppins" pitchFamily="2" charset="77"/>
                <a:cs typeface="Poppins" pitchFamily="2" charset="77"/>
              </a:rPr>
              <a:t> </a:t>
            </a:r>
            <a:r>
              <a:rPr lang="en-US" sz="1400" err="1">
                <a:latin typeface="Poppins" pitchFamily="2" charset="77"/>
                <a:cs typeface="Poppins" pitchFamily="2" charset="77"/>
              </a:rPr>
              <a:t>velit</a:t>
            </a:r>
            <a:r>
              <a:rPr lang="en-US" sz="1400">
                <a:latin typeface="Poppins" pitchFamily="2" charset="77"/>
                <a:cs typeface="Poppins" pitchFamily="2" charset="77"/>
              </a:rPr>
              <a:t> </a:t>
            </a:r>
            <a:r>
              <a:rPr lang="en-US" sz="1400" err="1">
                <a:latin typeface="Poppins" pitchFamily="2" charset="77"/>
                <a:cs typeface="Poppins" pitchFamily="2" charset="77"/>
              </a:rPr>
              <a:t>esse</a:t>
            </a:r>
            <a:r>
              <a:rPr lang="en-US" sz="1400">
                <a:latin typeface="Poppins" pitchFamily="2" charset="77"/>
                <a:cs typeface="Poppins" pitchFamily="2" charset="77"/>
              </a:rPr>
              <a:t> </a:t>
            </a:r>
            <a:r>
              <a:rPr lang="en-US" sz="1400" err="1">
                <a:latin typeface="Poppins" pitchFamily="2" charset="77"/>
                <a:cs typeface="Poppins" pitchFamily="2" charset="77"/>
              </a:rPr>
              <a:t>cillum</a:t>
            </a:r>
            <a:r>
              <a:rPr lang="en-US" sz="1400">
                <a:latin typeface="Poppins" pitchFamily="2" charset="77"/>
                <a:cs typeface="Poppins" pitchFamily="2" charset="77"/>
              </a:rPr>
              <a:t> dolore </a:t>
            </a:r>
            <a:r>
              <a:rPr lang="en-US" sz="1400" err="1">
                <a:latin typeface="Poppins" pitchFamily="2" charset="77"/>
                <a:cs typeface="Poppins" pitchFamily="2" charset="77"/>
              </a:rPr>
              <a:t>eu</a:t>
            </a:r>
            <a:r>
              <a:rPr lang="en-US" sz="1400">
                <a:latin typeface="Poppins" pitchFamily="2" charset="77"/>
                <a:cs typeface="Poppins" pitchFamily="2" charset="77"/>
              </a:rPr>
              <a:t> </a:t>
            </a:r>
            <a:r>
              <a:rPr lang="en-US" sz="1400" err="1">
                <a:latin typeface="Poppins" pitchFamily="2" charset="77"/>
                <a:cs typeface="Poppins" pitchFamily="2" charset="77"/>
              </a:rPr>
              <a:t>fugiat</a:t>
            </a:r>
            <a:r>
              <a:rPr lang="en-US" sz="1400">
                <a:latin typeface="Poppins" pitchFamily="2" charset="77"/>
                <a:cs typeface="Poppins" pitchFamily="2" charset="77"/>
              </a:rPr>
              <a:t> </a:t>
            </a:r>
          </a:p>
          <a:p>
            <a:pPr marL="285750" indent="-285750">
              <a:lnSpc>
                <a:spcPct val="110000"/>
              </a:lnSpc>
              <a:spcBef>
                <a:spcPts val="1000"/>
              </a:spcBef>
              <a:buClr>
                <a:schemeClr val="accent1"/>
              </a:buClr>
              <a:buFont typeface="Arial" panose="020B0604020202020204" pitchFamily="34" charset="0"/>
              <a:buChar char="•"/>
              <a:defRPr/>
            </a:pPr>
            <a:r>
              <a:rPr lang="en-US" sz="1400" err="1">
                <a:latin typeface="Poppins" pitchFamily="2" charset="77"/>
                <a:cs typeface="Poppins" pitchFamily="2" charset="77"/>
              </a:rPr>
              <a:t>Excepteur</a:t>
            </a:r>
            <a:r>
              <a:rPr lang="en-US" sz="1400">
                <a:latin typeface="Poppins" pitchFamily="2" charset="77"/>
                <a:cs typeface="Poppins" pitchFamily="2" charset="77"/>
              </a:rPr>
              <a:t> </a:t>
            </a:r>
            <a:r>
              <a:rPr lang="en-US" sz="1400" err="1">
                <a:latin typeface="Poppins" pitchFamily="2" charset="77"/>
                <a:cs typeface="Poppins" pitchFamily="2" charset="77"/>
              </a:rPr>
              <a:t>sint</a:t>
            </a:r>
            <a:r>
              <a:rPr lang="en-US" sz="1400">
                <a:latin typeface="Poppins" pitchFamily="2" charset="77"/>
                <a:cs typeface="Poppins" pitchFamily="2" charset="77"/>
              </a:rPr>
              <a:t> </a:t>
            </a:r>
            <a:r>
              <a:rPr lang="en-US" sz="1400" err="1">
                <a:latin typeface="Poppins" pitchFamily="2" charset="77"/>
                <a:cs typeface="Poppins" pitchFamily="2" charset="77"/>
              </a:rPr>
              <a:t>occaecat</a:t>
            </a:r>
            <a:r>
              <a:rPr lang="en-US" sz="1400">
                <a:latin typeface="Poppins" pitchFamily="2" charset="77"/>
                <a:cs typeface="Poppins" pitchFamily="2" charset="77"/>
              </a:rPr>
              <a:t> </a:t>
            </a:r>
            <a:r>
              <a:rPr lang="en-US" sz="1400" err="1">
                <a:latin typeface="Poppins" pitchFamily="2" charset="77"/>
                <a:cs typeface="Poppins" pitchFamily="2" charset="77"/>
              </a:rPr>
              <a:t>cupidatat</a:t>
            </a:r>
            <a:r>
              <a:rPr lang="en-US" sz="1400">
                <a:latin typeface="Poppins" pitchFamily="2" charset="77"/>
                <a:cs typeface="Poppins" pitchFamily="2" charset="77"/>
              </a:rPr>
              <a:t> non </a:t>
            </a:r>
            <a:r>
              <a:rPr lang="en-US" sz="1400" err="1">
                <a:latin typeface="Poppins" pitchFamily="2" charset="77"/>
                <a:cs typeface="Poppins" pitchFamily="2" charset="77"/>
              </a:rPr>
              <a:t>proident</a:t>
            </a:r>
            <a:r>
              <a:rPr lang="en-US" sz="1400">
                <a:latin typeface="Poppins" pitchFamily="2" charset="77"/>
                <a:cs typeface="Poppins" pitchFamily="2" charset="77"/>
              </a:rPr>
              <a:t>, sunt in culpa qui </a:t>
            </a:r>
            <a:r>
              <a:rPr lang="en-US" sz="1400" err="1">
                <a:latin typeface="Poppins" pitchFamily="2" charset="77"/>
                <a:cs typeface="Poppins" pitchFamily="2" charset="77"/>
              </a:rPr>
              <a:t>officia</a:t>
            </a:r>
            <a:r>
              <a:rPr lang="en-US" sz="1400">
                <a:latin typeface="Poppins" pitchFamily="2" charset="77"/>
                <a:cs typeface="Poppins" pitchFamily="2" charset="77"/>
              </a:rPr>
              <a:t> </a:t>
            </a:r>
            <a:r>
              <a:rPr lang="en-US" sz="1400" err="1">
                <a:latin typeface="Poppins" pitchFamily="2" charset="77"/>
                <a:cs typeface="Poppins" pitchFamily="2" charset="77"/>
              </a:rPr>
              <a:t>deserunt</a:t>
            </a:r>
            <a:r>
              <a:rPr lang="en-US" sz="1400">
                <a:latin typeface="Poppins" pitchFamily="2" charset="77"/>
                <a:cs typeface="Poppins" pitchFamily="2" charset="77"/>
              </a:rPr>
              <a:t> </a:t>
            </a:r>
            <a:r>
              <a:rPr lang="en-US" sz="1400" err="1">
                <a:latin typeface="Poppins" pitchFamily="2" charset="77"/>
                <a:cs typeface="Poppins" pitchFamily="2" charset="77"/>
              </a:rPr>
              <a:t>mollit</a:t>
            </a:r>
            <a:r>
              <a:rPr lang="en-US" sz="1400">
                <a:latin typeface="Poppins" pitchFamily="2" charset="77"/>
                <a:cs typeface="Poppins" pitchFamily="2" charset="77"/>
              </a:rPr>
              <a:t> </a:t>
            </a:r>
            <a:r>
              <a:rPr lang="en-US" sz="1400" err="1">
                <a:latin typeface="Poppins" pitchFamily="2" charset="77"/>
                <a:cs typeface="Poppins" pitchFamily="2" charset="77"/>
              </a:rPr>
              <a:t>anim</a:t>
            </a:r>
            <a:r>
              <a:rPr lang="en-US" sz="1400">
                <a:latin typeface="Poppins" pitchFamily="2" charset="77"/>
                <a:cs typeface="Poppins" pitchFamily="2" charset="77"/>
              </a:rPr>
              <a:t> id </a:t>
            </a:r>
            <a:r>
              <a:rPr lang="en-US" sz="1400" err="1">
                <a:latin typeface="Poppins" pitchFamily="2" charset="77"/>
                <a:cs typeface="Poppins" pitchFamily="2" charset="77"/>
              </a:rPr>
              <a:t>est</a:t>
            </a:r>
            <a:r>
              <a:rPr lang="en-US" sz="1400">
                <a:latin typeface="Poppins" pitchFamily="2" charset="77"/>
                <a:cs typeface="Poppins" pitchFamily="2" charset="77"/>
              </a:rPr>
              <a:t> </a:t>
            </a:r>
            <a:r>
              <a:rPr lang="en-US" sz="1400" err="1">
                <a:latin typeface="Poppins" pitchFamily="2" charset="77"/>
                <a:cs typeface="Poppins" pitchFamily="2" charset="77"/>
              </a:rPr>
              <a:t>laborum</a:t>
            </a:r>
            <a:r>
              <a:rPr lang="en-US" sz="1400">
                <a:latin typeface="Poppins" pitchFamily="2" charset="77"/>
                <a:cs typeface="Poppins" pitchFamily="2" charset="77"/>
              </a:rPr>
              <a:t>.</a:t>
            </a:r>
          </a:p>
        </p:txBody>
      </p:sp>
    </p:spTree>
    <p:extLst>
      <p:ext uri="{BB962C8B-B14F-4D97-AF65-F5344CB8AC3E}">
        <p14:creationId xmlns:p14="http://schemas.microsoft.com/office/powerpoint/2010/main" val="97972835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bg>
      <p:bgPr>
        <a:solidFill>
          <a:schemeClr val="tx2"/>
        </a:solidFill>
        <a:effectLst/>
      </p:bgPr>
    </p:bg>
    <p:spTree>
      <p:nvGrpSpPr>
        <p:cNvPr id="1" name="">
          <a:extLst>
            <a:ext uri="{FF2B5EF4-FFF2-40B4-BE49-F238E27FC236}">
              <a16:creationId xmlns:a16="http://schemas.microsoft.com/office/drawing/2014/main" id="{36904302-D54D-D318-9568-00B4E8B014CC}"/>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DF25094B-A2DE-D053-1EB5-0C8E344A5827}"/>
              </a:ext>
            </a:extLst>
          </p:cNvPr>
          <p:cNvSpPr txBox="1">
            <a:spLocks/>
          </p:cNvSpPr>
          <p:nvPr/>
        </p:nvSpPr>
        <p:spPr>
          <a:xfrm>
            <a:off x="838200" y="2240918"/>
            <a:ext cx="10515600" cy="2376163"/>
          </a:xfrm>
          <a:prstGeom prst="rect">
            <a:avLst/>
          </a:prstGeom>
        </p:spPr>
        <p:txBody>
          <a:bodyPr vert="horz" lIns="91440" tIns="91440" rIns="91440" bIns="91440" rtlCol="0" anchor="ctr">
            <a:spAutoFit/>
          </a:bodyPr>
          <a:lstStyle>
            <a:lvl1pPr algn="l" defTabSz="914377" rtl="0" eaLnBrk="1" latinLnBrk="0" hangingPunct="1">
              <a:lnSpc>
                <a:spcPct val="95000"/>
              </a:lnSpc>
              <a:spcBef>
                <a:spcPct val="0"/>
              </a:spcBef>
              <a:buNone/>
              <a:defRPr sz="3200" b="1" kern="1200">
                <a:solidFill>
                  <a:schemeClr val="accent4"/>
                </a:solidFill>
                <a:latin typeface="Poppins" panose="00000500000000000000" pitchFamily="2" charset="0"/>
                <a:ea typeface="+mj-ea"/>
                <a:cs typeface="Poppins" panose="00000500000000000000" pitchFamily="2" charset="0"/>
              </a:defRPr>
            </a:lvl1pPr>
          </a:lstStyle>
          <a:p>
            <a:pPr algn="ctr">
              <a:lnSpc>
                <a:spcPct val="112000"/>
              </a:lnSpc>
            </a:pPr>
            <a:r>
              <a:rPr lang="en-US">
                <a:solidFill>
                  <a:schemeClr val="accent1"/>
                </a:solidFill>
                <a:latin typeface="Poppins SemiBold" pitchFamily="2" charset="77"/>
                <a:cs typeface="Poppins SemiBold" pitchFamily="2" charset="77"/>
              </a:rPr>
              <a:t>Lorem ipsum dolor sit </a:t>
            </a:r>
            <a:r>
              <a:rPr lang="en-US" err="1">
                <a:solidFill>
                  <a:schemeClr val="accent1"/>
                </a:solidFill>
                <a:latin typeface="Poppins SemiBold" pitchFamily="2" charset="77"/>
                <a:cs typeface="Poppins SemiBold" pitchFamily="2" charset="77"/>
              </a:rPr>
              <a:t>amet</a:t>
            </a:r>
            <a:r>
              <a:rPr lang="en-US" b="0">
                <a:solidFill>
                  <a:schemeClr val="bg1"/>
                </a:solidFill>
                <a:latin typeface="Poppins" pitchFamily="2" charset="77"/>
                <a:cs typeface="Poppins" pitchFamily="2" charset="77"/>
              </a:rPr>
              <a:t>, </a:t>
            </a:r>
            <a:r>
              <a:rPr lang="en-US" b="0" err="1">
                <a:solidFill>
                  <a:schemeClr val="bg1"/>
                </a:solidFill>
                <a:latin typeface="Poppins" pitchFamily="2" charset="77"/>
                <a:cs typeface="Poppins" pitchFamily="2" charset="77"/>
              </a:rPr>
              <a:t>consectetur</a:t>
            </a:r>
            <a:r>
              <a:rPr lang="en-US" b="0">
                <a:solidFill>
                  <a:schemeClr val="bg1"/>
                </a:solidFill>
                <a:latin typeface="Poppins" pitchFamily="2" charset="77"/>
                <a:cs typeface="Poppins" pitchFamily="2" charset="77"/>
              </a:rPr>
              <a:t> </a:t>
            </a:r>
            <a:r>
              <a:rPr lang="en-US" b="0" err="1">
                <a:solidFill>
                  <a:schemeClr val="bg1"/>
                </a:solidFill>
                <a:latin typeface="Poppins" pitchFamily="2" charset="77"/>
                <a:cs typeface="Poppins" pitchFamily="2" charset="77"/>
              </a:rPr>
              <a:t>adipiscing</a:t>
            </a:r>
            <a:r>
              <a:rPr lang="en-US" b="0">
                <a:solidFill>
                  <a:schemeClr val="bg1"/>
                </a:solidFill>
                <a:latin typeface="Poppins" pitchFamily="2" charset="77"/>
                <a:cs typeface="Poppins" pitchFamily="2" charset="77"/>
              </a:rPr>
              <a:t> </a:t>
            </a:r>
            <a:r>
              <a:rPr lang="en-US" b="0" err="1">
                <a:solidFill>
                  <a:schemeClr val="bg1"/>
                </a:solidFill>
                <a:latin typeface="Poppins" pitchFamily="2" charset="77"/>
                <a:cs typeface="Poppins" pitchFamily="2" charset="77"/>
              </a:rPr>
              <a:t>elit</a:t>
            </a:r>
            <a:r>
              <a:rPr lang="en-US" b="0">
                <a:solidFill>
                  <a:schemeClr val="bg1"/>
                </a:solidFill>
                <a:latin typeface="Poppins" pitchFamily="2" charset="77"/>
                <a:cs typeface="Poppins" pitchFamily="2" charset="77"/>
              </a:rPr>
              <a:t>, sed do </a:t>
            </a:r>
            <a:r>
              <a:rPr lang="en-US" b="0" err="1">
                <a:solidFill>
                  <a:schemeClr val="bg1"/>
                </a:solidFill>
                <a:latin typeface="Poppins" pitchFamily="2" charset="77"/>
                <a:cs typeface="Poppins" pitchFamily="2" charset="77"/>
              </a:rPr>
              <a:t>eiusmod</a:t>
            </a:r>
            <a:r>
              <a:rPr lang="en-US" b="0">
                <a:solidFill>
                  <a:schemeClr val="bg1"/>
                </a:solidFill>
                <a:latin typeface="Poppins" pitchFamily="2" charset="77"/>
                <a:cs typeface="Poppins" pitchFamily="2" charset="77"/>
              </a:rPr>
              <a:t> </a:t>
            </a:r>
            <a:r>
              <a:rPr lang="en-US" b="0" err="1">
                <a:solidFill>
                  <a:schemeClr val="bg1"/>
                </a:solidFill>
                <a:latin typeface="Poppins" pitchFamily="2" charset="77"/>
                <a:cs typeface="Poppins" pitchFamily="2" charset="77"/>
              </a:rPr>
              <a:t>tempor</a:t>
            </a:r>
            <a:r>
              <a:rPr lang="en-US" b="0">
                <a:solidFill>
                  <a:schemeClr val="bg1"/>
                </a:solidFill>
                <a:latin typeface="Poppins" pitchFamily="2" charset="77"/>
                <a:cs typeface="Poppins" pitchFamily="2" charset="77"/>
              </a:rPr>
              <a:t> </a:t>
            </a:r>
            <a:r>
              <a:rPr lang="en-US" b="0" err="1">
                <a:solidFill>
                  <a:schemeClr val="bg1"/>
                </a:solidFill>
                <a:latin typeface="Poppins" pitchFamily="2" charset="77"/>
                <a:cs typeface="Poppins" pitchFamily="2" charset="77"/>
              </a:rPr>
              <a:t>incididunt</a:t>
            </a:r>
            <a:r>
              <a:rPr lang="en-US" b="0">
                <a:solidFill>
                  <a:schemeClr val="bg1"/>
                </a:solidFill>
                <a:latin typeface="Poppins" pitchFamily="2" charset="77"/>
                <a:cs typeface="Poppins" pitchFamily="2" charset="77"/>
              </a:rPr>
              <a:t> </a:t>
            </a:r>
            <a:r>
              <a:rPr lang="en-US" b="0" err="1">
                <a:solidFill>
                  <a:schemeClr val="bg1"/>
                </a:solidFill>
                <a:latin typeface="Poppins" pitchFamily="2" charset="77"/>
                <a:cs typeface="Poppins" pitchFamily="2" charset="77"/>
              </a:rPr>
              <a:t>ut</a:t>
            </a:r>
            <a:r>
              <a:rPr lang="en-US" b="0">
                <a:solidFill>
                  <a:schemeClr val="bg1"/>
                </a:solidFill>
                <a:latin typeface="Poppins" pitchFamily="2" charset="77"/>
                <a:cs typeface="Poppins" pitchFamily="2" charset="77"/>
              </a:rPr>
              <a:t> </a:t>
            </a:r>
            <a:r>
              <a:rPr lang="en-US">
                <a:solidFill>
                  <a:schemeClr val="accent1"/>
                </a:solidFill>
                <a:latin typeface="Poppins SemiBold" pitchFamily="2" charset="77"/>
                <a:cs typeface="Poppins SemiBold" pitchFamily="2" charset="77"/>
              </a:rPr>
              <a:t>labore et dolore magna </a:t>
            </a:r>
            <a:r>
              <a:rPr lang="en-US" b="0" err="1">
                <a:solidFill>
                  <a:schemeClr val="bg1"/>
                </a:solidFill>
                <a:latin typeface="Poppins" pitchFamily="2" charset="77"/>
                <a:cs typeface="Poppins" pitchFamily="2" charset="77"/>
              </a:rPr>
              <a:t>aliqua</a:t>
            </a:r>
            <a:r>
              <a:rPr lang="en-US" b="0">
                <a:solidFill>
                  <a:schemeClr val="bg1"/>
                </a:solidFill>
                <a:latin typeface="Poppins" pitchFamily="2" charset="77"/>
                <a:cs typeface="Poppins" pitchFamily="2" charset="77"/>
              </a:rPr>
              <a:t> </a:t>
            </a:r>
            <a:r>
              <a:rPr lang="en-US" b="0" err="1">
                <a:solidFill>
                  <a:schemeClr val="bg1"/>
                </a:solidFill>
                <a:latin typeface="Poppins" pitchFamily="2" charset="77"/>
                <a:cs typeface="Poppins" pitchFamily="2" charset="77"/>
              </a:rPr>
              <a:t>ut</a:t>
            </a:r>
            <a:r>
              <a:rPr lang="en-US" b="0">
                <a:solidFill>
                  <a:schemeClr val="bg1"/>
                </a:solidFill>
                <a:latin typeface="Poppins" pitchFamily="2" charset="77"/>
                <a:cs typeface="Poppins" pitchFamily="2" charset="77"/>
              </a:rPr>
              <a:t> </a:t>
            </a:r>
            <a:r>
              <a:rPr lang="en-US" b="0" err="1">
                <a:solidFill>
                  <a:schemeClr val="bg1"/>
                </a:solidFill>
                <a:latin typeface="Poppins" pitchFamily="2" charset="77"/>
                <a:cs typeface="Poppins" pitchFamily="2" charset="77"/>
              </a:rPr>
              <a:t>enim</a:t>
            </a:r>
            <a:r>
              <a:rPr lang="en-US" b="0">
                <a:solidFill>
                  <a:schemeClr val="bg1"/>
                </a:solidFill>
                <a:latin typeface="Poppins" pitchFamily="2" charset="77"/>
                <a:cs typeface="Poppins" pitchFamily="2" charset="77"/>
              </a:rPr>
              <a:t> ad minim </a:t>
            </a:r>
            <a:r>
              <a:rPr lang="en-US" b="0" err="1">
                <a:solidFill>
                  <a:schemeClr val="bg1"/>
                </a:solidFill>
                <a:latin typeface="Poppins" pitchFamily="2" charset="77"/>
                <a:cs typeface="Poppins" pitchFamily="2" charset="77"/>
              </a:rPr>
              <a:t>veniam</a:t>
            </a:r>
            <a:r>
              <a:rPr lang="en-US" b="0">
                <a:solidFill>
                  <a:schemeClr val="bg1"/>
                </a:solidFill>
                <a:latin typeface="Poppins" pitchFamily="2" charset="77"/>
                <a:cs typeface="Poppins" pitchFamily="2" charset="77"/>
              </a:rPr>
              <a:t>, </a:t>
            </a:r>
            <a:r>
              <a:rPr lang="en-US" b="0" err="1">
                <a:solidFill>
                  <a:schemeClr val="bg1"/>
                </a:solidFill>
                <a:latin typeface="Poppins" pitchFamily="2" charset="77"/>
                <a:cs typeface="Poppins" pitchFamily="2" charset="77"/>
              </a:rPr>
              <a:t>quis</a:t>
            </a:r>
            <a:r>
              <a:rPr lang="en-US" b="0">
                <a:solidFill>
                  <a:schemeClr val="bg1"/>
                </a:solidFill>
                <a:latin typeface="Poppins" pitchFamily="2" charset="77"/>
                <a:cs typeface="Poppins" pitchFamily="2" charset="77"/>
              </a:rPr>
              <a:t> </a:t>
            </a:r>
            <a:r>
              <a:rPr lang="en-US" b="0" err="1">
                <a:solidFill>
                  <a:schemeClr val="bg1"/>
                </a:solidFill>
                <a:latin typeface="Poppins" pitchFamily="2" charset="77"/>
                <a:cs typeface="Poppins" pitchFamily="2" charset="77"/>
              </a:rPr>
              <a:t>nostrud</a:t>
            </a:r>
            <a:r>
              <a:rPr lang="en-US" b="0">
                <a:solidFill>
                  <a:schemeClr val="bg1"/>
                </a:solidFill>
                <a:latin typeface="Poppins" pitchFamily="2" charset="77"/>
                <a:cs typeface="Poppins" pitchFamily="2" charset="77"/>
              </a:rPr>
              <a:t> exercitation </a:t>
            </a:r>
            <a:r>
              <a:rPr lang="en-US" b="0" err="1">
                <a:solidFill>
                  <a:schemeClr val="bg1"/>
                </a:solidFill>
                <a:latin typeface="Poppins" pitchFamily="2" charset="77"/>
                <a:cs typeface="Poppins" pitchFamily="2" charset="77"/>
              </a:rPr>
              <a:t>ullamco</a:t>
            </a:r>
            <a:endParaRPr lang="en-US" b="0">
              <a:solidFill>
                <a:schemeClr val="bg1"/>
              </a:solidFill>
              <a:latin typeface="Poppins" pitchFamily="2" charset="77"/>
              <a:cs typeface="Poppins" pitchFamily="2" charset="77"/>
            </a:endParaRPr>
          </a:p>
        </p:txBody>
      </p:sp>
    </p:spTree>
    <p:extLst>
      <p:ext uri="{BB962C8B-B14F-4D97-AF65-F5344CB8AC3E}">
        <p14:creationId xmlns:p14="http://schemas.microsoft.com/office/powerpoint/2010/main" val="52925173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F2A3A8-9174-A26D-8B09-21C70D65D865}"/>
              </a:ext>
            </a:extLst>
          </p:cNvPr>
          <p:cNvSpPr txBox="1">
            <a:spLocks/>
          </p:cNvSpPr>
          <p:nvPr/>
        </p:nvSpPr>
        <p:spPr>
          <a:xfrm>
            <a:off x="1750711" y="2264239"/>
            <a:ext cx="8690578" cy="2307170"/>
          </a:xfrm>
          <a:prstGeom prst="rect">
            <a:avLst/>
          </a:prstGeom>
        </p:spPr>
        <p:txBody>
          <a:bodyPr vert="horz" lIns="91440" tIns="91440" rIns="91440" bIns="91440" rtlCol="0" anchor="ctr">
            <a:spAutoFit/>
          </a:bodyPr>
          <a:lstStyle>
            <a:lvl1pPr algn="l" defTabSz="914377" rtl="0" eaLnBrk="1" latinLnBrk="0" hangingPunct="1">
              <a:lnSpc>
                <a:spcPct val="95000"/>
              </a:lnSpc>
              <a:spcBef>
                <a:spcPct val="0"/>
              </a:spcBef>
              <a:buNone/>
              <a:defRPr sz="3200" b="1" kern="1200">
                <a:solidFill>
                  <a:schemeClr val="accent4"/>
                </a:solidFill>
                <a:latin typeface="Poppins" panose="00000500000000000000" pitchFamily="2" charset="0"/>
                <a:ea typeface="+mj-ea"/>
                <a:cs typeface="Poppins" panose="00000500000000000000" pitchFamily="2" charset="0"/>
              </a:defRPr>
            </a:lvl1pPr>
          </a:lstStyle>
          <a:p>
            <a:pPr algn="ctr">
              <a:lnSpc>
                <a:spcPct val="112000"/>
              </a:lnSpc>
            </a:pPr>
            <a:r>
              <a:rPr lang="en-US" dirty="0">
                <a:solidFill>
                  <a:schemeClr val="accent1"/>
                </a:solidFill>
                <a:latin typeface="Poppins SemiBold" pitchFamily="2" charset="77"/>
                <a:cs typeface="Poppins SemiBold" pitchFamily="2" charset="77"/>
              </a:rPr>
              <a:t>Referral Agency</a:t>
            </a:r>
          </a:p>
          <a:p>
            <a:pPr algn="ctr">
              <a:lnSpc>
                <a:spcPct val="112000"/>
              </a:lnSpc>
            </a:pPr>
            <a:r>
              <a:rPr lang="en-US" sz="2000" b="0" dirty="0">
                <a:solidFill>
                  <a:schemeClr val="bg1"/>
                </a:solidFill>
                <a:latin typeface="Poppins" pitchFamily="2" charset="77"/>
                <a:cs typeface="Poppins" pitchFamily="2" charset="77"/>
              </a:rPr>
              <a:t>Continuing our partnership growth, how can Horizon Commerce become a top Amazon Ads referral agency </a:t>
            </a:r>
          </a:p>
          <a:p>
            <a:pPr algn="ctr">
              <a:lnSpc>
                <a:spcPct val="112000"/>
              </a:lnSpc>
            </a:pPr>
            <a:r>
              <a:rPr lang="en-US" sz="2000" b="0" dirty="0">
                <a:solidFill>
                  <a:schemeClr val="bg1"/>
                </a:solidFill>
                <a:latin typeface="Poppins" pitchFamily="2" charset="77"/>
                <a:cs typeface="Poppins" pitchFamily="2" charset="77"/>
              </a:rPr>
              <a:t>(US endemic &amp; non-endemic)  </a:t>
            </a:r>
          </a:p>
          <a:p>
            <a:pPr algn="ctr">
              <a:lnSpc>
                <a:spcPct val="112000"/>
              </a:lnSpc>
            </a:pPr>
            <a:endParaRPr lang="en-US" b="0" dirty="0">
              <a:solidFill>
                <a:schemeClr val="bg1"/>
              </a:solidFill>
              <a:latin typeface="Poppins" pitchFamily="2" charset="77"/>
              <a:cs typeface="Poppins" pitchFamily="2" charset="77"/>
            </a:endParaRPr>
          </a:p>
        </p:txBody>
      </p:sp>
    </p:spTree>
    <p:extLst>
      <p:ext uri="{BB962C8B-B14F-4D97-AF65-F5344CB8AC3E}">
        <p14:creationId xmlns:p14="http://schemas.microsoft.com/office/powerpoint/2010/main" val="172760609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EEB1001-9963-624C-AFDA-3218A0EF7BA8}"/>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54E35D1B-70BE-C9A8-C283-7F8B5C0C8C2E}"/>
              </a:ext>
            </a:extLst>
          </p:cNvPr>
          <p:cNvSpPr/>
          <p:nvPr/>
        </p:nvSpPr>
        <p:spPr>
          <a:xfrm>
            <a:off x="-1" y="-1"/>
            <a:ext cx="12192000" cy="6857997"/>
          </a:xfrm>
          <a:prstGeom prst="rect">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r>
              <a:rPr lang="en-US">
                <a:solidFill>
                  <a:schemeClr val="bg1">
                    <a:lumMod val="75000"/>
                  </a:schemeClr>
                </a:solidFill>
              </a:rPr>
              <a:t>IMAGE</a:t>
            </a:r>
          </a:p>
        </p:txBody>
      </p:sp>
      <p:sp>
        <p:nvSpPr>
          <p:cNvPr id="4" name="Rectangle 3">
            <a:extLst>
              <a:ext uri="{FF2B5EF4-FFF2-40B4-BE49-F238E27FC236}">
                <a16:creationId xmlns:a16="http://schemas.microsoft.com/office/drawing/2014/main" id="{A6A84D59-99BF-AB8F-04E7-EC829D770C8B}"/>
              </a:ext>
            </a:extLst>
          </p:cNvPr>
          <p:cNvSpPr/>
          <p:nvPr/>
        </p:nvSpPr>
        <p:spPr>
          <a:xfrm>
            <a:off x="-1" y="795647"/>
            <a:ext cx="12192000" cy="6062354"/>
          </a:xfrm>
          <a:prstGeom prst="rect">
            <a:avLst/>
          </a:prstGeom>
          <a:gradFill flip="none" rotWithShape="1">
            <a:gsLst>
              <a:gs pos="100000">
                <a:schemeClr val="tx2"/>
              </a:gs>
              <a:gs pos="25000">
                <a:schemeClr val="tx2">
                  <a:alpha val="0"/>
                </a:schemeClr>
              </a:gs>
              <a:gs pos="65000">
                <a:schemeClr val="tx2">
                  <a:alpha val="62994"/>
                </a:schemeClr>
              </a:gs>
            </a:gsLst>
            <a:lin ang="5400000" scaled="1"/>
            <a:tileRect/>
          </a:gra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US" err="1"/>
          </a:p>
        </p:txBody>
      </p:sp>
      <p:sp>
        <p:nvSpPr>
          <p:cNvPr id="8" name="Rectangle: Rounded Corners 39">
            <a:extLst>
              <a:ext uri="{FF2B5EF4-FFF2-40B4-BE49-F238E27FC236}">
                <a16:creationId xmlns:a16="http://schemas.microsoft.com/office/drawing/2014/main" id="{9F484DD4-E287-082D-C7BD-B6152F6C473B}"/>
              </a:ext>
            </a:extLst>
          </p:cNvPr>
          <p:cNvSpPr/>
          <p:nvPr/>
        </p:nvSpPr>
        <p:spPr>
          <a:xfrm>
            <a:off x="550164" y="548640"/>
            <a:ext cx="11091672" cy="5760720"/>
          </a:xfrm>
          <a:prstGeom prst="roundRect">
            <a:avLst>
              <a:gd name="adj" fmla="val 4617"/>
            </a:avLst>
          </a:prstGeom>
          <a:noFill/>
          <a:ln w="38100">
            <a:solidFill>
              <a:schemeClr val="bg1"/>
            </a:solidFill>
          </a:ln>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25000"/>
              </a:lnSpc>
              <a:spcBef>
                <a:spcPts val="0"/>
              </a:spcBef>
              <a:spcAft>
                <a:spcPts val="0"/>
              </a:spcAft>
              <a:buClrTx/>
              <a:buSzTx/>
              <a:buFontTx/>
              <a:buNone/>
              <a:tabLst/>
              <a:defRPr/>
            </a:pPr>
            <a:r>
              <a:rPr kumimoji="0" lang="en-US" sz="1400" b="1" u="none" strike="noStrike" kern="1200" cap="none" spc="0" normalizeH="0" baseline="0" noProof="0">
                <a:ln>
                  <a:noFill/>
                </a:ln>
                <a:solidFill>
                  <a:prstClr val="white"/>
                </a:solidFill>
                <a:effectLst/>
                <a:uLnTx/>
                <a:uFillTx/>
                <a:latin typeface="Poppins SemiBold" pitchFamily="2" charset="77"/>
                <a:ea typeface="+mn-ea"/>
                <a:cs typeface="+mn-cs"/>
              </a:rPr>
              <a:t> </a:t>
            </a:r>
          </a:p>
        </p:txBody>
      </p:sp>
      <p:sp>
        <p:nvSpPr>
          <p:cNvPr id="9" name="Title 1">
            <a:extLst>
              <a:ext uri="{FF2B5EF4-FFF2-40B4-BE49-F238E27FC236}">
                <a16:creationId xmlns:a16="http://schemas.microsoft.com/office/drawing/2014/main" id="{0D763D25-9F57-1ED6-4173-F587C2518567}"/>
              </a:ext>
            </a:extLst>
          </p:cNvPr>
          <p:cNvSpPr txBox="1">
            <a:spLocks/>
          </p:cNvSpPr>
          <p:nvPr/>
        </p:nvSpPr>
        <p:spPr>
          <a:xfrm>
            <a:off x="838200" y="3826824"/>
            <a:ext cx="10515600" cy="2376163"/>
          </a:xfrm>
          <a:prstGeom prst="rect">
            <a:avLst/>
          </a:prstGeom>
        </p:spPr>
        <p:txBody>
          <a:bodyPr vert="horz" lIns="91440" tIns="91440" rIns="91440" bIns="91440" rtlCol="0" anchor="ctr">
            <a:spAutoFit/>
          </a:bodyPr>
          <a:lstStyle>
            <a:lvl1pPr algn="l" defTabSz="914377" rtl="0" eaLnBrk="1" latinLnBrk="0" hangingPunct="1">
              <a:lnSpc>
                <a:spcPct val="95000"/>
              </a:lnSpc>
              <a:spcBef>
                <a:spcPct val="0"/>
              </a:spcBef>
              <a:buNone/>
              <a:defRPr sz="3200" b="1" kern="1200">
                <a:solidFill>
                  <a:schemeClr val="accent4"/>
                </a:solidFill>
                <a:latin typeface="Poppins" panose="00000500000000000000" pitchFamily="2" charset="0"/>
                <a:ea typeface="+mj-ea"/>
                <a:cs typeface="Poppins" panose="00000500000000000000" pitchFamily="2" charset="0"/>
              </a:defRPr>
            </a:lvl1pPr>
          </a:lstStyle>
          <a:p>
            <a:pPr algn="ctr">
              <a:lnSpc>
                <a:spcPct val="110000"/>
              </a:lnSpc>
            </a:pPr>
            <a:r>
              <a:rPr lang="en-US">
                <a:solidFill>
                  <a:schemeClr val="accent1"/>
                </a:solidFill>
                <a:latin typeface="Poppins SemiBold" pitchFamily="2" charset="77"/>
                <a:cs typeface="Poppins SemiBold" pitchFamily="2" charset="77"/>
              </a:rPr>
              <a:t>Lorem ipsum dolor sit </a:t>
            </a:r>
            <a:r>
              <a:rPr lang="en-US" err="1">
                <a:solidFill>
                  <a:schemeClr val="accent1"/>
                </a:solidFill>
                <a:latin typeface="Poppins SemiBold" pitchFamily="2" charset="77"/>
                <a:cs typeface="Poppins SemiBold" pitchFamily="2" charset="77"/>
              </a:rPr>
              <a:t>amet</a:t>
            </a:r>
            <a:r>
              <a:rPr lang="en-US" b="0">
                <a:solidFill>
                  <a:schemeClr val="bg1"/>
                </a:solidFill>
                <a:latin typeface="Poppins" pitchFamily="2" charset="77"/>
                <a:cs typeface="Poppins" pitchFamily="2" charset="77"/>
              </a:rPr>
              <a:t>, </a:t>
            </a:r>
            <a:r>
              <a:rPr lang="en-US" b="0" err="1">
                <a:solidFill>
                  <a:schemeClr val="bg1"/>
                </a:solidFill>
                <a:latin typeface="Poppins" pitchFamily="2" charset="77"/>
                <a:cs typeface="Poppins" pitchFamily="2" charset="77"/>
              </a:rPr>
              <a:t>consectetur</a:t>
            </a:r>
            <a:r>
              <a:rPr lang="en-US" b="0">
                <a:solidFill>
                  <a:schemeClr val="bg1"/>
                </a:solidFill>
                <a:latin typeface="Poppins" pitchFamily="2" charset="77"/>
                <a:cs typeface="Poppins" pitchFamily="2" charset="77"/>
              </a:rPr>
              <a:t> </a:t>
            </a:r>
            <a:r>
              <a:rPr lang="en-US" b="0" err="1">
                <a:solidFill>
                  <a:schemeClr val="bg1"/>
                </a:solidFill>
                <a:latin typeface="Poppins" pitchFamily="2" charset="77"/>
                <a:cs typeface="Poppins" pitchFamily="2" charset="77"/>
              </a:rPr>
              <a:t>adipiscing</a:t>
            </a:r>
            <a:r>
              <a:rPr lang="en-US" b="0">
                <a:solidFill>
                  <a:schemeClr val="bg1"/>
                </a:solidFill>
                <a:latin typeface="Poppins" pitchFamily="2" charset="77"/>
                <a:cs typeface="Poppins" pitchFamily="2" charset="77"/>
              </a:rPr>
              <a:t> </a:t>
            </a:r>
            <a:r>
              <a:rPr lang="en-US" b="0" err="1">
                <a:solidFill>
                  <a:schemeClr val="bg1"/>
                </a:solidFill>
                <a:latin typeface="Poppins" pitchFamily="2" charset="77"/>
                <a:cs typeface="Poppins" pitchFamily="2" charset="77"/>
              </a:rPr>
              <a:t>elit</a:t>
            </a:r>
            <a:r>
              <a:rPr lang="en-US" b="0">
                <a:solidFill>
                  <a:schemeClr val="bg1"/>
                </a:solidFill>
                <a:latin typeface="Poppins" pitchFamily="2" charset="77"/>
                <a:cs typeface="Poppins" pitchFamily="2" charset="77"/>
              </a:rPr>
              <a:t>, sed do </a:t>
            </a:r>
            <a:r>
              <a:rPr lang="en-US" b="0" err="1">
                <a:solidFill>
                  <a:schemeClr val="bg1"/>
                </a:solidFill>
                <a:latin typeface="Poppins" pitchFamily="2" charset="77"/>
                <a:cs typeface="Poppins" pitchFamily="2" charset="77"/>
              </a:rPr>
              <a:t>eiusmod</a:t>
            </a:r>
            <a:r>
              <a:rPr lang="en-US" b="0">
                <a:solidFill>
                  <a:schemeClr val="bg1"/>
                </a:solidFill>
                <a:latin typeface="Poppins" pitchFamily="2" charset="77"/>
                <a:cs typeface="Poppins" pitchFamily="2" charset="77"/>
              </a:rPr>
              <a:t> </a:t>
            </a:r>
            <a:r>
              <a:rPr lang="en-US" b="0" err="1">
                <a:solidFill>
                  <a:schemeClr val="bg1"/>
                </a:solidFill>
                <a:latin typeface="Poppins" pitchFamily="2" charset="77"/>
                <a:cs typeface="Poppins" pitchFamily="2" charset="77"/>
              </a:rPr>
              <a:t>tempor</a:t>
            </a:r>
            <a:r>
              <a:rPr lang="en-US" b="0">
                <a:solidFill>
                  <a:schemeClr val="bg1"/>
                </a:solidFill>
                <a:latin typeface="Poppins" pitchFamily="2" charset="77"/>
                <a:cs typeface="Poppins" pitchFamily="2" charset="77"/>
              </a:rPr>
              <a:t> </a:t>
            </a:r>
            <a:r>
              <a:rPr lang="en-US" b="0" err="1">
                <a:solidFill>
                  <a:schemeClr val="bg1"/>
                </a:solidFill>
                <a:latin typeface="Poppins" pitchFamily="2" charset="77"/>
                <a:cs typeface="Poppins" pitchFamily="2" charset="77"/>
              </a:rPr>
              <a:t>incididunt</a:t>
            </a:r>
            <a:r>
              <a:rPr lang="en-US" b="0">
                <a:solidFill>
                  <a:schemeClr val="bg1"/>
                </a:solidFill>
                <a:latin typeface="Poppins" pitchFamily="2" charset="77"/>
                <a:cs typeface="Poppins" pitchFamily="2" charset="77"/>
              </a:rPr>
              <a:t> </a:t>
            </a:r>
            <a:r>
              <a:rPr lang="en-US" b="0" err="1">
                <a:solidFill>
                  <a:schemeClr val="bg1"/>
                </a:solidFill>
                <a:latin typeface="Poppins" pitchFamily="2" charset="77"/>
                <a:cs typeface="Poppins" pitchFamily="2" charset="77"/>
              </a:rPr>
              <a:t>ut</a:t>
            </a:r>
            <a:r>
              <a:rPr lang="en-US" b="0">
                <a:solidFill>
                  <a:schemeClr val="bg1"/>
                </a:solidFill>
                <a:latin typeface="Poppins" pitchFamily="2" charset="77"/>
                <a:cs typeface="Poppins" pitchFamily="2" charset="77"/>
              </a:rPr>
              <a:t> </a:t>
            </a:r>
            <a:r>
              <a:rPr lang="en-US">
                <a:solidFill>
                  <a:schemeClr val="accent1"/>
                </a:solidFill>
                <a:latin typeface="Poppins SemiBold" pitchFamily="2" charset="77"/>
                <a:cs typeface="Poppins SemiBold" pitchFamily="2" charset="77"/>
              </a:rPr>
              <a:t>labore et dolore magna </a:t>
            </a:r>
            <a:r>
              <a:rPr lang="en-US" b="0" err="1">
                <a:solidFill>
                  <a:schemeClr val="bg1"/>
                </a:solidFill>
                <a:latin typeface="Poppins" pitchFamily="2" charset="77"/>
                <a:cs typeface="Poppins" pitchFamily="2" charset="77"/>
              </a:rPr>
              <a:t>aliqua</a:t>
            </a:r>
            <a:r>
              <a:rPr lang="en-US" b="0">
                <a:solidFill>
                  <a:schemeClr val="bg1"/>
                </a:solidFill>
                <a:latin typeface="Poppins" pitchFamily="2" charset="77"/>
                <a:cs typeface="Poppins" pitchFamily="2" charset="77"/>
              </a:rPr>
              <a:t> </a:t>
            </a:r>
            <a:r>
              <a:rPr lang="en-US" b="0" err="1">
                <a:solidFill>
                  <a:schemeClr val="bg1"/>
                </a:solidFill>
                <a:latin typeface="Poppins" pitchFamily="2" charset="77"/>
                <a:cs typeface="Poppins" pitchFamily="2" charset="77"/>
              </a:rPr>
              <a:t>ut</a:t>
            </a:r>
            <a:r>
              <a:rPr lang="en-US" b="0">
                <a:solidFill>
                  <a:schemeClr val="bg1"/>
                </a:solidFill>
                <a:latin typeface="Poppins" pitchFamily="2" charset="77"/>
                <a:cs typeface="Poppins" pitchFamily="2" charset="77"/>
              </a:rPr>
              <a:t> </a:t>
            </a:r>
            <a:r>
              <a:rPr lang="en-US" b="0" err="1">
                <a:solidFill>
                  <a:schemeClr val="bg1"/>
                </a:solidFill>
                <a:latin typeface="Poppins" pitchFamily="2" charset="77"/>
                <a:cs typeface="Poppins" pitchFamily="2" charset="77"/>
              </a:rPr>
              <a:t>enim</a:t>
            </a:r>
            <a:r>
              <a:rPr lang="en-US" b="0">
                <a:solidFill>
                  <a:schemeClr val="bg1"/>
                </a:solidFill>
                <a:latin typeface="Poppins" pitchFamily="2" charset="77"/>
                <a:cs typeface="Poppins" pitchFamily="2" charset="77"/>
              </a:rPr>
              <a:t> ad minim </a:t>
            </a:r>
            <a:r>
              <a:rPr lang="en-US" b="0" err="1">
                <a:solidFill>
                  <a:schemeClr val="bg1"/>
                </a:solidFill>
                <a:latin typeface="Poppins" pitchFamily="2" charset="77"/>
                <a:cs typeface="Poppins" pitchFamily="2" charset="77"/>
              </a:rPr>
              <a:t>veniam</a:t>
            </a:r>
            <a:r>
              <a:rPr lang="en-US" b="0">
                <a:solidFill>
                  <a:schemeClr val="bg1"/>
                </a:solidFill>
                <a:latin typeface="Poppins" pitchFamily="2" charset="77"/>
                <a:cs typeface="Poppins" pitchFamily="2" charset="77"/>
              </a:rPr>
              <a:t>, </a:t>
            </a:r>
            <a:r>
              <a:rPr lang="en-US" b="0" err="1">
                <a:solidFill>
                  <a:schemeClr val="bg1"/>
                </a:solidFill>
                <a:latin typeface="Poppins" pitchFamily="2" charset="77"/>
                <a:cs typeface="Poppins" pitchFamily="2" charset="77"/>
              </a:rPr>
              <a:t>quis</a:t>
            </a:r>
            <a:r>
              <a:rPr lang="en-US" b="0">
                <a:solidFill>
                  <a:schemeClr val="bg1"/>
                </a:solidFill>
                <a:latin typeface="Poppins" pitchFamily="2" charset="77"/>
                <a:cs typeface="Poppins" pitchFamily="2" charset="77"/>
              </a:rPr>
              <a:t> </a:t>
            </a:r>
            <a:r>
              <a:rPr lang="en-US" b="0" err="1">
                <a:solidFill>
                  <a:schemeClr val="bg1"/>
                </a:solidFill>
                <a:latin typeface="Poppins" pitchFamily="2" charset="77"/>
                <a:cs typeface="Poppins" pitchFamily="2" charset="77"/>
              </a:rPr>
              <a:t>nostrud</a:t>
            </a:r>
            <a:r>
              <a:rPr lang="en-US" b="0">
                <a:solidFill>
                  <a:schemeClr val="bg1"/>
                </a:solidFill>
                <a:latin typeface="Poppins" pitchFamily="2" charset="77"/>
                <a:cs typeface="Poppins" pitchFamily="2" charset="77"/>
              </a:rPr>
              <a:t> exercitation </a:t>
            </a:r>
            <a:r>
              <a:rPr lang="en-US" b="0" err="1">
                <a:solidFill>
                  <a:schemeClr val="bg1"/>
                </a:solidFill>
                <a:latin typeface="Poppins" pitchFamily="2" charset="77"/>
                <a:cs typeface="Poppins" pitchFamily="2" charset="77"/>
              </a:rPr>
              <a:t>ullamco</a:t>
            </a:r>
            <a:endParaRPr lang="en-US" b="0">
              <a:solidFill>
                <a:schemeClr val="bg1"/>
              </a:solidFill>
              <a:latin typeface="Poppins" pitchFamily="2" charset="77"/>
              <a:cs typeface="Poppins" pitchFamily="2" charset="77"/>
            </a:endParaRPr>
          </a:p>
        </p:txBody>
      </p:sp>
    </p:spTree>
    <p:extLst>
      <p:ext uri="{BB962C8B-B14F-4D97-AF65-F5344CB8AC3E}">
        <p14:creationId xmlns:p14="http://schemas.microsoft.com/office/powerpoint/2010/main" val="355438712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70AC3B4-4A9E-4BF6-F549-C4490411F916}"/>
              </a:ext>
            </a:extLst>
          </p:cNvPr>
          <p:cNvSpPr/>
          <p:nvPr/>
        </p:nvSpPr>
        <p:spPr>
          <a:xfrm>
            <a:off x="0" y="-1"/>
            <a:ext cx="5618922" cy="6857997"/>
          </a:xfrm>
          <a:prstGeom prst="rect">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r>
              <a:rPr lang="en-US">
                <a:solidFill>
                  <a:schemeClr val="bg1">
                    <a:lumMod val="75000"/>
                  </a:schemeClr>
                </a:solidFill>
              </a:rPr>
              <a:t>IMAGE</a:t>
            </a:r>
          </a:p>
        </p:txBody>
      </p:sp>
      <p:sp>
        <p:nvSpPr>
          <p:cNvPr id="3" name="TextBox 2">
            <a:extLst>
              <a:ext uri="{FF2B5EF4-FFF2-40B4-BE49-F238E27FC236}">
                <a16:creationId xmlns:a16="http://schemas.microsoft.com/office/drawing/2014/main" id="{C13E9DDB-56F5-4137-095B-21FAA56153A0}"/>
              </a:ext>
            </a:extLst>
          </p:cNvPr>
          <p:cNvSpPr txBox="1"/>
          <p:nvPr/>
        </p:nvSpPr>
        <p:spPr>
          <a:xfrm>
            <a:off x="6632455" y="1014108"/>
            <a:ext cx="4556535" cy="4829784"/>
          </a:xfrm>
          <a:prstGeom prst="rect">
            <a:avLst/>
          </a:prstGeom>
          <a:noFill/>
        </p:spPr>
        <p:txBody>
          <a:bodyPr wrap="square" rtlCol="0" anchor="ctr">
            <a:spAutoFit/>
          </a:bodyPr>
          <a:lstStyle/>
          <a:p>
            <a:pPr>
              <a:lnSpc>
                <a:spcPct val="95000"/>
              </a:lnSpc>
              <a:spcBef>
                <a:spcPct val="0"/>
              </a:spcBef>
              <a:defRPr/>
            </a:pPr>
            <a:r>
              <a:rPr lang="en-US" sz="3200" b="1">
                <a:solidFill>
                  <a:schemeClr val="accent1"/>
                </a:solidFill>
                <a:latin typeface="+mj-lt"/>
                <a:ea typeface="+mj-ea"/>
                <a:cs typeface="+mj-cs"/>
              </a:rPr>
              <a:t>Lorem ipsum dolor sit </a:t>
            </a:r>
            <a:r>
              <a:rPr lang="en-US" sz="3200" b="1" err="1">
                <a:solidFill>
                  <a:schemeClr val="accent1"/>
                </a:solidFill>
                <a:latin typeface="+mj-lt"/>
                <a:ea typeface="+mj-ea"/>
                <a:cs typeface="+mj-cs"/>
              </a:rPr>
              <a:t>amet</a:t>
            </a:r>
            <a:r>
              <a:rPr lang="en-US" sz="3200" b="1">
                <a:solidFill>
                  <a:schemeClr val="accent1"/>
                </a:solidFill>
                <a:latin typeface="+mj-lt"/>
                <a:ea typeface="+mj-ea"/>
                <a:cs typeface="+mj-cs"/>
              </a:rPr>
              <a:t> et dolore magna </a:t>
            </a:r>
            <a:r>
              <a:rPr lang="en-US" sz="3200" b="1" err="1">
                <a:solidFill>
                  <a:schemeClr val="accent1"/>
                </a:solidFill>
                <a:latin typeface="+mj-lt"/>
                <a:ea typeface="+mj-ea"/>
                <a:cs typeface="+mj-cs"/>
              </a:rPr>
              <a:t>aliqua</a:t>
            </a:r>
            <a:endParaRPr lang="en-US" sz="3200" b="1">
              <a:solidFill>
                <a:schemeClr val="accent1"/>
              </a:solidFill>
              <a:latin typeface="+mj-lt"/>
              <a:ea typeface="+mj-ea"/>
              <a:cs typeface="+mj-cs"/>
            </a:endParaRPr>
          </a:p>
          <a:p>
            <a:pPr>
              <a:lnSpc>
                <a:spcPct val="112000"/>
              </a:lnSpc>
              <a:spcBef>
                <a:spcPts val="1200"/>
              </a:spcBef>
              <a:defRPr/>
            </a:pPr>
            <a:r>
              <a:rPr lang="en-US" sz="1600">
                <a:latin typeface="+mj-lt"/>
              </a:rPr>
              <a:t>Lorem ipsum dolor sit </a:t>
            </a:r>
            <a:r>
              <a:rPr lang="en-US" sz="1600" err="1">
                <a:latin typeface="+mj-lt"/>
              </a:rPr>
              <a:t>amet</a:t>
            </a:r>
            <a:r>
              <a:rPr lang="en-US" sz="1600">
                <a:latin typeface="+mj-lt"/>
              </a:rPr>
              <a:t>, </a:t>
            </a:r>
            <a:r>
              <a:rPr lang="en-US" sz="1600" err="1">
                <a:latin typeface="+mj-lt"/>
              </a:rPr>
              <a:t>consectetur</a:t>
            </a:r>
            <a:r>
              <a:rPr lang="en-US" sz="1600">
                <a:latin typeface="+mj-lt"/>
              </a:rPr>
              <a:t> </a:t>
            </a:r>
            <a:r>
              <a:rPr lang="en-US" sz="1600" err="1">
                <a:latin typeface="+mj-lt"/>
              </a:rPr>
              <a:t>adipiscing</a:t>
            </a:r>
            <a:r>
              <a:rPr lang="en-US" sz="1600">
                <a:latin typeface="+mj-lt"/>
              </a:rPr>
              <a:t> </a:t>
            </a:r>
            <a:r>
              <a:rPr lang="en-US" sz="1600" err="1">
                <a:latin typeface="+mj-lt"/>
              </a:rPr>
              <a:t>elit</a:t>
            </a:r>
            <a:r>
              <a:rPr lang="en-US" sz="1600">
                <a:latin typeface="+mj-lt"/>
              </a:rPr>
              <a:t>, sed do </a:t>
            </a:r>
            <a:r>
              <a:rPr lang="en-US" sz="1600" err="1">
                <a:latin typeface="+mj-lt"/>
              </a:rPr>
              <a:t>eiusmod</a:t>
            </a:r>
            <a:r>
              <a:rPr lang="en-US" sz="1600">
                <a:latin typeface="+mj-lt"/>
              </a:rPr>
              <a:t> </a:t>
            </a:r>
            <a:r>
              <a:rPr lang="en-US" sz="1600" err="1">
                <a:latin typeface="+mj-lt"/>
              </a:rPr>
              <a:t>tempor</a:t>
            </a:r>
            <a:r>
              <a:rPr lang="en-US" sz="1600">
                <a:latin typeface="+mj-lt"/>
              </a:rPr>
              <a:t> </a:t>
            </a:r>
            <a:r>
              <a:rPr lang="en-US" sz="1600" err="1">
                <a:latin typeface="+mj-lt"/>
              </a:rPr>
              <a:t>incididunt</a:t>
            </a:r>
            <a:r>
              <a:rPr lang="en-US" sz="1600">
                <a:latin typeface="+mj-lt"/>
              </a:rPr>
              <a:t> </a:t>
            </a:r>
            <a:r>
              <a:rPr lang="en-US" sz="1600" err="1">
                <a:latin typeface="+mj-lt"/>
              </a:rPr>
              <a:t>ut</a:t>
            </a:r>
            <a:r>
              <a:rPr lang="en-US" sz="1600">
                <a:latin typeface="+mj-lt"/>
              </a:rPr>
              <a:t> labore et dolore magna </a:t>
            </a:r>
            <a:r>
              <a:rPr lang="en-US" sz="1600" err="1">
                <a:latin typeface="+mj-lt"/>
              </a:rPr>
              <a:t>aliqua</a:t>
            </a:r>
            <a:r>
              <a:rPr lang="en-US" sz="1600">
                <a:latin typeface="+mj-lt"/>
              </a:rPr>
              <a:t>. Ut </a:t>
            </a:r>
            <a:r>
              <a:rPr lang="en-US" sz="1600" err="1">
                <a:latin typeface="+mj-lt"/>
              </a:rPr>
              <a:t>enim</a:t>
            </a:r>
            <a:r>
              <a:rPr lang="en-US" sz="1600">
                <a:latin typeface="+mj-lt"/>
              </a:rPr>
              <a:t> ad minim </a:t>
            </a:r>
            <a:r>
              <a:rPr lang="en-US" sz="1600" err="1">
                <a:latin typeface="+mj-lt"/>
              </a:rPr>
              <a:t>veniam</a:t>
            </a:r>
            <a:r>
              <a:rPr lang="en-US" sz="1600">
                <a:latin typeface="+mj-lt"/>
              </a:rPr>
              <a:t>, </a:t>
            </a:r>
            <a:r>
              <a:rPr lang="en-US" sz="1600" err="1">
                <a:latin typeface="+mj-lt"/>
              </a:rPr>
              <a:t>quis</a:t>
            </a:r>
            <a:r>
              <a:rPr lang="en-US" sz="1600">
                <a:latin typeface="+mj-lt"/>
              </a:rPr>
              <a:t> </a:t>
            </a:r>
            <a:r>
              <a:rPr lang="en-US" sz="1600" err="1">
                <a:latin typeface="+mj-lt"/>
              </a:rPr>
              <a:t>nostrud</a:t>
            </a:r>
            <a:r>
              <a:rPr lang="en-US" sz="1600">
                <a:latin typeface="+mj-lt"/>
              </a:rPr>
              <a:t> exercitation </a:t>
            </a:r>
            <a:r>
              <a:rPr lang="en-US" sz="1600" err="1">
                <a:latin typeface="+mj-lt"/>
              </a:rPr>
              <a:t>ullamco</a:t>
            </a:r>
            <a:r>
              <a:rPr lang="en-US" sz="1600">
                <a:latin typeface="+mj-lt"/>
              </a:rPr>
              <a:t> </a:t>
            </a:r>
            <a:r>
              <a:rPr lang="en-US" sz="1600" err="1">
                <a:latin typeface="+mj-lt"/>
              </a:rPr>
              <a:t>laboris</a:t>
            </a:r>
            <a:r>
              <a:rPr lang="en-US" sz="1600">
                <a:latin typeface="+mj-lt"/>
              </a:rPr>
              <a:t> nisi </a:t>
            </a:r>
            <a:r>
              <a:rPr lang="en-US" sz="1600" err="1">
                <a:latin typeface="+mj-lt"/>
              </a:rPr>
              <a:t>ut</a:t>
            </a:r>
            <a:r>
              <a:rPr lang="en-US" sz="1600">
                <a:latin typeface="+mj-lt"/>
              </a:rPr>
              <a:t> </a:t>
            </a:r>
            <a:r>
              <a:rPr lang="en-US" sz="1600" err="1">
                <a:latin typeface="+mj-lt"/>
              </a:rPr>
              <a:t>aliquip</a:t>
            </a:r>
            <a:r>
              <a:rPr lang="en-US" sz="1600">
                <a:latin typeface="+mj-lt"/>
              </a:rPr>
              <a:t> ex </a:t>
            </a:r>
            <a:r>
              <a:rPr lang="en-US" sz="1600" err="1">
                <a:latin typeface="+mj-lt"/>
              </a:rPr>
              <a:t>ea</a:t>
            </a:r>
            <a:r>
              <a:rPr lang="en-US" sz="1600">
                <a:latin typeface="+mj-lt"/>
              </a:rPr>
              <a:t> </a:t>
            </a:r>
            <a:r>
              <a:rPr lang="en-US" sz="1600" err="1">
                <a:latin typeface="+mj-lt"/>
              </a:rPr>
              <a:t>commodo</a:t>
            </a:r>
            <a:r>
              <a:rPr lang="en-US" sz="1600">
                <a:latin typeface="+mj-lt"/>
              </a:rPr>
              <a:t> </a:t>
            </a:r>
            <a:r>
              <a:rPr lang="en-US" sz="1600" err="1">
                <a:latin typeface="+mj-lt"/>
              </a:rPr>
              <a:t>consequat</a:t>
            </a:r>
            <a:r>
              <a:rPr lang="en-US" sz="1600">
                <a:latin typeface="+mj-lt"/>
              </a:rPr>
              <a:t>.</a:t>
            </a:r>
          </a:p>
          <a:p>
            <a:pPr>
              <a:lnSpc>
                <a:spcPct val="112000"/>
              </a:lnSpc>
              <a:spcBef>
                <a:spcPts val="1200"/>
              </a:spcBef>
              <a:defRPr/>
            </a:pPr>
            <a:r>
              <a:rPr lang="en-US" sz="1600">
                <a:latin typeface="+mj-lt"/>
              </a:rPr>
              <a:t>Duis </a:t>
            </a:r>
            <a:r>
              <a:rPr lang="en-US" sz="1600" err="1">
                <a:latin typeface="+mj-lt"/>
              </a:rPr>
              <a:t>aute</a:t>
            </a:r>
            <a:r>
              <a:rPr lang="en-US" sz="1600">
                <a:latin typeface="+mj-lt"/>
              </a:rPr>
              <a:t> </a:t>
            </a:r>
            <a:r>
              <a:rPr lang="en-US" sz="1600" err="1">
                <a:latin typeface="+mj-lt"/>
              </a:rPr>
              <a:t>irure</a:t>
            </a:r>
            <a:r>
              <a:rPr lang="en-US" sz="1600">
                <a:latin typeface="+mj-lt"/>
              </a:rPr>
              <a:t> dolor in </a:t>
            </a:r>
            <a:r>
              <a:rPr lang="en-US" sz="1600" err="1">
                <a:latin typeface="+mj-lt"/>
              </a:rPr>
              <a:t>reprehenderit</a:t>
            </a:r>
            <a:r>
              <a:rPr lang="en-US" sz="1600">
                <a:latin typeface="+mj-lt"/>
              </a:rPr>
              <a:t> in </a:t>
            </a:r>
            <a:r>
              <a:rPr lang="en-US" sz="1600" err="1">
                <a:latin typeface="+mj-lt"/>
              </a:rPr>
              <a:t>voluptate</a:t>
            </a:r>
            <a:r>
              <a:rPr lang="en-US" sz="1600">
                <a:latin typeface="+mj-lt"/>
              </a:rPr>
              <a:t> </a:t>
            </a:r>
            <a:r>
              <a:rPr lang="en-US" sz="1600" err="1">
                <a:latin typeface="+mj-lt"/>
              </a:rPr>
              <a:t>velit</a:t>
            </a:r>
            <a:r>
              <a:rPr lang="en-US" sz="1600">
                <a:latin typeface="+mj-lt"/>
              </a:rPr>
              <a:t> </a:t>
            </a:r>
            <a:r>
              <a:rPr lang="en-US" sz="1600" err="1">
                <a:latin typeface="+mj-lt"/>
              </a:rPr>
              <a:t>esse</a:t>
            </a:r>
            <a:r>
              <a:rPr lang="en-US" sz="1600">
                <a:latin typeface="+mj-lt"/>
              </a:rPr>
              <a:t> </a:t>
            </a:r>
            <a:r>
              <a:rPr lang="en-US" sz="1600" err="1">
                <a:latin typeface="+mj-lt"/>
              </a:rPr>
              <a:t>cillum</a:t>
            </a:r>
            <a:r>
              <a:rPr lang="en-US" sz="1600">
                <a:latin typeface="+mj-lt"/>
              </a:rPr>
              <a:t> dolore </a:t>
            </a:r>
            <a:r>
              <a:rPr lang="en-US" sz="1600" err="1">
                <a:latin typeface="+mj-lt"/>
              </a:rPr>
              <a:t>eu</a:t>
            </a:r>
            <a:r>
              <a:rPr lang="en-US" sz="1600">
                <a:latin typeface="+mj-lt"/>
              </a:rPr>
              <a:t> </a:t>
            </a:r>
            <a:r>
              <a:rPr lang="en-US" sz="1600" err="1">
                <a:latin typeface="+mj-lt"/>
              </a:rPr>
              <a:t>fugiat</a:t>
            </a:r>
            <a:r>
              <a:rPr lang="en-US" sz="1600">
                <a:latin typeface="+mj-lt"/>
              </a:rPr>
              <a:t> </a:t>
            </a:r>
            <a:r>
              <a:rPr lang="en-US" sz="1600" err="1">
                <a:latin typeface="+mj-lt"/>
              </a:rPr>
              <a:t>nulla</a:t>
            </a:r>
            <a:r>
              <a:rPr lang="en-US" sz="1600">
                <a:latin typeface="+mj-lt"/>
              </a:rPr>
              <a:t> </a:t>
            </a:r>
            <a:r>
              <a:rPr lang="en-US" sz="1600" err="1">
                <a:latin typeface="+mj-lt"/>
              </a:rPr>
              <a:t>pariatur</a:t>
            </a:r>
            <a:r>
              <a:rPr lang="en-US" sz="1600">
                <a:latin typeface="+mj-lt"/>
              </a:rPr>
              <a:t>. </a:t>
            </a:r>
            <a:r>
              <a:rPr lang="en-US" sz="1600" err="1">
                <a:latin typeface="+mj-lt"/>
              </a:rPr>
              <a:t>Excepteur</a:t>
            </a:r>
            <a:r>
              <a:rPr lang="en-US" sz="1600">
                <a:latin typeface="+mj-lt"/>
              </a:rPr>
              <a:t> </a:t>
            </a:r>
            <a:r>
              <a:rPr lang="en-US" sz="1600" err="1">
                <a:latin typeface="+mj-lt"/>
              </a:rPr>
              <a:t>sint</a:t>
            </a:r>
            <a:r>
              <a:rPr lang="en-US" sz="1600">
                <a:latin typeface="+mj-lt"/>
              </a:rPr>
              <a:t> </a:t>
            </a:r>
            <a:r>
              <a:rPr lang="en-US" sz="1600" err="1">
                <a:latin typeface="+mj-lt"/>
              </a:rPr>
              <a:t>occaecat</a:t>
            </a:r>
            <a:r>
              <a:rPr lang="en-US" sz="1600">
                <a:latin typeface="+mj-lt"/>
              </a:rPr>
              <a:t> </a:t>
            </a:r>
            <a:r>
              <a:rPr lang="en-US" sz="1600" err="1">
                <a:latin typeface="+mj-lt"/>
              </a:rPr>
              <a:t>cupidatat</a:t>
            </a:r>
            <a:r>
              <a:rPr lang="en-US" sz="1600">
                <a:latin typeface="+mj-lt"/>
              </a:rPr>
              <a:t> non </a:t>
            </a:r>
            <a:r>
              <a:rPr lang="en-US" sz="1600" err="1">
                <a:latin typeface="+mj-lt"/>
              </a:rPr>
              <a:t>proident</a:t>
            </a:r>
            <a:r>
              <a:rPr lang="en-US" sz="1600">
                <a:latin typeface="+mj-lt"/>
              </a:rPr>
              <a:t>, sunt in culpa qui </a:t>
            </a:r>
            <a:r>
              <a:rPr lang="en-US" sz="1600" err="1">
                <a:latin typeface="+mj-lt"/>
              </a:rPr>
              <a:t>officia</a:t>
            </a:r>
            <a:r>
              <a:rPr lang="en-US" sz="1600">
                <a:latin typeface="+mj-lt"/>
              </a:rPr>
              <a:t> </a:t>
            </a:r>
            <a:r>
              <a:rPr lang="en-US" sz="1600" err="1">
                <a:latin typeface="+mj-lt"/>
              </a:rPr>
              <a:t>deserunt</a:t>
            </a:r>
            <a:r>
              <a:rPr lang="en-US" sz="1600">
                <a:latin typeface="+mj-lt"/>
              </a:rPr>
              <a:t> </a:t>
            </a:r>
            <a:r>
              <a:rPr lang="en-US" sz="1600" err="1">
                <a:latin typeface="+mj-lt"/>
              </a:rPr>
              <a:t>mollit</a:t>
            </a:r>
            <a:r>
              <a:rPr lang="en-US" sz="1600">
                <a:latin typeface="+mj-lt"/>
              </a:rPr>
              <a:t> </a:t>
            </a:r>
            <a:r>
              <a:rPr lang="en-US" sz="1600" err="1">
                <a:latin typeface="+mj-lt"/>
              </a:rPr>
              <a:t>anim</a:t>
            </a:r>
            <a:r>
              <a:rPr lang="en-US" sz="1600">
                <a:latin typeface="+mj-lt"/>
              </a:rPr>
              <a:t> id </a:t>
            </a:r>
            <a:r>
              <a:rPr lang="en-US" sz="1600" err="1">
                <a:latin typeface="+mj-lt"/>
              </a:rPr>
              <a:t>est</a:t>
            </a:r>
            <a:r>
              <a:rPr lang="en-US" sz="1600">
                <a:latin typeface="+mj-lt"/>
              </a:rPr>
              <a:t> </a:t>
            </a:r>
            <a:r>
              <a:rPr lang="en-US" sz="1600" err="1">
                <a:latin typeface="+mj-lt"/>
              </a:rPr>
              <a:t>laborum</a:t>
            </a:r>
            <a:r>
              <a:rPr lang="en-US" sz="1600">
                <a:latin typeface="+mj-lt"/>
              </a:rPr>
              <a:t>.</a:t>
            </a:r>
          </a:p>
        </p:txBody>
      </p:sp>
    </p:spTree>
    <p:extLst>
      <p:ext uri="{BB962C8B-B14F-4D97-AF65-F5344CB8AC3E}">
        <p14:creationId xmlns:p14="http://schemas.microsoft.com/office/powerpoint/2010/main" val="203579213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3" name="Table 6">
            <a:extLst>
              <a:ext uri="{FF2B5EF4-FFF2-40B4-BE49-F238E27FC236}">
                <a16:creationId xmlns:a16="http://schemas.microsoft.com/office/drawing/2014/main" id="{79E7A71A-1BEF-74F0-C6C1-137598C82F72}"/>
              </a:ext>
            </a:extLst>
          </p:cNvPr>
          <p:cNvGraphicFramePr>
            <a:graphicFrameLocks noGrp="1"/>
          </p:cNvGraphicFramePr>
          <p:nvPr>
            <p:extLst>
              <p:ext uri="{D42A27DB-BD31-4B8C-83A1-F6EECF244321}">
                <p14:modId xmlns:p14="http://schemas.microsoft.com/office/powerpoint/2010/main" val="4017604500"/>
              </p:ext>
            </p:extLst>
          </p:nvPr>
        </p:nvGraphicFramePr>
        <p:xfrm>
          <a:off x="554991" y="1747278"/>
          <a:ext cx="11082019" cy="4234053"/>
        </p:xfrm>
        <a:graphic>
          <a:graphicData uri="http://schemas.openxmlformats.org/drawingml/2006/table">
            <a:tbl>
              <a:tblPr firstRow="1" bandRow="1">
                <a:tableStyleId>{073A0DAA-6AF3-43AB-8588-CEC1D06C72B9}</a:tableStyleId>
              </a:tblPr>
              <a:tblGrid>
                <a:gridCol w="1955734">
                  <a:extLst>
                    <a:ext uri="{9D8B030D-6E8A-4147-A177-3AD203B41FA5}">
                      <a16:colId xmlns:a16="http://schemas.microsoft.com/office/drawing/2014/main" val="3214227377"/>
                    </a:ext>
                  </a:extLst>
                </a:gridCol>
                <a:gridCol w="3042095">
                  <a:extLst>
                    <a:ext uri="{9D8B030D-6E8A-4147-A177-3AD203B41FA5}">
                      <a16:colId xmlns:a16="http://schemas.microsoft.com/office/drawing/2014/main" val="3478323516"/>
                    </a:ext>
                  </a:extLst>
                </a:gridCol>
                <a:gridCol w="3042095">
                  <a:extLst>
                    <a:ext uri="{9D8B030D-6E8A-4147-A177-3AD203B41FA5}">
                      <a16:colId xmlns:a16="http://schemas.microsoft.com/office/drawing/2014/main" val="3634470519"/>
                    </a:ext>
                  </a:extLst>
                </a:gridCol>
                <a:gridCol w="3042095">
                  <a:extLst>
                    <a:ext uri="{9D8B030D-6E8A-4147-A177-3AD203B41FA5}">
                      <a16:colId xmlns:a16="http://schemas.microsoft.com/office/drawing/2014/main" val="1758720560"/>
                    </a:ext>
                  </a:extLst>
                </a:gridCol>
              </a:tblGrid>
              <a:tr h="0">
                <a:tc>
                  <a:txBody>
                    <a:bodyPr/>
                    <a:lstStyle/>
                    <a:p>
                      <a:pPr algn="l">
                        <a:lnSpc>
                          <a:spcPct val="110000"/>
                        </a:lnSpc>
                      </a:pPr>
                      <a:endParaRPr lang="en-US" sz="1400" b="1" i="0">
                        <a:latin typeface="Poppins SemiBold" pitchFamily="2" charset="77"/>
                        <a:cs typeface="Poppins SemiBold" pitchFamily="2" charset="77"/>
                      </a:endParaRPr>
                    </a:p>
                  </a:txBody>
                  <a:tcPr marL="111556" marR="111556" marT="137160" marB="137160" anchor="ctr">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10000"/>
                        </a:lnSpc>
                      </a:pPr>
                      <a:r>
                        <a:rPr lang="en-US" sz="1400" b="1" i="0" kern="1200">
                          <a:solidFill>
                            <a:schemeClr val="lt1"/>
                          </a:solidFill>
                          <a:latin typeface="Poppins SemiBold" pitchFamily="2" charset="77"/>
                          <a:ea typeface="+mn-ea"/>
                          <a:cs typeface="Poppins SemiBold" pitchFamily="2" charset="77"/>
                        </a:rPr>
                        <a:t>Lorem ipsum dolor sit amet</a:t>
                      </a:r>
                    </a:p>
                  </a:txBody>
                  <a:tcPr marL="111556" marR="111556" marT="137160" marB="137160" anchor="ctr">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l">
                        <a:lnSpc>
                          <a:spcPct val="110000"/>
                        </a:lnSpc>
                      </a:pPr>
                      <a:r>
                        <a:rPr lang="en-US" sz="1400" b="1" i="0">
                          <a:latin typeface="Poppins SemiBold" pitchFamily="2" charset="77"/>
                          <a:cs typeface="Poppins SemiBold" pitchFamily="2" charset="77"/>
                        </a:rPr>
                        <a:t>Lorem ipsum dolor sit amet</a:t>
                      </a:r>
                    </a:p>
                  </a:txBody>
                  <a:tcPr marL="111556" marR="111556" marT="137160" marB="137160" anchor="ctr">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l">
                        <a:lnSpc>
                          <a:spcPct val="110000"/>
                        </a:lnSpc>
                      </a:pPr>
                      <a:r>
                        <a:rPr lang="en-US" sz="1400" b="1" i="0">
                          <a:latin typeface="Poppins SemiBold" pitchFamily="2" charset="77"/>
                          <a:cs typeface="Poppins SemiBold" pitchFamily="2" charset="77"/>
                        </a:rPr>
                        <a:t>Lorem ipsum dolor sit </a:t>
                      </a:r>
                      <a:r>
                        <a:rPr lang="en-US" sz="1400" b="1" i="0" err="1">
                          <a:latin typeface="Poppins SemiBold" pitchFamily="2" charset="77"/>
                          <a:cs typeface="Poppins SemiBold" pitchFamily="2" charset="77"/>
                        </a:rPr>
                        <a:t>amet</a:t>
                      </a:r>
                      <a:endParaRPr lang="en-US" sz="1400" b="1" i="0">
                        <a:latin typeface="Poppins SemiBold" pitchFamily="2" charset="77"/>
                        <a:cs typeface="Poppins SemiBold" pitchFamily="2" charset="77"/>
                      </a:endParaRPr>
                    </a:p>
                  </a:txBody>
                  <a:tcPr marL="111556" marR="111556" marT="137160" marB="137160" anchor="ctr">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672505719"/>
                  </a:ext>
                </a:extLst>
              </a:tr>
              <a:tr h="0">
                <a:tc>
                  <a:txBody>
                    <a:bodyPr/>
                    <a:lstStyle/>
                    <a:p>
                      <a:pPr marL="0" marR="0" lvl="0" indent="0" algn="l" defTabSz="914377"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Poppins SemiBold" pitchFamily="2" charset="77"/>
                          <a:ea typeface="+mn-ea"/>
                          <a:cs typeface="Poppins SemiBold" pitchFamily="2" charset="77"/>
                        </a:rPr>
                        <a:t>Lorem Ipsum Dolor</a:t>
                      </a:r>
                    </a:p>
                  </a:txBody>
                  <a:tcPr marL="111556" marR="111556" marT="137160" marB="13716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lnSpc>
                          <a:spcPct val="110000"/>
                        </a:lnSpc>
                      </a:pP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Lorem ipsum dolor sit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amet</a:t>
                      </a:r>
                      <a:endParaRPr lang="en-US" sz="1100">
                        <a:solidFill>
                          <a:schemeClr val="tx1"/>
                        </a:solidFill>
                        <a:latin typeface="Poppins" pitchFamily="2" charset="77"/>
                        <a:cs typeface="Poppins" pitchFamily="2" charset="77"/>
                      </a:endParaRPr>
                    </a:p>
                  </a:txBody>
                  <a:tcPr marL="111556" marR="111556" marT="137160" marB="13716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377"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Lorem ipsum dolor sit amet</a:t>
                      </a:r>
                    </a:p>
                  </a:txBody>
                  <a:tcPr marL="111556" marR="111556" marT="137160" marB="13716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377"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Lorem ipsum dolor sit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amet</a:t>
                      </a:r>
                      <a:endPar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endParaRPr>
                    </a:p>
                  </a:txBody>
                  <a:tcPr marL="111556" marR="111556" marT="137160" marB="13716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244635319"/>
                  </a:ext>
                </a:extLst>
              </a:tr>
              <a:tr h="0">
                <a:tc>
                  <a:txBody>
                    <a:bodyPr/>
                    <a:lstStyle/>
                    <a:p>
                      <a:pPr marL="0" marR="0" lvl="0" indent="0" algn="l" defTabSz="914377"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Poppins SemiBold" pitchFamily="2" charset="77"/>
                          <a:ea typeface="+mn-ea"/>
                          <a:cs typeface="Poppins SemiBold" pitchFamily="2" charset="77"/>
                        </a:rPr>
                        <a:t>Lorem Ipsum Dolor</a:t>
                      </a:r>
                    </a:p>
                  </a:txBody>
                  <a:tcPr marL="111556" marR="111556" marT="137160" marB="13716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Lorem ipsum dolor sit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amet</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consectetur</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adipiscing</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elit</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sed do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eiusmod</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tempor</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incididunt</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ut</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labore et dolore magna</a:t>
                      </a:r>
                    </a:p>
                  </a:txBody>
                  <a:tcPr marL="111556" marR="111556" marT="137160" marB="13716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Lorem ipsum dolor sit amet, consectetur adipiscing elit, sed do eiusmod tempor incididunt ut labore et dolore magna</a:t>
                      </a:r>
                    </a:p>
                  </a:txBody>
                  <a:tcPr marL="111556" marR="111556" marT="137160" marB="13716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Lorem ipsum dolor sit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amet</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consectetur</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adipiscing</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elit</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sed do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eiusmod</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tempor</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incididunt</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ut</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labore et dolore magna</a:t>
                      </a:r>
                    </a:p>
                  </a:txBody>
                  <a:tcPr marL="111556" marR="111556" marT="137160" marB="13716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91722009"/>
                  </a:ext>
                </a:extLst>
              </a:tr>
              <a:tr h="0">
                <a:tc>
                  <a:txBody>
                    <a:bodyPr/>
                    <a:lstStyle/>
                    <a:p>
                      <a:pPr marL="0" marR="0" lvl="0" indent="0" algn="l" defTabSz="914377"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Poppins SemiBold" pitchFamily="2" charset="77"/>
                          <a:ea typeface="+mn-ea"/>
                          <a:cs typeface="Poppins SemiBold" pitchFamily="2" charset="77"/>
                        </a:rPr>
                        <a:t>Lorem Ipsum Dolor</a:t>
                      </a:r>
                    </a:p>
                  </a:txBody>
                  <a:tcPr marL="111556" marR="111556" marT="137160" marB="137160" anchor="ctr">
                    <a:lnL w="12700" cmpd="sng">
                      <a:noFill/>
                    </a:lnL>
                    <a:lnR w="12700" cmpd="sng">
                      <a:noFill/>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Lorem ipsum dolor sit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amet</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consectetur</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adipiscing</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elit</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sed do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eiusmod</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tempor</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incididunt</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ut</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labore et dolore magna</a:t>
                      </a:r>
                    </a:p>
                  </a:txBody>
                  <a:tcPr marL="111556" marR="111556" marT="137160" marB="137160" anchor="ctr">
                    <a:lnL w="12700" cmpd="sng">
                      <a:noFill/>
                    </a:lnL>
                    <a:lnR w="12700" cmpd="sng">
                      <a:noFill/>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Lorem ipsum dolor sit amet, consectetur adipiscing elit, sed do eiusmod tempor incididunt ut labore et dolore magna</a:t>
                      </a:r>
                    </a:p>
                  </a:txBody>
                  <a:tcPr marL="111556" marR="111556" marT="137160" marB="137160" anchor="ctr">
                    <a:lnL w="12700" cmpd="sng">
                      <a:noFill/>
                    </a:lnL>
                    <a:lnR w="12700" cmpd="sng">
                      <a:noFill/>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Lorem ipsum dolor sit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amet</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consectetur</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adipiscing</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elit</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sed do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eiusmod</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tempor</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incididunt</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ut</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labore et dolore magna</a:t>
                      </a:r>
                    </a:p>
                  </a:txBody>
                  <a:tcPr marL="111556" marR="111556" marT="137160" marB="137160" anchor="ctr">
                    <a:lnL w="12700" cmpd="sng">
                      <a:noFill/>
                    </a:lnL>
                    <a:lnR w="12700" cmpd="sng">
                      <a:noFill/>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24690203"/>
                  </a:ext>
                </a:extLst>
              </a:tr>
              <a:tr h="0">
                <a:tc>
                  <a:txBody>
                    <a:bodyPr/>
                    <a:lstStyle/>
                    <a:p>
                      <a:pPr marL="0" marR="0" lvl="0" indent="0" algn="l" defTabSz="914377"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Poppins SemiBold" pitchFamily="2" charset="77"/>
                          <a:ea typeface="+mn-ea"/>
                          <a:cs typeface="Poppins SemiBold" pitchFamily="2" charset="77"/>
                        </a:rPr>
                        <a:t>Lorem Ipsum Dolor</a:t>
                      </a:r>
                    </a:p>
                  </a:txBody>
                  <a:tcPr marL="111556" marR="111556" marT="137160" marB="137160" anchor="ctr">
                    <a:lnL w="12700" cmpd="sng">
                      <a:noFill/>
                    </a:lnL>
                    <a:lnR w="12700" cmpd="sng">
                      <a:noFill/>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Lorem ipsum dolor sit amet, consectetur adipiscing elit, sed do eiusmod tempor incididunt ut labore et dolore magna</a:t>
                      </a:r>
                    </a:p>
                  </a:txBody>
                  <a:tcPr marL="111556" marR="111556" marT="137160" marB="137160" anchor="ctr">
                    <a:lnL w="12700" cmpd="sng">
                      <a:noFill/>
                    </a:lnL>
                    <a:lnR w="12700" cmpd="sng">
                      <a:noFill/>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Lorem ipsum dolor sit amet, consectetur adipiscing elit, sed do eiusmod tempor incididunt ut labore et dolore magna</a:t>
                      </a:r>
                    </a:p>
                  </a:txBody>
                  <a:tcPr marL="111556" marR="111556" marT="137160" marB="137160" anchor="ctr">
                    <a:lnL w="12700" cmpd="sng">
                      <a:noFill/>
                    </a:lnL>
                    <a:lnR w="12700" cmpd="sng">
                      <a:noFill/>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Lorem ipsum dolor sit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amet</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consectetur</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adipiscing</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elit</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sed do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eiusmod</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tempor</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incididunt</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ut</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labore et dolore magna</a:t>
                      </a:r>
                    </a:p>
                  </a:txBody>
                  <a:tcPr marL="111556" marR="111556" marT="137160" marB="137160" anchor="ctr">
                    <a:lnL w="12700" cmpd="sng">
                      <a:noFill/>
                    </a:lnL>
                    <a:lnR w="12700" cmpd="sng">
                      <a:noFill/>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38405630"/>
                  </a:ext>
                </a:extLst>
              </a:tr>
              <a:tr h="0">
                <a:tc>
                  <a:txBody>
                    <a:bodyPr/>
                    <a:lstStyle/>
                    <a:p>
                      <a:pPr marL="0" marR="0" lvl="0" indent="0" algn="l" defTabSz="914377"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Poppins SemiBold" pitchFamily="2" charset="77"/>
                          <a:ea typeface="+mn-ea"/>
                          <a:cs typeface="Poppins SemiBold" pitchFamily="2" charset="77"/>
                        </a:rPr>
                        <a:t>Lorem Ipsum Dolor</a:t>
                      </a:r>
                    </a:p>
                  </a:txBody>
                  <a:tcPr marL="111556" marR="111556" marT="137160" marB="137160" anchor="ctr">
                    <a:lnL w="12700" cmpd="sng">
                      <a:noFill/>
                    </a:lnL>
                    <a:lnR w="12700" cmpd="sng">
                      <a:noFill/>
                    </a:lnR>
                    <a:lnT w="12700" cap="flat" cmpd="sng" algn="ctr">
                      <a:solidFill>
                        <a:schemeClr val="bg1">
                          <a:lumMod val="75000"/>
                        </a:schemeClr>
                      </a:solidFill>
                      <a:prstDash val="sysDot"/>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Lorem ipsum dolor sit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amet</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consectetur</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adipiscing</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elit</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sed do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eiusmod</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tempor</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incididunt</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ut</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labore et dolore magna</a:t>
                      </a:r>
                    </a:p>
                  </a:txBody>
                  <a:tcPr marL="111556" marR="111556" marT="137160" marB="137160" anchor="ctr">
                    <a:lnL w="12700" cmpd="sng">
                      <a:noFill/>
                    </a:lnL>
                    <a:lnR w="12700" cmpd="sng">
                      <a:noFill/>
                    </a:lnR>
                    <a:lnT w="12700" cap="flat" cmpd="sng" algn="ctr">
                      <a:solidFill>
                        <a:schemeClr val="bg1">
                          <a:lumMod val="75000"/>
                        </a:schemeClr>
                      </a:solidFill>
                      <a:prstDash val="sysDot"/>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Lorem ipsum dolor sit amet, consectetur adipiscing elit, sed do eiusmod tempor incididunt ut labore et dolore magna</a:t>
                      </a:r>
                    </a:p>
                  </a:txBody>
                  <a:tcPr marL="111556" marR="111556" marT="137160" marB="137160" anchor="ctr">
                    <a:lnL w="12700" cmpd="sng">
                      <a:noFill/>
                    </a:lnL>
                    <a:lnR w="12700" cmpd="sng">
                      <a:noFill/>
                    </a:lnR>
                    <a:lnT w="12700" cap="flat" cmpd="sng" algn="ctr">
                      <a:solidFill>
                        <a:schemeClr val="bg1">
                          <a:lumMod val="75000"/>
                        </a:schemeClr>
                      </a:solidFill>
                      <a:prstDash val="sysDot"/>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Lorem ipsum dolor sit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amet</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consectetur</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adipiscing</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elit</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sed do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eiusmod</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tempor</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incididunt</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a:t>
                      </a:r>
                      <a:r>
                        <a:rPr kumimoji="0" lang="en-US" sz="1100" b="0" i="0" u="none" strike="noStrike" kern="1200" cap="none" spc="0" normalizeH="0" baseline="0" noProof="0" err="1">
                          <a:ln>
                            <a:noFill/>
                          </a:ln>
                          <a:solidFill>
                            <a:prstClr val="black"/>
                          </a:solidFill>
                          <a:effectLst/>
                          <a:uLnTx/>
                          <a:uFillTx/>
                          <a:latin typeface="Poppins" pitchFamily="2" charset="77"/>
                          <a:ea typeface="+mn-ea"/>
                          <a:cs typeface="Poppins" pitchFamily="2" charset="77"/>
                        </a:rPr>
                        <a:t>ut</a:t>
                      </a:r>
                      <a:r>
                        <a:rPr kumimoji="0" lang="en-US" sz="1100" b="0" i="0" u="none" strike="noStrike" kern="1200" cap="none" spc="0" normalizeH="0" baseline="0" noProof="0">
                          <a:ln>
                            <a:noFill/>
                          </a:ln>
                          <a:solidFill>
                            <a:prstClr val="black"/>
                          </a:solidFill>
                          <a:effectLst/>
                          <a:uLnTx/>
                          <a:uFillTx/>
                          <a:latin typeface="Poppins" pitchFamily="2" charset="77"/>
                          <a:ea typeface="+mn-ea"/>
                          <a:cs typeface="Poppins" pitchFamily="2" charset="77"/>
                        </a:rPr>
                        <a:t> labore et dolore magna</a:t>
                      </a:r>
                    </a:p>
                  </a:txBody>
                  <a:tcPr marL="111556" marR="111556" marT="137160" marB="137160" anchor="ctr">
                    <a:lnL w="12700" cmpd="sng">
                      <a:noFill/>
                    </a:lnL>
                    <a:lnR w="12700" cmpd="sng">
                      <a:noFill/>
                    </a:lnR>
                    <a:lnT w="12700" cap="flat" cmpd="sng" algn="ctr">
                      <a:solidFill>
                        <a:schemeClr val="bg1">
                          <a:lumMod val="75000"/>
                        </a:schemeClr>
                      </a:solidFill>
                      <a:prstDash val="sysDot"/>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73905573"/>
                  </a:ext>
                </a:extLst>
              </a:tr>
            </a:tbl>
          </a:graphicData>
        </a:graphic>
      </p:graphicFrame>
      <p:sp>
        <p:nvSpPr>
          <p:cNvPr id="5" name="Title 1">
            <a:extLst>
              <a:ext uri="{FF2B5EF4-FFF2-40B4-BE49-F238E27FC236}">
                <a16:creationId xmlns:a16="http://schemas.microsoft.com/office/drawing/2014/main" id="{39078ACC-B664-9E8B-59B3-BC833C4138D4}"/>
              </a:ext>
            </a:extLst>
          </p:cNvPr>
          <p:cNvSpPr txBox="1">
            <a:spLocks/>
          </p:cNvSpPr>
          <p:nvPr/>
        </p:nvSpPr>
        <p:spPr>
          <a:xfrm>
            <a:off x="554989" y="771015"/>
            <a:ext cx="11082019" cy="547842"/>
          </a:xfrm>
          <a:prstGeom prst="rect">
            <a:avLst/>
          </a:prstGeom>
        </p:spPr>
        <p:txBody>
          <a:bodyPr vert="horz" lIns="91440" tIns="45720" rIns="91440" bIns="45720" rtlCol="0" anchor="t">
            <a:spAutoFit/>
          </a:bodyPr>
          <a:lstStyle>
            <a:lvl1pPr algn="l" defTabSz="914377" rtl="0" eaLnBrk="1" latinLnBrk="0" hangingPunct="1">
              <a:lnSpc>
                <a:spcPct val="90000"/>
              </a:lnSpc>
              <a:spcBef>
                <a:spcPct val="0"/>
              </a:spcBef>
              <a:buNone/>
              <a:defRPr sz="3200" b="1" kern="1200">
                <a:solidFill>
                  <a:schemeClr val="accent4"/>
                </a:solidFill>
                <a:latin typeface="Poppins" panose="00000500000000000000" pitchFamily="2" charset="0"/>
                <a:ea typeface="+mj-ea"/>
                <a:cs typeface="Poppins" panose="00000500000000000000" pitchFamily="2" charset="0"/>
              </a:defRPr>
            </a:lvl1pPr>
          </a:lstStyle>
          <a:p>
            <a:pPr algn="ctr"/>
            <a:r>
              <a:rPr lang="en-US" dirty="0">
                <a:solidFill>
                  <a:schemeClr val="accent1"/>
                </a:solidFill>
              </a:rPr>
              <a:t>Lorem ipsum dolor sit </a:t>
            </a:r>
            <a:r>
              <a:rPr lang="en-US" dirty="0" err="1">
                <a:solidFill>
                  <a:schemeClr val="accent1"/>
                </a:solidFill>
              </a:rPr>
              <a:t>amet</a:t>
            </a:r>
            <a:r>
              <a:rPr lang="en-US" dirty="0">
                <a:solidFill>
                  <a:schemeClr val="accent1"/>
                </a:solidFill>
              </a:rPr>
              <a:t>, </a:t>
            </a:r>
            <a:r>
              <a:rPr lang="en-US" dirty="0" err="1">
                <a:solidFill>
                  <a:schemeClr val="accent1"/>
                </a:solidFill>
              </a:rPr>
              <a:t>consectetur</a:t>
            </a:r>
            <a:r>
              <a:rPr lang="en-US" dirty="0">
                <a:solidFill>
                  <a:schemeClr val="accent1"/>
                </a:solidFill>
              </a:rPr>
              <a:t> </a:t>
            </a:r>
            <a:r>
              <a:rPr lang="en-US" dirty="0" err="1">
                <a:solidFill>
                  <a:schemeClr val="accent1"/>
                </a:solidFill>
              </a:rPr>
              <a:t>adipiscing</a:t>
            </a:r>
            <a:endParaRPr lang="en-US" dirty="0">
              <a:solidFill>
                <a:schemeClr val="accent1"/>
              </a:solidFill>
            </a:endParaRPr>
          </a:p>
        </p:txBody>
      </p:sp>
    </p:spTree>
    <p:extLst>
      <p:ext uri="{BB962C8B-B14F-4D97-AF65-F5344CB8AC3E}">
        <p14:creationId xmlns:p14="http://schemas.microsoft.com/office/powerpoint/2010/main" val="80574064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295C13D-973A-B318-2B14-225A7E6299C5}"/>
              </a:ext>
            </a:extLst>
          </p:cNvPr>
          <p:cNvSpPr/>
          <p:nvPr/>
        </p:nvSpPr>
        <p:spPr>
          <a:xfrm>
            <a:off x="0" y="-1"/>
            <a:ext cx="12191999" cy="3517901"/>
          </a:xfrm>
          <a:prstGeom prst="rect">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r>
              <a:rPr lang="en-US">
                <a:solidFill>
                  <a:schemeClr val="bg1">
                    <a:lumMod val="75000"/>
                  </a:schemeClr>
                </a:solidFill>
              </a:rPr>
              <a:t>IMAGE</a:t>
            </a:r>
          </a:p>
        </p:txBody>
      </p:sp>
      <p:sp>
        <p:nvSpPr>
          <p:cNvPr id="8" name="Rectangle 7">
            <a:extLst>
              <a:ext uri="{FF2B5EF4-FFF2-40B4-BE49-F238E27FC236}">
                <a16:creationId xmlns:a16="http://schemas.microsoft.com/office/drawing/2014/main" id="{311855DF-A1BA-D8BB-2CE1-DCAE409E3590}"/>
              </a:ext>
            </a:extLst>
          </p:cNvPr>
          <p:cNvSpPr/>
          <p:nvPr/>
        </p:nvSpPr>
        <p:spPr>
          <a:xfrm>
            <a:off x="-17344" y="522514"/>
            <a:ext cx="12209344" cy="2995386"/>
          </a:xfrm>
          <a:prstGeom prst="rect">
            <a:avLst/>
          </a:prstGeom>
          <a:gradFill>
            <a:gsLst>
              <a:gs pos="0">
                <a:schemeClr val="tx1">
                  <a:alpha val="0"/>
                </a:schemeClr>
              </a:gs>
              <a:gs pos="45000">
                <a:srgbClr val="000000">
                  <a:alpha val="46000"/>
                </a:srgbClr>
              </a:gs>
              <a:gs pos="90000">
                <a:schemeClr val="tx1"/>
              </a:gs>
            </a:gsLst>
            <a:lin ang="5400000" scaled="1"/>
          </a:gra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US" err="1"/>
          </a:p>
        </p:txBody>
      </p:sp>
      <p:grpSp>
        <p:nvGrpSpPr>
          <p:cNvPr id="14" name="Group 13">
            <a:extLst>
              <a:ext uri="{FF2B5EF4-FFF2-40B4-BE49-F238E27FC236}">
                <a16:creationId xmlns:a16="http://schemas.microsoft.com/office/drawing/2014/main" id="{712D833B-0E0A-7388-B335-97BC1D7D9DA2}"/>
              </a:ext>
            </a:extLst>
          </p:cNvPr>
          <p:cNvGrpSpPr/>
          <p:nvPr/>
        </p:nvGrpSpPr>
        <p:grpSpPr>
          <a:xfrm>
            <a:off x="838201" y="2414338"/>
            <a:ext cx="10515600" cy="3581190"/>
            <a:chOff x="662614" y="1977701"/>
            <a:chExt cx="8566655" cy="3355009"/>
          </a:xfrm>
        </p:grpSpPr>
        <p:sp>
          <p:nvSpPr>
            <p:cNvPr id="15" name="Rectangle: Rounded Corners 14">
              <a:extLst>
                <a:ext uri="{FF2B5EF4-FFF2-40B4-BE49-F238E27FC236}">
                  <a16:creationId xmlns:a16="http://schemas.microsoft.com/office/drawing/2014/main" id="{2F9ADC04-F605-D105-E44E-D9BEDF6C6D40}"/>
                </a:ext>
              </a:extLst>
            </p:cNvPr>
            <p:cNvSpPr/>
            <p:nvPr/>
          </p:nvSpPr>
          <p:spPr>
            <a:xfrm>
              <a:off x="662614" y="1977701"/>
              <a:ext cx="2626685" cy="3355009"/>
            </a:xfrm>
            <a:prstGeom prst="roundRect">
              <a:avLst>
                <a:gd name="adj" fmla="val 0"/>
              </a:avLst>
            </a:prstGeom>
            <a:solidFill>
              <a:schemeClr val="bg1">
                <a:lumMod val="95000"/>
              </a:schemeClr>
            </a:solidFill>
            <a:ln w="12700">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US" err="1"/>
            </a:p>
          </p:txBody>
        </p:sp>
        <p:sp>
          <p:nvSpPr>
            <p:cNvPr id="16" name="Rectangle: Rounded Corners 15">
              <a:extLst>
                <a:ext uri="{FF2B5EF4-FFF2-40B4-BE49-F238E27FC236}">
                  <a16:creationId xmlns:a16="http://schemas.microsoft.com/office/drawing/2014/main" id="{5964D531-D41E-048A-C83E-8C2F22A18F51}"/>
                </a:ext>
              </a:extLst>
            </p:cNvPr>
            <p:cNvSpPr/>
            <p:nvPr/>
          </p:nvSpPr>
          <p:spPr>
            <a:xfrm>
              <a:off x="3632599" y="1977701"/>
              <a:ext cx="2626685" cy="3355009"/>
            </a:xfrm>
            <a:prstGeom prst="roundRect">
              <a:avLst>
                <a:gd name="adj" fmla="val 0"/>
              </a:avLst>
            </a:prstGeom>
            <a:solidFill>
              <a:schemeClr val="bg1">
                <a:lumMod val="95000"/>
              </a:schemeClr>
            </a:solidFill>
            <a:ln w="12700">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US" err="1"/>
            </a:p>
          </p:txBody>
        </p:sp>
        <p:sp>
          <p:nvSpPr>
            <p:cNvPr id="17" name="Rectangle: Rounded Corners 16">
              <a:extLst>
                <a:ext uri="{FF2B5EF4-FFF2-40B4-BE49-F238E27FC236}">
                  <a16:creationId xmlns:a16="http://schemas.microsoft.com/office/drawing/2014/main" id="{C25BF4C4-FD8E-E274-01B3-FAE9F851236E}"/>
                </a:ext>
              </a:extLst>
            </p:cNvPr>
            <p:cNvSpPr/>
            <p:nvPr/>
          </p:nvSpPr>
          <p:spPr>
            <a:xfrm>
              <a:off x="6602584" y="1977701"/>
              <a:ext cx="2626685" cy="3355009"/>
            </a:xfrm>
            <a:prstGeom prst="roundRect">
              <a:avLst>
                <a:gd name="adj" fmla="val 0"/>
              </a:avLst>
            </a:prstGeom>
            <a:solidFill>
              <a:schemeClr val="bg1">
                <a:lumMod val="95000"/>
              </a:schemeClr>
            </a:solidFill>
            <a:ln w="12700">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US" err="1"/>
            </a:p>
          </p:txBody>
        </p:sp>
      </p:grpSp>
      <p:sp>
        <p:nvSpPr>
          <p:cNvPr id="4" name="Rectangle 3">
            <a:extLst>
              <a:ext uri="{FF2B5EF4-FFF2-40B4-BE49-F238E27FC236}">
                <a16:creationId xmlns:a16="http://schemas.microsoft.com/office/drawing/2014/main" id="{ADC3ADD5-4B30-DDD2-880E-BB0546A3AABC}"/>
              </a:ext>
            </a:extLst>
          </p:cNvPr>
          <p:cNvSpPr/>
          <p:nvPr/>
        </p:nvSpPr>
        <p:spPr>
          <a:xfrm>
            <a:off x="1015140" y="3006740"/>
            <a:ext cx="2889202" cy="2661434"/>
          </a:xfrm>
          <a:prstGeom prst="rect">
            <a:avLst/>
          </a:prstGeom>
        </p:spPr>
        <p:txBody>
          <a:bodyPr wrap="square">
            <a:spAutoFit/>
          </a:bodyPr>
          <a:lstStyle/>
          <a:p>
            <a:pPr algn="ctr" fontAlgn="base">
              <a:lnSpc>
                <a:spcPct val="125000"/>
              </a:lnSpc>
              <a:spcBef>
                <a:spcPct val="0"/>
              </a:spcBef>
              <a:spcAft>
                <a:spcPct val="0"/>
              </a:spcAft>
            </a:pPr>
            <a:r>
              <a:rPr lang="en-US" dirty="0">
                <a:solidFill>
                  <a:schemeClr val="accent1"/>
                </a:solidFill>
                <a:latin typeface="Poppins SemiBold" panose="00000700000000000000" pitchFamily="2" charset="0"/>
                <a:cs typeface="Poppins SemiBold" panose="00000700000000000000" pitchFamily="2" charset="0"/>
              </a:rPr>
              <a:t>Insert headline here</a:t>
            </a:r>
          </a:p>
          <a:p>
            <a:pPr algn="ctr" fontAlgn="base">
              <a:lnSpc>
                <a:spcPct val="125000"/>
              </a:lnSpc>
              <a:spcBef>
                <a:spcPct val="0"/>
              </a:spcBef>
              <a:spcAft>
                <a:spcPct val="0"/>
              </a:spcAft>
            </a:pPr>
            <a:endParaRPr lang="en-US" sz="300" dirty="0">
              <a:latin typeface="+mj-lt"/>
            </a:endParaRPr>
          </a:p>
          <a:p>
            <a:pPr algn="ctr" fontAlgn="base">
              <a:lnSpc>
                <a:spcPct val="112000"/>
              </a:lnSpc>
              <a:spcBef>
                <a:spcPct val="0"/>
              </a:spcBef>
              <a:spcAft>
                <a:spcPct val="0"/>
              </a:spcAft>
            </a:pPr>
            <a:r>
              <a:rPr lang="en-US" sz="1400" dirty="0">
                <a:latin typeface="+mj-lt"/>
              </a:rPr>
              <a:t>The point of using Lorem Ipsum is that it has a more-or-less normal distribution of letters, as opposed to using 'Content here, content here', making it look like readable English. Many web page editors now use Lorem Ipsum as their default model text.</a:t>
            </a:r>
          </a:p>
        </p:txBody>
      </p:sp>
      <p:sp>
        <p:nvSpPr>
          <p:cNvPr id="5" name="Rectangle 4">
            <a:extLst>
              <a:ext uri="{FF2B5EF4-FFF2-40B4-BE49-F238E27FC236}">
                <a16:creationId xmlns:a16="http://schemas.microsoft.com/office/drawing/2014/main" id="{9AE10FBF-F59E-4114-9D1D-E12B96A082C9}"/>
              </a:ext>
            </a:extLst>
          </p:cNvPr>
          <p:cNvSpPr/>
          <p:nvPr/>
        </p:nvSpPr>
        <p:spPr>
          <a:xfrm>
            <a:off x="4660069" y="3006740"/>
            <a:ext cx="2889202" cy="2661434"/>
          </a:xfrm>
          <a:prstGeom prst="rect">
            <a:avLst/>
          </a:prstGeom>
        </p:spPr>
        <p:txBody>
          <a:bodyPr wrap="square">
            <a:spAutoFit/>
          </a:bodyPr>
          <a:lstStyle/>
          <a:p>
            <a:pPr algn="ctr" fontAlgn="base">
              <a:lnSpc>
                <a:spcPct val="125000"/>
              </a:lnSpc>
              <a:spcBef>
                <a:spcPct val="0"/>
              </a:spcBef>
              <a:spcAft>
                <a:spcPct val="0"/>
              </a:spcAft>
            </a:pPr>
            <a:r>
              <a:rPr lang="en-US">
                <a:solidFill>
                  <a:schemeClr val="accent1"/>
                </a:solidFill>
                <a:latin typeface="Poppins SemiBold" panose="00000700000000000000" pitchFamily="2" charset="0"/>
                <a:cs typeface="Poppins SemiBold" panose="00000700000000000000" pitchFamily="2" charset="0"/>
              </a:rPr>
              <a:t>Insert headline here</a:t>
            </a:r>
          </a:p>
          <a:p>
            <a:pPr algn="ctr" fontAlgn="base">
              <a:lnSpc>
                <a:spcPct val="125000"/>
              </a:lnSpc>
              <a:spcBef>
                <a:spcPct val="0"/>
              </a:spcBef>
              <a:spcAft>
                <a:spcPct val="0"/>
              </a:spcAft>
            </a:pPr>
            <a:endParaRPr lang="en-US" sz="300">
              <a:latin typeface="+mj-lt"/>
            </a:endParaRPr>
          </a:p>
          <a:p>
            <a:pPr algn="ctr" fontAlgn="base">
              <a:lnSpc>
                <a:spcPct val="112000"/>
              </a:lnSpc>
              <a:spcBef>
                <a:spcPct val="0"/>
              </a:spcBef>
              <a:spcAft>
                <a:spcPct val="0"/>
              </a:spcAft>
            </a:pPr>
            <a:r>
              <a:rPr lang="en-US" sz="1400">
                <a:latin typeface="+mj-lt"/>
              </a:rPr>
              <a:t>The point of using Lorem Ipsum is that it has a more-or-less normal distribution of letters, as opposed to using 'Content here, content here', making it look like readable English. Many web page editors now use Lorem Ipsum as their default model text.</a:t>
            </a:r>
          </a:p>
        </p:txBody>
      </p:sp>
      <p:sp>
        <p:nvSpPr>
          <p:cNvPr id="6" name="Rectangle 5">
            <a:extLst>
              <a:ext uri="{FF2B5EF4-FFF2-40B4-BE49-F238E27FC236}">
                <a16:creationId xmlns:a16="http://schemas.microsoft.com/office/drawing/2014/main" id="{E4CC0D66-6E5D-44B7-76CF-A167E90BBBF7}"/>
              </a:ext>
            </a:extLst>
          </p:cNvPr>
          <p:cNvSpPr/>
          <p:nvPr/>
        </p:nvSpPr>
        <p:spPr>
          <a:xfrm>
            <a:off x="8303530" y="3006740"/>
            <a:ext cx="2889202" cy="2661434"/>
          </a:xfrm>
          <a:prstGeom prst="rect">
            <a:avLst/>
          </a:prstGeom>
        </p:spPr>
        <p:txBody>
          <a:bodyPr wrap="square">
            <a:spAutoFit/>
          </a:bodyPr>
          <a:lstStyle/>
          <a:p>
            <a:pPr algn="ctr" fontAlgn="base">
              <a:lnSpc>
                <a:spcPct val="125000"/>
              </a:lnSpc>
              <a:spcBef>
                <a:spcPct val="0"/>
              </a:spcBef>
              <a:spcAft>
                <a:spcPct val="0"/>
              </a:spcAft>
            </a:pPr>
            <a:r>
              <a:rPr lang="en-US">
                <a:solidFill>
                  <a:schemeClr val="accent1"/>
                </a:solidFill>
                <a:latin typeface="Poppins SemiBold" panose="00000700000000000000" pitchFamily="2" charset="0"/>
                <a:cs typeface="Poppins SemiBold" panose="00000700000000000000" pitchFamily="2" charset="0"/>
              </a:rPr>
              <a:t>Insert headline here</a:t>
            </a:r>
          </a:p>
          <a:p>
            <a:pPr algn="ctr" fontAlgn="base">
              <a:lnSpc>
                <a:spcPct val="125000"/>
              </a:lnSpc>
              <a:spcBef>
                <a:spcPct val="0"/>
              </a:spcBef>
              <a:spcAft>
                <a:spcPct val="0"/>
              </a:spcAft>
            </a:pPr>
            <a:endParaRPr lang="en-US" sz="300">
              <a:latin typeface="+mj-lt"/>
            </a:endParaRPr>
          </a:p>
          <a:p>
            <a:pPr algn="ctr" fontAlgn="base">
              <a:lnSpc>
                <a:spcPct val="112000"/>
              </a:lnSpc>
              <a:spcBef>
                <a:spcPct val="0"/>
              </a:spcBef>
              <a:spcAft>
                <a:spcPct val="0"/>
              </a:spcAft>
            </a:pPr>
            <a:r>
              <a:rPr lang="en-US" sz="1400">
                <a:latin typeface="+mj-lt"/>
              </a:rPr>
              <a:t>The point of using Lorem Ipsum is that it has a more-or-less normal distribution of letters, as opposed to using 'Content here, content here', making it look like readable English. Many web page editors now use Lorem Ipsum as their default model text.</a:t>
            </a:r>
          </a:p>
        </p:txBody>
      </p:sp>
      <p:sp>
        <p:nvSpPr>
          <p:cNvPr id="9" name="Title 1">
            <a:extLst>
              <a:ext uri="{FF2B5EF4-FFF2-40B4-BE49-F238E27FC236}">
                <a16:creationId xmlns:a16="http://schemas.microsoft.com/office/drawing/2014/main" id="{2239EEF8-88B5-379A-BD50-95A4A392DE5A}"/>
              </a:ext>
            </a:extLst>
          </p:cNvPr>
          <p:cNvSpPr txBox="1">
            <a:spLocks/>
          </p:cNvSpPr>
          <p:nvPr/>
        </p:nvSpPr>
        <p:spPr>
          <a:xfrm>
            <a:off x="838201" y="955675"/>
            <a:ext cx="10515600" cy="661988"/>
          </a:xfrm>
          <a:prstGeom prst="rect">
            <a:avLst/>
          </a:prstGeom>
        </p:spPr>
        <p:txBody>
          <a:bodyPr vert="horz" lIns="91440" tIns="45720" rIns="91440" bIns="45720" rtlCol="0" anchor="t">
            <a:spAutoFit/>
          </a:bodyPr>
          <a:lstStyle>
            <a:lvl1pPr algn="l" defTabSz="914377" rtl="0" eaLnBrk="1" latinLnBrk="0" hangingPunct="1">
              <a:lnSpc>
                <a:spcPct val="90000"/>
              </a:lnSpc>
              <a:spcBef>
                <a:spcPct val="0"/>
              </a:spcBef>
              <a:buNone/>
              <a:defRPr sz="3200" b="1" kern="1200">
                <a:solidFill>
                  <a:schemeClr val="accent4"/>
                </a:solidFill>
                <a:latin typeface="Poppins" panose="00000500000000000000" pitchFamily="2" charset="0"/>
                <a:ea typeface="+mj-ea"/>
                <a:cs typeface="Poppins" panose="00000500000000000000" pitchFamily="2" charset="0"/>
              </a:defRPr>
            </a:lvl1pPr>
          </a:lstStyle>
          <a:p>
            <a:pPr algn="ctr"/>
            <a:r>
              <a:rPr lang="en-US" sz="4000">
                <a:solidFill>
                  <a:schemeClr val="bg1"/>
                </a:solidFill>
              </a:rPr>
              <a:t>Insert headline here</a:t>
            </a:r>
          </a:p>
        </p:txBody>
      </p:sp>
    </p:spTree>
    <p:extLst>
      <p:ext uri="{BB962C8B-B14F-4D97-AF65-F5344CB8AC3E}">
        <p14:creationId xmlns:p14="http://schemas.microsoft.com/office/powerpoint/2010/main" val="457482838"/>
      </p:ext>
    </p:extLst>
  </p:cSld>
  <p:clrMapOvr>
    <a:masterClrMapping/>
  </p:clrMapOvr>
</p:sld>
</file>

<file path=ppt/theme/theme1.xml><?xml version="1.0" encoding="utf-8"?>
<a:theme xmlns:a="http://schemas.openxmlformats.org/drawingml/2006/main" name="4_Office Theme">
  <a:themeElements>
    <a:clrScheme name="Horizon Media">
      <a:dk1>
        <a:sysClr val="windowText" lastClr="000000"/>
      </a:dk1>
      <a:lt1>
        <a:sysClr val="window" lastClr="FFFFFF"/>
      </a:lt1>
      <a:dk2>
        <a:srgbClr val="040E32"/>
      </a:dk2>
      <a:lt2>
        <a:srgbClr val="E7E6E6"/>
      </a:lt2>
      <a:accent1>
        <a:srgbClr val="0070B8"/>
      </a:accent1>
      <a:accent2>
        <a:srgbClr val="01B282"/>
      </a:accent2>
      <a:accent3>
        <a:srgbClr val="4D419A"/>
      </a:accent3>
      <a:accent4>
        <a:srgbClr val="002060"/>
      </a:accent4>
      <a:accent5>
        <a:srgbClr val="00A4E4"/>
      </a:accent5>
      <a:accent6>
        <a:srgbClr val="240B45"/>
      </a:accent6>
      <a:hlink>
        <a:srgbClr val="7F7F7F"/>
      </a:hlink>
      <a:folHlink>
        <a:srgbClr val="0070B8"/>
      </a:folHlink>
    </a:clrScheme>
    <a:fontScheme name="Poppins">
      <a:majorFont>
        <a:latin typeface="Poppins"/>
        <a:ea typeface=""/>
        <a:cs typeface=""/>
      </a:majorFont>
      <a:minorFont>
        <a:latin typeface="Poppi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err="1" smtClean="0"/>
        </a:defPPr>
      </a:lstStyle>
      <a:style>
        <a:lnRef idx="3">
          <a:schemeClr val="lt1"/>
        </a:lnRef>
        <a:fillRef idx="1">
          <a:schemeClr val="accent1"/>
        </a:fillRef>
        <a:effectRef idx="1">
          <a:schemeClr val="accent1"/>
        </a:effectRef>
        <a:fontRef idx="minor">
          <a:schemeClr val="lt1"/>
        </a:fontRef>
      </a:style>
    </a:spDef>
    <a:lnDef>
      <a:spPr>
        <a:ln w="19050" cap="rnd">
          <a:solidFill>
            <a:schemeClr val="accent1"/>
          </a:solidFill>
          <a:prstDash val="solid"/>
          <a:round/>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2">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89A58CA-7AF4-4D99-AFD5-877FAA45FBCE}">
  <we:reference id="wa200005566" version="3.0.0.2" store="en-US" storeType="OMEX"/>
  <we:alternateReferences>
    <we:reference id="WA200005566" version="3.0.0.2" store=""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4F04184487FB140812A29B2D4BD200A" ma:contentTypeVersion="19" ma:contentTypeDescription="Create a new document." ma:contentTypeScope="" ma:versionID="dc65da79037d972aab730ab27d02a483">
  <xsd:schema xmlns:xsd="http://www.w3.org/2001/XMLSchema" xmlns:xs="http://www.w3.org/2001/XMLSchema" xmlns:p="http://schemas.microsoft.com/office/2006/metadata/properties" xmlns:ns2="c85ceaa3-7d91-4e24-ad78-78b6a8d95cf6" xmlns:ns3="d8f3930f-0c31-427a-a37b-80f1b2076363" targetNamespace="http://schemas.microsoft.com/office/2006/metadata/properties" ma:root="true" ma:fieldsID="6078891cbc0d69f3914c1383715dc611" ns2:_="" ns3:_="">
    <xsd:import namespace="c85ceaa3-7d91-4e24-ad78-78b6a8d95cf6"/>
    <xsd:import namespace="d8f3930f-0c31-427a-a37b-80f1b2076363"/>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GenerationTime" minOccurs="0"/>
                <xsd:element ref="ns2:MediaServiceEventHashCode" minOccurs="0"/>
                <xsd:element ref="ns2:MediaServiceLocation" minOccurs="0"/>
                <xsd:element ref="ns3:SharedWithUsers" minOccurs="0"/>
                <xsd:element ref="ns3:SharedWithDetails" minOccurs="0"/>
                <xsd:element ref="ns2:MediaServiceAutoKeyPoints" minOccurs="0"/>
                <xsd:element ref="ns2:MediaServiceKeyPoints" minOccurs="0"/>
                <xsd:element ref="ns2:MediaServiceOCR" minOccurs="0"/>
                <xsd:element ref="ns2:lcf76f155ced4ddcb4097134ff3c332f" minOccurs="0"/>
                <xsd:element ref="ns3:TaxCatchAll" minOccurs="0"/>
                <xsd:element ref="ns2:MediaLengthInSeconds" minOccurs="0"/>
                <xsd:element ref="ns2:MediaServiceSearchProperties" minOccurs="0"/>
                <xsd:element ref="ns2:MediaServiceObjectDetectorVersion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5ceaa3-7d91-4e24-ad78-78b6a8d95cf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Location" ma:index="13" nillable="true" ma:displayName="Location" ma:internalName="MediaServiceLocation"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OCR" ma:index="18" nillable="true" ma:displayName="Extracted Text" ma:internalName="MediaServiceOCR" ma:readOnly="true">
      <xsd:simpleType>
        <xsd:restriction base="dms:Note">
          <xsd:maxLength value="255"/>
        </xsd:restriction>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81f119d9-9750-42cd-a5ee-7af4dcc4525e" ma:termSetId="09814cd3-568e-fe90-9814-8d621ff8fb84" ma:anchorId="fba54fb3-c3e1-fe81-a776-ca4b69148c4d" ma:open="true" ma:isKeyword="false">
      <xsd:complexType>
        <xsd:sequence>
          <xsd:element ref="pc:Terms" minOccurs="0" maxOccurs="1"/>
        </xsd:sequence>
      </xsd:complexType>
    </xsd:element>
    <xsd:element name="MediaLengthInSeconds" ma:index="22" nillable="true" ma:displayName="MediaLengthInSeconds" ma:hidden="true" ma:internalName="MediaLengthInSeconds" ma:readOnly="true">
      <xsd:simpleType>
        <xsd:restriction base="dms:Unknown"/>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d8f3930f-0c31-427a-a37b-80f1b2076363"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dc95fff6-d30f-4b8b-a039-27b763124980}" ma:internalName="TaxCatchAll" ma:showField="CatchAllData" ma:web="d8f3930f-0c31-427a-a37b-80f1b207636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c85ceaa3-7d91-4e24-ad78-78b6a8d95cf6">
      <Terms xmlns="http://schemas.microsoft.com/office/infopath/2007/PartnerControls"/>
    </lcf76f155ced4ddcb4097134ff3c332f>
    <TaxCatchAll xmlns="d8f3930f-0c31-427a-a37b-80f1b207636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D09A649-4016-4CE1-B8C6-A003640A501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85ceaa3-7d91-4e24-ad78-78b6a8d95cf6"/>
    <ds:schemaRef ds:uri="d8f3930f-0c31-427a-a37b-80f1b207636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1573F49-F7B3-4F66-9AA1-04406BE9EBEA}">
  <ds:schemaRefs>
    <ds:schemaRef ds:uri="http://www.w3.org/XML/1998/namespace"/>
    <ds:schemaRef ds:uri="http://purl.org/dc/elements/1.1/"/>
    <ds:schemaRef ds:uri="http://schemas.openxmlformats.org/package/2006/metadata/core-properties"/>
    <ds:schemaRef ds:uri="http://purl.org/dc/terms/"/>
    <ds:schemaRef ds:uri="http://schemas.microsoft.com/office/infopath/2007/PartnerControls"/>
    <ds:schemaRef ds:uri="http://schemas.microsoft.com/office/2006/documentManagement/types"/>
    <ds:schemaRef ds:uri="http://purl.org/dc/dcmitype/"/>
    <ds:schemaRef ds:uri="d8f3930f-0c31-427a-a37b-80f1b2076363"/>
    <ds:schemaRef ds:uri="c85ceaa3-7d91-4e24-ad78-78b6a8d95cf6"/>
    <ds:schemaRef ds:uri="http://schemas.microsoft.com/office/2006/metadata/properties"/>
  </ds:schemaRefs>
</ds:datastoreItem>
</file>

<file path=customXml/itemProps3.xml><?xml version="1.0" encoding="utf-8"?>
<ds:datastoreItem xmlns:ds="http://schemas.openxmlformats.org/officeDocument/2006/customXml" ds:itemID="{A45F5D7B-0EA8-4CB8-95ED-A335EC60CD3E}">
  <ds:schemaRefs>
    <ds:schemaRef ds:uri="http://schemas.microsoft.com/sharepoint/v3/contenttype/forms"/>
  </ds:schemaRefs>
</ds:datastoreItem>
</file>

<file path=docMetadata/LabelInfo.xml><?xml version="1.0" encoding="utf-8"?>
<clbl:labelList xmlns:clbl="http://schemas.microsoft.com/office/2020/mipLabelMetadata">
  <clbl:label id="{57045f6b-531e-46ed-9ed8-6a60e2869d82}" enabled="0" method="" siteId="{57045f6b-531e-46ed-9ed8-6a60e2869d82}" removed="1"/>
</clbl:labelList>
</file>

<file path=docProps/app.xml><?xml version="1.0" encoding="utf-8"?>
<Properties xmlns="http://schemas.openxmlformats.org/officeDocument/2006/extended-properties" xmlns:vt="http://schemas.openxmlformats.org/officeDocument/2006/docPropsVTypes">
  <TotalTime>648</TotalTime>
  <Words>5003</Words>
  <Application>Microsoft Office PowerPoint</Application>
  <PresentationFormat>Widescreen</PresentationFormat>
  <Paragraphs>882</Paragraphs>
  <Slides>49</Slides>
  <Notes>32</Notes>
  <HiddenSlides>9</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49</vt:i4>
      </vt:variant>
    </vt:vector>
  </HeadingPairs>
  <TitlesOfParts>
    <vt:vector size="61" baseType="lpstr">
      <vt:lpstr>Arial</vt:lpstr>
      <vt:lpstr>Calibri</vt:lpstr>
      <vt:lpstr>Georgia</vt:lpstr>
      <vt:lpstr>Overpass</vt:lpstr>
      <vt:lpstr>Overpass Light</vt:lpstr>
      <vt:lpstr>Overpass SemiBold</vt:lpstr>
      <vt:lpstr>Poppins</vt:lpstr>
      <vt:lpstr>Poppins (Headings)</vt:lpstr>
      <vt:lpstr>Poppins Light</vt:lpstr>
      <vt:lpstr>Poppins SemiBold</vt:lpstr>
      <vt:lpstr>Segoe UI</vt:lpstr>
      <vt:lpstr>4_Office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LPO Process</vt:lpstr>
      <vt:lpstr>Annualized incremental revenue from our 6-month pilot program was validated with the Catalyst team,  and learnings informed a go-forward roadmap </vt:lpstr>
      <vt:lpstr>The majority of our optimizations have directly impacted Media efforts, driving truly incremental ROAS and  owned channel sales</vt:lpstr>
      <vt:lpstr>Additionally, persistent funnel leakage signals the need for media-targeted experience optimizations  beyond the current roadmap</vt:lpstr>
      <vt:lpstr>With identified KPIs by funnel stage to better evaluate success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David Luong</dc:creator>
  <cp:lastModifiedBy>Jordan Shapiro</cp:lastModifiedBy>
  <cp:revision>8</cp:revision>
  <dcterms:created xsi:type="dcterms:W3CDTF">2024-01-29T20:21:25Z</dcterms:created>
  <dcterms:modified xsi:type="dcterms:W3CDTF">2026-07-26T21:45:48Z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0x010100D4F04184487FB140812A29B2D4BD200A</vt:lpwstr>
  </property>
  <property fmtid="{D5CDD505-2E9C-101B-9397-08002B2CF9AE}" pid="3" name="MediaServiceImageTags">
    <vt:lpwstr/>
  </property>
</Properties>
</file>