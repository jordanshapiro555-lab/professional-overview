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omments/modernComment_108_BA75D8C5.xml" ContentType="application/vnd.ms-powerpoint.comment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2.xml" ContentType="application/vnd.openxmlformats-officedocument.presentationml.notesSlide+xml"/>
  <Override PartName="/ppt/comments/modernComment_7FFFFEE0_50DF3E10.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7FFFFFFF_A1CB5A05.xml" ContentType="application/vnd.ms-powerpoint.comments+xml"/>
  <Override PartName="/ppt/tags/tag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14_13A8E99D.xml" ContentType="application/vnd.ms-powerpoint.comments+xml"/>
  <Override PartName="/ppt/notesSlides/notesSlide7.xml" ContentType="application/vnd.openxmlformats-officedocument.presentationml.notesSlide+xml"/>
  <Override PartName="/ppt/comments/modernComment_13F_961033D7.xml" ContentType="application/vnd.ms-powerpoint.comments+xml"/>
  <Override PartName="/ppt/notesSlides/notesSlide8.xml" ContentType="application/vnd.openxmlformats-officedocument.presentationml.notesSlide+xml"/>
  <Override PartName="/ppt/comments/modernComment_11C_18259193.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9.xml" ContentType="application/vnd.openxmlformats-officedocument.presentationml.notesSlide+xml"/>
  <Override PartName="/ppt/comments/modernComment_10D_7BE08510.xml" ContentType="application/vnd.ms-powerpoint.comments+xml"/>
  <Override PartName="/ppt/notesSlides/notesSlide10.xml" ContentType="application/vnd.openxmlformats-officedocument.presentationml.notesSlide+xml"/>
  <Override PartName="/ppt/comments/modernComment_122_4FE75B52.xml" ContentType="application/vnd.ms-powerpoint.comments+xml"/>
  <Override PartName="/ppt/charts/chart2.xml" ContentType="application/vnd.openxmlformats-officedocument.drawingml.chart+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4.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126_9A7D5884.xml" ContentType="application/vnd.ms-powerpoint.comments+xml"/>
  <Override PartName="/ppt/notesSlides/notesSlide15.xml" ContentType="application/vnd.openxmlformats-officedocument.presentationml.notesSlide+xml"/>
  <Override PartName="/ppt/comments/modernComment_120_567A2A3A.xml" ContentType="application/vnd.ms-powerpoint.comment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135_35E1EB5E.xml" ContentType="application/vnd.ms-powerpoint.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092" r:id="rId4"/>
    <p:sldMasterId id="2147485158" r:id="rId5"/>
    <p:sldMasterId id="2147485197" r:id="rId6"/>
  </p:sldMasterIdLst>
  <p:notesMasterIdLst>
    <p:notesMasterId r:id="rId28"/>
  </p:notesMasterIdLst>
  <p:sldIdLst>
    <p:sldId id="264" r:id="rId7"/>
    <p:sldId id="2147483360" r:id="rId8"/>
    <p:sldId id="2147483471" r:id="rId9"/>
    <p:sldId id="2147483647" r:id="rId10"/>
    <p:sldId id="303" r:id="rId11"/>
    <p:sldId id="276" r:id="rId12"/>
    <p:sldId id="319" r:id="rId13"/>
    <p:sldId id="284" r:id="rId14"/>
    <p:sldId id="269" r:id="rId15"/>
    <p:sldId id="290" r:id="rId16"/>
    <p:sldId id="278" r:id="rId17"/>
    <p:sldId id="291" r:id="rId18"/>
    <p:sldId id="280" r:id="rId19"/>
    <p:sldId id="294" r:id="rId20"/>
    <p:sldId id="288" r:id="rId21"/>
    <p:sldId id="256" r:id="rId22"/>
    <p:sldId id="299" r:id="rId23"/>
    <p:sldId id="309" r:id="rId24"/>
    <p:sldId id="262" r:id="rId25"/>
    <p:sldId id="2147469720" r:id="rId26"/>
    <p:sldId id="308" r:id="rId27"/>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521415D9-36F7-43E2-AB2F-B90AF26B5E84}">
      <p14:sectionLst xmlns:p14="http://schemas.microsoft.com/office/powerpoint/2010/main">
        <p14:section name="Intro" id="{B0EC1558-7D69-46CC-93AE-D709D2FB2D5D}">
          <p14:sldIdLst>
            <p14:sldId id="264"/>
            <p14:sldId id="2147483360"/>
            <p14:sldId id="2147483471"/>
            <p14:sldId id="2147483647"/>
            <p14:sldId id="303"/>
          </p14:sldIdLst>
        </p14:section>
        <p14:section name="Findings Summary" id="{46271165-09C4-43DB-9141-88E4608457AB}">
          <p14:sldIdLst>
            <p14:sldId id="276"/>
            <p14:sldId id="319"/>
            <p14:sldId id="284"/>
            <p14:sldId id="269"/>
            <p14:sldId id="290"/>
            <p14:sldId id="278"/>
            <p14:sldId id="291"/>
            <p14:sldId id="280"/>
            <p14:sldId id="294"/>
            <p14:sldId id="288"/>
            <p14:sldId id="256"/>
            <p14:sldId id="299"/>
            <p14:sldId id="309"/>
            <p14:sldId id="262"/>
            <p14:sldId id="2147469720"/>
            <p14:sldId id="308"/>
          </p14:sldIdLst>
        </p14:section>
      </p14:sectionLst>
    </p:ext>
    <p:ext uri="{EFAFB233-063F-42B5-8137-9DF3F51BA10A}">
      <p15:sldGuideLst xmlns:p15="http://schemas.microsoft.com/office/powerpoint/2012/main">
        <p15:guide id="1" orient="horz" pos="3432" userDrawn="1">
          <p15:clr>
            <a:srgbClr val="A4A3A4"/>
          </p15:clr>
        </p15:guide>
        <p15:guide id="2" pos="386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6F27B05-B380-A508-B94F-828C498CC063}" name="Maria Tullin" initials="MT" userId="S::mtullin@horizonmedia.com::aac8871a-2cd6-466b-a6e8-5454b63820f3" providerId="AD"/>
  <p188:author id="{B177B80A-38B8-313E-352D-5C345BCF5D79}" name="Radames Roldan" initials="RR" userId="S::rroldan@horizoncommerce.com::9e720aa8-609b-4402-97ba-d7b699c305f3" providerId="AD"/>
  <p188:author id="{2D50510C-E4A5-A47D-F059-E2D618C1F8B0}" name="Ali Yang" initials="AY" userId="S::AYang@horizon-next.com::6506549a-74a7-4c9e-8759-1808e4a7aa04" providerId="AD"/>
  <p188:author id="{3FA18E0C-309C-F7BC-D9FF-022FDEFBF17B}" name="Eric Jacobsen" initials="EJ" userId="S::ejacobsen@horizonmedia.com::65cd5ffb-6aa2-485b-935e-b2adf49e5946" providerId="AD"/>
  <p188:author id="{6D4FF512-BC90-AB35-AC06-A8FD322413F8}" name="Brian Dahms" initials="BD" userId="S::bdahms@horizon-next.com::c3e8a035-2b44-468e-a363-2e8278c704f5" providerId="AD"/>
  <p188:author id="{ACFFE415-E7D5-FDDD-1C8C-C221D1B25509}" name="Heather Kleeman" initials="HK" userId="S::hkleeman@horizon-next.com::0a5fac54-dc21-4d72-9564-77182dbbb87c" providerId="AD"/>
  <p188:author id="{C8B41A17-95B5-FDF7-E521-FC62BFDA3B0A}" name="Cherie Hankin Calingasan" initials="CHC" userId="S::chcalingasan@horizon-next.com::5d1e5b94-7bfe-4001-b20a-c5d925fb6b1d" providerId="AD"/>
  <p188:author id="{CCEE2F20-2426-D9C3-6B6F-75D9C0E21729}" name="Jacqueline Conklin" initials="JC" userId="S::jconklin@horizon-next.com::7a1b4aa6-231c-4fa2-ab7a-b4211ce74772" providerId="AD"/>
  <p188:author id="{2D7BE220-2389-D2C7-0A5F-3A83AC3B1BC8}" name="David Yuan" initials="DY" userId="S::dyuan@night-market.com::4ce66996-e684-448d-8d55-19d0c50742fb" providerId="AD"/>
  <p188:author id="{9E953E28-03F9-763C-A388-A6685DECEC19}" name="Michael O'Connor" initials="MO" userId="S::moconnor@horizon-next.com::1fe67b22-e8c6-43ad-b0a4-82b4277c39ee" providerId="AD"/>
  <p188:author id="{E46FFD2F-0D95-F072-0A44-6A233510C735}" name="Maggie Kmiecik" initials="MK" userId="S::mkmiecik@horizoncommerce.com::22e34a70-8e61-46c8-adf2-52cddd3fd88c" providerId="AD"/>
  <p188:author id="{C3156D32-7251-3E8E-AA1D-BD131D92E721}" name="Zoe Gonzalez" initials="ZG" userId="S::zgonzalez@horizon-next.com::4b3816bc-0205-4ffc-a237-2768f2a151f1" providerId="AD"/>
  <p188:author id="{392DA135-8D19-FD71-E11E-593DBDF444A3}" name="Jennifer Lovold" initials="JL" userId="S::JLovold@horizoncommerce.com::7629fd42-3616-4afb-b1ae-cf47d47de7b2" providerId="AD"/>
  <p188:author id="{6D9A9747-D274-8A81-B369-9B256C2FB221}" name="Jordan Shapiro" initials="JS" userId="S::JoShapiro@horizoncommerce.com::92b2466c-6413-4671-86a6-7745ec6dd2d5" providerId="AD"/>
  <p188:author id="{3F35414A-AEF5-1B25-4AA8-83026E71FCAB}" name="Lauren Russo" initials="LR" userId="S::Lrusso@horizonmedia.com::0e8da455-1146-4839-9530-01b993b98919" providerId="AD"/>
  <p188:author id="{45AEA14E-F348-2455-E479-E09B15A18E88}" name="Courtney Hirose" initials="CH" userId="S::chirose@horizonmedia.com::7dddb706-2bd4-4e77-956b-f62f7c083db7" providerId="AD"/>
  <p188:author id="{0C5F3751-A1F9-899A-6F08-6EBCF294A124}" name="Yamila Frej" initials="YF" userId="S::yfrej@horizon-next.com::0c5b4632-f555-4803-8d4f-98a7c5d56af4" providerId="AD"/>
  <p188:author id="{B4E49151-52B7-4ADE-CBCC-D5C2D7FB0D08}" name="Carmel Shalev" initials="CS" userId="S::cshalev@horizon-next.com::fe158908-70f3-442c-8138-5d71f3582556" providerId="AD"/>
  <p188:author id="{2ECB075C-F1BA-B8DD-8861-F4FE2C5108D8}" name="Michelle Posen" initials="MP" userId="S::mposen@horizon-big.com::3fc1eaf9-8e67-4023-b6a8-a89c65ed421c" providerId="AD"/>
  <p188:author id="{B9A63C5E-F978-0A7A-B240-EADAF63A5CDF}" name="Karly Plata" initials="KP" userId="S::kplata@horizoncommerce.com::aa807874-e3f2-4227-8297-9b179ddae2ce" providerId="AD"/>
  <p188:author id="{7B0CE265-204A-B1E4-6F77-EA9637F1DA98}" name="Rachel Wallach-Baker" initials="RW" userId="S::rwbaker@horizon-next.com::ae6a4867-02dc-46e9-be97-83d8f6a05418" providerId="AD"/>
  <p188:author id="{A7C97466-916D-49AC-698C-CE106D8B70E2}" name="Khasai Ramsey" initials="" userId="S::KRamsey@horizonmedia.com::15459d6c-7aaf-457e-99b1-b095dbba96b7" providerId="AD"/>
  <p188:author id="{77122E69-55AA-84A8-BEBB-068E0D7B3484}" name="Kevin McGehee" initials="" userId="S::KeMcGehee@horizonmedia.com::7150370f-7a21-46fa-8a13-c41b1d91e936" providerId="AD"/>
  <p188:author id="{B50AF875-8BFF-7D0A-559A-4D10DF118FF0}" name="Yamila Frej" initials="YF" userId="S::YFrej@horizon-next.com::0c5b4632-f555-4803-8d4f-98a7c5d56af4" providerId="AD"/>
  <p188:author id="{665F5676-8F3F-93E2-7AAC-CC9966EBAE02}" name="Radames Roldan" initials="" userId="S::RRoldan@horizoncommerce.com::9e720aa8-609b-4402-97ba-d7b699c305f3" providerId="AD"/>
  <p188:author id="{D6680478-815C-C307-0DE8-4FBA3E9D499E}" name="Julie Russell" initials="JR" userId="S::jrussell@horizon-next.com::71981a0d-5b5d-4a9e-b6b3-a84f0b11f538" providerId="AD"/>
  <p188:author id="{77519C7E-728B-2B8F-33A3-AC5238BA2BA8}" name="Madeline Hunter" initials="MH" userId="S::mhunter@horizoncommerce.com::b1ab07e9-eda9-4526-a199-4bc9a9c8cde5" providerId="AD"/>
  <p188:author id="{DBBD7C83-13FC-3D01-DC76-A685EC661261}" name="Andrew Jones" initials="AJ" userId="S::anjones@night-market.com::1e283303-1d46-4200-8cb5-02aae40765bc" providerId="AD"/>
  <p188:author id="{A9BDDA83-55D2-24CE-40A5-6A2339A863F3}" name="Julie Heppt" initials="JH" userId="S::jheppt@horizon-next.com::820f031e-d33b-4625-ab9a-d1d30e453649" providerId="AD"/>
  <p188:author id="{B6958D89-B9D4-40DF-F9E5-EB4EDB83D794}" name="Rachel Hazelwood" initials="RH" userId="S::RHazelwood@horizoncommerce.com::5d7a4f47-d9d9-4ea5-a2f8-08b612e116e8" providerId="AD"/>
  <p188:author id="{599CCF8F-5C19-4D4D-6645-AF77D68446FE}" name="Caroline Cook" initials="CC" userId="S::ccook@horizon-next.com::58e9ba11-6296-409c-9e8b-9b1730435328" providerId="AD"/>
  <p188:author id="{CAEC9893-3F60-F5B3-BAA4-9999CC108C82}" name="Katie Comerford" initials="KC" userId="S::kcomerford@horizon-next.com::a9d30a89-c7c6-48e7-98e1-bc24511332b8" providerId="AD"/>
  <p188:author id="{ACAF8296-8479-9163-3485-99A7A3E259A9}" name="Laila Leszyk" initials="" userId="S::lleszyk@horizon-next.com::ff5afe76-66ef-4425-b81d-0400e676aab6" providerId="AD"/>
  <p188:author id="{12A5FAA4-F185-7CBE-3A5E-7D5C2620670F}" name="Gene Turner" initials="GT" userId="S::gturner@horizon-next.com::69237c72-5d4d-4ad8-822d-212f9a7da37c" providerId="AD"/>
  <p188:author id="{B7E96FA9-8546-5300-DCDA-AAF29808BB43}" name="Katie Kelly" initials="KK" userId="S::KaKelly@night-market.com::c591806e-921f-49ac-bb98-c06d433d3659" providerId="AD"/>
  <p188:author id="{E3FFFEAA-96E3-FB4B-E318-9DA50DE71550}" name="Keith Brewer" initials="KB" userId="S::kbrewer@horizon-next.com::b360ee03-826a-433c-8564-8fb185862b3b" providerId="AD"/>
  <p188:author id="{63B871AC-2781-A780-6E10-F3F6D650CD3E}" name="Ken Nippes" initials="KN" userId="S::knippes@horizon-next.com::4c270593-5dd1-44d7-b817-2f59ed9e5600" providerId="AD"/>
  <p188:author id="{239A7FAE-F53F-E3AF-6F01-3273BE19676B}" name="Andrew Jones" initials="AJ" userId="S::anjones@horizoncommerce.com::1e283303-1d46-4200-8cb5-02aae40765bc" providerId="AD"/>
  <p188:author id="{A162F2AF-C3EE-C8B7-E7B4-017A7B8AD1EF}" name="Jennifer Gonzales" initials="JG" userId="S::JeGonzales@horizoncommerce.com::1a0055bc-205e-41a1-970d-decf080ce575" providerId="AD"/>
  <p188:author id="{27505EB9-78FA-A67D-A832-E95A449AE717}" name="Lauren Russo" initials="LR" userId="S::lrusso@horizonmedia.com::0e8da455-1146-4839-9530-01b993b98919" providerId="AD"/>
  <p188:author id="{AB20F4C5-F8A8-E422-878E-240F3B2AB22A}" name="Rachel Hazelwood" initials="RH" userId="S::rhazelwood@horizoncommerce.com::5d7a4f47-d9d9-4ea5-a2f8-08b612e116e8" providerId="AD"/>
  <p188:author id="{7168ABC6-6B29-1523-5D89-AF6799914902}" name="Emmeline van der Post" initials="EP" userId="S::evanderpost@night-market.com::752d3862-efcb-4c5a-8aff-afe147443aaf" providerId="AD"/>
  <p188:author id="{1B61E0C8-49F3-2222-6E7B-D0AA3CA05FAD}" name="Karly Plata" initials="KP" userId="S::KPlata@horizoncommerce.com::aa807874-e3f2-4227-8297-9b179ddae2ce" providerId="AD"/>
  <p188:author id="{D215A1D3-4D04-5B89-2AB8-952711FC1965}" name="Will McGihon" initials="WM" userId="S::WMcGihon@horizoncommerce.com::420d5f3b-cd55-4f5a-9090-ad5f75817626" providerId="AD"/>
  <p188:author id="{6FE46ED5-506B-07D1-0B72-E2A08BAEB799}" name="Christi Townsend" initials="CT" userId="S::CTownsend@horizoncommerce.com::0439edfa-92c8-4b49-8232-31d93a657f0a" providerId="AD"/>
  <p188:author id="{F50326E2-9553-99E2-C6EA-068841B9EA43}" name="Jamie Leder" initials="JL" userId="S::jleder@horizonmedia.com::30735221-dc81-42b9-bc00-b7ddf7651edd" providerId="AD"/>
  <p188:author id="{231433E8-68A9-7EE2-6F6A-ECE7C8AC7E7F}" name="Mia Cosgrove" initials="MC" userId="S::mcosgrove@horizon-next.com::cb0231d0-9661-4b91-8b58-17eeb0ee099d" providerId="AD"/>
  <p188:author id="{5637B7E8-B415-49F5-AA28-0570E820F3ED}" name="Emmeline van der Post" initials="Ev" userId="S::evanderpost@horizoncommerce.com::752d3862-efcb-4c5a-8aff-afe147443aaf" providerId="AD"/>
  <p188:author id="{F59DE8EA-FB97-7D95-A991-DF44BBCFBF97}" name="Randolph Browning" initials="RB" userId="S::rbrowning@horizoncommerce.com::73f245ed-1392-4c97-b1f9-93db3a94fcaf" providerId="AD"/>
  <p188:author id="{1EE9D7EB-9E95-96CD-3FC7-C5ADC864B138}" name="Andrew Jones" initials="AJ" userId="S::AnJones@horizoncommerce.com::1e283303-1d46-4200-8cb5-02aae40765bc" providerId="AD"/>
  <p188:author id="{5A8E3CF2-76DB-56CF-61F1-B2E06ADC598D}" name="Anita Palachan" initials="AP" userId="S::apalachan@horizonmedia.com::dfd23ba8-c670-4264-a399-78289c5b452d" providerId="AD"/>
  <p188:author id="{67CAEBF5-C439-8081-438C-028B3B5CC171}" name="Suzanna Hodges" initials="SH" userId="S::shodges@horizon-next.com::57b7a683-a0ff-485a-89ec-576eb853283a" providerId="AD"/>
  <p188:author id="{DCF845FC-8C30-099C-28F4-217922633308}" name="Randolph Browning" initials="" userId="S::rbrowning@night-market.com::73f245ed-1392-4c97-b1f9-93db3a94fcaf" providerId="AD"/>
  <p188:author id="{E0A7BFFC-7B78-9645-0711-F8402E249ABE}" name="Katie Kelly" initials="" userId="S::KaKelly@horizoncommerce.com::c591806e-921f-49ac-bb98-c06d433d3659" providerId="AD"/>
  <p188:author id="{B7265EFD-3054-6BE8-86B1-6AD045ABA49C}" name="Carla Velasquez-Deulofeu" initials="CV" userId="S::CVelasquez-Deulofeu@horizoncommerce.com::69738540-5d8d-44b3-8129-cf4fa5497f37" providerId="AD"/>
  <p188:author id="{B48395FE-BF38-A2BE-936B-44D6B106B3C4}" name="Camilla Cunningham" initials="CC" userId="S::ccunningham@horizon-big.com::7845fc2b-c4e7-4e7c-8892-b917a3635df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239A"/>
    <a:srgbClr val="A6A6A6"/>
    <a:srgbClr val="0059FF"/>
    <a:srgbClr val="FAE201"/>
    <a:srgbClr val="37B449"/>
    <a:srgbClr val="FFFFFF"/>
    <a:srgbClr val="DF9789"/>
    <a:srgbClr val="13405B"/>
    <a:srgbClr val="007CA7"/>
    <a:srgbClr val="00B2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AD1193-06B1-4EEA-A2A5-5EB4CF5D3FCB}" v="7530" dt="2026-05-08T18:27:27.521"/>
    <p1510:client id="{2C4F0F2B-BFA4-4BBF-B6C7-7AC4C746AA31}" v="42" dt="2026-05-06T16:49:28.803"/>
    <p1510:client id="{3633D563-3FF5-4197-A4FC-9C49E7C9B918}" v="5856" dt="2026-05-06T22:08:26.635"/>
    <p1510:client id="{387BFED1-4DFD-453A-87F9-A1E148728115}" v="192" dt="2026-05-06T21:27:52.445"/>
    <p1510:client id="{4B0070F0-5320-2747-9884-A2D0CC132BEA}" v="3" dt="2026-05-06T16:50:17.2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2" d="100"/>
          <a:sy n="52" d="100"/>
        </p:scale>
        <p:origin x="1204" y="280"/>
      </p:cViewPr>
      <p:guideLst>
        <p:guide orient="horz" pos="3432"/>
        <p:guide pos="38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microsoft.com/office/2018/10/relationships/authors" Targe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viewProps" Target="viewProps.xml"/><Relationship Id="rId8"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oleObject" Target="https://hminc.sharepoint.com/sites/HorizonCommerceEngagements/Shared%20Documents/Devry/Exploratory%20DeVry%20Audit%20.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3.xml.rels><?xml version="1.0" encoding="UTF-8" standalone="yes"?>
<Relationships xmlns="http://schemas.openxmlformats.org/package/2006/relationships"><Relationship Id="rId3" Type="http://schemas.openxmlformats.org/officeDocument/2006/relationships/oleObject" Target="file:///C:\Users\JoShapiro\Downloads\download%20(20).csv" TargetMode="External"/><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V2I By Query &amp; LP Mapping</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'Q1 26 Channel Performance'!$AH$8</c:f>
              <c:strCache>
                <c:ptCount val="1"/>
                <c:pt idx="0">
                  <c:v>V2I</c:v>
                </c:pt>
              </c:strCache>
            </c:strRef>
          </c:tx>
          <c:spPr>
            <a:solidFill>
              <a:schemeClr val="accent1"/>
            </a:solidFill>
            <a:ln>
              <a:noFill/>
            </a:ln>
            <a:effectLst/>
          </c:spPr>
          <c:invertIfNegative val="0"/>
          <c:dPt>
            <c:idx val="1"/>
            <c:invertIfNegative val="0"/>
            <c:bubble3D val="0"/>
            <c:spPr>
              <a:solidFill>
                <a:schemeClr val="accent1"/>
              </a:solidFill>
              <a:ln>
                <a:noFill/>
              </a:ln>
              <a:effectLst/>
            </c:spPr>
            <c:extLst>
              <c:ext xmlns:c16="http://schemas.microsoft.com/office/drawing/2014/chart" uri="{C3380CC4-5D6E-409C-BE32-E72D297353CC}">
                <c16:uniqueId val="{00000001-20C6-4C9D-9F78-263D260CB2B2}"/>
              </c:ext>
            </c:extLst>
          </c:dPt>
          <c:dPt>
            <c:idx val="2"/>
            <c:invertIfNegative val="0"/>
            <c:bubble3D val="0"/>
            <c:spPr>
              <a:solidFill>
                <a:srgbClr val="00B050"/>
              </a:solidFill>
              <a:ln>
                <a:noFill/>
              </a:ln>
              <a:effectLst/>
            </c:spPr>
            <c:extLst>
              <c:ext xmlns:c16="http://schemas.microsoft.com/office/drawing/2014/chart" uri="{C3380CC4-5D6E-409C-BE32-E72D297353CC}">
                <c16:uniqueId val="{00000003-20C6-4C9D-9F78-263D260CB2B2}"/>
              </c:ext>
            </c:extLst>
          </c:dPt>
          <c:dPt>
            <c:idx val="3"/>
            <c:invertIfNegative val="0"/>
            <c:bubble3D val="0"/>
            <c:spPr>
              <a:solidFill>
                <a:schemeClr val="accent1"/>
              </a:solidFill>
              <a:ln>
                <a:solidFill>
                  <a:schemeClr val="tx1">
                    <a:lumMod val="50000"/>
                    <a:lumOff val="50000"/>
                  </a:schemeClr>
                </a:solidFill>
              </a:ln>
              <a:effectLst/>
            </c:spPr>
            <c:extLst>
              <c:ext xmlns:c16="http://schemas.microsoft.com/office/drawing/2014/chart" uri="{C3380CC4-5D6E-409C-BE32-E72D297353CC}">
                <c16:uniqueId val="{00000005-20C6-4C9D-9F78-263D260CB2B2}"/>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'Q1 26 Channel Performance'!$AE$9:$AE$12</c:f>
              <c:strCache>
                <c:ptCount val="4"/>
                <c:pt idx="0">
                  <c:v>Broad Query to Specific LP</c:v>
                </c:pt>
                <c:pt idx="1">
                  <c:v>Broad Query to Broad LP</c:v>
                </c:pt>
                <c:pt idx="2">
                  <c:v>Specific Query to Specific LP</c:v>
                </c:pt>
                <c:pt idx="3">
                  <c:v>Specific Query to Broad LP</c:v>
                </c:pt>
              </c:strCache>
            </c:strRef>
          </c:cat>
          <c:val>
            <c:numRef>
              <c:f>'Q1 26 Channel Performance'!$AH$9:$AH$12</c:f>
              <c:numCache>
                <c:formatCode>0.00%</c:formatCode>
                <c:ptCount val="4"/>
                <c:pt idx="0">
                  <c:v>7.1016350102565962E-2</c:v>
                </c:pt>
                <c:pt idx="1">
                  <c:v>7.804533535692014E-2</c:v>
                </c:pt>
                <c:pt idx="2">
                  <c:v>0.10489361213323276</c:v>
                </c:pt>
                <c:pt idx="3">
                  <c:v>7.341398642667453E-2</c:v>
                </c:pt>
              </c:numCache>
            </c:numRef>
          </c:val>
          <c:extLst>
            <c:ext xmlns:c16="http://schemas.microsoft.com/office/drawing/2014/chart" uri="{C3380CC4-5D6E-409C-BE32-E72D297353CC}">
              <c16:uniqueId val="{00000006-20C6-4C9D-9F78-263D260CB2B2}"/>
            </c:ext>
          </c:extLst>
        </c:ser>
        <c:dLbls>
          <c:dLblPos val="outEnd"/>
          <c:showLegendKey val="0"/>
          <c:showVal val="1"/>
          <c:showCatName val="0"/>
          <c:showSerName val="0"/>
          <c:showPercent val="0"/>
          <c:showBubbleSize val="0"/>
        </c:dLbls>
        <c:gapWidth val="219"/>
        <c:overlap val="-27"/>
        <c:axId val="2030075600"/>
        <c:axId val="2030074640"/>
      </c:barChart>
      <c:catAx>
        <c:axId val="20300756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30074640"/>
        <c:crosses val="autoZero"/>
        <c:auto val="1"/>
        <c:lblAlgn val="ctr"/>
        <c:lblOffset val="100"/>
        <c:noMultiLvlLbl val="0"/>
      </c:catAx>
      <c:valAx>
        <c:axId val="2030074640"/>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30075600"/>
        <c:crosses val="autoZero"/>
        <c:crossBetween val="between"/>
      </c:valAx>
      <c:spPr>
        <a:noFill/>
        <a:ln>
          <a:noFill/>
        </a:ln>
        <a:effectLst/>
      </c:spPr>
    </c:plotArea>
    <c:plotVisOnly val="1"/>
    <c:dispBlanksAs val="gap"/>
    <c:showDLblsOverMax val="0"/>
  </c:chart>
  <c:spPr>
    <a:solidFill>
      <a:schemeClr val="bg1"/>
    </a:soli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Sheet1!$D$1</c:f>
              <c:strCache>
                <c:ptCount val="1"/>
                <c:pt idx="0">
                  <c:v>Start→Complete %</c:v>
                </c:pt>
              </c:strCache>
            </c:strRef>
          </c:tx>
          <c:spPr>
            <a:solidFill>
              <a:srgbClr val="4A90D9"/>
            </a:solidFill>
            <a:effectLst/>
          </c:spPr>
          <c:invertIfNegative val="0"/>
          <c:dLbls>
            <c:numFmt formatCode="#,##0"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/core/afford.</c:v>
                </c:pt>
                <c:pt idx="1">
                  <c:v>/health/med-bill</c:v>
                </c:pt>
                <c:pt idx="2">
                  <c:v>/core.html</c:v>
                </c:pt>
                <c:pt idx="3">
                  <c:v>/tech/cyber</c:v>
                </c:pt>
                <c:pt idx="4">
                  <c:v>/business.html</c:v>
                </c:pt>
                <c:pt idx="5">
                  <c:v>/core/online-opt</c:v>
                </c:pt>
                <c:pt idx="6">
                  <c:v>/tech/online-opt</c:v>
                </c:pt>
              </c:strCache>
            </c:strRef>
          </c:cat>
          <c:val>
            <c:numRef>
              <c:f>Sheet1!$D$2:$D$8</c:f>
              <c:numCache>
                <c:formatCode>General</c:formatCode>
                <c:ptCount val="7"/>
                <c:pt idx="0">
                  <c:v>43.9</c:v>
                </c:pt>
                <c:pt idx="1">
                  <c:v>31.8</c:v>
                </c:pt>
                <c:pt idx="2">
                  <c:v>23</c:v>
                </c:pt>
                <c:pt idx="3">
                  <c:v>28.3</c:v>
                </c:pt>
                <c:pt idx="4">
                  <c:v>26.6</c:v>
                </c:pt>
                <c:pt idx="5">
                  <c:v>17.899999999999999</c:v>
                </c:pt>
                <c:pt idx="6">
                  <c:v>5.9</c:v>
                </c:pt>
              </c:numCache>
            </c:numRef>
          </c:val>
          <c:extLst>
            <c:ext xmlns:c16="http://schemas.microsoft.com/office/drawing/2014/chart" uri="{C3380CC4-5D6E-409C-BE32-E72D297353CC}">
              <c16:uniqueId val="{00000000-EAA5-419B-AB0F-D7B503529DC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txPr>
    <a:bodyPr/>
    <a:lstStyle/>
    <a:p>
      <a:pPr>
        <a:defRPr sz="105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r>
              <a:rPr lang="en-US" sz="1400" b="0"/>
              <a:t>% of Sessions With Selection</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2"/>
              </a:solidFill>
              <a:latin typeface="+mn-lt"/>
              <a:ea typeface="+mn-ea"/>
              <a:cs typeface="+mn-cs"/>
            </a:defRPr>
          </a:pPr>
          <a:endParaRPr lang="en-US"/>
        </a:p>
      </c:txPr>
    </c:title>
    <c:autoTitleDeleted val="0"/>
    <c:plotArea>
      <c:layout/>
      <c:pieChart>
        <c:varyColors val="1"/>
        <c:ser>
          <c:idx val="0"/>
          <c:order val="0"/>
          <c:tx>
            <c:strRef>
              <c:f>'DeVry Learning Modality Chart F'!$G$13</c:f>
              <c:strCache>
                <c:ptCount val="1"/>
                <c:pt idx="0">
                  <c:v>% of Sessions With Selection</c:v>
                </c:pt>
              </c:strCache>
            </c:strRef>
          </c:tx>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extLst>
              <c:ext xmlns:c16="http://schemas.microsoft.com/office/drawing/2014/chart" uri="{C3380CC4-5D6E-409C-BE32-E72D297353CC}">
                <c16:uniqueId val="{00000001-053D-4487-9E7C-CFD025C7AB69}"/>
              </c:ext>
            </c:extLst>
          </c:dPt>
          <c:dPt>
            <c:idx val="1"/>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c:spPr>
            <c:extLst>
              <c:ext xmlns:c16="http://schemas.microsoft.com/office/drawing/2014/chart" uri="{C3380CC4-5D6E-409C-BE32-E72D297353CC}">
                <c16:uniqueId val="{00000003-053D-4487-9E7C-CFD025C7AB69}"/>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c:spPr>
            <c:extLst>
              <c:ext xmlns:c16="http://schemas.microsoft.com/office/drawing/2014/chart" uri="{C3380CC4-5D6E-409C-BE32-E72D297353CC}">
                <c16:uniqueId val="{00000005-053D-4487-9E7C-CFD025C7AB69}"/>
              </c:ext>
            </c:extLst>
          </c:dPt>
          <c:dLbls>
            <c:dLbl>
              <c:idx val="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bestFit"/>
              <c:showLegendKey val="0"/>
              <c:showVal val="1"/>
              <c:showCatName val="0"/>
              <c:showSerName val="0"/>
              <c:showPercent val="0"/>
              <c:showBubbleSize val="0"/>
              <c:extLst>
                <c:ext xmlns:c16="http://schemas.microsoft.com/office/drawing/2014/chart" uri="{C3380CC4-5D6E-409C-BE32-E72D297353CC}">
                  <c16:uniqueId val="{00000001-053D-4487-9E7C-CFD025C7AB69}"/>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strRef>
              <c:f>'DeVry Learning Modality Chart F'!$F$14:$F$16</c:f>
              <c:strCache>
                <c:ptCount val="3"/>
                <c:pt idx="0">
                  <c:v>Online</c:v>
                </c:pt>
                <c:pt idx="1">
                  <c:v>Hybrid</c:v>
                </c:pt>
                <c:pt idx="2">
                  <c:v>In-person</c:v>
                </c:pt>
              </c:strCache>
            </c:strRef>
          </c:cat>
          <c:val>
            <c:numRef>
              <c:f>'DeVry Learning Modality Chart F'!$G$14:$G$16</c:f>
              <c:numCache>
                <c:formatCode>0%</c:formatCode>
                <c:ptCount val="3"/>
                <c:pt idx="0">
                  <c:v>0.84604005085522804</c:v>
                </c:pt>
                <c:pt idx="1">
                  <c:v>0.11096932144190641</c:v>
                </c:pt>
                <c:pt idx="2">
                  <c:v>4.2990627702865568E-2</c:v>
                </c:pt>
              </c:numCache>
            </c:numRef>
          </c:val>
          <c:extLst>
            <c:ext xmlns:c16="http://schemas.microsoft.com/office/drawing/2014/chart" uri="{C3380CC4-5D6E-409C-BE32-E72D297353CC}">
              <c16:uniqueId val="{00000006-053D-4487-9E7C-CFD025C7AB69}"/>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l"/>
      <c:overlay val="0"/>
      <c:spPr>
        <a:noFill/>
        <a:ln>
          <a:noFill/>
        </a:ln>
        <a:effectLst/>
      </c:spPr>
      <c:txPr>
        <a:bodyPr rot="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legend>
    <c:plotVisOnly val="1"/>
    <c:dispBlanksAs val="gap"/>
    <c:showDLblsOverMax val="0"/>
  </c:chart>
  <c:spPr>
    <a:solidFill>
      <a:schemeClr val="bg1"/>
    </a:solid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Mobile</c:v>
                </c:pt>
              </c:strCache>
            </c:strRef>
          </c:tx>
          <c:spPr>
            <a:solidFill>
              <a:srgbClr val="F39C12"/>
            </a:solidFill>
            <a:effectLst/>
          </c:spPr>
          <c:invertIfNegative val="0"/>
          <c:dLbls>
            <c:dLbl>
              <c:idx val="0"/>
              <c:layout>
                <c:manualLayout>
                  <c:x val="-3.6617609321824576E-2"/>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4639-494E-91D2-CB1600B443A2}"/>
                </c:ext>
              </c:extLst>
            </c:dLbl>
            <c:dLbl>
              <c:idx val="1"/>
              <c:layout>
                <c:manualLayout>
                  <c:x val="-2.441173954788305E-2"/>
                  <c:y val="1.220616892088336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4639-494E-91D2-CB1600B443A2}"/>
                </c:ext>
              </c:extLst>
            </c:dLbl>
            <c:dLbl>
              <c:idx val="2"/>
              <c:layout>
                <c:manualLayout>
                  <c:x val="-2.0343116289902541E-2"/>
                  <c:y val="-5.5944294614116775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4639-494E-91D2-CB1600B443A2}"/>
                </c:ext>
              </c:extLst>
            </c:dLbl>
            <c:numFmt formatCode="0.0%" sourceLinked="0"/>
            <c:spPr>
              <a:noFill/>
              <a:ln>
                <a:noFill/>
              </a:ln>
              <a:effectLst/>
            </c:spPr>
            <c:txPr>
              <a:bodyPr/>
              <a:lstStyle/>
              <a:p>
                <a:pPr>
                  <a:defRPr sz="1000" b="0" i="0" u="none" strike="noStrike">
                    <a:solidFill>
                      <a:srgbClr val="2D374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Form View Rate</c:v>
                </c:pt>
                <c:pt idx="1">
                  <c:v>Form Start Rate</c:v>
                </c:pt>
                <c:pt idx="2">
                  <c:v>Inquiry Rate</c:v>
                </c:pt>
              </c:strCache>
            </c:strRef>
          </c:cat>
          <c:val>
            <c:numRef>
              <c:f>Sheet1!$B$2:$B$4</c:f>
              <c:numCache>
                <c:formatCode>0.00%</c:formatCode>
                <c:ptCount val="3"/>
                <c:pt idx="0">
                  <c:v>0.32900000000000001</c:v>
                </c:pt>
                <c:pt idx="1">
                  <c:v>0.14099999999999999</c:v>
                </c:pt>
                <c:pt idx="2">
                  <c:v>3.2599999999999997E-2</c:v>
                </c:pt>
              </c:numCache>
            </c:numRef>
          </c:val>
          <c:extLst>
            <c:ext xmlns:c16="http://schemas.microsoft.com/office/drawing/2014/chart" uri="{C3380CC4-5D6E-409C-BE32-E72D297353CC}">
              <c16:uniqueId val="{00000000-4639-494E-91D2-CB1600B443A2}"/>
            </c:ext>
          </c:extLst>
        </c:ser>
        <c:ser>
          <c:idx val="1"/>
          <c:order val="1"/>
          <c:tx>
            <c:strRef>
              <c:f>Sheet1!$C$1</c:f>
              <c:strCache>
                <c:ptCount val="1"/>
                <c:pt idx="0">
                  <c:v>Desktop</c:v>
                </c:pt>
              </c:strCache>
            </c:strRef>
          </c:tx>
          <c:spPr>
            <a:solidFill>
              <a:srgbClr val="4A90D9"/>
            </a:solidFill>
            <a:effectLst/>
          </c:spPr>
          <c:invertIfNegative val="0"/>
          <c:dLbls>
            <c:numFmt formatCode="0.0%" sourceLinked="0"/>
            <c:spPr>
              <a:noFill/>
              <a:ln>
                <a:noFill/>
              </a:ln>
              <a:effectLst/>
            </c:spPr>
            <c:txPr>
              <a:bodyPr/>
              <a:lstStyle/>
              <a:p>
                <a:pPr>
                  <a:defRPr sz="1000" b="0" i="0" u="none" strike="noStrike">
                    <a:solidFill>
                      <a:srgbClr val="2D374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Form View Rate</c:v>
                </c:pt>
                <c:pt idx="1">
                  <c:v>Form Start Rate</c:v>
                </c:pt>
                <c:pt idx="2">
                  <c:v>Inquiry Rate</c:v>
                </c:pt>
              </c:strCache>
            </c:strRef>
          </c:cat>
          <c:val>
            <c:numRef>
              <c:f>Sheet1!$C$2:$C$4</c:f>
              <c:numCache>
                <c:formatCode>0.00%</c:formatCode>
                <c:ptCount val="3"/>
                <c:pt idx="0">
                  <c:v>0.41899999999999998</c:v>
                </c:pt>
                <c:pt idx="1">
                  <c:v>0.21299999999999999</c:v>
                </c:pt>
                <c:pt idx="2">
                  <c:v>5.4199999999999998E-2</c:v>
                </c:pt>
              </c:numCache>
            </c:numRef>
          </c:val>
          <c:extLst>
            <c:ext xmlns:c16="http://schemas.microsoft.com/office/drawing/2014/chart" uri="{C3380CC4-5D6E-409C-BE32-E72D297353CC}">
              <c16:uniqueId val="{00000001-4639-494E-91D2-CB1600B443A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18096"/>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71809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5">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omments/modernComment_7FFFFEE0_50DF3E10.xml><?xml version="1.0" encoding="utf-8"?>
<p188:cmLst xmlns:a="http://schemas.openxmlformats.org/drawingml/2006/main" xmlns:r="http://schemas.openxmlformats.org/officeDocument/2006/relationships" xmlns:p188="http://schemas.microsoft.com/office/powerpoint/2018/8/main">
  <p188:cm id="{611D5AA5-CF9B-452B-868F-E5FF6E5279EE}" authorId="{D215A1D3-4D04-5B89-2AB8-952711FC1965}" status="resolved" created="2026-04-13T04:58:31.414" complete="100000">
    <ac:deMkLst xmlns:ac="http://schemas.microsoft.com/office/drawing/2013/main/command">
      <pc:docMk xmlns:pc="http://schemas.microsoft.com/office/powerpoint/2013/main/command"/>
      <pc:sldMk xmlns:pc="http://schemas.microsoft.com/office/powerpoint/2013/main/command" cId="1356807696" sldId="2147483360"/>
      <ac:spMk id="7" creationId="{29034D81-C39C-E225-DFD6-530158440CB5}"/>
    </ac:deMkLst>
    <p188:txBody>
      <a:bodyPr/>
      <a:lstStyle/>
      <a:p>
        <a:r>
          <a:rPr lang="en-US"/>
          <a:t>[@Christi Townsend] - to help source/add image</a:t>
        </a:r>
      </a:p>
    </p188:txBody>
  </p188:cm>
</p188:cmLst>
</file>

<file path=ppt/comments/modernComment_7FFFFFFF_A1CB5A05.xml><?xml version="1.0" encoding="utf-8"?>
<p188:cmLst xmlns:a="http://schemas.openxmlformats.org/drawingml/2006/main" xmlns:r="http://schemas.openxmlformats.org/officeDocument/2006/relationships" xmlns:p188="http://schemas.microsoft.com/office/powerpoint/2018/8/main">
  <p188:cm id="{957C1B46-82F7-488D-B418-8C38A94D9AA6}" authorId="{D215A1D3-4D04-5B89-2AB8-952711FC1965}" status="resolved" created="2026-04-13T03:49:07.207" complete="100000">
    <pc:sldMkLst xmlns:pc="http://schemas.microsoft.com/office/powerpoint/2013/main/command">
      <pc:docMk/>
      <pc:sldMk cId="2714458629" sldId="2147483647"/>
    </pc:sldMkLst>
    <p188:txBody>
      <a:bodyPr/>
      <a:lstStyle/>
      <a:p>
        <a:r>
          <a:rPr lang="en-US"/>
          <a:t>[@Jordan Shapiro]  - check with katie/EVDP on whether we want custom for Devry or to keep the approach columns the same as we did for Brooks</a:t>
        </a:r>
      </a:p>
    </p188:txBody>
  </p188:cm>
</p188:cmLst>
</file>

<file path=ppt/comments/modernComment_10D_7BE08510.xml><?xml version="1.0" encoding="utf-8"?>
<p188:cmLst xmlns:a="http://schemas.openxmlformats.org/drawingml/2006/main" xmlns:r="http://schemas.openxmlformats.org/officeDocument/2006/relationships" xmlns:p188="http://schemas.microsoft.com/office/powerpoint/2018/8/main">
  <p188:cm id="{0ABF1D68-CFD3-4540-B261-769F66CEA783}" authorId="{6FE46ED5-506B-07D1-0B72-E2A08BAEB799}" status="resolved" created="2026-04-16T16:39:46.759" complete="100000">
    <ac:deMkLst xmlns:ac="http://schemas.microsoft.com/office/drawing/2013/main/command">
      <pc:docMk xmlns:pc="http://schemas.microsoft.com/office/powerpoint/2013/main/command"/>
      <pc:sldMk xmlns:pc="http://schemas.microsoft.com/office/powerpoint/2013/main/command" cId="2078311696" sldId="269"/>
      <ac:picMk id="10" creationId="{2E97232E-834C-E0FA-7F46-FE1642D89084}"/>
    </ac:deMkLst>
    <p188:txBody>
      <a:bodyPr/>
      <a:lstStyle/>
      <a:p>
        <a:r>
          <a:rPr lang="en-US"/>
          <a:t>[@Jordan Shapiro] is there a higher quality image we can replace here?</a:t>
        </a:r>
      </a:p>
    </p188:txBody>
  </p188:cm>
</p188:cmLst>
</file>

<file path=ppt/comments/modernComment_11C_18259193.xml><?xml version="1.0" encoding="utf-8"?>
<p188:cmLst xmlns:a="http://schemas.openxmlformats.org/drawingml/2006/main" xmlns:r="http://schemas.openxmlformats.org/officeDocument/2006/relationships" xmlns:p188="http://schemas.microsoft.com/office/powerpoint/2018/8/main">
  <p188:cm id="{E8BB5557-B32E-40E7-9B0F-6CDEFC50B374}" authorId="{6D9A9747-D274-8A81-B369-9B256C2FB221}" status="resolved" created="2026-04-16T14:20:42.827" complete="100000">
    <ac:deMkLst xmlns:ac="http://schemas.microsoft.com/office/drawing/2013/main/command">
      <pc:docMk xmlns:pc="http://schemas.microsoft.com/office/powerpoint/2013/main/command"/>
      <pc:sldMk xmlns:pc="http://schemas.microsoft.com/office/powerpoint/2013/main/command" cId="405115283" sldId="284"/>
      <ac:spMk id="7" creationId="{8B6036A1-CFDA-ADA8-AAD2-F099E30D12FD}"/>
    </ac:deMkLst>
    <p188:txBody>
      <a:bodyPr/>
      <a:lstStyle/>
      <a:p>
        <a:r>
          <a:rPr lang="en-US"/>
          <a:t>Turn this into its own slide</a:t>
        </a:r>
      </a:p>
    </p188:txBody>
  </p188:cm>
  <p188:cm id="{7EF8E011-C833-4EA3-A52D-BFE65EA14684}" authorId="{6FE46ED5-506B-07D1-0B72-E2A08BAEB799}" status="resolved" created="2026-04-16T14:47:41.647" complete="100000">
    <ac:deMkLst xmlns:ac="http://schemas.microsoft.com/office/drawing/2013/main/command">
      <pc:docMk xmlns:pc="http://schemas.microsoft.com/office/powerpoint/2013/main/command"/>
      <pc:sldMk xmlns:pc="http://schemas.microsoft.com/office/powerpoint/2013/main/command" cId="405115283" sldId="284"/>
      <ac:spMk id="7" creationId="{8B6036A1-CFDA-ADA8-AAD2-F099E30D12FD}"/>
    </ac:deMkLst>
    <p188:txBody>
      <a:bodyPr/>
      <a:lstStyle/>
      <a:p>
        <a:r>
          <a:rPr lang="en-US"/>
          <a:t>Call out nav - how to get to mainsite</a:t>
        </a:r>
      </a:p>
    </p188:txBody>
  </p188:cm>
  <p188:cm id="{5DFE4496-9ED9-49E9-8186-0F8B595E2208}" authorId="{6D9A9747-D274-8A81-B369-9B256C2FB221}" status="resolved" created="2026-04-20T14:41:35.590" complete="100000">
    <ac:deMkLst xmlns:ac="http://schemas.microsoft.com/office/drawing/2013/main/command">
      <pc:docMk xmlns:pc="http://schemas.microsoft.com/office/powerpoint/2013/main/command"/>
      <pc:sldMk xmlns:pc="http://schemas.microsoft.com/office/powerpoint/2013/main/command" cId="405115283" sldId="284"/>
      <ac:spMk id="39" creationId="{08F6E42A-E3CB-60F7-729D-BE0AC726BC27}"/>
    </ac:deMkLst>
    <p188:txBody>
      <a:bodyPr/>
      <a:lstStyle/>
      <a:p>
        <a:r>
          <a:rPr lang="en-US"/>
          <a:t>Cite this with time period and source</a:t>
        </a:r>
      </a:p>
    </p188:txBody>
  </p188:cm>
</p188:cmLst>
</file>

<file path=ppt/comments/modernComment_13F_961033D7.xml><?xml version="1.0" encoding="utf-8"?>
<p188:cmLst xmlns:a="http://schemas.openxmlformats.org/drawingml/2006/main" xmlns:r="http://schemas.openxmlformats.org/officeDocument/2006/relationships" xmlns:p188="http://schemas.microsoft.com/office/powerpoint/2018/8/main">
  <p188:cm id="{A9D3D088-CA3E-48C8-9E8B-1B8B00B47A6D}" authorId="{D215A1D3-4D04-5B89-2AB8-952711FC1965}" created="2026-05-05T15:41:43.183">
    <pc:sldMkLst xmlns:pc="http://schemas.microsoft.com/office/powerpoint/2013/main/command">
      <pc:docMk/>
      <pc:sldMk cId="2517644247" sldId="319"/>
    </pc:sldMkLst>
    <p188:txBody>
      <a:bodyPr/>
      <a:lstStyle/>
      <a:p>
        <a:r>
          <a:rPr lang="en-US"/>
          <a:t>Proposing this format to retain level of detail needed. If we do it by pillar category alone in the scorecard format, Devry is “working on it” in every single one. I.e., no differentiation [@Emmeline van der Post] &amp; [@Katie Kelly] </a:t>
        </a:r>
      </a:p>
    </p188:txBody>
  </p188:cm>
  <p188:cm id="{47E71AF8-F224-474E-A25E-AB413F014F5C}" authorId="{5637B7E8-B415-49F5-AA28-0570E820F3ED}" created="2026-05-06T14:28:33.273">
    <ac:txMkLst xmlns:ac="http://schemas.microsoft.com/office/drawing/2013/main/command">
      <pc:docMk xmlns:pc="http://schemas.microsoft.com/office/powerpoint/2013/main/command"/>
      <pc:sldMk xmlns:pc="http://schemas.microsoft.com/office/powerpoint/2013/main/command" cId="2517644247" sldId="319"/>
      <ac:spMk id="28" creationId="{0A283737-38E7-FD5C-8BB7-9DACDC371492}"/>
      <ac:txMk cp="0" len="21">
        <ac:context len="22" hash="1943101490"/>
      </ac:txMk>
    </ac:txMkLst>
    <p188:pos x="2435225" y="314325"/>
    <p188:replyLst>
      <p188:reply id="{F712D477-F9F5-4ECF-AC0A-83CA46D2905F}" authorId="{6D9A9747-D274-8A81-B369-9B256C2FB221}" created="2026-05-06T15:22:11.843">
        <p188:txBody>
          <a:bodyPr/>
          <a:lstStyle/>
          <a:p>
            <a:r>
              <a:rPr lang="en-US"/>
              <a:t>done</a:t>
            </a:r>
          </a:p>
        </p188:txBody>
      </p188:reply>
    </p188:replyLst>
    <p188:txBody>
      <a:bodyPr/>
      <a:lstStyle/>
      <a:p>
        <a:r>
          <a:rPr lang="en-US"/>
          <a:t>[@Will McGihon]  [@Jordan Shapiro]  can we make sure these 4 names are the same as referenced on slide 8 and this whole section</a:t>
        </a:r>
      </a:p>
    </p188:txBody>
  </p188:cm>
  <p188:cm id="{0C68192E-5DDC-4E1A-A50A-C71E5F932EC6}" authorId="{5637B7E8-B415-49F5-AA28-0570E820F3ED}" created="2026-05-06T14:29:59.309">
    <ac:deMkLst xmlns:ac="http://schemas.microsoft.com/office/drawing/2013/main/command">
      <pc:docMk xmlns:pc="http://schemas.microsoft.com/office/powerpoint/2013/main/command"/>
      <pc:sldMk xmlns:pc="http://schemas.microsoft.com/office/powerpoint/2013/main/command" cId="2517644247" sldId="319"/>
      <ac:spMk id="32" creationId="{559E3062-606C-78F6-5654-B5424F531DB2}"/>
    </ac:deMkLst>
    <p188:replyLst>
      <p188:reply id="{4D80E80C-DDAD-49FA-8669-26C3F95A37C3}" authorId="{6D9A9747-D274-8A81-B369-9B256C2FB221}" created="2026-05-06T15:22:07.617">
        <p188:txBody>
          <a:bodyPr/>
          <a:lstStyle/>
          <a:p>
            <a:r>
              <a:rPr lang="en-US"/>
              <a:t>done</a:t>
            </a:r>
          </a:p>
        </p188:txBody>
      </p188:reply>
    </p188:replyLst>
    <p188:txBody>
      <a:bodyPr/>
      <a:lstStyle/>
      <a:p>
        <a:r>
          <a:rPr lang="en-US"/>
          <a:t>[@Will McGihon]  lets remove these specific numbers, I think it puts us at too much risk to be asked how we got there</a:t>
        </a:r>
      </a:p>
    </p188:txBody>
  </p188:cm>
</p188:cmLst>
</file>

<file path=ppt/comments/modernComment_108_BA75D8C5.xml><?xml version="1.0" encoding="utf-8"?>
<p188:cmLst xmlns:a="http://schemas.openxmlformats.org/drawingml/2006/main" xmlns:r="http://schemas.openxmlformats.org/officeDocument/2006/relationships" xmlns:p188="http://schemas.microsoft.com/office/powerpoint/2018/8/main">
  <p188:cm id="{BC897505-532A-4E02-BB6E-7380829BDCC4}" authorId="{6D9A9747-D274-8A81-B369-9B256C2FB221}" status="resolved" created="2026-04-16T14:40:48.863" complete="100000">
    <pc:sldMkLst xmlns:pc="http://schemas.microsoft.com/office/powerpoint/2013/main/command">
      <pc:docMk/>
      <pc:sldMk cId="3128285381" sldId="264"/>
    </pc:sldMkLst>
    <p188:replyLst>
      <p188:reply id="{65B389AE-3EAD-4D3A-AD46-CA4BC5098B2E}" authorId="{6D9A9747-D274-8A81-B369-9B256C2FB221}" created="2026-04-16T14:42:49.738">
        <p188:txBody>
          <a:bodyPr/>
          <a:lstStyle/>
          <a:p>
            <a:r>
              <a:rPr lang="en-US"/>
              <a:t>Add a specific testable optimization for other channels on the new optimization slide</a:t>
            </a:r>
          </a:p>
        </p188:txBody>
      </p188:reply>
      <p188:reply id="{EC0D666E-CBD2-4DFB-9FD8-6DC686F16D64}" authorId="{6D9A9747-D274-8A81-B369-9B256C2FB221}" created="2026-04-16T14:45:28.842">
        <p188:txBody>
          <a:bodyPr/>
          <a:lstStyle/>
          <a:p>
            <a:r>
              <a:rPr lang="en-US"/>
              <a:t>Bounce rate stat for programmatic – address funnel stage for these people</a:t>
            </a:r>
          </a:p>
        </p188:txBody>
      </p188:reply>
      <p188:reply id="{C65C31EB-4FB5-405A-B7FA-2DC13132CB82}" authorId="{6D9A9747-D274-8A81-B369-9B256C2FB221}" created="2026-04-16T14:45:50.619">
        <p188:txBody>
          <a:bodyPr/>
          <a:lstStyle/>
          <a:p>
            <a:r>
              <a:rPr lang="en-US"/>
              <a:t>Net new slide</a:t>
            </a:r>
          </a:p>
        </p188:txBody>
      </p188:reply>
    </p188:replyLst>
    <p188:txBody>
      <a:bodyPr/>
      <a:lstStyle/>
      <a:p>
        <a:r>
          <a:rPr lang="en-US"/>
          <a:t>Throughout the deck, introduce idea that these ideas are testable into other channels</a:t>
        </a:r>
      </a:p>
    </p188:txBody>
  </p188:cm>
</p188:cmLst>
</file>

<file path=ppt/comments/modernComment_114_13A8E99D.xml><?xml version="1.0" encoding="utf-8"?>
<p188:cmLst xmlns:a="http://schemas.openxmlformats.org/drawingml/2006/main" xmlns:r="http://schemas.openxmlformats.org/officeDocument/2006/relationships" xmlns:p188="http://schemas.microsoft.com/office/powerpoint/2018/8/main">
  <p188:cm id="{7797D84C-53FC-44AA-BAF2-53EFC7D0134C}" authorId="{6FE46ED5-506B-07D1-0B72-E2A08BAEB799}" status="resolved" created="2026-04-16T15:16:04.710" startDate="2026-04-16T15:16:04.710" dueDate="2026-04-16T15:16:04.710" assignedTo="{6D9A9747-D274-8A81-B369-9B256C2FB221}" complete="100000" title="@Jordan Shapiro there are no slides for this piece - do we need to remove this?">
    <ac:deMkLst xmlns:ac="http://schemas.microsoft.com/office/drawing/2013/main/command">
      <pc:docMk xmlns:pc="http://schemas.microsoft.com/office/powerpoint/2013/main/command"/>
      <pc:sldMk xmlns:pc="http://schemas.microsoft.com/office/powerpoint/2013/main/command" cId="329836957" sldId="276"/>
      <ac:spMk id="9" creationId="{C138541F-E80E-F5DB-7ADB-1C04551C0B95}"/>
    </ac:deMkLst>
    <p188:replyLst>
      <p188:reply id="{4CC4D5A5-6D40-4CCE-B902-58AB6DB17480}" authorId="{6FE46ED5-506B-07D1-0B72-E2A08BAEB799}" created="2026-04-16T15:50:59.808">
        <p188:txBody>
          <a:bodyPr/>
          <a:lstStyle/>
          <a:p>
            <a:r>
              <a:rPr lang="en-US"/>
              <a:t>Broke out into lead cap + lead nurture, content fixed</a:t>
            </a:r>
          </a:p>
        </p188:txBody>
      </p188:reply>
    </p188:replyLst>
    <p188:txBody>
      <a:bodyPr/>
      <a:lstStyle/>
      <a:p>
        <a:r>
          <a:rPr lang="en-US"/>
          <a:t>[@Jordan Shapiro] there are no slides for this piece - do we need to remove this?</a:t>
        </a:r>
      </a:p>
    </p188:txBody>
    <p188:extLst>
      <p:ext xmlns:p="http://schemas.openxmlformats.org/presentationml/2006/main" uri="{5BB2D875-25FF-4072-B9AC-8F64D62656EB}">
        <p228:taskDetails xmlns:p228="http://schemas.microsoft.com/office/powerpoint/2022/08/main">
          <p228:history>
            <p228:event time="2026-04-16T15:16:04.710" id="{4C408D49-09C4-4FAC-8EE5-A36D1D775A84}">
              <p228:atrbtn authorId="{6FE46ED5-506B-07D1-0B72-E2A08BAEB799}"/>
              <p228:anchr>
                <p228:comment id="{7797D84C-53FC-44AA-BAF2-53EFC7D0134C}"/>
              </p228:anchr>
              <p228:add/>
            </p228:event>
            <p228:event time="2026-04-16T15:16:04.710" id="{ED928675-7E72-42DB-B073-8184452609F9}">
              <p228:atrbtn authorId="{6FE46ED5-506B-07D1-0B72-E2A08BAEB799}"/>
              <p228:anchr>
                <p228:comment id="{7797D84C-53FC-44AA-BAF2-53EFC7D0134C}"/>
              </p228:anchr>
              <p228:asgn authorId="{6D9A9747-D274-8A81-B369-9B256C2FB221}"/>
            </p228:event>
            <p228:event time="2026-04-16T15:16:04.710" id="{23D3BE31-12A2-4714-AA71-0D587C6F0E70}">
              <p228:atrbtn authorId="{6FE46ED5-506B-07D1-0B72-E2A08BAEB799}"/>
              <p228:anchr>
                <p228:comment id="{7797D84C-53FC-44AA-BAF2-53EFC7D0134C}"/>
              </p228:anchr>
              <p228:title val="@Jordan Shapiro there are no slides for this piece - do we need to remove this?"/>
            </p228:event>
            <p228:event time="2026-04-16T15:16:04.710" id="{AA909A93-2D95-410C-BA21-EAF62290C21D}">
              <p228:atrbtn authorId="{6FE46ED5-506B-07D1-0B72-E2A08BAEB799}"/>
              <p228:anchr>
                <p228:comment id="{7797D84C-53FC-44AA-BAF2-53EFC7D0134C}"/>
              </p228:anchr>
              <p228:date stDt="2026-04-16T15:16:04.710" endDt="2026-04-16T15:16:04.710"/>
            </p228:event>
            <p228:event time="2026-04-16T15:51:02.592" id="{9C45FBB4-119A-4D04-A3A1-E2BF2BCE74CC}">
              <p228:atrbtn authorId="{6FE46ED5-506B-07D1-0B72-E2A08BAEB799}"/>
              <p228:anchr>
                <p228:comment id="{00000000-0000-0000-0000-000000000000}"/>
              </p228:anchr>
              <p228:pcntCmplt val="100000"/>
            </p228:event>
          </p228:history>
        </p228:taskDetails>
      </p:ext>
    </p188:extLst>
  </p188:cm>
</p188:cmLst>
</file>

<file path=ppt/comments/modernComment_120_567A2A3A.xml><?xml version="1.0" encoding="utf-8"?>
<p188:cmLst xmlns:a="http://schemas.openxmlformats.org/drawingml/2006/main" xmlns:r="http://schemas.openxmlformats.org/officeDocument/2006/relationships" xmlns:p188="http://schemas.microsoft.com/office/powerpoint/2018/8/main">
  <p188:cm id="{F2890E14-B154-4AAA-968F-EE3A60E5F3AC}" authorId="{6D9A9747-D274-8A81-B369-9B256C2FB221}" status="resolved" created="2026-04-20T14:53:23.558" complete="100000">
    <ac:txMkLst xmlns:ac="http://schemas.microsoft.com/office/drawing/2013/main/command">
      <pc:docMk xmlns:pc="http://schemas.microsoft.com/office/powerpoint/2013/main/command"/>
      <pc:sldMk xmlns:pc="http://schemas.microsoft.com/office/powerpoint/2013/main/command" cId="1450846778" sldId="288"/>
      <ac:spMk id="24" creationId="{16677C7E-0107-7971-A70A-9786FAFD9B58}"/>
      <ac:txMk cp="91" len="10">
        <ac:context len="159" hash="3796722389"/>
      </ac:txMk>
    </ac:txMkLst>
    <p188:pos x="2121152" y="1008692"/>
    <p188:txBody>
      <a:bodyPr/>
      <a:lstStyle/>
      <a:p>
        <a:r>
          <a:rPr lang="en-US"/>
          <a:t>Re-word</a:t>
        </a:r>
      </a:p>
    </p188:txBody>
  </p188:cm>
</p188:cmLst>
</file>

<file path=ppt/comments/modernComment_122_4FE75B52.xml><?xml version="1.0" encoding="utf-8"?>
<p188:cmLst xmlns:a="http://schemas.openxmlformats.org/drawingml/2006/main" xmlns:r="http://schemas.openxmlformats.org/officeDocument/2006/relationships" xmlns:p188="http://schemas.microsoft.com/office/powerpoint/2018/8/main">
  <p188:cm id="{57EE186B-0982-4158-9690-864B08663CD3}" authorId="{6D9A9747-D274-8A81-B369-9B256C2FB221}" status="resolved" created="2026-04-16T14:20:42.827" complete="100000">
    <ac:deMkLst xmlns:ac="http://schemas.microsoft.com/office/drawing/2013/main/command">
      <pc:docMk xmlns:pc="http://schemas.microsoft.com/office/powerpoint/2013/main/command"/>
      <pc:sldMk xmlns:pc="http://schemas.microsoft.com/office/powerpoint/2013/main/command" cId="1340562258" sldId="290"/>
      <ac:spMk id="7" creationId="{FF215261-E1AB-E376-ED0B-7587459C860B}"/>
    </ac:deMkLst>
    <p188:txBody>
      <a:bodyPr/>
      <a:lstStyle/>
      <a:p>
        <a:r>
          <a:rPr lang="en-US"/>
          <a:t>Turn this into its own slide</a:t>
        </a:r>
      </a:p>
    </p188:txBody>
  </p188:cm>
  <p188:cm id="{389EAC96-2CA1-4FC7-B14B-141E43220F58}" authorId="{6FE46ED5-506B-07D1-0B72-E2A08BAEB799}" status="resolved" created="2026-04-16T14:47:41.647" complete="100000">
    <ac:deMkLst xmlns:ac="http://schemas.microsoft.com/office/drawing/2013/main/command">
      <pc:docMk xmlns:pc="http://schemas.microsoft.com/office/powerpoint/2013/main/command"/>
      <pc:sldMk xmlns:pc="http://schemas.microsoft.com/office/powerpoint/2013/main/command" cId="1340562258" sldId="290"/>
      <ac:spMk id="7" creationId="{FF215261-E1AB-E376-ED0B-7587459C860B}"/>
    </ac:deMkLst>
    <p188:txBody>
      <a:bodyPr/>
      <a:lstStyle/>
      <a:p>
        <a:r>
          <a:rPr lang="en-US"/>
          <a:t>Call out nav - how to get to mainsite</a:t>
        </a:r>
      </a:p>
    </p188:txBody>
  </p188:cm>
</p188:cmLst>
</file>

<file path=ppt/comments/modernComment_126_9A7D5884.xml><?xml version="1.0" encoding="utf-8"?>
<p188:cmLst xmlns:a="http://schemas.openxmlformats.org/drawingml/2006/main" xmlns:r="http://schemas.openxmlformats.org/officeDocument/2006/relationships" xmlns:p188="http://schemas.microsoft.com/office/powerpoint/2018/8/main">
  <p188:cm id="{487D71F8-E3C1-46CD-8655-CA75D8CE9E8F}" authorId="{6D9A9747-D274-8A81-B369-9B256C2FB221}" status="resolved" created="2026-04-16T14:20:42.827" complete="100000">
    <ac:deMkLst xmlns:ac="http://schemas.microsoft.com/office/drawing/2013/main/command">
      <pc:docMk xmlns:pc="http://schemas.microsoft.com/office/powerpoint/2013/main/command"/>
      <pc:sldMk xmlns:pc="http://schemas.microsoft.com/office/powerpoint/2013/main/command" cId="2591905924" sldId="294"/>
      <ac:spMk id="7" creationId="{52B2F44F-541A-F349-2EDD-808769359C08}"/>
    </ac:deMkLst>
    <p188:txBody>
      <a:bodyPr/>
      <a:lstStyle/>
      <a:p>
        <a:r>
          <a:rPr lang="en-US"/>
          <a:t>Turn this into its own slide</a:t>
        </a:r>
      </a:p>
    </p188:txBody>
  </p188:cm>
</p188:cmLst>
</file>

<file path=ppt/comments/modernComment_135_35E1EB5E.xml><?xml version="1.0" encoding="utf-8"?>
<p188:cmLst xmlns:a="http://schemas.openxmlformats.org/drawingml/2006/main" xmlns:r="http://schemas.openxmlformats.org/officeDocument/2006/relationships" xmlns:p188="http://schemas.microsoft.com/office/powerpoint/2018/8/main">
  <p188:cm id="{C3FE4AC6-3643-443F-A8C2-0D7944C10207}" authorId="{5637B7E8-B415-49F5-AA28-0570E820F3ED}" status="resolved" created="2026-04-22T14:46:06.007" complete="100000">
    <pc:sldMkLst xmlns:pc="http://schemas.microsoft.com/office/powerpoint/2013/main/command">
      <pc:docMk/>
      <pc:sldMk cId="903998302" sldId="309"/>
    </pc:sldMkLst>
    <p188:txBody>
      <a:bodyPr/>
      <a:lstStyle/>
      <a:p>
        <a:r>
          <a:rPr lang="en-US"/>
          <a:t>[@Jordan Shapiro]  can we add tabs that link these following 4 tests back to the modules </a:t>
        </a:r>
      </a:p>
    </p188:txBody>
  </p188:cm>
  <p188:cm id="{B5D0BF89-C06E-4251-804E-EF98EF1DFE91}" authorId="{5637B7E8-B415-49F5-AA28-0570E820F3ED}" status="resolved" created="2026-04-22T14:47:00.395" complete="100000">
    <pc:sldMkLst xmlns:pc="http://schemas.microsoft.com/office/powerpoint/2013/main/command">
      <pc:docMk/>
      <pc:sldMk cId="903998302" sldId="309"/>
    </pc:sldMkLst>
    <p188:txBody>
      <a:bodyPr/>
      <a:lstStyle/>
      <a:p>
        <a:r>
          <a:rPr lang="en-US"/>
          <a:t>[@Jordan Shapiro]  [@Andrew Jones]  we need to quantify these tests like we talked about. What is the anticipated revenue impact? What is the business impact? We need to justfy the investment into this</a:t>
        </a:r>
      </a:p>
    </p188:txBody>
  </p188:cm>
</p188:cmLst>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21T14:11:01.217"/>
    </inkml:context>
    <inkml:brush xml:id="br0">
      <inkml:brushProperty name="width" value="0.1" units="cm"/>
      <inkml:brushProperty name="height" value="0.1" units="cm"/>
    </inkml:brush>
  </inkml:definitions>
  <inkml:trace contextRef="#ctx0" brushRef="#br0">6855 8695 967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21T14:11:01.218"/>
    </inkml:context>
    <inkml:brush xml:id="br0">
      <inkml:brushProperty name="width" value="0.1" units="cm"/>
      <inkml:brushProperty name="height" value="0.1" units="cm"/>
    </inkml:brush>
  </inkml:definitions>
  <inkml:trace contextRef="#ctx0" brushRef="#br0">6863 8691 1199 0 0,'0'0'0'0'0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21T14:11:08.857"/>
    </inkml:context>
    <inkml:brush xml:id="br0">
      <inkml:brushProperty name="width" value="0.1" units="cm"/>
      <inkml:brushProperty name="height" value="0.1" units="cm"/>
    </inkml:brush>
  </inkml:definitions>
  <inkml:trace contextRef="#ctx0" brushRef="#br0">6733 7935 1183 0 0,'0'0'0'0'0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21T14:11:08.858"/>
    </inkml:context>
    <inkml:brush xml:id="br0">
      <inkml:brushProperty name="width" value="0.1" units="cm"/>
      <inkml:brushProperty name="height" value="0.1" units="cm"/>
    </inkml:brush>
  </inkml:definitions>
  <inkml:trace contextRef="#ctx0" brushRef="#br0">6733 7918 1415 0 0,'0'0'0'0'0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21T14:11:08.859"/>
    </inkml:context>
    <inkml:brush xml:id="br0">
      <inkml:brushProperty name="width" value="0.1" units="cm"/>
      <inkml:brushProperty name="height" value="0.1" units="cm"/>
    </inkml:brush>
  </inkml:definitions>
  <inkml:trace contextRef="#ctx0" brushRef="#br0">6800 7874 3927 0 0,'0'0'0'0'0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21T14:11:08.860"/>
    </inkml:context>
    <inkml:brush xml:id="br0">
      <inkml:brushProperty name="width" value="0.1" units="cm"/>
      <inkml:brushProperty name="height" value="0.1" units="cm"/>
    </inkml:brush>
  </inkml:definitions>
  <inkml:trace contextRef="#ctx0" brushRef="#br0">6805 7874 1927 0 0,'0'0'0'0'0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4-21T14:11:08.861"/>
    </inkml:context>
    <inkml:brush xml:id="br0">
      <inkml:brushProperty name="width" value="0.1" units="cm"/>
      <inkml:brushProperty name="height" value="0.1" units="cm"/>
    </inkml:brush>
  </inkml:definitions>
  <inkml:trace contextRef="#ctx0" brushRef="#br0">6863 7965 1143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81B32E7-0916-BB49-895C-AECA9D6419C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b="0" i="0">
                <a:latin typeface="Avenir Next LT Pro" panose="020B0504020202020204" pitchFamily="34" charset="77"/>
              </a:defRPr>
            </a:lvl1pPr>
          </a:lstStyle>
          <a:p>
            <a:pPr>
              <a:defRPr/>
            </a:pPr>
            <a:endParaRPr lang="en-US"/>
          </a:p>
        </p:txBody>
      </p:sp>
      <p:sp>
        <p:nvSpPr>
          <p:cNvPr id="3" name="Date Placeholder 2">
            <a:extLst>
              <a:ext uri="{FF2B5EF4-FFF2-40B4-BE49-F238E27FC236}">
                <a16:creationId xmlns:a16="http://schemas.microsoft.com/office/drawing/2014/main" id="{54E28B15-6B1D-9646-9D1E-75AA63573160}"/>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b="0" i="0" smtClean="0">
                <a:latin typeface="Avenir Next LT Pro" panose="020B0504020202020204" pitchFamily="34" charset="77"/>
              </a:defRPr>
            </a:lvl1pPr>
          </a:lstStyle>
          <a:p>
            <a:pPr>
              <a:defRPr/>
            </a:pPr>
            <a:fld id="{A1F1C37A-FA55-1C49-B48D-209D44EEA36A}" type="datetimeFigureOut">
              <a:rPr lang="en-US" smtClean="0"/>
              <a:pPr>
                <a:defRPr/>
              </a:pPr>
              <a:t>6/11/2026</a:t>
            </a:fld>
            <a:endParaRPr lang="en-US"/>
          </a:p>
        </p:txBody>
      </p:sp>
      <p:sp>
        <p:nvSpPr>
          <p:cNvPr id="4" name="Slide Image Placeholder 3">
            <a:extLst>
              <a:ext uri="{FF2B5EF4-FFF2-40B4-BE49-F238E27FC236}">
                <a16:creationId xmlns:a16="http://schemas.microsoft.com/office/drawing/2014/main" id="{252F77C7-E035-2946-BC08-5466FD60301A}"/>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3F449BA-52E8-3549-9DC9-F71F39E1A5F9}"/>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D8CEF490-BB14-B048-8368-2A8BD316EDF2}"/>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b="0" i="0">
                <a:latin typeface="Avenir Next LT Pro" panose="020B0504020202020204" pitchFamily="34" charset="77"/>
              </a:defRPr>
            </a:lvl1pPr>
          </a:lstStyle>
          <a:p>
            <a:pPr>
              <a:defRPr/>
            </a:pPr>
            <a:endParaRPr lang="en-US"/>
          </a:p>
        </p:txBody>
      </p:sp>
      <p:sp>
        <p:nvSpPr>
          <p:cNvPr id="7" name="Slide Number Placeholder 6">
            <a:extLst>
              <a:ext uri="{FF2B5EF4-FFF2-40B4-BE49-F238E27FC236}">
                <a16:creationId xmlns:a16="http://schemas.microsoft.com/office/drawing/2014/main" id="{B4A16755-CE0D-A541-8D5F-A107B4D2F1F2}"/>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b="0" i="0" smtClean="0">
                <a:latin typeface="Avenir Next LT Pro" panose="020B0504020202020204" pitchFamily="34" charset="77"/>
              </a:defRPr>
            </a:lvl1pPr>
          </a:lstStyle>
          <a:p>
            <a:pPr>
              <a:defRPr/>
            </a:pPr>
            <a:fld id="{4AA59A63-F837-CF4C-8906-49CCB333AF10}" type="slidenum">
              <a:rPr lang="en-US" smtClean="0"/>
              <a:pPr>
                <a:defRPr/>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b="0" i="0" kern="1200">
        <a:solidFill>
          <a:schemeClr val="tx1"/>
        </a:solidFill>
        <a:latin typeface="Avenir Next LT Pro" panose="020B0504020202020204" pitchFamily="34" charset="77"/>
        <a:ea typeface="+mn-ea"/>
        <a:cs typeface="+mn-cs"/>
      </a:defRPr>
    </a:lvl1pPr>
    <a:lvl2pPr marL="457200" algn="l" rtl="0" fontAlgn="base">
      <a:spcBef>
        <a:spcPct val="30000"/>
      </a:spcBef>
      <a:spcAft>
        <a:spcPct val="0"/>
      </a:spcAft>
      <a:defRPr sz="1200" b="0" i="0" kern="1200">
        <a:solidFill>
          <a:schemeClr val="tx1"/>
        </a:solidFill>
        <a:latin typeface="Avenir Next LT Pro" panose="020B0504020202020204" pitchFamily="34" charset="77"/>
        <a:ea typeface="+mn-ea"/>
        <a:cs typeface="+mn-cs"/>
      </a:defRPr>
    </a:lvl2pPr>
    <a:lvl3pPr marL="914400" algn="l" rtl="0" fontAlgn="base">
      <a:spcBef>
        <a:spcPct val="30000"/>
      </a:spcBef>
      <a:spcAft>
        <a:spcPct val="0"/>
      </a:spcAft>
      <a:defRPr sz="1200" b="0" i="0" kern="1200">
        <a:solidFill>
          <a:schemeClr val="tx1"/>
        </a:solidFill>
        <a:latin typeface="Avenir Next LT Pro" panose="020B0504020202020204" pitchFamily="34" charset="77"/>
        <a:ea typeface="+mn-ea"/>
        <a:cs typeface="+mn-cs"/>
      </a:defRPr>
    </a:lvl3pPr>
    <a:lvl4pPr marL="1371600" algn="l" rtl="0" fontAlgn="base">
      <a:spcBef>
        <a:spcPct val="30000"/>
      </a:spcBef>
      <a:spcAft>
        <a:spcPct val="0"/>
      </a:spcAft>
      <a:defRPr sz="1200" b="0" i="0" kern="1200">
        <a:solidFill>
          <a:schemeClr val="tx1"/>
        </a:solidFill>
        <a:latin typeface="Avenir Next LT Pro" panose="020B0504020202020204" pitchFamily="34" charset="77"/>
        <a:ea typeface="+mn-ea"/>
        <a:cs typeface="+mn-cs"/>
      </a:defRPr>
    </a:lvl4pPr>
    <a:lvl5pPr marL="1828800" algn="l" rtl="0" fontAlgn="base">
      <a:spcBef>
        <a:spcPct val="30000"/>
      </a:spcBef>
      <a:spcAft>
        <a:spcPct val="0"/>
      </a:spcAft>
      <a:defRPr sz="1200" b="0" i="0" kern="1200">
        <a:solidFill>
          <a:schemeClr val="tx1"/>
        </a:solidFill>
        <a:latin typeface="Avenir Next LT Pro" panose="020B0504020202020204" pitchFamily="34" charset="77"/>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KATIE</a:t>
            </a:r>
          </a:p>
          <a:p>
            <a:pPr marL="0" indent="0" rtl="0" fontAlgn="ctr">
              <a:buFont typeface="Arial" panose="020B0604020202020204" pitchFamily="34" charset="0"/>
              <a:buNone/>
            </a:pPr>
            <a:endParaRPr lang="en-US" sz="1200" b="0" i="0" kern="1200">
              <a:solidFill>
                <a:schemeClr val="tx1"/>
              </a:solidFill>
              <a:effectLst/>
              <a:latin typeface="Avenir Next LT Pro" panose="020B0504020202020204" pitchFamily="34" charset="77"/>
              <a:ea typeface="+mn-ea"/>
              <a:cs typeface="+mn-cs"/>
            </a:endParaRPr>
          </a:p>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Thanks for the time today</a:t>
            </a:r>
          </a:p>
          <a:p>
            <a:pPr marL="171450" indent="-171450" rtl="0" fontAlgn="ctr">
              <a:buFont typeface="Arial" panose="020B0604020202020204" pitchFamily="34" charset="0"/>
              <a:buChar char="•"/>
            </a:pPr>
            <a:endParaRPr lang="en-US" sz="1200" b="0" i="0" kern="1200">
              <a:solidFill>
                <a:schemeClr val="tx1"/>
              </a:solidFill>
              <a:effectLst/>
              <a:latin typeface="Avenir Next LT Pro" panose="020B0504020202020204" pitchFamily="34" charset="77"/>
              <a:ea typeface="+mn-ea"/>
              <a:cs typeface="+mn-cs"/>
            </a:endParaRPr>
          </a:p>
          <a:p>
            <a:r>
              <a:rPr lang="en-US" sz="1200" b="0" i="0" kern="1200">
                <a:solidFill>
                  <a:schemeClr val="tx1"/>
                </a:solidFill>
                <a:effectLst/>
                <a:latin typeface="Avenir Next LT Pro" panose="020B0504020202020204" pitchFamily="34" charset="77"/>
                <a:ea typeface="+mn-ea"/>
                <a:cs typeface="+mn-cs"/>
              </a:rPr>
              <a:t>We’re going to walk the team through our strategic audit of DeVry and what the implications are at a high level with a nod to tactical execution</a:t>
            </a:r>
            <a:endParaRPr lang="en-US"/>
          </a:p>
        </p:txBody>
      </p:sp>
      <p:sp>
        <p:nvSpPr>
          <p:cNvPr id="4" name="Slide Number Placeholder 3"/>
          <p:cNvSpPr>
            <a:spLocks noGrp="1"/>
          </p:cNvSpPr>
          <p:nvPr>
            <p:ph type="sldNum" sz="quarter" idx="5"/>
          </p:nvPr>
        </p:nvSpPr>
        <p:spPr/>
        <p:txBody>
          <a:bodyPr/>
          <a:lstStyle/>
          <a:p>
            <a:pPr>
              <a:defRPr/>
            </a:pPr>
            <a:fld id="{4AA59A63-F837-CF4C-8906-49CCB333AF10}" type="slidenum">
              <a:rPr lang="en-US" smtClean="0"/>
              <a:pPr>
                <a:defRPr/>
              </a:pPr>
              <a:t>1</a:t>
            </a:fld>
            <a:endParaRPr lang="en-US"/>
          </a:p>
        </p:txBody>
      </p:sp>
    </p:spTree>
    <p:extLst>
      <p:ext uri="{BB962C8B-B14F-4D97-AF65-F5344CB8AC3E}">
        <p14:creationId xmlns:p14="http://schemas.microsoft.com/office/powerpoint/2010/main" val="415999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Will</a:t>
            </a:r>
          </a:p>
          <a:p>
            <a:pPr marL="0" indent="0" rtl="0" fontAlgn="ctr">
              <a:buFont typeface="Arial" panose="020B0604020202020204" pitchFamily="34" charset="0"/>
              <a:buNone/>
            </a:pPr>
            <a:endParaRPr lang="en-US" sz="1200" b="0" i="0" kern="1200">
              <a:solidFill>
                <a:schemeClr val="tx1"/>
              </a:solidFill>
              <a:effectLst/>
              <a:latin typeface="Avenir Next LT Pro" panose="020B0504020202020204" pitchFamily="34" charset="77"/>
              <a:ea typeface="+mn-ea"/>
              <a:cs typeface="+mn-cs"/>
            </a:endParaRPr>
          </a:p>
          <a:p>
            <a:pPr marL="171450" indent="-171450" rtl="0" fontAlgn="ctr">
              <a:buFont typeface="Arial" panose="020B0604020202020204" pitchFamily="34" charset="0"/>
              <a:buChar char="•"/>
            </a:pPr>
            <a:r>
              <a:rPr lang="en-US"/>
              <a:t>Today is about sharing the audit, but also aligning on what comes out of it </a:t>
            </a:r>
          </a:p>
          <a:p>
            <a:pPr marL="171450" indent="-171450" rtl="0" fontAlgn="ctr">
              <a:buFont typeface="Arial" panose="020B0604020202020204" pitchFamily="34" charset="0"/>
              <a:buChar char="•"/>
            </a:pPr>
            <a:r>
              <a:rPr lang="en-US"/>
              <a:t>We looked beyond individual tests to assess the broader journey, where friction exists, and where the largest opportunities sit </a:t>
            </a:r>
          </a:p>
          <a:p>
            <a:pPr marL="171450" indent="-171450" rtl="0" fontAlgn="ctr">
              <a:buFont typeface="Arial" panose="020B0604020202020204" pitchFamily="34" charset="0"/>
              <a:buChar char="•"/>
            </a:pPr>
            <a:r>
              <a:rPr lang="en-US"/>
              <a:t>The goal is not just findings for findings’ sake</a:t>
            </a:r>
          </a:p>
          <a:p>
            <a:pPr marL="171450" indent="-171450" rtl="0" fontAlgn="ctr">
              <a:buFont typeface="Arial" panose="020B0604020202020204" pitchFamily="34" charset="0"/>
              <a:buChar char="•"/>
            </a:pPr>
            <a:r>
              <a:rPr lang="en-US"/>
              <a:t> It is to use those findings to align on priority actions now and the broader path forward from here</a:t>
            </a:r>
            <a:endParaRPr lang="en-US" i="1"/>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2808E4-3141-E74C-8174-B323F07EDB0A}" type="slidenum">
              <a:rPr kumimoji="0" lang="en-US" sz="1200" b="0" i="0" u="none" strike="noStrike" kern="1200" cap="none" spc="0" normalizeH="0" baseline="0" noProof="0" smtClean="0">
                <a:ln>
                  <a:noFill/>
                </a:ln>
                <a:solidFill>
                  <a:prstClr val="black"/>
                </a:solidFill>
                <a:effectLst/>
                <a:uLnTx/>
                <a:uFillTx/>
                <a:latin typeface="Poppins"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Poppins" panose="00000500000000000000" pitchFamily="2" charset="0"/>
              <a:ea typeface="+mn-ea"/>
              <a:cs typeface="+mn-cs"/>
            </a:endParaRPr>
          </a:p>
        </p:txBody>
      </p:sp>
    </p:spTree>
    <p:extLst>
      <p:ext uri="{BB962C8B-B14F-4D97-AF65-F5344CB8AC3E}">
        <p14:creationId xmlns:p14="http://schemas.microsoft.com/office/powerpoint/2010/main" val="1267540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3CB58-6AD7-398E-F48E-968E376258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F0C2CF-9F7B-5E93-7355-D193FD746A2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2983D65-C663-C7F0-416E-F3B44014D945}"/>
              </a:ext>
            </a:extLst>
          </p:cNvPr>
          <p:cNvSpPr>
            <a:spLocks noGrp="1"/>
          </p:cNvSpPr>
          <p:nvPr>
            <p:ph type="body" idx="1"/>
          </p:nvPr>
        </p:nvSpPr>
        <p:spPr/>
        <p:txBody>
          <a:bodyPr/>
          <a:lstStyle/>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Will</a:t>
            </a:r>
          </a:p>
          <a:p>
            <a:pPr marL="171450" indent="-171450" rtl="0" fontAlgn="ctr">
              <a:buFont typeface="Arial" panose="020B0604020202020204" pitchFamily="34" charset="0"/>
              <a:buChar char="•"/>
            </a:pPr>
            <a:endParaRPr lang="en-US" sz="1200" b="0" i="0" kern="1200">
              <a:solidFill>
                <a:schemeClr val="tx1"/>
              </a:solidFill>
              <a:effectLst/>
              <a:latin typeface="Avenir Next LT Pro" panose="020B0504020202020204" pitchFamily="34" charset="77"/>
              <a:ea typeface="+mn-ea"/>
              <a:cs typeface="+mn-cs"/>
            </a:endParaRPr>
          </a:p>
          <a:p>
            <a:pPr marL="171450" indent="-171450" rtl="0" fontAlgn="ctr">
              <a:buFont typeface="Arial" panose="020B0604020202020204" pitchFamily="34" charset="0"/>
              <a:buChar char="•"/>
            </a:pPr>
            <a:r>
              <a:rPr lang="en-US"/>
              <a:t>We’ll first show how we approached the audit and what it surfaced </a:t>
            </a:r>
          </a:p>
          <a:p>
            <a:pPr marL="171450" indent="-171450" rtl="0" fontAlgn="ctr">
              <a:buFont typeface="Arial" panose="020B0604020202020204" pitchFamily="34" charset="0"/>
              <a:buChar char="•"/>
            </a:pPr>
            <a:r>
              <a:rPr lang="en-US"/>
              <a:t>Then we’ll move from findings into action, starting with the bridge plan and the near-term concepts we think are ready to activate </a:t>
            </a:r>
          </a:p>
          <a:p>
            <a:pPr marL="171450" indent="-171450" rtl="0" fontAlgn="ctr">
              <a:buFont typeface="Arial" panose="020B0604020202020204" pitchFamily="34" charset="0"/>
              <a:buChar char="•"/>
            </a:pPr>
            <a:r>
              <a:rPr lang="en-US"/>
              <a:t>Finally, we’ll talk about the path forward from there, both immediately and over the longer term </a:t>
            </a:r>
          </a:p>
          <a:p>
            <a:pPr marL="171450" indent="-171450" rtl="0" fontAlgn="ctr">
              <a:buFont typeface="Arial" panose="020B0604020202020204" pitchFamily="34" charset="0"/>
              <a:buChar char="•"/>
            </a:pPr>
            <a:r>
              <a:rPr lang="en-US"/>
              <a:t>So the real goal is alignment on the biggest opportunities, the near-term bridge plan, and how to move from audit to execution</a:t>
            </a:r>
            <a:endParaRPr lang="en-US" sz="1200" b="0" i="0" kern="1200">
              <a:solidFill>
                <a:schemeClr val="tx1"/>
              </a:solidFill>
              <a:effectLst/>
              <a:latin typeface="Avenir Next LT Pro" panose="020B0504020202020204" pitchFamily="34" charset="77"/>
              <a:ea typeface="+mn-ea"/>
              <a:cs typeface="+mn-cs"/>
            </a:endParaRPr>
          </a:p>
        </p:txBody>
      </p:sp>
      <p:sp>
        <p:nvSpPr>
          <p:cNvPr id="4" name="Slide Number Placeholder 3">
            <a:extLst>
              <a:ext uri="{FF2B5EF4-FFF2-40B4-BE49-F238E27FC236}">
                <a16:creationId xmlns:a16="http://schemas.microsoft.com/office/drawing/2014/main" id="{680CA3A1-3907-C4A6-C488-FECCA6718F6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C2808E4-3141-E74C-8174-B323F07EDB0A}" type="slidenum">
              <a:rPr kumimoji="0" lang="en-US" sz="1200" b="0" i="0" u="none" strike="noStrike" kern="1200" cap="none" spc="0" normalizeH="0" baseline="0" noProof="0" smtClean="0">
                <a:ln>
                  <a:noFill/>
                </a:ln>
                <a:solidFill>
                  <a:prstClr val="black"/>
                </a:solidFill>
                <a:effectLst/>
                <a:uLnTx/>
                <a:uFillTx/>
                <a:latin typeface="Poppins"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Poppins" panose="00000500000000000000" pitchFamily="2" charset="0"/>
              <a:ea typeface="+mn-ea"/>
              <a:cs typeface="+mn-cs"/>
            </a:endParaRPr>
          </a:p>
        </p:txBody>
      </p:sp>
    </p:spTree>
    <p:extLst>
      <p:ext uri="{BB962C8B-B14F-4D97-AF65-F5344CB8AC3E}">
        <p14:creationId xmlns:p14="http://schemas.microsoft.com/office/powerpoint/2010/main" val="41271191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61D2C-6701-8DD7-6058-9FFC2F23B0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05FB9A-AC42-D534-75A1-B777672A1E0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4A35477-6701-1904-31FC-9CF8CFE15366}"/>
              </a:ext>
            </a:extLst>
          </p:cNvPr>
          <p:cNvSpPr>
            <a:spLocks noGrp="1"/>
          </p:cNvSpPr>
          <p:nvPr>
            <p:ph type="body" idx="1"/>
          </p:nvPr>
        </p:nvSpPr>
        <p:spPr/>
        <p:txBody>
          <a:bodyPr/>
          <a:lstStyle/>
          <a:p>
            <a:pPr marL="0" marR="0" lvl="0" indent="0" algn="l" defTabSz="914400" rtl="0" eaLnBrk="1" fontAlgn="ctr" latinLnBrk="0" hangingPunct="1">
              <a:lnSpc>
                <a:spcPct val="100000"/>
              </a:lnSpc>
              <a:spcBef>
                <a:spcPct val="30000"/>
              </a:spcBef>
              <a:spcAft>
                <a:spcPct val="0"/>
              </a:spcAft>
              <a:buClrTx/>
              <a:buSzTx/>
              <a:buFont typeface="Arial" panose="020B0604020202020204" pitchFamily="34" charset="0"/>
              <a:buNone/>
              <a:tabLst/>
              <a:defRPr/>
            </a:pPr>
            <a:r>
              <a:rPr lang="en-US" sz="1200" b="0" i="0" kern="1200">
                <a:solidFill>
                  <a:schemeClr val="tx1"/>
                </a:solidFill>
                <a:effectLst/>
                <a:latin typeface="Avenir Next LT Pro" panose="020B0504020202020204" pitchFamily="34" charset="77"/>
                <a:ea typeface="+mn-ea"/>
                <a:cs typeface="+mn-cs"/>
              </a:rPr>
              <a:t>Will</a:t>
            </a:r>
          </a:p>
          <a:p>
            <a:pPr marL="171450" indent="-171450" rtl="0" fontAlgn="ctr">
              <a:buFont typeface="Arial" panose="020B0604020202020204" pitchFamily="34" charset="0"/>
              <a:buChar char="•"/>
            </a:pPr>
            <a:endParaRPr lang="en-US" sz="1200" b="0" i="0" kern="1200">
              <a:solidFill>
                <a:schemeClr val="tx1"/>
              </a:solidFill>
              <a:effectLst/>
              <a:latin typeface="Avenir Next LT Pro" panose="020B0504020202020204" pitchFamily="34" charset="77"/>
              <a:ea typeface="+mn-ea"/>
              <a:cs typeface="+mn-cs"/>
            </a:endParaRP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We looked at this end-to-end, starting with goals and priority KPIs (V2I &amp; I2A, etc.)</a:t>
            </a: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Then </a:t>
            </a:r>
            <a:r>
              <a:rPr lang="en-US" sz="1200" b="1" i="0" kern="1200">
                <a:solidFill>
                  <a:schemeClr val="tx1"/>
                </a:solidFill>
                <a:effectLst/>
                <a:latin typeface="Avenir Next LT Pro" panose="020B0504020202020204" pitchFamily="34" charset="77"/>
                <a:ea typeface="+mn-ea"/>
                <a:cs typeface="+mn-cs"/>
              </a:rPr>
              <a:t>external landscape </a:t>
            </a:r>
            <a:r>
              <a:rPr lang="en-US" sz="1200" b="0" i="0" kern="1200">
                <a:solidFill>
                  <a:schemeClr val="tx1"/>
                </a:solidFill>
                <a:effectLst/>
                <a:latin typeface="Avenir Next LT Pro" panose="020B0504020202020204" pitchFamily="34" charset="77"/>
                <a:ea typeface="+mn-ea"/>
                <a:cs typeface="+mn-cs"/>
              </a:rPr>
              <a:t>which we know was of particular interest</a:t>
            </a:r>
          </a:p>
          <a:p>
            <a:pPr marL="171450" indent="-171450" rtl="0" fontAlgn="ctr">
              <a:buFont typeface="Arial" panose="020B0604020202020204" pitchFamily="34" charset="0"/>
              <a:buChar char="•"/>
            </a:pPr>
            <a:r>
              <a:rPr lang="en-US" sz="1200" b="1" i="0" kern="1200">
                <a:solidFill>
                  <a:schemeClr val="tx1"/>
                </a:solidFill>
                <a:effectLst/>
                <a:latin typeface="Avenir Next LT Pro" panose="020B0504020202020204" pitchFamily="34" charset="77"/>
                <a:ea typeface="+mn-ea"/>
                <a:cs typeface="+mn-cs"/>
              </a:rPr>
              <a:t>Internal performance</a:t>
            </a:r>
            <a:r>
              <a:rPr lang="en-US" sz="1200" b="0" i="0" kern="1200">
                <a:solidFill>
                  <a:schemeClr val="tx1"/>
                </a:solidFill>
                <a:effectLst/>
                <a:latin typeface="Avenir Next LT Pro" panose="020B0504020202020204" pitchFamily="34" charset="77"/>
                <a:ea typeface="+mn-ea"/>
                <a:cs typeface="+mn-cs"/>
              </a:rPr>
              <a:t>, and how that translates into optimization priorities</a:t>
            </a: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The </a:t>
            </a:r>
            <a:r>
              <a:rPr lang="en-US" sz="1200" b="1" i="0" kern="1200">
                <a:solidFill>
                  <a:schemeClr val="tx1"/>
                </a:solidFill>
                <a:effectLst/>
                <a:latin typeface="Avenir Next LT Pro" panose="020B0504020202020204" pitchFamily="34" charset="77"/>
                <a:ea typeface="+mn-ea"/>
                <a:cs typeface="+mn-cs"/>
              </a:rPr>
              <a:t>intent</a:t>
            </a:r>
            <a:r>
              <a:rPr lang="en-US" sz="1200" b="0" i="0" kern="1200">
                <a:solidFill>
                  <a:schemeClr val="tx1"/>
                </a:solidFill>
                <a:effectLst/>
                <a:latin typeface="Avenir Next LT Pro" panose="020B0504020202020204" pitchFamily="34" charset="77"/>
                <a:ea typeface="+mn-ea"/>
                <a:cs typeface="+mn-cs"/>
              </a:rPr>
              <a:t> is to </a:t>
            </a:r>
            <a:r>
              <a:rPr lang="en-US" sz="1200" b="1" i="0" kern="1200">
                <a:solidFill>
                  <a:schemeClr val="tx1"/>
                </a:solidFill>
                <a:effectLst/>
                <a:latin typeface="Avenir Next LT Pro" panose="020B0504020202020204" pitchFamily="34" charset="77"/>
                <a:ea typeface="+mn-ea"/>
                <a:cs typeface="+mn-cs"/>
              </a:rPr>
              <a:t>make sure the recommendations are connected</a:t>
            </a:r>
            <a:r>
              <a:rPr lang="en-US" sz="1200" b="0" i="0" kern="1200">
                <a:solidFill>
                  <a:schemeClr val="tx1"/>
                </a:solidFill>
                <a:effectLst/>
                <a:latin typeface="Avenir Next LT Pro" panose="020B0504020202020204" pitchFamily="34" charset="77"/>
                <a:ea typeface="+mn-ea"/>
                <a:cs typeface="+mn-cs"/>
              </a:rPr>
              <a:t>, </a:t>
            </a: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And all this auditing led to </a:t>
            </a:r>
            <a:r>
              <a:rPr lang="en-US" sz="1200" b="1" i="0" kern="1200">
                <a:solidFill>
                  <a:schemeClr val="tx1"/>
                </a:solidFill>
                <a:effectLst/>
                <a:latin typeface="Avenir Next LT Pro" panose="020B0504020202020204" pitchFamily="34" charset="77"/>
                <a:ea typeface="+mn-ea"/>
                <a:cs typeface="+mn-cs"/>
              </a:rPr>
              <a:t>optimization pillars </a:t>
            </a:r>
            <a:r>
              <a:rPr lang="en-US" sz="1200" b="0" i="0" kern="1200">
                <a:solidFill>
                  <a:schemeClr val="tx1"/>
                </a:solidFill>
                <a:effectLst/>
                <a:latin typeface="Avenir Next LT Pro" panose="020B0504020202020204" pitchFamily="34" charset="77"/>
                <a:ea typeface="+mn-ea"/>
                <a:cs typeface="+mn-cs"/>
              </a:rPr>
              <a:t>based on which buckets the opportunities fall into</a:t>
            </a: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And you’ll see the findings section organized in that way</a:t>
            </a: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And lastly the test concepts. Typically this runs directly into a prioritized roadmap and testing pipeline. Today we have initial lower lift concepts which we’d propose bridge us </a:t>
            </a:r>
            <a:r>
              <a:rPr lang="en-US" sz="1200" b="0" i="0" kern="1200" err="1">
                <a:solidFill>
                  <a:schemeClr val="tx1"/>
                </a:solidFill>
                <a:effectLst/>
                <a:latin typeface="Avenir Next LT Pro" panose="020B0504020202020204" pitchFamily="34" charset="77"/>
                <a:ea typeface="+mn-ea"/>
                <a:cs typeface="+mn-cs"/>
              </a:rPr>
              <a:t>til</a:t>
            </a:r>
            <a:r>
              <a:rPr lang="en-US" sz="1200" b="0" i="0" kern="1200">
                <a:solidFill>
                  <a:schemeClr val="tx1"/>
                </a:solidFill>
                <a:effectLst/>
                <a:latin typeface="Avenir Next LT Pro" panose="020B0504020202020204" pitchFamily="34" charset="77"/>
                <a:ea typeface="+mn-ea"/>
                <a:cs typeface="+mn-cs"/>
              </a:rPr>
              <a:t> June</a:t>
            </a: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So we keep momentum</a:t>
            </a:r>
          </a:p>
          <a:p>
            <a:pPr marL="171450" indent="-171450" rtl="0" fontAlgn="ctr">
              <a:buFont typeface="Arial" panose="020B0604020202020204" pitchFamily="34" charset="0"/>
              <a:buChar char="•"/>
            </a:pPr>
            <a:endParaRPr lang="en-US" sz="1200" b="0" i="0" kern="1200">
              <a:solidFill>
                <a:schemeClr val="tx1"/>
              </a:solidFill>
              <a:effectLst/>
              <a:latin typeface="Avenir Next LT Pro" panose="020B0504020202020204" pitchFamily="34" charset="77"/>
              <a:ea typeface="+mn-ea"/>
              <a:cs typeface="+mn-cs"/>
            </a:endParaRPr>
          </a:p>
        </p:txBody>
      </p:sp>
      <p:sp>
        <p:nvSpPr>
          <p:cNvPr id="4" name="Slide Number Placeholder 3">
            <a:extLst>
              <a:ext uri="{FF2B5EF4-FFF2-40B4-BE49-F238E27FC236}">
                <a16:creationId xmlns:a16="http://schemas.microsoft.com/office/drawing/2014/main" id="{47478516-E458-AF7F-8F76-49B244566E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AA59A63-F837-CF4C-8906-49CCB333AF10}" type="slidenum">
              <a:rPr kumimoji="0" lang="en-US" sz="1200" b="0" i="0" u="none" strike="noStrike" kern="1200" cap="none" spc="0" normalizeH="0" baseline="0" noProof="0" smtClean="0">
                <a:ln>
                  <a:noFill/>
                </a:ln>
                <a:solidFill>
                  <a:prstClr val="black"/>
                </a:solidFill>
                <a:effectLst/>
                <a:uLnTx/>
                <a:uFillTx/>
                <a:latin typeface="Avenir Next LT Pro" panose="020B0504020202020204" pitchFamily="34"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venir Next LT Pro" panose="020B0504020202020204" pitchFamily="34" charset="77"/>
              <a:ea typeface="+mn-ea"/>
              <a:cs typeface="+mn-cs"/>
            </a:endParaRPr>
          </a:p>
        </p:txBody>
      </p:sp>
    </p:spTree>
    <p:extLst>
      <p:ext uri="{BB962C8B-B14F-4D97-AF65-F5344CB8AC3E}">
        <p14:creationId xmlns:p14="http://schemas.microsoft.com/office/powerpoint/2010/main" val="3598592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5D045-D351-D7DC-605A-B6250F8AFA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5B8B4D-4D9E-B760-82D6-16FB6D20227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02CD0E2-F933-BB8E-9A27-E49897A59E36}"/>
              </a:ext>
            </a:extLst>
          </p:cNvPr>
          <p:cNvSpPr>
            <a:spLocks noGrp="1"/>
          </p:cNvSpPr>
          <p:nvPr>
            <p:ph type="body" idx="1"/>
          </p:nvPr>
        </p:nvSpPr>
        <p:spPr/>
        <p:txBody>
          <a:bodyPr/>
          <a:lstStyle/>
          <a:p>
            <a:pPr marL="0" marR="0" lvl="0" indent="0" algn="l" defTabSz="914400" rtl="0" eaLnBrk="1" fontAlgn="ctr" latinLnBrk="0" hangingPunct="1">
              <a:lnSpc>
                <a:spcPct val="100000"/>
              </a:lnSpc>
              <a:spcBef>
                <a:spcPct val="30000"/>
              </a:spcBef>
              <a:spcAft>
                <a:spcPct val="0"/>
              </a:spcAft>
              <a:buClrTx/>
              <a:buSzTx/>
              <a:buFont typeface="Arial" panose="020B0604020202020204" pitchFamily="34" charset="0"/>
              <a:buNone/>
              <a:tabLst/>
              <a:defRPr/>
            </a:pPr>
            <a:r>
              <a:rPr lang="en-US" sz="1200" b="0" i="0" kern="1200">
                <a:solidFill>
                  <a:schemeClr val="tx1"/>
                </a:solidFill>
                <a:effectLst/>
                <a:latin typeface="Avenir Next LT Pro" panose="020B0504020202020204" pitchFamily="34" charset="77"/>
                <a:ea typeface="+mn-ea"/>
                <a:cs typeface="+mn-cs"/>
              </a:rPr>
              <a:t>Will</a:t>
            </a:r>
          </a:p>
          <a:p>
            <a:pPr marL="0" indent="0" rtl="0" fontAlgn="ctr">
              <a:buFont typeface="Arial" panose="020B0604020202020204" pitchFamily="34" charset="0"/>
              <a:buNone/>
            </a:pPr>
            <a:endParaRPr lang="en-US" sz="1200" b="0" i="0" kern="1200">
              <a:solidFill>
                <a:schemeClr val="tx1"/>
              </a:solidFill>
              <a:effectLst/>
              <a:latin typeface="Avenir Next LT Pro" panose="020B0504020202020204" pitchFamily="34" charset="77"/>
              <a:ea typeface="+mn-ea"/>
              <a:cs typeface="+mn-cs"/>
            </a:endParaRP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This slide anchors the audit in funnel stages</a:t>
            </a: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We looked at where there is opportunity to better capture interest, convert intent, and support revenue growth</a:t>
            </a: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So this is broader than just a form or content discussion</a:t>
            </a:r>
          </a:p>
        </p:txBody>
      </p:sp>
      <p:sp>
        <p:nvSpPr>
          <p:cNvPr id="4" name="Slide Number Placeholder 3">
            <a:extLst>
              <a:ext uri="{FF2B5EF4-FFF2-40B4-BE49-F238E27FC236}">
                <a16:creationId xmlns:a16="http://schemas.microsoft.com/office/drawing/2014/main" id="{C322F532-145A-27D3-7C66-A3416D7D2938}"/>
              </a:ext>
            </a:extLst>
          </p:cNvPr>
          <p:cNvSpPr>
            <a:spLocks noGrp="1"/>
          </p:cNvSpPr>
          <p:nvPr>
            <p:ph type="sldNum" sz="quarter" idx="5"/>
          </p:nvPr>
        </p:nvSpPr>
        <p:spPr/>
        <p:txBody>
          <a:bodyPr/>
          <a:lstStyle/>
          <a:p>
            <a:pPr>
              <a:defRPr/>
            </a:pPr>
            <a:fld id="{4AA59A63-F837-CF4C-8906-49CCB333AF10}" type="slidenum">
              <a:rPr lang="en-US" smtClean="0"/>
              <a:pPr>
                <a:defRPr/>
              </a:pPr>
              <a:t>5</a:t>
            </a:fld>
            <a:endParaRPr lang="en-US"/>
          </a:p>
        </p:txBody>
      </p:sp>
    </p:spTree>
    <p:extLst>
      <p:ext uri="{BB962C8B-B14F-4D97-AF65-F5344CB8AC3E}">
        <p14:creationId xmlns:p14="http://schemas.microsoft.com/office/powerpoint/2010/main" val="4743706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ANDREW</a:t>
            </a:r>
          </a:p>
          <a:p>
            <a:pPr marL="0" indent="0" rtl="0" fontAlgn="ctr">
              <a:buFont typeface="Arial" panose="020B0604020202020204" pitchFamily="34" charset="0"/>
              <a:buNone/>
            </a:pPr>
            <a:endParaRPr lang="en-US" sz="1200" b="0" i="0" kern="1200">
              <a:solidFill>
                <a:schemeClr val="tx1"/>
              </a:solidFill>
              <a:effectLst/>
              <a:latin typeface="Avenir Next LT Pro" panose="020B0504020202020204" pitchFamily="34" charset="77"/>
              <a:ea typeface="+mn-ea"/>
              <a:cs typeface="+mn-cs"/>
            </a:endParaRP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So you’ll see that here – with the big takeaway being that the opportunity clusters into four main areas:</a:t>
            </a:r>
          </a:p>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1. Information delivery at the granularity of user needs with access to more specific information as users progress</a:t>
            </a:r>
          </a:p>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2. Clearer value propositions based on what prospective students care about most</a:t>
            </a:r>
          </a:p>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3. Resolving lead capture friction around more complex fields, inclusive of data-backed solutions beyond UX</a:t>
            </a:r>
          </a:p>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4. Post-inquiry support to improve lead experience after inquiry, lead quality, and DeVry’s ability to prioritize high intent leads</a:t>
            </a:r>
          </a:p>
        </p:txBody>
      </p:sp>
      <p:sp>
        <p:nvSpPr>
          <p:cNvPr id="4" name="Slide Number Placeholder 3"/>
          <p:cNvSpPr>
            <a:spLocks noGrp="1"/>
          </p:cNvSpPr>
          <p:nvPr>
            <p:ph type="sldNum" sz="quarter" idx="5"/>
          </p:nvPr>
        </p:nvSpPr>
        <p:spPr/>
        <p:txBody>
          <a:bodyPr/>
          <a:lstStyle/>
          <a:p>
            <a:pPr>
              <a:defRPr/>
            </a:pPr>
            <a:fld id="{4AA59A63-F837-CF4C-8906-49CCB333AF10}" type="slidenum">
              <a:rPr lang="en-US" smtClean="0"/>
              <a:pPr>
                <a:defRPr/>
              </a:pPr>
              <a:t>6</a:t>
            </a:fld>
            <a:endParaRPr lang="en-US"/>
          </a:p>
        </p:txBody>
      </p:sp>
    </p:spTree>
    <p:extLst>
      <p:ext uri="{BB962C8B-B14F-4D97-AF65-F5344CB8AC3E}">
        <p14:creationId xmlns:p14="http://schemas.microsoft.com/office/powerpoint/2010/main" val="24059156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165AB-B0E2-2A30-C22A-582B7907FD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4E974C-75E2-6D01-1B9B-9E45BDE7B9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EA0BB2-04A7-8D70-5B19-C3FFB3299C0E}"/>
              </a:ext>
            </a:extLst>
          </p:cNvPr>
          <p:cNvSpPr>
            <a:spLocks noGrp="1"/>
          </p:cNvSpPr>
          <p:nvPr>
            <p:ph type="body" idx="1"/>
          </p:nvPr>
        </p:nvSpPr>
        <p:spPr/>
        <p:txBody>
          <a:bodyPr/>
          <a:lstStyle/>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ANDREW</a:t>
            </a:r>
          </a:p>
          <a:p>
            <a:pPr marL="0" indent="0" rtl="0" fontAlgn="ctr">
              <a:buFont typeface="Arial" panose="020B0604020202020204" pitchFamily="34" charset="0"/>
              <a:buNone/>
            </a:pPr>
            <a:endParaRPr lang="en-US" sz="1200" b="0" i="0" kern="1200">
              <a:solidFill>
                <a:schemeClr val="tx1"/>
              </a:solidFill>
              <a:effectLst/>
              <a:latin typeface="Avenir Next LT Pro" panose="020B0504020202020204" pitchFamily="34" charset="77"/>
              <a:ea typeface="+mn-ea"/>
              <a:cs typeface="+mn-cs"/>
            </a:endParaRPr>
          </a:p>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And what we’ve done here is just loosely scored where DeVry is at compared to competitors and where it could be after a year of focused testing</a:t>
            </a:r>
          </a:p>
          <a:p>
            <a:pPr marL="0" indent="0" rtl="0" fontAlgn="ctr">
              <a:buFont typeface="Arial" panose="020B0604020202020204" pitchFamily="34" charset="0"/>
              <a:buNone/>
            </a:pPr>
            <a:endParaRPr lang="en-US" sz="1200" b="0" i="0" kern="1200">
              <a:solidFill>
                <a:schemeClr val="tx1"/>
              </a:solidFill>
              <a:effectLst/>
              <a:latin typeface="Avenir Next LT Pro" panose="020B0504020202020204" pitchFamily="34" charset="77"/>
              <a:ea typeface="+mn-ea"/>
              <a:cs typeface="+mn-cs"/>
            </a:endParaRPr>
          </a:p>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And on the next slides we’ll get into a bit more detail about these opportunities, why they matter and what DeVry can do about them</a:t>
            </a:r>
          </a:p>
        </p:txBody>
      </p:sp>
      <p:sp>
        <p:nvSpPr>
          <p:cNvPr id="4" name="Slide Number Placeholder 3">
            <a:extLst>
              <a:ext uri="{FF2B5EF4-FFF2-40B4-BE49-F238E27FC236}">
                <a16:creationId xmlns:a16="http://schemas.microsoft.com/office/drawing/2014/main" id="{32F93BA8-E3E0-0CC3-CD34-1F5B37AA0069}"/>
              </a:ext>
            </a:extLst>
          </p:cNvPr>
          <p:cNvSpPr>
            <a:spLocks noGrp="1"/>
          </p:cNvSpPr>
          <p:nvPr>
            <p:ph type="sldNum" sz="quarter" idx="5"/>
          </p:nvPr>
        </p:nvSpPr>
        <p:spPr/>
        <p:txBody>
          <a:bodyPr/>
          <a:lstStyle/>
          <a:p>
            <a:pPr>
              <a:defRPr/>
            </a:pPr>
            <a:fld id="{4AA59A63-F837-CF4C-8906-49CCB333AF10}" type="slidenum">
              <a:rPr lang="en-US" smtClean="0"/>
              <a:pPr>
                <a:defRPr/>
              </a:pPr>
              <a:t>7</a:t>
            </a:fld>
            <a:endParaRPr lang="en-US"/>
          </a:p>
        </p:txBody>
      </p:sp>
    </p:spTree>
    <p:extLst>
      <p:ext uri="{BB962C8B-B14F-4D97-AF65-F5344CB8AC3E}">
        <p14:creationId xmlns:p14="http://schemas.microsoft.com/office/powerpoint/2010/main" val="21938602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JORDAN</a:t>
            </a:r>
          </a:p>
          <a:p>
            <a:pPr marL="0" indent="0" rtl="0" fontAlgn="ctr">
              <a:buFont typeface="Arial" panose="020B0604020202020204" pitchFamily="34" charset="0"/>
              <a:buNone/>
            </a:pPr>
            <a:endParaRPr lang="en-US" sz="1200" b="0" i="0" kern="1200">
              <a:solidFill>
                <a:schemeClr val="tx1"/>
              </a:solidFill>
              <a:effectLst/>
              <a:latin typeface="Avenir Next LT Pro" panose="020B0504020202020204" pitchFamily="34" charset="77"/>
              <a:ea typeface="+mn-ea"/>
              <a:cs typeface="+mn-cs"/>
            </a:endParaRP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This section is about information hierarchy</a:t>
            </a: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Headline 1 is that when intent and landing experience are more closely matched, performance improves</a:t>
            </a:r>
          </a:p>
          <a:p>
            <a:pPr marL="628650" lvl="1"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So, broad queries still need broad pages like /core or /tech just like mid-level queries need topic-level but not program-level pages like /accounting</a:t>
            </a:r>
          </a:p>
          <a:p>
            <a:pPr marL="171450" lvl="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Headline 2 is that specific intent aligned to specific content is more valuable than broad intent aligned to broad content </a:t>
            </a:r>
          </a:p>
          <a:p>
            <a:pPr marL="628650" lvl="1"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We want to educate users to help them find the right topic and make that intent more program-specific, to get them ready to inquire, which is a common practice among competitors</a:t>
            </a:r>
          </a:p>
          <a:p>
            <a:pPr marL="628650" lvl="1"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That will send users who aren’t yet ready to inquire further down-funnel until they feel informed enough to inquire AND they will be doing so from a place of better understanding, better equipped to select the appropriate program and discuss with an enrollment consultant</a:t>
            </a:r>
          </a:p>
          <a:p>
            <a:pPr marL="171450" lvl="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Headline 3 majority of spend is broad</a:t>
            </a:r>
          </a:p>
          <a:p>
            <a:pPr marL="628650" lvl="1"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So, while we love our specific, targeted content, we do still need these broad pages</a:t>
            </a:r>
          </a:p>
          <a:p>
            <a:pPr marL="628650" lvl="1"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We just want to use them to path users down-funnel if they don’t feel ready to inquire yet</a:t>
            </a:r>
          </a:p>
        </p:txBody>
      </p:sp>
      <p:sp>
        <p:nvSpPr>
          <p:cNvPr id="4" name="Slide Number Placeholder 3"/>
          <p:cNvSpPr>
            <a:spLocks noGrp="1"/>
          </p:cNvSpPr>
          <p:nvPr>
            <p:ph type="sldNum" sz="quarter" idx="5"/>
          </p:nvPr>
        </p:nvSpPr>
        <p:spPr/>
        <p:txBody>
          <a:bodyPr/>
          <a:lstStyle/>
          <a:p>
            <a:pPr>
              <a:defRPr/>
            </a:pPr>
            <a:fld id="{4AA59A63-F837-CF4C-8906-49CCB333AF10}" type="slidenum">
              <a:rPr lang="en-US" smtClean="0"/>
              <a:pPr>
                <a:defRPr/>
              </a:pPr>
              <a:t>8</a:t>
            </a:fld>
            <a:endParaRPr lang="en-US"/>
          </a:p>
        </p:txBody>
      </p:sp>
    </p:spTree>
    <p:extLst>
      <p:ext uri="{BB962C8B-B14F-4D97-AF65-F5344CB8AC3E}">
        <p14:creationId xmlns:p14="http://schemas.microsoft.com/office/powerpoint/2010/main" val="41373470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ctr" latinLnBrk="0" hangingPunct="1">
              <a:lnSpc>
                <a:spcPct val="100000"/>
              </a:lnSpc>
              <a:spcBef>
                <a:spcPct val="30000"/>
              </a:spcBef>
              <a:spcAft>
                <a:spcPct val="0"/>
              </a:spcAft>
              <a:buClrTx/>
              <a:buSzTx/>
              <a:buFont typeface="Arial" panose="020B0604020202020204" pitchFamily="34" charset="0"/>
              <a:buNone/>
              <a:tabLst/>
              <a:defRPr/>
            </a:pPr>
            <a:r>
              <a:rPr lang="en-US" sz="1200" b="0" i="0" kern="1200">
                <a:solidFill>
                  <a:schemeClr val="tx1"/>
                </a:solidFill>
                <a:effectLst/>
                <a:latin typeface="Avenir Next LT Pro" panose="020B0504020202020204" pitchFamily="34" charset="77"/>
                <a:ea typeface="+mn-ea"/>
                <a:cs typeface="+mn-cs"/>
              </a:rPr>
              <a:t>JORDAN</a:t>
            </a:r>
          </a:p>
          <a:p>
            <a:pPr marL="0" indent="0" rtl="0" fontAlgn="ctr">
              <a:buFont typeface="Arial" panose="020B0604020202020204" pitchFamily="34" charset="0"/>
              <a:buNone/>
            </a:pPr>
            <a:endParaRPr lang="en-US" sz="1200" b="0" i="0" kern="1200">
              <a:solidFill>
                <a:schemeClr val="tx1"/>
              </a:solidFill>
              <a:effectLst/>
              <a:latin typeface="Avenir Next LT Pro" panose="020B0504020202020204" pitchFamily="34" charset="77"/>
              <a:ea typeface="+mn-ea"/>
              <a:cs typeface="+mn-cs"/>
            </a:endParaRP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The implication is that users need more support in discovering the right path</a:t>
            </a: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That could mean </a:t>
            </a:r>
            <a:r>
              <a:rPr lang="en-US" sz="1200" b="1" i="0" kern="1200">
                <a:solidFill>
                  <a:schemeClr val="tx1"/>
                </a:solidFill>
                <a:effectLst/>
                <a:latin typeface="Avenir Next LT Pro" panose="020B0504020202020204" pitchFamily="34" charset="77"/>
                <a:ea typeface="+mn-ea"/>
                <a:cs typeface="+mn-cs"/>
              </a:rPr>
              <a:t>clearer topic pathing, eventual pathing to specific programs and even guided flows, </a:t>
            </a:r>
          </a:p>
          <a:p>
            <a:pPr marL="171450" indent="-171450" rtl="0" fontAlgn="ctr">
              <a:buFont typeface="Arial" panose="020B0604020202020204" pitchFamily="34" charset="0"/>
              <a:buChar char="•"/>
            </a:pPr>
            <a:endParaRPr lang="en-US" sz="1200" b="0" i="0" kern="1200">
              <a:solidFill>
                <a:schemeClr val="tx1"/>
              </a:solidFill>
              <a:effectLst/>
              <a:latin typeface="Avenir Next LT Pro" panose="020B0504020202020204" pitchFamily="34" charset="77"/>
              <a:ea typeface="+mn-ea"/>
              <a:cs typeface="+mn-cs"/>
            </a:endParaRPr>
          </a:p>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Things like linking to topics from the core page, recommending specific programs from the /analytics page or even creating need-based decisions like “what is your ideal job title?” or “Do you prefer to build technology or work with data?” all help users refine their intent not only for engagement data that can be analyzed and repurposed, but for themselves, so they feel more ready to inquire</a:t>
            </a:r>
          </a:p>
          <a:p>
            <a:pPr marL="0" indent="0" rtl="0" fontAlgn="ctr">
              <a:buFont typeface="Arial" panose="020B0604020202020204" pitchFamily="34" charset="0"/>
              <a:buNone/>
            </a:pPr>
            <a:endParaRPr lang="en-US" sz="1200" b="0" i="0" kern="1200">
              <a:solidFill>
                <a:schemeClr val="tx1"/>
              </a:solidFill>
              <a:effectLst/>
              <a:latin typeface="Avenir Next LT Pro" panose="020B0504020202020204" pitchFamily="34" charset="77"/>
              <a:ea typeface="+mn-ea"/>
              <a:cs typeface="+mn-cs"/>
            </a:endParaRPr>
          </a:p>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The goal here is to get user intent at their current stage and help them shape that into a specific program if they don’t already know what they want. And if they do already know, help them get details about that program more easily to confirm that DeVry is in fact what they’re looking for.</a:t>
            </a:r>
          </a:p>
        </p:txBody>
      </p:sp>
      <p:sp>
        <p:nvSpPr>
          <p:cNvPr id="4" name="Slide Number Placeholder 3"/>
          <p:cNvSpPr>
            <a:spLocks noGrp="1"/>
          </p:cNvSpPr>
          <p:nvPr>
            <p:ph type="sldNum" sz="quarter" idx="5"/>
          </p:nvPr>
        </p:nvSpPr>
        <p:spPr/>
        <p:txBody>
          <a:bodyPr/>
          <a:lstStyle/>
          <a:p>
            <a:pPr>
              <a:defRPr/>
            </a:pPr>
            <a:fld id="{4AA59A63-F837-CF4C-8906-49CCB333AF10}" type="slidenum">
              <a:rPr lang="en-US" smtClean="0"/>
              <a:pPr>
                <a:defRPr/>
              </a:pPr>
              <a:t>9</a:t>
            </a:fld>
            <a:endParaRPr lang="en-US"/>
          </a:p>
        </p:txBody>
      </p:sp>
    </p:spTree>
    <p:extLst>
      <p:ext uri="{BB962C8B-B14F-4D97-AF65-F5344CB8AC3E}">
        <p14:creationId xmlns:p14="http://schemas.microsoft.com/office/powerpoint/2010/main" val="2601608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ctr" latinLnBrk="0" hangingPunct="1">
              <a:lnSpc>
                <a:spcPct val="100000"/>
              </a:lnSpc>
              <a:spcBef>
                <a:spcPct val="30000"/>
              </a:spcBef>
              <a:spcAft>
                <a:spcPct val="0"/>
              </a:spcAft>
              <a:buClrTx/>
              <a:buSzTx/>
              <a:buFont typeface="Arial" panose="020B0604020202020204" pitchFamily="34" charset="0"/>
              <a:buNone/>
              <a:tabLst/>
              <a:defRPr/>
            </a:pPr>
            <a:r>
              <a:rPr lang="en-US" sz="1200" b="0" i="0" kern="1200">
                <a:solidFill>
                  <a:schemeClr val="tx1"/>
                </a:solidFill>
                <a:effectLst/>
                <a:latin typeface="Avenir Next LT Pro" panose="020B0504020202020204" pitchFamily="34" charset="77"/>
                <a:ea typeface="+mn-ea"/>
                <a:cs typeface="+mn-cs"/>
              </a:rPr>
              <a:t>JORDAN</a:t>
            </a:r>
          </a:p>
          <a:p>
            <a:pPr marL="0" indent="0" rtl="0" fontAlgn="ctr">
              <a:buFont typeface="Arial" panose="020B0604020202020204" pitchFamily="34" charset="0"/>
              <a:buNone/>
            </a:pPr>
            <a:endParaRPr lang="en-US" sz="1200" b="0" i="0" kern="1200">
              <a:solidFill>
                <a:schemeClr val="tx1"/>
              </a:solidFill>
              <a:effectLst/>
              <a:latin typeface="Avenir Next LT Pro" panose="020B0504020202020204" pitchFamily="34" charset="77"/>
              <a:ea typeface="+mn-ea"/>
              <a:cs typeface="+mn-cs"/>
            </a:endParaRP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This section is about value propositions and credibility</a:t>
            </a: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Outcomes, cost &amp; value, flexibility, and trust are central decision inputs for this audience</a:t>
            </a: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Right now there is room to bring those signals forward more clearly and earlier in the experience</a:t>
            </a:r>
          </a:p>
          <a:p>
            <a:endParaRPr lang="en-US"/>
          </a:p>
          <a:p>
            <a:r>
              <a:rPr lang="en-US"/>
              <a:t>94% of online learners enroll for career outcomes like job titles and expected salaries. If DeVry can’t demonstrate value for their prospective students, then 94% of users will not get the information they’re looking for, and you can see that in social media threads related to DeVry</a:t>
            </a:r>
          </a:p>
          <a:p>
            <a:endParaRPr lang="en-US"/>
          </a:p>
          <a:p>
            <a:r>
              <a:rPr lang="en-US"/>
              <a:t>Further, affordability transparency communicates trustworthiness AND let’s users make the decisions that are right for them. And we can see that on the affordability page, which has the highest form completion rate from start because users feel confident in their decision to move forward</a:t>
            </a:r>
          </a:p>
          <a:p>
            <a:endParaRPr lang="en-US"/>
          </a:p>
          <a:p>
            <a:r>
              <a:rPr lang="en-US"/>
              <a:t>Lastly, users want flexibility, and DeVry offers that. Confirming multiple modalities with an emphasis on online as well as the ability to use credentials partway through degrees while still stacking toward something more ideal or final is valuable information for prospective students that doesn’t live on get started</a:t>
            </a:r>
          </a:p>
        </p:txBody>
      </p:sp>
      <p:sp>
        <p:nvSpPr>
          <p:cNvPr id="4" name="Slide Number Placeholder 3"/>
          <p:cNvSpPr>
            <a:spLocks noGrp="1"/>
          </p:cNvSpPr>
          <p:nvPr>
            <p:ph type="sldNum" sz="quarter" idx="5"/>
          </p:nvPr>
        </p:nvSpPr>
        <p:spPr/>
        <p:txBody>
          <a:bodyPr/>
          <a:lstStyle/>
          <a:p>
            <a:pPr>
              <a:defRPr/>
            </a:pPr>
            <a:fld id="{4AA59A63-F837-CF4C-8906-49CCB333AF10}" type="slidenum">
              <a:rPr lang="en-US" smtClean="0"/>
              <a:pPr>
                <a:defRPr/>
              </a:pPr>
              <a:t>10</a:t>
            </a:fld>
            <a:endParaRPr lang="en-US"/>
          </a:p>
        </p:txBody>
      </p:sp>
    </p:spTree>
    <p:extLst>
      <p:ext uri="{BB962C8B-B14F-4D97-AF65-F5344CB8AC3E}">
        <p14:creationId xmlns:p14="http://schemas.microsoft.com/office/powerpoint/2010/main" val="1683946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JORDAN</a:t>
            </a:r>
          </a:p>
          <a:p>
            <a:pPr marL="0" indent="0" rtl="0" fontAlgn="ctr">
              <a:buFont typeface="Arial" panose="020B0604020202020204" pitchFamily="34" charset="0"/>
              <a:buNone/>
            </a:pPr>
            <a:endParaRPr lang="en-US" sz="1200" b="0" i="0" kern="1200">
              <a:solidFill>
                <a:schemeClr val="tx1"/>
              </a:solidFill>
              <a:effectLst/>
              <a:latin typeface="Avenir Next LT Pro" panose="020B0504020202020204" pitchFamily="34" charset="77"/>
              <a:ea typeface="+mn-ea"/>
              <a:cs typeface="+mn-cs"/>
            </a:endParaRP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This is really just the right modules in the right places to answer the concerns users actually have</a:t>
            </a: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Things like career outcomes, affordability and flexibility</a:t>
            </a:r>
          </a:p>
          <a:p>
            <a:endParaRPr lang="en-US"/>
          </a:p>
          <a:p>
            <a:r>
              <a:rPr lang="en-US"/>
              <a:t>Outcome snapshots, cost and aid calculators and flexibility confirmations all tell users that DeVry can meet their specific needs</a:t>
            </a:r>
          </a:p>
          <a:p>
            <a:endParaRPr lang="en-US"/>
          </a:p>
          <a:p>
            <a:r>
              <a:rPr lang="en-US"/>
              <a:t>These can be built into longer pages, hidden behind interaction or linked across the site, but moving to incorporate this information will be a long-term value-driver for DeVry’s marketing</a:t>
            </a:r>
          </a:p>
        </p:txBody>
      </p:sp>
      <p:sp>
        <p:nvSpPr>
          <p:cNvPr id="4" name="Slide Number Placeholder 3"/>
          <p:cNvSpPr>
            <a:spLocks noGrp="1"/>
          </p:cNvSpPr>
          <p:nvPr>
            <p:ph type="sldNum" sz="quarter" idx="5"/>
          </p:nvPr>
        </p:nvSpPr>
        <p:spPr/>
        <p:txBody>
          <a:bodyPr/>
          <a:lstStyle/>
          <a:p>
            <a:pPr>
              <a:defRPr/>
            </a:pPr>
            <a:fld id="{4AA59A63-F837-CF4C-8906-49CCB333AF10}" type="slidenum">
              <a:rPr lang="en-US" smtClean="0"/>
              <a:pPr>
                <a:defRPr/>
              </a:pPr>
              <a:t>11</a:t>
            </a:fld>
            <a:endParaRPr lang="en-US"/>
          </a:p>
        </p:txBody>
      </p:sp>
    </p:spTree>
    <p:extLst>
      <p:ext uri="{BB962C8B-B14F-4D97-AF65-F5344CB8AC3E}">
        <p14:creationId xmlns:p14="http://schemas.microsoft.com/office/powerpoint/2010/main" val="14307167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JORDAN</a:t>
            </a:r>
          </a:p>
          <a:p>
            <a:pPr marL="171450" indent="-171450" rtl="0" fontAlgn="ctr">
              <a:buFont typeface="Arial" panose="020B0604020202020204" pitchFamily="34" charset="0"/>
              <a:buChar char="•"/>
            </a:pPr>
            <a:endParaRPr lang="en-US" sz="1200" b="0" i="0" kern="1200">
              <a:solidFill>
                <a:schemeClr val="tx1"/>
              </a:solidFill>
              <a:effectLst/>
              <a:latin typeface="Avenir Next LT Pro" panose="020B0504020202020204" pitchFamily="34" charset="77"/>
              <a:ea typeface="+mn-ea"/>
              <a:cs typeface="+mn-cs"/>
            </a:endParaRP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This section focuses on lead capture</a:t>
            </a: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The broad finding is that there is still friction at the point users are ready to act</a:t>
            </a: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That includes mobile experience, urgency, and ease of selection</a:t>
            </a:r>
          </a:p>
          <a:p>
            <a:pPr marL="171450" indent="-171450" rtl="0" fontAlgn="ctr">
              <a:buFont typeface="Arial" panose="020B0604020202020204" pitchFamily="34" charset="0"/>
              <a:buChar char="•"/>
            </a:pPr>
            <a:endParaRPr lang="en-US" sz="1200" b="0" i="0" kern="1200">
              <a:solidFill>
                <a:schemeClr val="tx1"/>
              </a:solidFill>
              <a:effectLst/>
              <a:latin typeface="Avenir Next LT Pro" panose="020B0504020202020204" pitchFamily="34" charset="77"/>
              <a:ea typeface="+mn-ea"/>
              <a:cs typeface="+mn-cs"/>
            </a:endParaRPr>
          </a:p>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The massive mobile form makes scrolling and engaging with other elements difficult. Also, asking for all that information at once is overwhelming and difficult to understand</a:t>
            </a:r>
          </a:p>
          <a:p>
            <a:pPr marL="0" indent="0" rtl="0" fontAlgn="ctr">
              <a:buFont typeface="Arial" panose="020B0604020202020204" pitchFamily="34" charset="0"/>
              <a:buNone/>
            </a:pPr>
            <a:endParaRPr lang="en-US" sz="1200" b="0" i="0" kern="1200">
              <a:solidFill>
                <a:schemeClr val="tx1"/>
              </a:solidFill>
              <a:effectLst/>
              <a:latin typeface="Avenir Next LT Pro" panose="020B0504020202020204" pitchFamily="34" charset="77"/>
              <a:ea typeface="+mn-ea"/>
              <a:cs typeface="+mn-cs"/>
            </a:endParaRPr>
          </a:p>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“Every 8 weeks” enrollment date content removes urgency by making delay easy and not giving a concrete deadline</a:t>
            </a:r>
          </a:p>
          <a:p>
            <a:pPr marL="0" indent="0" rtl="0" fontAlgn="ctr">
              <a:buFont typeface="Arial" panose="020B0604020202020204" pitchFamily="34" charset="0"/>
              <a:buNone/>
            </a:pPr>
            <a:endParaRPr lang="en-US" sz="1200" b="0" i="0" kern="1200">
              <a:solidFill>
                <a:schemeClr val="tx1"/>
              </a:solidFill>
              <a:effectLst/>
              <a:latin typeface="Avenir Next LT Pro" panose="020B0504020202020204" pitchFamily="34" charset="77"/>
              <a:ea typeface="+mn-ea"/>
              <a:cs typeface="+mn-cs"/>
            </a:endParaRPr>
          </a:p>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Lastly, and most importantly, difficult form UX makes the most important selections challenging and confusing.</a:t>
            </a:r>
          </a:p>
        </p:txBody>
      </p:sp>
      <p:sp>
        <p:nvSpPr>
          <p:cNvPr id="4" name="Slide Number Placeholder 3"/>
          <p:cNvSpPr>
            <a:spLocks noGrp="1"/>
          </p:cNvSpPr>
          <p:nvPr>
            <p:ph type="sldNum" sz="quarter" idx="5"/>
          </p:nvPr>
        </p:nvSpPr>
        <p:spPr/>
        <p:txBody>
          <a:bodyPr/>
          <a:lstStyle/>
          <a:p>
            <a:pPr>
              <a:defRPr/>
            </a:pPr>
            <a:fld id="{4AA59A63-F837-CF4C-8906-49CCB333AF10}" type="slidenum">
              <a:rPr lang="en-US" smtClean="0"/>
              <a:pPr>
                <a:defRPr/>
              </a:pPr>
              <a:t>12</a:t>
            </a:fld>
            <a:endParaRPr lang="en-US"/>
          </a:p>
        </p:txBody>
      </p:sp>
    </p:spTree>
    <p:extLst>
      <p:ext uri="{BB962C8B-B14F-4D97-AF65-F5344CB8AC3E}">
        <p14:creationId xmlns:p14="http://schemas.microsoft.com/office/powerpoint/2010/main" val="13950709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JORDAN</a:t>
            </a:r>
          </a:p>
          <a:p>
            <a:pPr marL="0" indent="0" rtl="0" fontAlgn="ctr">
              <a:buFont typeface="Arial" panose="020B0604020202020204" pitchFamily="34" charset="0"/>
              <a:buNone/>
            </a:pPr>
            <a:endParaRPr lang="en-US" sz="1200" b="0" i="0" kern="1200">
              <a:solidFill>
                <a:schemeClr val="tx1"/>
              </a:solidFill>
              <a:effectLst/>
              <a:latin typeface="Avenir Next LT Pro" panose="020B0504020202020204" pitchFamily="34" charset="77"/>
              <a:ea typeface="+mn-ea"/>
              <a:cs typeface="+mn-cs"/>
            </a:endParaRP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The opportunity here is to reduce drop-off at the moment of conversion</a:t>
            </a: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That can mean better mobile patterns, stronger urgency cues, simpler selection or even alternative forms</a:t>
            </a:r>
          </a:p>
          <a:p>
            <a:pPr marL="0" indent="0" rtl="0" fontAlgn="ctr">
              <a:buFont typeface="Arial" panose="020B0604020202020204" pitchFamily="34" charset="0"/>
              <a:buNone/>
            </a:pPr>
            <a:endParaRPr lang="en-US" sz="1200" b="0" i="0" kern="1200">
              <a:solidFill>
                <a:schemeClr val="tx1"/>
              </a:solidFill>
              <a:effectLst/>
              <a:latin typeface="Avenir Next LT Pro" panose="020B0504020202020204" pitchFamily="34" charset="77"/>
              <a:ea typeface="+mn-ea"/>
              <a:cs typeface="+mn-cs"/>
            </a:endParaRPr>
          </a:p>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Some things we’d really like to prioritize are related to smoother selection:</a:t>
            </a:r>
          </a:p>
          <a:p>
            <a:pPr marL="228600" indent="-228600" rtl="0" fontAlgn="ctr">
              <a:buFont typeface="Arial" panose="020B0604020202020204" pitchFamily="34" charset="0"/>
              <a:buAutoNum type="arabicPeriod"/>
            </a:pPr>
            <a:r>
              <a:rPr lang="en-US" sz="1200" b="0" i="0" kern="1200">
                <a:solidFill>
                  <a:schemeClr val="tx1"/>
                </a:solidFill>
                <a:effectLst/>
                <a:latin typeface="Avenir Next LT Pro" panose="020B0504020202020204" pitchFamily="34" charset="77"/>
                <a:ea typeface="+mn-ea"/>
                <a:cs typeface="+mn-cs"/>
              </a:rPr>
              <a:t>A program of interest field with values that map to DeVry’s promoted topics and programs</a:t>
            </a:r>
          </a:p>
          <a:p>
            <a:pPr marL="228600" indent="-228600" rtl="0" fontAlgn="ctr">
              <a:buFont typeface="Arial" panose="020B0604020202020204" pitchFamily="34" charset="0"/>
              <a:buAutoNum type="arabicPeriod"/>
            </a:pPr>
            <a:r>
              <a:rPr lang="en-US" sz="1200" b="0" i="0" kern="1200">
                <a:solidFill>
                  <a:schemeClr val="tx1"/>
                </a:solidFill>
                <a:effectLst/>
                <a:latin typeface="Avenir Next LT Pro" panose="020B0504020202020204" pitchFamily="34" charset="77"/>
                <a:ea typeface="+mn-ea"/>
                <a:cs typeface="+mn-cs"/>
              </a:rPr>
              <a:t>Pre-filtered lists to only show relevant options</a:t>
            </a:r>
          </a:p>
          <a:p>
            <a:pPr marL="228600" indent="-228600" rtl="0" fontAlgn="ctr">
              <a:buFont typeface="Arial" panose="020B0604020202020204" pitchFamily="34" charset="0"/>
              <a:buAutoNum type="arabicPeriod"/>
            </a:pPr>
            <a:r>
              <a:rPr lang="en-US" sz="1200" b="0" i="0" kern="1200">
                <a:solidFill>
                  <a:schemeClr val="tx1"/>
                </a:solidFill>
                <a:effectLst/>
                <a:latin typeface="Avenir Next LT Pro" panose="020B0504020202020204" pitchFamily="34" charset="77"/>
                <a:ea typeface="+mn-ea"/>
                <a:cs typeface="+mn-cs"/>
              </a:rPr>
              <a:t>Pre-filled values -- as possible </a:t>
            </a:r>
          </a:p>
          <a:p>
            <a:pPr marL="228600" indent="-228600" rtl="0" fontAlgn="ctr">
              <a:buFont typeface="Arial" panose="020B0604020202020204" pitchFamily="34" charset="0"/>
              <a:buAutoNum type="arabicPeriod"/>
            </a:pPr>
            <a:r>
              <a:rPr lang="en-US" sz="1200" b="0" i="0" kern="1200">
                <a:solidFill>
                  <a:schemeClr val="tx1"/>
                </a:solidFill>
                <a:effectLst/>
                <a:latin typeface="Avenir Next LT Pro" panose="020B0504020202020204" pitchFamily="34" charset="77"/>
                <a:ea typeface="+mn-ea"/>
                <a:cs typeface="+mn-cs"/>
              </a:rPr>
              <a:t>And form searchability</a:t>
            </a:r>
          </a:p>
          <a:p>
            <a:pPr marL="228600" indent="-228600" rtl="0" fontAlgn="ctr">
              <a:buFont typeface="Arial" panose="020B0604020202020204" pitchFamily="34" charset="0"/>
              <a:buAutoNum type="arabicPeriod"/>
            </a:pPr>
            <a:endParaRPr lang="en-US" sz="1200" b="0" i="0" kern="1200">
              <a:solidFill>
                <a:schemeClr val="tx1"/>
              </a:solidFill>
              <a:effectLst/>
              <a:latin typeface="Avenir Next LT Pro" panose="020B0504020202020204" pitchFamily="34" charset="77"/>
              <a:ea typeface="+mn-ea"/>
              <a:cs typeface="+mn-cs"/>
            </a:endParaRPr>
          </a:p>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Those 4 updates would be massive for DeVry, and we already saw this play out with our pre-fill tests on Accounting and AI</a:t>
            </a:r>
          </a:p>
        </p:txBody>
      </p:sp>
      <p:sp>
        <p:nvSpPr>
          <p:cNvPr id="4" name="Slide Number Placeholder 3"/>
          <p:cNvSpPr>
            <a:spLocks noGrp="1"/>
          </p:cNvSpPr>
          <p:nvPr>
            <p:ph type="sldNum" sz="quarter" idx="5"/>
          </p:nvPr>
        </p:nvSpPr>
        <p:spPr/>
        <p:txBody>
          <a:bodyPr/>
          <a:lstStyle/>
          <a:p>
            <a:pPr>
              <a:defRPr/>
            </a:pPr>
            <a:fld id="{4AA59A63-F837-CF4C-8906-49CCB333AF10}" type="slidenum">
              <a:rPr lang="en-US" smtClean="0"/>
              <a:pPr>
                <a:defRPr/>
              </a:pPr>
              <a:t>13</a:t>
            </a:fld>
            <a:endParaRPr lang="en-US"/>
          </a:p>
        </p:txBody>
      </p:sp>
    </p:spTree>
    <p:extLst>
      <p:ext uri="{BB962C8B-B14F-4D97-AF65-F5344CB8AC3E}">
        <p14:creationId xmlns:p14="http://schemas.microsoft.com/office/powerpoint/2010/main" val="23725180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JORDAN</a:t>
            </a:r>
          </a:p>
          <a:p>
            <a:pPr marL="0" indent="0" rtl="0" fontAlgn="ctr">
              <a:buFont typeface="Arial" panose="020B0604020202020204" pitchFamily="34" charset="0"/>
              <a:buNone/>
            </a:pPr>
            <a:endParaRPr lang="en-US" sz="1200" b="0" i="0" kern="1200">
              <a:solidFill>
                <a:schemeClr val="tx1"/>
              </a:solidFill>
              <a:effectLst/>
              <a:latin typeface="Avenir Next LT Pro" panose="020B0504020202020204" pitchFamily="34" charset="77"/>
              <a:ea typeface="+mn-ea"/>
              <a:cs typeface="+mn-cs"/>
            </a:endParaRP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This section focuses on what happens after lead capture</a:t>
            </a: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Leads are clearly looking for more information, which is why almost a quarter of them fill out a 2</a:t>
            </a:r>
            <a:r>
              <a:rPr lang="en-US" sz="1200" b="0" i="0" kern="1200" baseline="30000">
                <a:solidFill>
                  <a:schemeClr val="tx1"/>
                </a:solidFill>
                <a:effectLst/>
                <a:latin typeface="Avenir Next LT Pro" panose="020B0504020202020204" pitchFamily="34" charset="77"/>
                <a:ea typeface="+mn-ea"/>
                <a:cs typeface="+mn-cs"/>
              </a:rPr>
              <a:t>nd</a:t>
            </a:r>
            <a:r>
              <a:rPr lang="en-US" sz="1200" b="0" i="0" kern="1200">
                <a:solidFill>
                  <a:schemeClr val="tx1"/>
                </a:solidFill>
                <a:effectLst/>
                <a:latin typeface="Avenir Next LT Pro" panose="020B0504020202020204" pitchFamily="34" charset="77"/>
                <a:ea typeface="+mn-ea"/>
                <a:cs typeface="+mn-cs"/>
              </a:rPr>
              <a:t> inquiry, looking for a more serious application step</a:t>
            </a:r>
          </a:p>
          <a:p>
            <a:pPr marL="171450" indent="-171450" rtl="0" fontAlgn="ctr">
              <a:buFont typeface="Arial" panose="020B0604020202020204" pitchFamily="34" charset="0"/>
              <a:buChar char="•"/>
            </a:pPr>
            <a:endParaRPr lang="en-US" sz="1200" b="0" i="0" kern="1200">
              <a:solidFill>
                <a:schemeClr val="tx1"/>
              </a:solidFill>
              <a:effectLst/>
              <a:latin typeface="Avenir Next LT Pro" panose="020B0504020202020204" pitchFamily="34" charset="77"/>
              <a:ea typeface="+mn-ea"/>
              <a:cs typeface="+mn-cs"/>
            </a:endParaRPr>
          </a:p>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Promoting that online application and making more targeted program exploration easier would be a strong step in better serving completed inquiries</a:t>
            </a:r>
          </a:p>
          <a:p>
            <a:pPr marL="0" indent="0" rtl="0" fontAlgn="ctr">
              <a:buFont typeface="Arial" panose="020B0604020202020204" pitchFamily="34" charset="0"/>
              <a:buNone/>
            </a:pPr>
            <a:endParaRPr lang="en-US" sz="1200" b="0" i="0" kern="1200">
              <a:solidFill>
                <a:schemeClr val="tx1"/>
              </a:solidFill>
              <a:effectLst/>
              <a:latin typeface="Avenir Next LT Pro" panose="020B0504020202020204" pitchFamily="34" charset="77"/>
              <a:ea typeface="+mn-ea"/>
              <a:cs typeface="+mn-cs"/>
            </a:endParaRPr>
          </a:p>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Further, providing clear next steps and expectations makes waiting for a phone call or even reaching out an easier action. Nobody wants to call some DeVry enrollment consultant if they don’t have a clear picture of what’s going to happen And WHY they should call or pick up the phone</a:t>
            </a:r>
          </a:p>
          <a:p>
            <a:pPr marL="0" indent="0" rtl="0" fontAlgn="ctr">
              <a:buFont typeface="Arial" panose="020B0604020202020204" pitchFamily="34" charset="0"/>
              <a:buNone/>
            </a:pPr>
            <a:endParaRPr lang="en-US" sz="1200" b="0" i="0" kern="1200">
              <a:solidFill>
                <a:schemeClr val="tx1"/>
              </a:solidFill>
              <a:effectLst/>
              <a:latin typeface="Avenir Next LT Pro" panose="020B0504020202020204" pitchFamily="34" charset="77"/>
              <a:ea typeface="+mn-ea"/>
              <a:cs typeface="+mn-cs"/>
            </a:endParaRPr>
          </a:p>
          <a:p>
            <a:pPr marL="0" indent="0" rtl="0" fontAlgn="ctr">
              <a:buFont typeface="Arial" panose="020B0604020202020204" pitchFamily="34" charset="0"/>
              <a:buNone/>
            </a:pPr>
            <a:endParaRPr lang="en-US" sz="1200" b="0" i="0" kern="1200">
              <a:solidFill>
                <a:schemeClr val="tx1"/>
              </a:solidFill>
              <a:effectLst/>
              <a:latin typeface="Avenir Next LT Pro" panose="020B0504020202020204" pitchFamily="34" charset="77"/>
              <a:ea typeface="+mn-ea"/>
              <a:cs typeface="+mn-cs"/>
            </a:endParaRPr>
          </a:p>
        </p:txBody>
      </p:sp>
      <p:sp>
        <p:nvSpPr>
          <p:cNvPr id="4" name="Slide Number Placeholder 3"/>
          <p:cNvSpPr>
            <a:spLocks noGrp="1"/>
          </p:cNvSpPr>
          <p:nvPr>
            <p:ph type="sldNum" sz="quarter" idx="5"/>
          </p:nvPr>
        </p:nvSpPr>
        <p:spPr/>
        <p:txBody>
          <a:bodyPr/>
          <a:lstStyle/>
          <a:p>
            <a:pPr>
              <a:defRPr/>
            </a:pPr>
            <a:fld id="{4AA59A63-F837-CF4C-8906-49CCB333AF10}" type="slidenum">
              <a:rPr lang="en-US" smtClean="0"/>
              <a:pPr>
                <a:defRPr/>
              </a:pPr>
              <a:t>14</a:t>
            </a:fld>
            <a:endParaRPr lang="en-US"/>
          </a:p>
        </p:txBody>
      </p:sp>
    </p:spTree>
    <p:extLst>
      <p:ext uri="{BB962C8B-B14F-4D97-AF65-F5344CB8AC3E}">
        <p14:creationId xmlns:p14="http://schemas.microsoft.com/office/powerpoint/2010/main" val="10012940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JORDAN</a:t>
            </a:r>
          </a:p>
          <a:p>
            <a:pPr marL="0" indent="0" rtl="0" fontAlgn="ctr">
              <a:buFont typeface="Arial" panose="020B0604020202020204" pitchFamily="34" charset="0"/>
              <a:buNone/>
            </a:pPr>
            <a:endParaRPr lang="en-US" sz="1200" b="0" i="0" kern="1200">
              <a:solidFill>
                <a:schemeClr val="tx1"/>
              </a:solidFill>
              <a:effectLst/>
              <a:latin typeface="Avenir Next LT Pro" panose="020B0504020202020204" pitchFamily="34" charset="77"/>
              <a:ea typeface="+mn-ea"/>
              <a:cs typeface="+mn-cs"/>
            </a:endParaRPr>
          </a:p>
          <a:p>
            <a:r>
              <a:rPr lang="en-US" sz="1200" b="0" i="0" kern="1200">
                <a:solidFill>
                  <a:schemeClr val="tx1"/>
                </a:solidFill>
                <a:effectLst/>
                <a:latin typeface="Avenir Next LT Pro" panose="020B0504020202020204" pitchFamily="34" charset="77"/>
                <a:ea typeface="+mn-ea"/>
                <a:cs typeface="+mn-cs"/>
              </a:rPr>
              <a:t>So how do we do this? </a:t>
            </a:r>
          </a:p>
          <a:p>
            <a:endParaRPr lang="en-US" sz="1200" b="0" i="0" kern="1200">
              <a:solidFill>
                <a:schemeClr val="tx1"/>
              </a:solidFill>
              <a:effectLst/>
              <a:latin typeface="Avenir Next LT Pro" panose="020B0504020202020204" pitchFamily="34" charset="77"/>
              <a:ea typeface="+mn-ea"/>
              <a:cs typeface="+mn-cs"/>
            </a:endParaRPr>
          </a:p>
          <a:p>
            <a:pPr marL="228600" indent="-228600">
              <a:buAutoNum type="arabicPeriod"/>
            </a:pPr>
            <a:r>
              <a:rPr lang="en-US" sz="1200" b="0" i="0" kern="1200">
                <a:solidFill>
                  <a:schemeClr val="tx1"/>
                </a:solidFill>
                <a:effectLst/>
                <a:latin typeface="Avenir Next LT Pro" panose="020B0504020202020204" pitchFamily="34" charset="77"/>
                <a:ea typeface="+mn-ea"/>
                <a:cs typeface="+mn-cs"/>
              </a:rPr>
              <a:t>We encourage users to explore further: view your program details, apply online, find what matters to you or what you want your next step to be (within DeVry’s prioritized set of course)</a:t>
            </a:r>
          </a:p>
          <a:p>
            <a:pPr marL="228600" indent="-228600">
              <a:buAutoNum type="arabicPeriod"/>
            </a:pPr>
            <a:r>
              <a:rPr lang="en-US" sz="1200" b="0" i="0" kern="1200">
                <a:solidFill>
                  <a:schemeClr val="tx1"/>
                </a:solidFill>
                <a:effectLst/>
                <a:latin typeface="Avenir Next LT Pro" panose="020B0504020202020204" pitchFamily="34" charset="77"/>
                <a:ea typeface="+mn-ea"/>
                <a:cs typeface="+mn-cs"/>
              </a:rPr>
              <a:t>We tell users what they can expect and why the DeVry process works </a:t>
            </a:r>
          </a:p>
          <a:p>
            <a:pPr marL="228600" indent="-228600">
              <a:buAutoNum type="arabicPeriod"/>
            </a:pPr>
            <a:r>
              <a:rPr lang="en-US" sz="1200" b="0" i="0" kern="1200">
                <a:solidFill>
                  <a:schemeClr val="tx1"/>
                </a:solidFill>
                <a:effectLst/>
                <a:latin typeface="Avenir Next LT Pro" panose="020B0504020202020204" pitchFamily="34" charset="77"/>
                <a:ea typeface="+mn-ea"/>
                <a:cs typeface="+mn-cs"/>
              </a:rPr>
              <a:t>We ask them where they’re at in their journey and use that to tailor content delivery and other actions</a:t>
            </a:r>
          </a:p>
          <a:p>
            <a:pPr marL="228600" indent="-228600">
              <a:buAutoNum type="arabicPeriod"/>
            </a:pPr>
            <a:r>
              <a:rPr lang="en-US" sz="1200" b="0" i="0" kern="1200">
                <a:solidFill>
                  <a:schemeClr val="tx1"/>
                </a:solidFill>
                <a:effectLst/>
                <a:latin typeface="Avenir Next LT Pro" panose="020B0504020202020204" pitchFamily="34" charset="77"/>
                <a:ea typeface="+mn-ea"/>
                <a:cs typeface="+mn-cs"/>
              </a:rPr>
              <a:t>We re-frame the outbound call as a value-add to a prospective student</a:t>
            </a:r>
          </a:p>
          <a:p>
            <a:pPr marL="228600" indent="-228600">
              <a:buAutoNum type="arabicPeriod"/>
            </a:pPr>
            <a:endParaRPr lang="en-US" sz="1200" b="0" i="0" kern="1200">
              <a:solidFill>
                <a:schemeClr val="tx1"/>
              </a:solidFill>
              <a:effectLst/>
              <a:latin typeface="Avenir Next LT Pro" panose="020B0504020202020204" pitchFamily="34" charset="77"/>
              <a:ea typeface="+mn-ea"/>
              <a:cs typeface="+mn-cs"/>
            </a:endParaRPr>
          </a:p>
          <a:p>
            <a:pPr marL="0" indent="0">
              <a:buNone/>
            </a:pPr>
            <a:r>
              <a:rPr lang="en-US" sz="1200" b="0" i="0" kern="1200">
                <a:solidFill>
                  <a:schemeClr val="tx1"/>
                </a:solidFill>
                <a:effectLst/>
                <a:latin typeface="Avenir Next LT Pro" panose="020B0504020202020204" pitchFamily="34" charset="77"/>
                <a:ea typeface="+mn-ea"/>
                <a:cs typeface="+mn-cs"/>
              </a:rPr>
              <a:t>And that’s the set of opportunities that we would prioritize in DeVry’s current environment and with current infrastructure</a:t>
            </a:r>
          </a:p>
          <a:p>
            <a:pPr marL="228600" indent="-228600">
              <a:buAutoNum type="arabicPeriod"/>
            </a:pPr>
            <a:endParaRPr lang="en-US" sz="1200" b="0" i="0" kern="1200">
              <a:solidFill>
                <a:schemeClr val="tx1"/>
              </a:solidFill>
              <a:effectLst/>
              <a:latin typeface="Avenir Next LT Pro" panose="020B0504020202020204" pitchFamily="34" charset="77"/>
              <a:ea typeface="+mn-ea"/>
              <a:cs typeface="+mn-cs"/>
            </a:endParaRPr>
          </a:p>
          <a:p>
            <a:pPr marL="0" indent="0">
              <a:buNone/>
            </a:pPr>
            <a:r>
              <a:rPr lang="en-US" sz="1200" b="0" i="0" kern="1200">
                <a:solidFill>
                  <a:schemeClr val="tx1"/>
                </a:solidFill>
                <a:effectLst/>
                <a:latin typeface="Avenir Next LT Pro" panose="020B0504020202020204" pitchFamily="34" charset="77"/>
                <a:ea typeface="+mn-ea"/>
                <a:cs typeface="+mn-cs"/>
              </a:rPr>
              <a:t>All this gets high intent leads either applying online or on the phone more ready to enroll</a:t>
            </a:r>
          </a:p>
        </p:txBody>
      </p:sp>
      <p:sp>
        <p:nvSpPr>
          <p:cNvPr id="4" name="Slide Number Placeholder 3"/>
          <p:cNvSpPr>
            <a:spLocks noGrp="1"/>
          </p:cNvSpPr>
          <p:nvPr>
            <p:ph type="sldNum" sz="quarter" idx="5"/>
          </p:nvPr>
        </p:nvSpPr>
        <p:spPr/>
        <p:txBody>
          <a:bodyPr/>
          <a:lstStyle/>
          <a:p>
            <a:pPr>
              <a:defRPr/>
            </a:pPr>
            <a:fld id="{4AA59A63-F837-CF4C-8906-49CCB333AF10}" type="slidenum">
              <a:rPr lang="en-US" smtClean="0"/>
              <a:pPr>
                <a:defRPr/>
              </a:pPr>
              <a:t>15</a:t>
            </a:fld>
            <a:endParaRPr lang="en-US"/>
          </a:p>
        </p:txBody>
      </p:sp>
    </p:spTree>
    <p:extLst>
      <p:ext uri="{BB962C8B-B14F-4D97-AF65-F5344CB8AC3E}">
        <p14:creationId xmlns:p14="http://schemas.microsoft.com/office/powerpoint/2010/main" val="6443433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171450" indent="-171450" rtl="0" fontAlgn="ctr">
              <a:buFont typeface="Arial" panose="020B0604020202020204" pitchFamily="34" charset="0"/>
              <a:buChar char="•"/>
            </a:pPr>
            <a:r>
              <a:rPr lang="en-US" b="0"/>
              <a:t>So to this point we’ve focused on the audit findings </a:t>
            </a:r>
          </a:p>
          <a:p>
            <a:pPr marL="171450" indent="-171450" rtl="0" fontAlgn="ctr">
              <a:buFont typeface="Arial" panose="020B0604020202020204" pitchFamily="34" charset="0"/>
              <a:buChar char="•"/>
            </a:pPr>
            <a:r>
              <a:rPr lang="en-US" b="0"/>
              <a:t>Now this section is the bridge plan – and  the big idea here is to create </a:t>
            </a:r>
            <a:r>
              <a:rPr lang="en-US" b="1"/>
              <a:t>continuity between</a:t>
            </a:r>
            <a:r>
              <a:rPr lang="en-US" b="0"/>
              <a:t> </a:t>
            </a:r>
            <a:r>
              <a:rPr lang="en-US" b="0" err="1"/>
              <a:t>whats</a:t>
            </a:r>
            <a:r>
              <a:rPr lang="en-US" b="0"/>
              <a:t> already been </a:t>
            </a:r>
            <a:r>
              <a:rPr lang="en-US" b="1"/>
              <a:t>proven</a:t>
            </a:r>
            <a:r>
              <a:rPr lang="en-US" b="0"/>
              <a:t> and </a:t>
            </a:r>
            <a:r>
              <a:rPr lang="en-US" b="1"/>
              <a:t>what gets scaled next</a:t>
            </a:r>
          </a:p>
          <a:p>
            <a:pPr marL="171450" indent="-171450" rtl="0" fontAlgn="ctr">
              <a:buFont typeface="Arial" panose="020B0604020202020204" pitchFamily="34" charset="0"/>
              <a:buChar char="•"/>
            </a:pPr>
            <a:r>
              <a:rPr lang="en-US" b="1"/>
              <a:t>And capitalize on the opportunities we just talked about – at scale</a:t>
            </a:r>
          </a:p>
          <a:p>
            <a:pPr marL="171450" indent="-171450" rtl="0" fontAlgn="ctr">
              <a:buFont typeface="Arial" panose="020B0604020202020204" pitchFamily="34" charset="0"/>
              <a:buChar char="•"/>
            </a:pPr>
            <a:r>
              <a:rPr lang="en-US" b="0"/>
              <a:t>Propose we start with concepts that are practical enough to launch now</a:t>
            </a:r>
          </a:p>
          <a:p>
            <a:pPr marL="171450" indent="-171450" rtl="0" fontAlgn="ctr">
              <a:buFont typeface="Arial" panose="020B0604020202020204" pitchFamily="34" charset="0"/>
              <a:buChar char="•"/>
            </a:pPr>
            <a:r>
              <a:rPr lang="en-US" b="0"/>
              <a:t>What we want to </a:t>
            </a:r>
            <a:r>
              <a:rPr lang="en-US" b="1"/>
              <a:t>validate</a:t>
            </a:r>
            <a:r>
              <a:rPr lang="en-US" b="0"/>
              <a:t> is whether </a:t>
            </a:r>
            <a:r>
              <a:rPr lang="en-US" b="1"/>
              <a:t>these feel like the right near-term priorities</a:t>
            </a:r>
          </a:p>
          <a:p>
            <a:pPr marL="171450" indent="-171450" rtl="0" fontAlgn="ctr">
              <a:buFont typeface="Arial" panose="020B0604020202020204" pitchFamily="34" charset="0"/>
              <a:buChar char="•"/>
            </a:pPr>
            <a:r>
              <a:rPr lang="en-US" b="0"/>
              <a:t>And whether there is alignment on continuation to pursue them</a:t>
            </a:r>
            <a:endParaRPr lang="en-US" sz="1200" b="0" i="0" kern="1200">
              <a:solidFill>
                <a:schemeClr val="tx1"/>
              </a:solidFill>
              <a:effectLst/>
              <a:latin typeface="Avenir Next LT Pro" panose="020B0504020202020204" pitchFamily="34" charset="77"/>
              <a:ea typeface="+mn-ea"/>
              <a:cs typeface="+mn-cs"/>
            </a:endParaRPr>
          </a:p>
          <a:p>
            <a:endParaRPr lang="en-US"/>
          </a:p>
          <a:p>
            <a:endParaRPr lang="en-US"/>
          </a:p>
          <a:p>
            <a:endParaRPr lang="en-US"/>
          </a:p>
          <a:p>
            <a:endParaRPr lang="en-US"/>
          </a:p>
        </p:txBody>
      </p:sp>
      <p:sp>
        <p:nvSpPr>
          <p:cNvPr id="4" name="Slide Number Placeholder 3"/>
          <p:cNvSpPr>
            <a:spLocks noGrp="1"/>
          </p:cNvSpPr>
          <p:nvPr>
            <p:ph type="sldNum" sz="quarter" idx="5"/>
          </p:nvPr>
        </p:nvSpPr>
        <p:spPr/>
        <p:txBody>
          <a:bodyPr/>
          <a:lstStyle/>
          <a:p>
            <a:pPr>
              <a:defRPr/>
            </a:pPr>
            <a:fld id="{4AA59A63-F837-CF4C-8906-49CCB333AF10}" type="slidenum">
              <a:rPr lang="en-US" smtClean="0"/>
              <a:pPr>
                <a:defRPr/>
              </a:pPr>
              <a:t>16</a:t>
            </a:fld>
            <a:endParaRPr lang="en-US"/>
          </a:p>
        </p:txBody>
      </p:sp>
    </p:spTree>
    <p:extLst>
      <p:ext uri="{BB962C8B-B14F-4D97-AF65-F5344CB8AC3E}">
        <p14:creationId xmlns:p14="http://schemas.microsoft.com/office/powerpoint/2010/main" val="5832182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JORDAN </a:t>
            </a:r>
          </a:p>
          <a:p>
            <a:pPr marL="0" indent="0" rtl="0" fontAlgn="ctr">
              <a:buFont typeface="Arial" panose="020B0604020202020204" pitchFamily="34" charset="0"/>
              <a:buNone/>
            </a:pPr>
            <a:endParaRPr lang="en-US" sz="1200" b="0" i="0" kern="1200">
              <a:solidFill>
                <a:schemeClr val="tx1"/>
              </a:solidFill>
              <a:effectLst/>
              <a:latin typeface="Avenir Next LT Pro" panose="020B0504020202020204" pitchFamily="34" charset="77"/>
              <a:ea typeface="+mn-ea"/>
              <a:cs typeface="+mn-cs"/>
            </a:endParaRPr>
          </a:p>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We want to create a sustainable, and constantly improving digital experience</a:t>
            </a:r>
          </a:p>
          <a:p>
            <a:pPr marL="0" indent="0" rtl="0" fontAlgn="ctr">
              <a:buFont typeface="Arial" panose="020B0604020202020204" pitchFamily="34" charset="0"/>
              <a:buNone/>
            </a:pPr>
            <a:endParaRPr lang="en-US" sz="1200" b="0" i="0" kern="1200">
              <a:solidFill>
                <a:schemeClr val="tx1"/>
              </a:solidFill>
              <a:effectLst/>
              <a:latin typeface="Avenir Next LT Pro" panose="020B0504020202020204" pitchFamily="34" charset="77"/>
              <a:ea typeface="+mn-ea"/>
              <a:cs typeface="+mn-cs"/>
            </a:endParaRPr>
          </a:p>
          <a:p>
            <a:pPr marL="0" indent="0" rtl="0" fontAlgn="ctr">
              <a:buFont typeface="Arial" panose="020B0604020202020204" pitchFamily="34" charset="0"/>
              <a:buNone/>
            </a:pPr>
            <a:r>
              <a:rPr lang="en-US" sz="1200" b="0" i="0" kern="1200">
                <a:solidFill>
                  <a:schemeClr val="tx1"/>
                </a:solidFill>
                <a:effectLst/>
                <a:latin typeface="Avenir Next LT Pro" panose="020B0504020202020204" pitchFamily="34" charset="77"/>
                <a:ea typeface="+mn-ea"/>
                <a:cs typeface="+mn-cs"/>
              </a:rPr>
              <a:t>And we believe these content modules are a solid visualization of changes applicable across templates for easy alignment, implementation and expansion. Like our pre-fill test on the accounting page which would be very easy to expand onto the medical billing &amp; coding, analytics or other specific pages</a:t>
            </a:r>
          </a:p>
          <a:p>
            <a:pPr marL="171450" indent="-171450" rtl="0" fontAlgn="ctr">
              <a:buFont typeface="Arial" panose="020B0604020202020204" pitchFamily="34" charset="0"/>
              <a:buChar char="•"/>
            </a:pPr>
            <a:endParaRPr lang="en-US" sz="1200" b="0" i="0" kern="1200">
              <a:solidFill>
                <a:schemeClr val="tx1"/>
              </a:solidFill>
              <a:effectLst/>
              <a:latin typeface="Avenir Next LT Pro" panose="020B0504020202020204" pitchFamily="34" charset="77"/>
              <a:ea typeface="+mn-ea"/>
              <a:cs typeface="+mn-cs"/>
            </a:endParaRP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The main idea here is modularity</a:t>
            </a: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Rather than treat every page as a separate exercise, there is an opportunity to identify reusable high-value components and create truly templatized pages (Likely 4 templates across Core, schools like tech or business, topics like accounting or engineering and programs like cybersecurity certification)</a:t>
            </a:r>
          </a:p>
          <a:p>
            <a:pPr marL="171450" indent="-171450" rtl="0" fontAlgn="ctr">
              <a:buFont typeface="Arial" panose="020B0604020202020204" pitchFamily="34" charset="0"/>
              <a:buChar char="•"/>
            </a:pPr>
            <a:r>
              <a:rPr lang="en-US" sz="1200" b="0" i="0" kern="1200">
                <a:solidFill>
                  <a:schemeClr val="tx1"/>
                </a:solidFill>
                <a:effectLst/>
                <a:latin typeface="Avenir Next LT Pro" panose="020B0504020202020204" pitchFamily="34" charset="77"/>
                <a:ea typeface="+mn-ea"/>
                <a:cs typeface="+mn-cs"/>
              </a:rPr>
              <a:t>That gives us a clean bridge from testing into broad rollout for maximum impact</a:t>
            </a:r>
          </a:p>
          <a:p>
            <a:endParaRPr lang="en-US"/>
          </a:p>
        </p:txBody>
      </p:sp>
      <p:sp>
        <p:nvSpPr>
          <p:cNvPr id="4" name="Slide Number Placeholder 3"/>
          <p:cNvSpPr>
            <a:spLocks noGrp="1"/>
          </p:cNvSpPr>
          <p:nvPr>
            <p:ph type="sldNum" sz="quarter" idx="5"/>
          </p:nvPr>
        </p:nvSpPr>
        <p:spPr/>
        <p:txBody>
          <a:bodyPr/>
          <a:lstStyle/>
          <a:p>
            <a:pPr>
              <a:defRPr/>
            </a:pPr>
            <a:fld id="{4AA59A63-F837-CF4C-8906-49CCB333AF10}" type="slidenum">
              <a:rPr lang="en-US" smtClean="0"/>
              <a:pPr>
                <a:defRPr/>
              </a:pPr>
              <a:t>17</a:t>
            </a:fld>
            <a:endParaRPr lang="en-US"/>
          </a:p>
        </p:txBody>
      </p:sp>
    </p:spTree>
    <p:extLst>
      <p:ext uri="{BB962C8B-B14F-4D97-AF65-F5344CB8AC3E}">
        <p14:creationId xmlns:p14="http://schemas.microsoft.com/office/powerpoint/2010/main" val="41523511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F8059-E58B-4C97-9DB0-88B9EAA350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DD016C-5D21-DE6B-C1B5-269DDF5087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CC54B8-B07B-5CD1-CAE0-F3C431EEDBAC}"/>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t>JORDAN</a:t>
            </a:r>
          </a:p>
          <a:p>
            <a:endParaRPr lang="en-US"/>
          </a:p>
          <a:p>
            <a:r>
              <a:rPr lang="en-US"/>
              <a:t>And this first concept is a great example. </a:t>
            </a:r>
          </a:p>
          <a:p>
            <a:endParaRPr lang="en-US"/>
          </a:p>
          <a:p>
            <a:r>
              <a:rPr lang="en-US"/>
              <a:t>We want to filter out irrelevant programs of interest, programs that are not part of the school that the current page relates to. This kind of concept is applicable across pages, is easy to implement and removes obvious friction from the form</a:t>
            </a:r>
          </a:p>
        </p:txBody>
      </p:sp>
      <p:sp>
        <p:nvSpPr>
          <p:cNvPr id="4" name="Slide Number Placeholder 3">
            <a:extLst>
              <a:ext uri="{FF2B5EF4-FFF2-40B4-BE49-F238E27FC236}">
                <a16:creationId xmlns:a16="http://schemas.microsoft.com/office/drawing/2014/main" id="{85D6F532-4E05-ACAF-7878-459279F4EADE}"/>
              </a:ext>
            </a:extLst>
          </p:cNvPr>
          <p:cNvSpPr>
            <a:spLocks noGrp="1"/>
          </p:cNvSpPr>
          <p:nvPr>
            <p:ph type="sldNum" sz="quarter" idx="5"/>
          </p:nvPr>
        </p:nvSpPr>
        <p:spPr/>
        <p:txBody>
          <a:bodyPr/>
          <a:lstStyle/>
          <a:p>
            <a:pPr marL="0" marR="0" lvl="0" indent="0" algn="r" defTabSz="932309" rtl="0" eaLnBrk="1" fontAlgn="auto" latinLnBrk="0" hangingPunct="1">
              <a:lnSpc>
                <a:spcPct val="100000"/>
              </a:lnSpc>
              <a:spcBef>
                <a:spcPts val="0"/>
              </a:spcBef>
              <a:spcAft>
                <a:spcPts val="0"/>
              </a:spcAft>
              <a:buClrTx/>
              <a:buSzTx/>
              <a:buFontTx/>
              <a:buNone/>
              <a:tabLst/>
              <a:defRPr/>
            </a:pPr>
            <a:fld id="{26095562-CE4F-284A-A189-43C7B1EC139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2309"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05331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EB0F5-FC40-47EC-581A-52335D7745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33B07C-9ED5-4452-DA3A-50AB60FBF6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4860A7-140E-B0E7-B441-81EA414A225F}"/>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t>JORDAN</a:t>
            </a:r>
          </a:p>
          <a:p>
            <a:endParaRPr lang="en-US"/>
          </a:p>
          <a:p>
            <a:r>
              <a:rPr lang="en-US"/>
              <a:t>This concept is another very low lift experiment that would add some more urgency, which is especially valuable for high intent users like paid search clicks</a:t>
            </a:r>
          </a:p>
        </p:txBody>
      </p:sp>
      <p:sp>
        <p:nvSpPr>
          <p:cNvPr id="4" name="Slide Number Placeholder 3">
            <a:extLst>
              <a:ext uri="{FF2B5EF4-FFF2-40B4-BE49-F238E27FC236}">
                <a16:creationId xmlns:a16="http://schemas.microsoft.com/office/drawing/2014/main" id="{917DCCEF-30FA-BA07-6A9A-168B2462D2A1}"/>
              </a:ext>
            </a:extLst>
          </p:cNvPr>
          <p:cNvSpPr>
            <a:spLocks noGrp="1"/>
          </p:cNvSpPr>
          <p:nvPr>
            <p:ph type="sldNum" sz="quarter" idx="5"/>
          </p:nvPr>
        </p:nvSpPr>
        <p:spPr/>
        <p:txBody>
          <a:bodyPr/>
          <a:lstStyle/>
          <a:p>
            <a:pPr marL="0" marR="0" lvl="0" indent="0" algn="r" defTabSz="932309" rtl="0" eaLnBrk="1" fontAlgn="auto" latinLnBrk="0" hangingPunct="1">
              <a:lnSpc>
                <a:spcPct val="100000"/>
              </a:lnSpc>
              <a:spcBef>
                <a:spcPts val="0"/>
              </a:spcBef>
              <a:spcAft>
                <a:spcPts val="0"/>
              </a:spcAft>
              <a:buClrTx/>
              <a:buSzTx/>
              <a:buFontTx/>
              <a:buNone/>
              <a:tabLst/>
              <a:defRPr/>
            </a:pPr>
            <a:fld id="{26095562-CE4F-284A-A189-43C7B1EC139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2309"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67101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BA87B-AAEE-A62F-F4D0-33321E216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9672B-CE74-CD30-509B-DD28C3D89F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B8EEA9-C93B-F650-5F8F-910A75998DB1}"/>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t>JORDAN</a:t>
            </a:r>
          </a:p>
          <a:p>
            <a:endParaRPr lang="en-US" sz="1200" b="1" i="0" kern="1200">
              <a:solidFill>
                <a:schemeClr val="bg1"/>
              </a:solidFill>
              <a:latin typeface="Avenir Next LT Pro" panose="020B0504020202020204" pitchFamily="34" charset="77"/>
              <a:ea typeface="+mn-ea"/>
              <a:cs typeface="+mn-cs"/>
            </a:endParaRPr>
          </a:p>
          <a:p>
            <a:r>
              <a:rPr lang="en-US" sz="1200" b="0" i="0" kern="1200">
                <a:solidFill>
                  <a:schemeClr val="bg1"/>
                </a:solidFill>
                <a:latin typeface="Avenir Next LT Pro" panose="020B0504020202020204" pitchFamily="34" charset="77"/>
                <a:ea typeface="+mn-ea"/>
                <a:cs typeface="+mn-cs"/>
              </a:rPr>
              <a:t>And here we get a bit more into progressive pathing. </a:t>
            </a:r>
          </a:p>
          <a:p>
            <a:endParaRPr lang="en-US" sz="1200" b="0" i="0" kern="1200">
              <a:solidFill>
                <a:schemeClr val="bg1"/>
              </a:solidFill>
              <a:latin typeface="Avenir Next LT Pro" panose="020B0504020202020204" pitchFamily="34" charset="77"/>
              <a:ea typeface="+mn-ea"/>
              <a:cs typeface="+mn-cs"/>
            </a:endParaRPr>
          </a:p>
          <a:p>
            <a:r>
              <a:rPr lang="en-US" sz="1200" b="0" i="0" kern="1200">
                <a:solidFill>
                  <a:schemeClr val="bg1"/>
                </a:solidFill>
                <a:latin typeface="Avenir Next LT Pro" panose="020B0504020202020204" pitchFamily="34" charset="77"/>
                <a:ea typeface="+mn-ea"/>
                <a:cs typeface="+mn-cs"/>
              </a:rPr>
              <a:t>This allows us to:</a:t>
            </a:r>
          </a:p>
          <a:p>
            <a:pPr marL="228600" indent="-228600">
              <a:buAutoNum type="arabicPeriod"/>
            </a:pPr>
            <a:r>
              <a:rPr lang="en-US" sz="1200" b="0" i="0" kern="1200">
                <a:solidFill>
                  <a:schemeClr val="bg1"/>
                </a:solidFill>
                <a:latin typeface="Avenir Next LT Pro" panose="020B0504020202020204" pitchFamily="34" charset="77"/>
                <a:ea typeface="+mn-ea"/>
                <a:cs typeface="+mn-cs"/>
              </a:rPr>
              <a:t>Capture topic or program of interest data for use in this session, future sessions and even media if we can get the data right and</a:t>
            </a:r>
          </a:p>
          <a:p>
            <a:pPr marL="228600" indent="-228600">
              <a:buAutoNum type="arabicPeriod"/>
            </a:pPr>
            <a:r>
              <a:rPr lang="en-US" sz="1200" b="0" i="0" kern="1200">
                <a:solidFill>
                  <a:schemeClr val="bg1"/>
                </a:solidFill>
                <a:latin typeface="Avenir Next LT Pro" panose="020B0504020202020204" pitchFamily="34" charset="77"/>
                <a:ea typeface="+mn-ea"/>
                <a:cs typeface="+mn-cs"/>
              </a:rPr>
              <a:t>Make the first step standalone, so we breadcrumb form fill and make eventual completion easier</a:t>
            </a:r>
          </a:p>
          <a:p>
            <a:endParaRPr lang="en-US" sz="1200" b="1" i="0" kern="1200">
              <a:solidFill>
                <a:schemeClr val="bg1"/>
              </a:solidFill>
              <a:latin typeface="Avenir Next LT Pro" panose="020B0504020202020204" pitchFamily="34" charset="77"/>
              <a:ea typeface="+mn-ea"/>
              <a:cs typeface="+mn-cs"/>
            </a:endParaRPr>
          </a:p>
          <a:p>
            <a:r>
              <a:rPr lang="en-US" sz="1200" b="0" i="0" kern="1200">
                <a:solidFill>
                  <a:schemeClr val="bg1"/>
                </a:solidFill>
                <a:latin typeface="Avenir Next LT Pro" panose="020B0504020202020204" pitchFamily="34" charset="77"/>
                <a:ea typeface="+mn-ea"/>
                <a:cs typeface="+mn-cs"/>
              </a:rPr>
              <a:t>And while this test works across pages, we could even follow-up test different pathing by page type like testing School of interest (Tech, health or business) selection on Core landing page because as I’ve mentioned, testing is an ongoing process</a:t>
            </a:r>
          </a:p>
          <a:p>
            <a:endParaRPr lang="en-US"/>
          </a:p>
        </p:txBody>
      </p:sp>
      <p:sp>
        <p:nvSpPr>
          <p:cNvPr id="4" name="Slide Number Placeholder 3">
            <a:extLst>
              <a:ext uri="{FF2B5EF4-FFF2-40B4-BE49-F238E27FC236}">
                <a16:creationId xmlns:a16="http://schemas.microsoft.com/office/drawing/2014/main" id="{9658D6AA-9FAF-27AE-A56D-6F7E996F0289}"/>
              </a:ext>
            </a:extLst>
          </p:cNvPr>
          <p:cNvSpPr>
            <a:spLocks noGrp="1"/>
          </p:cNvSpPr>
          <p:nvPr>
            <p:ph type="sldNum" sz="quarter" idx="5"/>
          </p:nvPr>
        </p:nvSpPr>
        <p:spPr/>
        <p:txBody>
          <a:bodyPr/>
          <a:lstStyle/>
          <a:p>
            <a:pPr marL="0" marR="0" lvl="0" indent="0" algn="r" defTabSz="932309" rtl="0" eaLnBrk="1" fontAlgn="auto" latinLnBrk="0" hangingPunct="1">
              <a:lnSpc>
                <a:spcPct val="100000"/>
              </a:lnSpc>
              <a:spcBef>
                <a:spcPts val="0"/>
              </a:spcBef>
              <a:spcAft>
                <a:spcPts val="0"/>
              </a:spcAft>
              <a:buClrTx/>
              <a:buSzTx/>
              <a:buFontTx/>
              <a:buNone/>
              <a:tabLst/>
              <a:defRPr/>
            </a:pPr>
            <a:fld id="{26095562-CE4F-284A-A189-43C7B1EC139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2309"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89578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6F331-7AF3-3E7F-76DB-E310A245C9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BDF28-B186-164C-5072-6E75A36840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40BF14-F7D2-FD9D-9FCA-512CA873D241}"/>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t>JORDAN</a:t>
            </a:r>
          </a:p>
          <a:p>
            <a:endParaRPr lang="en-US"/>
          </a:p>
          <a:p>
            <a:r>
              <a:rPr lang="en-US"/>
              <a:t>And here we have something a bit more substantial</a:t>
            </a:r>
          </a:p>
          <a:p>
            <a:endParaRPr lang="en-US"/>
          </a:p>
          <a:p>
            <a:r>
              <a:rPr lang="en-US"/>
              <a:t>The goal here is to path users to their exact program of interest. And we would even start by topic while tracking gets worked out, but it should be entirely possible to create pathing to the main site that directs to specific programs as users desire</a:t>
            </a:r>
          </a:p>
          <a:p>
            <a:endParaRPr lang="en-US"/>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a:solidFill>
                  <a:schemeClr val="tx1"/>
                </a:solidFill>
                <a:effectLst/>
                <a:latin typeface="Avenir Next LT Pro" panose="020B0504020202020204" pitchFamily="34" charset="77"/>
                <a:ea typeface="+mn-ea"/>
                <a:cs typeface="+mn-cs"/>
              </a:rPr>
              <a:t>https://designergpt.replit.app/pages/e7bf44c479c1a9bc12dea23226166ac6.html</a:t>
            </a:r>
          </a:p>
          <a:p>
            <a:r>
              <a:rPr lang="en-US" sz="1200" b="0" i="0" kern="1200">
                <a:solidFill>
                  <a:schemeClr val="tx1"/>
                </a:solidFill>
                <a:effectLst/>
                <a:latin typeface="Avenir Next LT Pro" panose="020B0504020202020204" pitchFamily="34" charset="77"/>
                <a:ea typeface="+mn-ea"/>
                <a:cs typeface="+mn-cs"/>
              </a:rPr>
              <a:t>https://designergpt.replit.app/pages/6b12d4f032511f282dd0e144e72df6ef.html#request</a:t>
            </a:r>
          </a:p>
          <a:p>
            <a:r>
              <a:rPr lang="en-US" sz="1200" b="0" i="0" kern="1200">
                <a:solidFill>
                  <a:schemeClr val="tx1"/>
                </a:solidFill>
                <a:effectLst/>
                <a:latin typeface="Avenir Next LT Pro" panose="020B0504020202020204" pitchFamily="34" charset="77"/>
                <a:ea typeface="+mn-ea"/>
                <a:cs typeface="+mn-cs"/>
              </a:rPr>
              <a:t>https://chatgpt.com/g/g-2Eo3NxuS7-designergpt/c/69d011de-ca74-8327-b3be-45e89afdd174</a:t>
            </a:r>
            <a:endParaRPr lang="en-US"/>
          </a:p>
        </p:txBody>
      </p:sp>
      <p:sp>
        <p:nvSpPr>
          <p:cNvPr id="4" name="Slide Number Placeholder 3">
            <a:extLst>
              <a:ext uri="{FF2B5EF4-FFF2-40B4-BE49-F238E27FC236}">
                <a16:creationId xmlns:a16="http://schemas.microsoft.com/office/drawing/2014/main" id="{82032378-474D-B359-31F6-12403F40CA84}"/>
              </a:ext>
            </a:extLst>
          </p:cNvPr>
          <p:cNvSpPr>
            <a:spLocks noGrp="1"/>
          </p:cNvSpPr>
          <p:nvPr>
            <p:ph type="sldNum" sz="quarter" idx="5"/>
          </p:nvPr>
        </p:nvSpPr>
        <p:spPr/>
        <p:txBody>
          <a:bodyPr/>
          <a:lstStyle/>
          <a:p>
            <a:pPr marL="0" marR="0" lvl="0" indent="0" algn="r" defTabSz="932309" rtl="0" eaLnBrk="1" fontAlgn="auto" latinLnBrk="0" hangingPunct="1">
              <a:lnSpc>
                <a:spcPct val="100000"/>
              </a:lnSpc>
              <a:spcBef>
                <a:spcPts val="0"/>
              </a:spcBef>
              <a:spcAft>
                <a:spcPts val="0"/>
              </a:spcAft>
              <a:buClrTx/>
              <a:buSzTx/>
              <a:buFontTx/>
              <a:buNone/>
              <a:tabLst/>
              <a:defRPr/>
            </a:pPr>
            <a:fld id="{26095562-CE4F-284A-A189-43C7B1EC139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2309"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4475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C95B1-E76C-EF03-D6B3-56E12F9563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024F472-6CD0-0929-BCE1-0313CD3B222E}"/>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0779587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Main Master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811319"/>
            <a:ext cx="10515600" cy="490904"/>
          </a:xfrm>
          <a:prstGeom prst="rect">
            <a:avLst/>
          </a:prstGeom>
        </p:spPr>
        <p:txBody>
          <a:bodyPr>
            <a:spAutoFit/>
          </a:bodyPr>
          <a:lstStyle>
            <a:lvl1pPr>
              <a:defRPr b="1" i="0">
                <a:solidFill>
                  <a:schemeClr val="accent2"/>
                </a:solidFill>
                <a:latin typeface="Poppins SemiBold" pitchFamily="2" charset="77"/>
                <a:cs typeface="Poppins SemiBold" pitchFamily="2" charset="77"/>
              </a:defRPr>
            </a:lvl1pPr>
          </a:lstStyle>
          <a:p>
            <a:r>
              <a:rPr lang="en-US"/>
              <a:t>Click to edit master title style</a:t>
            </a:r>
          </a:p>
        </p:txBody>
      </p:sp>
    </p:spTree>
    <p:extLst>
      <p:ext uri="{BB962C8B-B14F-4D97-AF65-F5344CB8AC3E}">
        <p14:creationId xmlns:p14="http://schemas.microsoft.com/office/powerpoint/2010/main" val="41318957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Use this templa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757979"/>
            <a:ext cx="10515600" cy="614142"/>
          </a:xfrm>
          <a:prstGeom prst="rect">
            <a:avLst/>
          </a:prstGeom>
        </p:spPr>
        <p:txBody>
          <a:bodyPr wrap="square">
            <a:spAutoFit/>
          </a:bodyPr>
          <a:lstStyle>
            <a:lvl1pPr>
              <a:lnSpc>
                <a:spcPct val="90000"/>
              </a:lnSpc>
              <a:defRPr sz="3733" b="1" i="0">
                <a:solidFill>
                  <a:schemeClr val="accent4"/>
                </a:solidFill>
                <a:latin typeface="Poppins" pitchFamily="2" charset="77"/>
                <a:cs typeface="Poppins" pitchFamily="2" charset="77"/>
              </a:defRPr>
            </a:lvl1pPr>
          </a:lstStyle>
          <a:p>
            <a:r>
              <a:rPr lang="en-US"/>
              <a:t>Click to edit master title style</a:t>
            </a:r>
          </a:p>
        </p:txBody>
      </p:sp>
    </p:spTree>
    <p:extLst>
      <p:ext uri="{BB962C8B-B14F-4D97-AF65-F5344CB8AC3E}">
        <p14:creationId xmlns:p14="http://schemas.microsoft.com/office/powerpoint/2010/main" val="2618481951"/>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1183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05CB1E-BEE8-4B76-A436-6596AA09E5FF}"/>
              </a:ext>
            </a:extLst>
          </p:cNvPr>
          <p:cNvSpPr>
            <a:spLocks noGrp="1"/>
          </p:cNvSpPr>
          <p:nvPr>
            <p:ph type="title"/>
          </p:nvPr>
        </p:nvSpPr>
        <p:spPr/>
        <p:txBody>
          <a:bodyPr tIns="91440" bIns="91440" anchor="ctr"/>
          <a:lstStyle>
            <a:lvl1pPr>
              <a:defRPr b="0">
                <a:solidFill>
                  <a:schemeClr val="accent2"/>
                </a:solidFill>
              </a:defRPr>
            </a:lvl1pPr>
          </a:lstStyle>
          <a:p>
            <a:r>
              <a:rPr lang="en-US"/>
              <a:t>Click to edit Master title style</a:t>
            </a:r>
          </a:p>
        </p:txBody>
      </p:sp>
    </p:spTree>
    <p:extLst>
      <p:ext uri="{BB962C8B-B14F-4D97-AF65-F5344CB8AC3E}">
        <p14:creationId xmlns:p14="http://schemas.microsoft.com/office/powerpoint/2010/main" val="955147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0E891-DA4E-4921-BD32-08CC0CD0C0C4}"/>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79797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D75988A-D49E-4ED7-8E09-7163D8B64319}"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8413BB-4EF1-466A-8A8C-145564296F4C}" type="slidenum">
              <a:rPr lang="en-US" smtClean="0"/>
              <a:t>‹#›</a:t>
            </a:fld>
            <a:endParaRPr lang="en-US"/>
          </a:p>
        </p:txBody>
      </p:sp>
    </p:spTree>
    <p:extLst>
      <p:ext uri="{BB962C8B-B14F-4D97-AF65-F5344CB8AC3E}">
        <p14:creationId xmlns:p14="http://schemas.microsoft.com/office/powerpoint/2010/main" val="2652514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1_Gradient Slide">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8466615-4DC5-EEA2-FF79-55D4BE263B12}"/>
              </a:ext>
            </a:extLst>
          </p:cNvPr>
          <p:cNvSpPr>
            <a:spLocks noGrp="1"/>
          </p:cNvSpPr>
          <p:nvPr>
            <p:ph type="title"/>
          </p:nvPr>
        </p:nvSpPr>
        <p:spPr>
          <a:xfrm>
            <a:off x="838200" y="906374"/>
            <a:ext cx="10515600" cy="740344"/>
          </a:xfrm>
          <a:prstGeom prst="rect">
            <a:avLst/>
          </a:prstGeom>
        </p:spPr>
        <p:txBody>
          <a:bodyPr/>
          <a:lstStyle>
            <a:lvl1pPr algn="ctr">
              <a:defRPr sz="3200" baseline="0">
                <a:solidFill>
                  <a:schemeClr val="tx1"/>
                </a:solidFill>
                <a:latin typeface="Poppins SemiBold" pitchFamily="2" charset="77"/>
              </a:defRPr>
            </a:lvl1pPr>
          </a:lstStyle>
          <a:p>
            <a:r>
              <a:rPr lang="en-US"/>
              <a:t>Click to edit Master title style</a:t>
            </a:r>
          </a:p>
        </p:txBody>
      </p:sp>
    </p:spTree>
    <p:extLst>
      <p:ext uri="{BB962C8B-B14F-4D97-AF65-F5344CB8AC3E}">
        <p14:creationId xmlns:p14="http://schemas.microsoft.com/office/powerpoint/2010/main" val="3643150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72201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Main Master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811319"/>
            <a:ext cx="10515600" cy="490904"/>
          </a:xfrm>
          <a:prstGeom prst="rect">
            <a:avLst/>
          </a:prstGeom>
        </p:spPr>
        <p:txBody>
          <a:bodyPr>
            <a:spAutoFit/>
          </a:bodyPr>
          <a:lstStyle>
            <a:lvl1pPr>
              <a:defRPr b="1" i="0">
                <a:solidFill>
                  <a:schemeClr val="accent2"/>
                </a:solidFill>
                <a:latin typeface="Poppins SemiBold" pitchFamily="2" charset="77"/>
                <a:cs typeface="Poppins SemiBold" pitchFamily="2" charset="77"/>
              </a:defRPr>
            </a:lvl1pPr>
          </a:lstStyle>
          <a:p>
            <a:r>
              <a:rPr lang="en-US"/>
              <a:t>Click to edit master title style</a:t>
            </a:r>
          </a:p>
        </p:txBody>
      </p:sp>
    </p:spTree>
    <p:extLst>
      <p:ext uri="{BB962C8B-B14F-4D97-AF65-F5344CB8AC3E}">
        <p14:creationId xmlns:p14="http://schemas.microsoft.com/office/powerpoint/2010/main" val="7540775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Use this templa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757979"/>
            <a:ext cx="10515600" cy="614142"/>
          </a:xfrm>
          <a:prstGeom prst="rect">
            <a:avLst/>
          </a:prstGeom>
        </p:spPr>
        <p:txBody>
          <a:bodyPr wrap="square">
            <a:spAutoFit/>
          </a:bodyPr>
          <a:lstStyle>
            <a:lvl1pPr>
              <a:lnSpc>
                <a:spcPct val="90000"/>
              </a:lnSpc>
              <a:defRPr sz="3733" b="1" i="0">
                <a:solidFill>
                  <a:schemeClr val="accent4"/>
                </a:solidFill>
                <a:latin typeface="Poppins" pitchFamily="2" charset="77"/>
                <a:cs typeface="Poppins" pitchFamily="2" charset="77"/>
              </a:defRPr>
            </a:lvl1pPr>
          </a:lstStyle>
          <a:p>
            <a:r>
              <a:rPr lang="en-US"/>
              <a:t>Click to edit master title style</a:t>
            </a:r>
          </a:p>
        </p:txBody>
      </p:sp>
    </p:spTree>
    <p:extLst>
      <p:ext uri="{BB962C8B-B14F-4D97-AF65-F5344CB8AC3E}">
        <p14:creationId xmlns:p14="http://schemas.microsoft.com/office/powerpoint/2010/main" val="3122629840"/>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52571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hank You Slide 07">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BD23510-CAA2-9B4C-9CB1-8DDC63613FCE}"/>
              </a:ext>
            </a:extLst>
          </p:cNvPr>
          <p:cNvSpPr>
            <a:spLocks noGrp="1"/>
          </p:cNvSpPr>
          <p:nvPr>
            <p:ph type="pic" sz="quarter" idx="11"/>
          </p:nvPr>
        </p:nvSpPr>
        <p:spPr>
          <a:xfrm>
            <a:off x="1903799" y="446279"/>
            <a:ext cx="4960790" cy="4959597"/>
          </a:xfrm>
          <a:custGeom>
            <a:avLst/>
            <a:gdLst>
              <a:gd name="connsiteX0" fmla="*/ 4959498 w 9918996"/>
              <a:gd name="connsiteY0" fmla="*/ 0 h 9919193"/>
              <a:gd name="connsiteX1" fmla="*/ 9918996 w 9918996"/>
              <a:gd name="connsiteY1" fmla="*/ 4959597 h 9919193"/>
              <a:gd name="connsiteX2" fmla="*/ 4959498 w 9918996"/>
              <a:gd name="connsiteY2" fmla="*/ 9919193 h 9919193"/>
              <a:gd name="connsiteX3" fmla="*/ 0 w 9918996"/>
              <a:gd name="connsiteY3" fmla="*/ 4959597 h 9919193"/>
              <a:gd name="connsiteX4" fmla="*/ 4959498 w 9918996"/>
              <a:gd name="connsiteY4" fmla="*/ 0 h 99191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18996" h="9919193">
                <a:moveTo>
                  <a:pt x="4959498" y="0"/>
                </a:moveTo>
                <a:cubicBezTo>
                  <a:pt x="7698995" y="0"/>
                  <a:pt x="9918996" y="2220734"/>
                  <a:pt x="9918996" y="4959597"/>
                </a:cubicBezTo>
                <a:cubicBezTo>
                  <a:pt x="9918996" y="7698460"/>
                  <a:pt x="7698995" y="9919193"/>
                  <a:pt x="4959498" y="9919193"/>
                </a:cubicBezTo>
                <a:cubicBezTo>
                  <a:pt x="2220002" y="9919193"/>
                  <a:pt x="0" y="7698460"/>
                  <a:pt x="0" y="4959597"/>
                </a:cubicBezTo>
                <a:cubicBezTo>
                  <a:pt x="0" y="2220734"/>
                  <a:pt x="2220002" y="0"/>
                  <a:pt x="4959498" y="0"/>
                </a:cubicBezTo>
                <a:close/>
              </a:path>
            </a:pathLst>
          </a:custGeom>
          <a:solidFill>
            <a:schemeClr val="bg2">
              <a:lumMod val="95000"/>
            </a:schemeClr>
          </a:solidFill>
        </p:spPr>
        <p:txBody>
          <a:bodyPr wrap="square" anchor="ctr">
            <a:noAutofit/>
          </a:bodyPr>
          <a:lstStyle>
            <a:lvl1pPr marL="0" indent="0" algn="ctr">
              <a:buNone/>
              <a:defRPr sz="1200"/>
            </a:lvl1pPr>
          </a:lstStyle>
          <a:p>
            <a:endParaRPr lang="en-US"/>
          </a:p>
        </p:txBody>
      </p:sp>
    </p:spTree>
    <p:extLst>
      <p:ext uri="{BB962C8B-B14F-4D97-AF65-F5344CB8AC3E}">
        <p14:creationId xmlns:p14="http://schemas.microsoft.com/office/powerpoint/2010/main" val="98408063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5" Type="http://schemas.openxmlformats.org/officeDocument/2006/relationships/theme" Target="../theme/theme3.xml"/><Relationship Id="rId4"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D85459-D7D9-41FA-9EAD-B86DE6D0EAC9}"/>
              </a:ext>
            </a:extLst>
          </p:cNvPr>
          <p:cNvSpPr>
            <a:spLocks noGrp="1"/>
          </p:cNvSpPr>
          <p:nvPr>
            <p:ph type="title"/>
          </p:nvPr>
        </p:nvSpPr>
        <p:spPr>
          <a:xfrm>
            <a:off x="838200" y="758173"/>
            <a:ext cx="10515600" cy="562708"/>
          </a:xfrm>
          <a:prstGeom prst="rect">
            <a:avLst/>
          </a:prstGeom>
        </p:spPr>
        <p:txBody>
          <a:bodyPr vert="horz" lIns="91440" tIns="45720" rIns="91440" bIns="45720" rtlCol="0" anchor="t" anchorCtr="0">
            <a:normAutofit/>
          </a:bodyPr>
          <a:lstStyle/>
          <a:p>
            <a:r>
              <a:rPr lang="en-US"/>
              <a:t>Click to edit Master title style</a:t>
            </a:r>
          </a:p>
        </p:txBody>
      </p:sp>
      <p:pic>
        <p:nvPicPr>
          <p:cNvPr id="3" name="Picture 2" descr="A picture containing shape&#10;&#10;Description automatically generated">
            <a:extLst>
              <a:ext uri="{FF2B5EF4-FFF2-40B4-BE49-F238E27FC236}">
                <a16:creationId xmlns:a16="http://schemas.microsoft.com/office/drawing/2014/main" id="{BA1139D7-B9F0-ADD2-6B4C-C6FD296D9B0A}"/>
              </a:ext>
            </a:extLst>
          </p:cNvPr>
          <p:cNvPicPr>
            <a:picLocks noChangeAspect="1"/>
          </p:cNvPicPr>
          <p:nvPr/>
        </p:nvPicPr>
        <p:blipFill>
          <a:blip r:embed="rId3"/>
          <a:stretch>
            <a:fillRect/>
          </a:stretch>
        </p:blipFill>
        <p:spPr>
          <a:xfrm>
            <a:off x="0" y="-690716"/>
            <a:ext cx="2387600" cy="635000"/>
          </a:xfrm>
          <a:prstGeom prst="rect">
            <a:avLst/>
          </a:prstGeom>
        </p:spPr>
      </p:pic>
      <p:sp>
        <p:nvSpPr>
          <p:cNvPr id="4" name="Slide Number Placeholder 5">
            <a:extLst>
              <a:ext uri="{FF2B5EF4-FFF2-40B4-BE49-F238E27FC236}">
                <a16:creationId xmlns:a16="http://schemas.microsoft.com/office/drawing/2014/main" id="{DDA9167D-5EF9-381C-22EA-387560AEE427}"/>
              </a:ext>
            </a:extLst>
          </p:cNvPr>
          <p:cNvSpPr txBox="1">
            <a:spLocks/>
          </p:cNvSpPr>
          <p:nvPr userDrawn="1"/>
        </p:nvSpPr>
        <p:spPr>
          <a:xfrm>
            <a:off x="9491412" y="6401398"/>
            <a:ext cx="2556710" cy="365125"/>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tx1">
                    <a:tint val="75000"/>
                  </a:schemeClr>
                </a:solidFill>
                <a:latin typeface="ClanOT-Book" panose="0200050303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600" baseline="0">
                <a:solidFill>
                  <a:schemeClr val="bg1">
                    <a:lumMod val="50000"/>
                  </a:schemeClr>
                </a:solidFill>
                <a:latin typeface="Poppins  "/>
                <a:sym typeface="Symbol" panose="05050102010706020507" pitchFamily="18" charset="2"/>
              </a:rPr>
              <a:t>SHARKNINJA  |  HORIZON  </a:t>
            </a:r>
            <a:fld id="{CF067BAB-ACAF-470B-88DC-99E80D1D4992}" type="slidenum">
              <a:rPr lang="en-US" sz="600" smtClean="0">
                <a:solidFill>
                  <a:schemeClr val="bg1">
                    <a:lumMod val="50000"/>
                  </a:schemeClr>
                </a:solidFill>
                <a:latin typeface="Poppins  "/>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600">
              <a:solidFill>
                <a:schemeClr val="bg1">
                  <a:lumMod val="50000"/>
                </a:schemeClr>
              </a:solidFill>
              <a:latin typeface="Poppins  "/>
            </a:endParaRPr>
          </a:p>
        </p:txBody>
      </p:sp>
    </p:spTree>
    <p:extLst>
      <p:ext uri="{BB962C8B-B14F-4D97-AF65-F5344CB8AC3E}">
        <p14:creationId xmlns:p14="http://schemas.microsoft.com/office/powerpoint/2010/main" val="1847927864"/>
      </p:ext>
    </p:extLst>
  </p:cSld>
  <p:clrMap bg1="lt1" tx1="dk1" bg2="lt2" tx2="dk2" accent1="accent1" accent2="accent2" accent3="accent3" accent4="accent4" accent5="accent5" accent6="accent6" hlink="hlink" folHlink="folHlink"/>
  <p:sldLayoutIdLst>
    <p:sldLayoutId id="2147485173" r:id="rId1"/>
  </p:sldLayoutIdLst>
  <p:hf hdr="0" dt="0"/>
  <p:txStyles>
    <p:titleStyle>
      <a:lvl1pPr algn="ctr" defTabSz="914400" rtl="0" eaLnBrk="1" latinLnBrk="0" hangingPunct="1">
        <a:lnSpc>
          <a:spcPct val="90000"/>
        </a:lnSpc>
        <a:spcBef>
          <a:spcPct val="0"/>
        </a:spcBef>
        <a:buNone/>
        <a:defRPr sz="2800" b="1" i="0" kern="1200">
          <a:solidFill>
            <a:schemeClr val="tx1"/>
          </a:solidFill>
          <a:latin typeface="Poppins" panose="00000500000000000000" pitchFamily="2" charset="0"/>
          <a:ea typeface="+mj-ea"/>
          <a:cs typeface="Poppins" panose="000005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D29FD088-C014-49F4-AC33-7EFF0FBE98DD}"/>
              </a:ext>
            </a:extLst>
          </p:cNvPr>
          <p:cNvSpPr txBox="1">
            <a:spLocks/>
          </p:cNvSpPr>
          <p:nvPr/>
        </p:nvSpPr>
        <p:spPr>
          <a:xfrm>
            <a:off x="9091246" y="6401398"/>
            <a:ext cx="2956876" cy="365125"/>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tx1">
                    <a:tint val="75000"/>
                  </a:schemeClr>
                </a:solidFill>
                <a:latin typeface="ClanOT-Book" panose="0200050303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700" baseline="0">
                <a:latin typeface="Poppins Light" panose="00000400000000000000" pitchFamily="2" charset="0"/>
                <a:cs typeface="Poppins Light" panose="00000400000000000000" pitchFamily="2" charset="0"/>
                <a:sym typeface="Symbol" panose="05050102010706020507" pitchFamily="18" charset="2"/>
              </a:rPr>
              <a:t>HORIZON MEDIA    DEVRY    </a:t>
            </a:r>
            <a:fld id="{CF067BAB-ACAF-470B-88DC-99E80D1D4992}" type="slidenum">
              <a:rPr lang="en-US" sz="700" smtClean="0">
                <a:latin typeface="Poppins Light" panose="00000400000000000000" pitchFamily="2" charset="0"/>
                <a:cs typeface="Poppins Light" panose="00000400000000000000" pitchFamily="2"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700">
              <a:latin typeface="Poppins Light" panose="00000400000000000000" pitchFamily="2" charset="0"/>
              <a:cs typeface="Poppins Light" panose="00000400000000000000" pitchFamily="2" charset="0"/>
            </a:endParaRPr>
          </a:p>
        </p:txBody>
      </p:sp>
      <p:grpSp>
        <p:nvGrpSpPr>
          <p:cNvPr id="11" name="Group 10">
            <a:extLst>
              <a:ext uri="{FF2B5EF4-FFF2-40B4-BE49-F238E27FC236}">
                <a16:creationId xmlns:a16="http://schemas.microsoft.com/office/drawing/2014/main" id="{7BB5701E-7733-8994-FA6B-1AE242A7140B}"/>
              </a:ext>
            </a:extLst>
          </p:cNvPr>
          <p:cNvGrpSpPr/>
          <p:nvPr/>
        </p:nvGrpSpPr>
        <p:grpSpPr>
          <a:xfrm>
            <a:off x="0" y="-790567"/>
            <a:ext cx="10958732" cy="464234"/>
            <a:chOff x="632091" y="7793307"/>
            <a:chExt cx="10958732" cy="464234"/>
          </a:xfrm>
        </p:grpSpPr>
        <p:sp>
          <p:nvSpPr>
            <p:cNvPr id="12" name="Rectangle 11">
              <a:extLst>
                <a:ext uri="{FF2B5EF4-FFF2-40B4-BE49-F238E27FC236}">
                  <a16:creationId xmlns:a16="http://schemas.microsoft.com/office/drawing/2014/main" id="{637EB763-B852-27F9-ECB2-7D9F12DB03CD}"/>
                </a:ext>
              </a:extLst>
            </p:cNvPr>
            <p:cNvSpPr/>
            <p:nvPr/>
          </p:nvSpPr>
          <p:spPr>
            <a:xfrm>
              <a:off x="632091" y="7793307"/>
              <a:ext cx="1223890" cy="4642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Poppins" pitchFamily="2" charset="77"/>
                  <a:cs typeface="Poppins" pitchFamily="2" charset="77"/>
                </a:rPr>
                <a:t>FFFFFF</a:t>
              </a:r>
            </a:p>
          </p:txBody>
        </p:sp>
        <p:sp>
          <p:nvSpPr>
            <p:cNvPr id="13" name="Rectangle 12">
              <a:extLst>
                <a:ext uri="{FF2B5EF4-FFF2-40B4-BE49-F238E27FC236}">
                  <a16:creationId xmlns:a16="http://schemas.microsoft.com/office/drawing/2014/main" id="{A9A435EA-94DA-649D-9F06-2FC9A713731E}"/>
                </a:ext>
              </a:extLst>
            </p:cNvPr>
            <p:cNvSpPr/>
            <p:nvPr/>
          </p:nvSpPr>
          <p:spPr>
            <a:xfrm>
              <a:off x="2022783" y="7793307"/>
              <a:ext cx="1223890" cy="46423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latin typeface="Poppins" pitchFamily="2" charset="77"/>
                  <a:cs typeface="Poppins" pitchFamily="2" charset="77"/>
                </a:rPr>
                <a:t>000000</a:t>
              </a:r>
            </a:p>
          </p:txBody>
        </p:sp>
        <p:sp>
          <p:nvSpPr>
            <p:cNvPr id="14" name="Rectangle 13">
              <a:extLst>
                <a:ext uri="{FF2B5EF4-FFF2-40B4-BE49-F238E27FC236}">
                  <a16:creationId xmlns:a16="http://schemas.microsoft.com/office/drawing/2014/main" id="{2C9DE710-1E0F-6CEC-9667-83F3C212FAA0}"/>
                </a:ext>
              </a:extLst>
            </p:cNvPr>
            <p:cNvSpPr/>
            <p:nvPr/>
          </p:nvSpPr>
          <p:spPr>
            <a:xfrm>
              <a:off x="3413475" y="7793307"/>
              <a:ext cx="1223890" cy="464234"/>
            </a:xfrm>
            <a:prstGeom prst="rect">
              <a:avLst/>
            </a:prstGeom>
            <a:solidFill>
              <a:srgbClr val="005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latin typeface="Poppins" pitchFamily="2" charset="77"/>
                  <a:cs typeface="Poppins" pitchFamily="2" charset="77"/>
                </a:rPr>
                <a:t>0059FF</a:t>
              </a:r>
            </a:p>
          </p:txBody>
        </p:sp>
        <p:sp>
          <p:nvSpPr>
            <p:cNvPr id="15" name="Rectangle 14">
              <a:extLst>
                <a:ext uri="{FF2B5EF4-FFF2-40B4-BE49-F238E27FC236}">
                  <a16:creationId xmlns:a16="http://schemas.microsoft.com/office/drawing/2014/main" id="{FA16D9AD-79D6-4F72-02A5-F38819BE5CE6}"/>
                </a:ext>
              </a:extLst>
            </p:cNvPr>
            <p:cNvSpPr/>
            <p:nvPr/>
          </p:nvSpPr>
          <p:spPr>
            <a:xfrm>
              <a:off x="4804167" y="7793307"/>
              <a:ext cx="1223890" cy="464234"/>
            </a:xfrm>
            <a:prstGeom prst="rect">
              <a:avLst/>
            </a:prstGeom>
            <a:solidFill>
              <a:srgbClr val="0123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latin typeface="Poppins" pitchFamily="2" charset="77"/>
                  <a:cs typeface="Poppins" pitchFamily="2" charset="77"/>
                </a:rPr>
                <a:t>01239A</a:t>
              </a:r>
            </a:p>
          </p:txBody>
        </p:sp>
        <p:sp>
          <p:nvSpPr>
            <p:cNvPr id="16" name="Rectangle 15">
              <a:extLst>
                <a:ext uri="{FF2B5EF4-FFF2-40B4-BE49-F238E27FC236}">
                  <a16:creationId xmlns:a16="http://schemas.microsoft.com/office/drawing/2014/main" id="{E8709764-0AC6-A1F2-6091-E7D512ADD8AC}"/>
                </a:ext>
              </a:extLst>
            </p:cNvPr>
            <p:cNvSpPr/>
            <p:nvPr/>
          </p:nvSpPr>
          <p:spPr>
            <a:xfrm>
              <a:off x="6194859" y="7793307"/>
              <a:ext cx="1223890" cy="464234"/>
            </a:xfrm>
            <a:prstGeom prst="rect">
              <a:avLst/>
            </a:prstGeom>
            <a:solidFill>
              <a:srgbClr val="FFE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Poppins" pitchFamily="2" charset="77"/>
                  <a:cs typeface="Poppins" pitchFamily="2" charset="77"/>
                </a:rPr>
                <a:t>FFE200</a:t>
              </a:r>
            </a:p>
          </p:txBody>
        </p:sp>
        <p:sp>
          <p:nvSpPr>
            <p:cNvPr id="17" name="Rectangle 16">
              <a:extLst>
                <a:ext uri="{FF2B5EF4-FFF2-40B4-BE49-F238E27FC236}">
                  <a16:creationId xmlns:a16="http://schemas.microsoft.com/office/drawing/2014/main" id="{37118DBC-6783-5D58-C674-23B41AEBF708}"/>
                </a:ext>
              </a:extLst>
            </p:cNvPr>
            <p:cNvSpPr/>
            <p:nvPr/>
          </p:nvSpPr>
          <p:spPr>
            <a:xfrm>
              <a:off x="7585551" y="7793307"/>
              <a:ext cx="1223890" cy="464234"/>
            </a:xfrm>
            <a:prstGeom prst="rect">
              <a:avLst/>
            </a:prstGeom>
            <a:solidFill>
              <a:srgbClr val="C9D6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Poppins" pitchFamily="2" charset="77"/>
                  <a:cs typeface="Poppins" pitchFamily="2" charset="77"/>
                </a:rPr>
                <a:t>C9D6E5</a:t>
              </a:r>
            </a:p>
          </p:txBody>
        </p:sp>
        <p:sp>
          <p:nvSpPr>
            <p:cNvPr id="18" name="Rectangle 17">
              <a:extLst>
                <a:ext uri="{FF2B5EF4-FFF2-40B4-BE49-F238E27FC236}">
                  <a16:creationId xmlns:a16="http://schemas.microsoft.com/office/drawing/2014/main" id="{BF529264-CCF3-B5DF-AC50-1045B10C782D}"/>
                </a:ext>
              </a:extLst>
            </p:cNvPr>
            <p:cNvSpPr/>
            <p:nvPr/>
          </p:nvSpPr>
          <p:spPr>
            <a:xfrm>
              <a:off x="8976243" y="7793307"/>
              <a:ext cx="1223890" cy="464234"/>
            </a:xfrm>
            <a:prstGeom prst="rect">
              <a:avLst/>
            </a:prstGeom>
            <a:solidFill>
              <a:srgbClr val="CCE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Poppins" pitchFamily="2" charset="77"/>
                  <a:cs typeface="Poppins" pitchFamily="2" charset="77"/>
                </a:rPr>
                <a:t>CCE8FF</a:t>
              </a:r>
            </a:p>
          </p:txBody>
        </p:sp>
        <p:sp>
          <p:nvSpPr>
            <p:cNvPr id="19" name="Rectangle 18">
              <a:extLst>
                <a:ext uri="{FF2B5EF4-FFF2-40B4-BE49-F238E27FC236}">
                  <a16:creationId xmlns:a16="http://schemas.microsoft.com/office/drawing/2014/main" id="{BC0B001A-68C5-245B-1B61-B685E530F7F2}"/>
                </a:ext>
              </a:extLst>
            </p:cNvPr>
            <p:cNvSpPr/>
            <p:nvPr/>
          </p:nvSpPr>
          <p:spPr>
            <a:xfrm>
              <a:off x="10366933" y="7793307"/>
              <a:ext cx="1223890" cy="464234"/>
            </a:xfrm>
            <a:prstGeom prst="rect">
              <a:avLst/>
            </a:prstGeom>
            <a:solidFill>
              <a:srgbClr val="F5F2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Poppins" pitchFamily="2" charset="77"/>
                  <a:cs typeface="Poppins" pitchFamily="2" charset="77"/>
                </a:rPr>
                <a:t>F5F2EE</a:t>
              </a:r>
            </a:p>
          </p:txBody>
        </p:sp>
      </p:grpSp>
    </p:spTree>
    <p:extLst>
      <p:ext uri="{BB962C8B-B14F-4D97-AF65-F5344CB8AC3E}">
        <p14:creationId xmlns:p14="http://schemas.microsoft.com/office/powerpoint/2010/main" val="2069213471"/>
      </p:ext>
    </p:extLst>
  </p:cSld>
  <p:clrMap bg1="lt1" tx1="dk1" bg2="lt2" tx2="dk2" accent1="accent1" accent2="accent2" accent3="accent3" accent4="accent4" accent5="accent5" accent6="accent6" hlink="hlink" folHlink="folHlink"/>
  <p:sldLayoutIdLst>
    <p:sldLayoutId id="2147485159" r:id="rId1"/>
    <p:sldLayoutId id="2147485160" r:id="rId2"/>
    <p:sldLayoutId id="2147485161" r:id="rId3"/>
    <p:sldLayoutId id="2147485163" r:id="rId4"/>
    <p:sldLayoutId id="2147485164" r:id="rId5"/>
    <p:sldLayoutId id="2147485166" r:id="rId6"/>
    <p:sldLayoutId id="2147485091" r:id="rId7"/>
    <p:sldLayoutId id="2147485194" r:id="rId8"/>
  </p:sldLayoutIdLst>
  <p:txStyles>
    <p:titleStyle>
      <a:lvl1pPr marL="0" algn="ctr" defTabSz="914400" rtl="0" eaLnBrk="1" latinLnBrk="0" hangingPunct="1">
        <a:lnSpc>
          <a:spcPct val="90000"/>
        </a:lnSpc>
        <a:spcBef>
          <a:spcPct val="0"/>
        </a:spcBef>
        <a:buNone/>
        <a:defRPr lang="en-US" sz="2800" b="0" kern="1200" dirty="0">
          <a:solidFill>
            <a:schemeClr val="accent4"/>
          </a:solidFill>
          <a:latin typeface="Poppins SemiBold" panose="00000700000000000000" pitchFamily="2" charset="0"/>
          <a:ea typeface="+mj-ea"/>
          <a:cs typeface="Poppins SemiBold" panose="000007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D29FD088-C014-49F4-AC33-7EFF0FBE98DD}"/>
              </a:ext>
            </a:extLst>
          </p:cNvPr>
          <p:cNvSpPr txBox="1">
            <a:spLocks/>
          </p:cNvSpPr>
          <p:nvPr userDrawn="1"/>
        </p:nvSpPr>
        <p:spPr>
          <a:xfrm>
            <a:off x="9091246" y="6401398"/>
            <a:ext cx="2956876" cy="365125"/>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tx1">
                    <a:tint val="75000"/>
                  </a:schemeClr>
                </a:solidFill>
                <a:latin typeface="ClanOT-Book" panose="0200050303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700" baseline="0">
                <a:latin typeface="Poppins Light" panose="00000400000000000000" pitchFamily="2" charset="0"/>
                <a:cs typeface="Poppins Light" panose="00000400000000000000" pitchFamily="2" charset="0"/>
                <a:sym typeface="Symbol" panose="05050102010706020507" pitchFamily="18" charset="2"/>
              </a:rPr>
              <a:t>HORIZON MEDIA    DEVRY    </a:t>
            </a:r>
            <a:fld id="{CF067BAB-ACAF-470B-88DC-99E80D1D4992}" type="slidenum">
              <a:rPr lang="en-US" sz="700" smtClean="0">
                <a:latin typeface="Poppins Light" panose="00000400000000000000" pitchFamily="2" charset="0"/>
                <a:cs typeface="Poppins Light" panose="00000400000000000000" pitchFamily="2"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700">
              <a:latin typeface="Poppins Light" panose="00000400000000000000" pitchFamily="2" charset="0"/>
              <a:cs typeface="Poppins Light" panose="00000400000000000000" pitchFamily="2" charset="0"/>
            </a:endParaRPr>
          </a:p>
        </p:txBody>
      </p:sp>
      <p:grpSp>
        <p:nvGrpSpPr>
          <p:cNvPr id="11" name="Group 10">
            <a:extLst>
              <a:ext uri="{FF2B5EF4-FFF2-40B4-BE49-F238E27FC236}">
                <a16:creationId xmlns:a16="http://schemas.microsoft.com/office/drawing/2014/main" id="{7BB5701E-7733-8994-FA6B-1AE242A7140B}"/>
              </a:ext>
            </a:extLst>
          </p:cNvPr>
          <p:cNvGrpSpPr/>
          <p:nvPr userDrawn="1"/>
        </p:nvGrpSpPr>
        <p:grpSpPr>
          <a:xfrm>
            <a:off x="0" y="-790567"/>
            <a:ext cx="10958732" cy="464234"/>
            <a:chOff x="632091" y="7793307"/>
            <a:chExt cx="10958732" cy="464234"/>
          </a:xfrm>
        </p:grpSpPr>
        <p:sp>
          <p:nvSpPr>
            <p:cNvPr id="12" name="Rectangle 11">
              <a:extLst>
                <a:ext uri="{FF2B5EF4-FFF2-40B4-BE49-F238E27FC236}">
                  <a16:creationId xmlns:a16="http://schemas.microsoft.com/office/drawing/2014/main" id="{637EB763-B852-27F9-ECB2-7D9F12DB03CD}"/>
                </a:ext>
              </a:extLst>
            </p:cNvPr>
            <p:cNvSpPr/>
            <p:nvPr/>
          </p:nvSpPr>
          <p:spPr>
            <a:xfrm>
              <a:off x="632091" y="7793307"/>
              <a:ext cx="1223890" cy="4642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Poppins" pitchFamily="2" charset="77"/>
                  <a:cs typeface="Poppins" pitchFamily="2" charset="77"/>
                </a:rPr>
                <a:t>FFFFFF</a:t>
              </a:r>
            </a:p>
          </p:txBody>
        </p:sp>
        <p:sp>
          <p:nvSpPr>
            <p:cNvPr id="13" name="Rectangle 12">
              <a:extLst>
                <a:ext uri="{FF2B5EF4-FFF2-40B4-BE49-F238E27FC236}">
                  <a16:creationId xmlns:a16="http://schemas.microsoft.com/office/drawing/2014/main" id="{A9A435EA-94DA-649D-9F06-2FC9A713731E}"/>
                </a:ext>
              </a:extLst>
            </p:cNvPr>
            <p:cNvSpPr/>
            <p:nvPr/>
          </p:nvSpPr>
          <p:spPr>
            <a:xfrm>
              <a:off x="2022783" y="7793307"/>
              <a:ext cx="1223890" cy="464234"/>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latin typeface="Poppins" pitchFamily="2" charset="77"/>
                  <a:cs typeface="Poppins" pitchFamily="2" charset="77"/>
                </a:rPr>
                <a:t>000000</a:t>
              </a:r>
            </a:p>
          </p:txBody>
        </p:sp>
        <p:sp>
          <p:nvSpPr>
            <p:cNvPr id="14" name="Rectangle 13">
              <a:extLst>
                <a:ext uri="{FF2B5EF4-FFF2-40B4-BE49-F238E27FC236}">
                  <a16:creationId xmlns:a16="http://schemas.microsoft.com/office/drawing/2014/main" id="{2C9DE710-1E0F-6CEC-9667-83F3C212FAA0}"/>
                </a:ext>
              </a:extLst>
            </p:cNvPr>
            <p:cNvSpPr/>
            <p:nvPr/>
          </p:nvSpPr>
          <p:spPr>
            <a:xfrm>
              <a:off x="3413475" y="7793307"/>
              <a:ext cx="1223890" cy="464234"/>
            </a:xfrm>
            <a:prstGeom prst="rect">
              <a:avLst/>
            </a:prstGeom>
            <a:solidFill>
              <a:srgbClr val="005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latin typeface="Poppins" pitchFamily="2" charset="77"/>
                  <a:cs typeface="Poppins" pitchFamily="2" charset="77"/>
                </a:rPr>
                <a:t>0059FF</a:t>
              </a:r>
            </a:p>
          </p:txBody>
        </p:sp>
        <p:sp>
          <p:nvSpPr>
            <p:cNvPr id="15" name="Rectangle 14">
              <a:extLst>
                <a:ext uri="{FF2B5EF4-FFF2-40B4-BE49-F238E27FC236}">
                  <a16:creationId xmlns:a16="http://schemas.microsoft.com/office/drawing/2014/main" id="{FA16D9AD-79D6-4F72-02A5-F38819BE5CE6}"/>
                </a:ext>
              </a:extLst>
            </p:cNvPr>
            <p:cNvSpPr/>
            <p:nvPr/>
          </p:nvSpPr>
          <p:spPr>
            <a:xfrm>
              <a:off x="4804167" y="7793307"/>
              <a:ext cx="1223890" cy="464234"/>
            </a:xfrm>
            <a:prstGeom prst="rect">
              <a:avLst/>
            </a:prstGeom>
            <a:solidFill>
              <a:srgbClr val="0123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latin typeface="Poppins" pitchFamily="2" charset="77"/>
                  <a:cs typeface="Poppins" pitchFamily="2" charset="77"/>
                </a:rPr>
                <a:t>01239A</a:t>
              </a:r>
            </a:p>
          </p:txBody>
        </p:sp>
        <p:sp>
          <p:nvSpPr>
            <p:cNvPr id="16" name="Rectangle 15">
              <a:extLst>
                <a:ext uri="{FF2B5EF4-FFF2-40B4-BE49-F238E27FC236}">
                  <a16:creationId xmlns:a16="http://schemas.microsoft.com/office/drawing/2014/main" id="{E8709764-0AC6-A1F2-6091-E7D512ADD8AC}"/>
                </a:ext>
              </a:extLst>
            </p:cNvPr>
            <p:cNvSpPr/>
            <p:nvPr/>
          </p:nvSpPr>
          <p:spPr>
            <a:xfrm>
              <a:off x="6194859" y="7793307"/>
              <a:ext cx="1223890" cy="464234"/>
            </a:xfrm>
            <a:prstGeom prst="rect">
              <a:avLst/>
            </a:prstGeom>
            <a:solidFill>
              <a:srgbClr val="FFE2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Poppins" pitchFamily="2" charset="77"/>
                  <a:cs typeface="Poppins" pitchFamily="2" charset="77"/>
                </a:rPr>
                <a:t>FFE200</a:t>
              </a:r>
            </a:p>
          </p:txBody>
        </p:sp>
        <p:sp>
          <p:nvSpPr>
            <p:cNvPr id="17" name="Rectangle 16">
              <a:extLst>
                <a:ext uri="{FF2B5EF4-FFF2-40B4-BE49-F238E27FC236}">
                  <a16:creationId xmlns:a16="http://schemas.microsoft.com/office/drawing/2014/main" id="{37118DBC-6783-5D58-C674-23B41AEBF708}"/>
                </a:ext>
              </a:extLst>
            </p:cNvPr>
            <p:cNvSpPr/>
            <p:nvPr/>
          </p:nvSpPr>
          <p:spPr>
            <a:xfrm>
              <a:off x="7585551" y="7793307"/>
              <a:ext cx="1223890" cy="464234"/>
            </a:xfrm>
            <a:prstGeom prst="rect">
              <a:avLst/>
            </a:prstGeom>
            <a:solidFill>
              <a:srgbClr val="C9D6E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Poppins" pitchFamily="2" charset="77"/>
                  <a:cs typeface="Poppins" pitchFamily="2" charset="77"/>
                </a:rPr>
                <a:t>C9D6E5</a:t>
              </a:r>
            </a:p>
          </p:txBody>
        </p:sp>
        <p:sp>
          <p:nvSpPr>
            <p:cNvPr id="18" name="Rectangle 17">
              <a:extLst>
                <a:ext uri="{FF2B5EF4-FFF2-40B4-BE49-F238E27FC236}">
                  <a16:creationId xmlns:a16="http://schemas.microsoft.com/office/drawing/2014/main" id="{BF529264-CCF3-B5DF-AC50-1045B10C782D}"/>
                </a:ext>
              </a:extLst>
            </p:cNvPr>
            <p:cNvSpPr/>
            <p:nvPr/>
          </p:nvSpPr>
          <p:spPr>
            <a:xfrm>
              <a:off x="8976243" y="7793307"/>
              <a:ext cx="1223890" cy="464234"/>
            </a:xfrm>
            <a:prstGeom prst="rect">
              <a:avLst/>
            </a:prstGeom>
            <a:solidFill>
              <a:srgbClr val="CCE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Poppins" pitchFamily="2" charset="77"/>
                  <a:cs typeface="Poppins" pitchFamily="2" charset="77"/>
                </a:rPr>
                <a:t>CCE8FF</a:t>
              </a:r>
            </a:p>
          </p:txBody>
        </p:sp>
        <p:sp>
          <p:nvSpPr>
            <p:cNvPr id="19" name="Rectangle 18">
              <a:extLst>
                <a:ext uri="{FF2B5EF4-FFF2-40B4-BE49-F238E27FC236}">
                  <a16:creationId xmlns:a16="http://schemas.microsoft.com/office/drawing/2014/main" id="{BC0B001A-68C5-245B-1B61-B685E530F7F2}"/>
                </a:ext>
              </a:extLst>
            </p:cNvPr>
            <p:cNvSpPr/>
            <p:nvPr/>
          </p:nvSpPr>
          <p:spPr>
            <a:xfrm>
              <a:off x="10366933" y="7793307"/>
              <a:ext cx="1223890" cy="464234"/>
            </a:xfrm>
            <a:prstGeom prst="rect">
              <a:avLst/>
            </a:prstGeom>
            <a:solidFill>
              <a:srgbClr val="F5F2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Poppins" pitchFamily="2" charset="77"/>
                  <a:cs typeface="Poppins" pitchFamily="2" charset="77"/>
                </a:rPr>
                <a:t>F5F2EE</a:t>
              </a:r>
            </a:p>
          </p:txBody>
        </p:sp>
      </p:grpSp>
    </p:spTree>
    <p:extLst>
      <p:ext uri="{BB962C8B-B14F-4D97-AF65-F5344CB8AC3E}">
        <p14:creationId xmlns:p14="http://schemas.microsoft.com/office/powerpoint/2010/main" val="2327529794"/>
      </p:ext>
    </p:extLst>
  </p:cSld>
  <p:clrMap bg1="lt1" tx1="dk1" bg2="lt2" tx2="dk2" accent1="accent1" accent2="accent2" accent3="accent3" accent4="accent4" accent5="accent5" accent6="accent6" hlink="hlink" folHlink="folHlink"/>
  <p:sldLayoutIdLst>
    <p:sldLayoutId id="2147485198" r:id="rId1"/>
    <p:sldLayoutId id="2147485199" r:id="rId2"/>
    <p:sldLayoutId id="2147485200" r:id="rId3"/>
    <p:sldLayoutId id="2147485201" r:id="rId4"/>
  </p:sldLayoutIdLst>
  <p:hf hdr="0" dt="0"/>
  <p:txStyles>
    <p:titleStyle>
      <a:lvl1pPr marL="0" algn="ctr" defTabSz="914400" rtl="0" eaLnBrk="1" latinLnBrk="0" hangingPunct="1">
        <a:lnSpc>
          <a:spcPct val="90000"/>
        </a:lnSpc>
        <a:spcBef>
          <a:spcPct val="0"/>
        </a:spcBef>
        <a:buNone/>
        <a:defRPr lang="en-US" sz="2800" b="0" kern="1200" dirty="0">
          <a:solidFill>
            <a:schemeClr val="accent4"/>
          </a:solidFill>
          <a:latin typeface="Poppins SemiBold" panose="00000700000000000000" pitchFamily="2" charset="0"/>
          <a:ea typeface="+mj-ea"/>
          <a:cs typeface="Poppins SemiBold" panose="000007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customXml" Target="../ink/ink4.xml"/><Relationship Id="rId3" Type="http://schemas.microsoft.com/office/2018/10/relationships/comments" Target="../comments/modernComment_108_BA75D8C5.xml"/><Relationship Id="rId7" Type="http://schemas.openxmlformats.org/officeDocument/2006/relationships/image" Target="../media/image5.png"/><Relationship Id="rId12" Type="http://schemas.openxmlformats.org/officeDocument/2006/relationships/customXml" Target="../ink/ink3.xml"/><Relationship Id="rId2" Type="http://schemas.openxmlformats.org/officeDocument/2006/relationships/notesSlide" Target="../notesSlides/notesSlide1.xml"/><Relationship Id="rId16" Type="http://schemas.openxmlformats.org/officeDocument/2006/relationships/customXml" Target="../ink/ink7.xml"/><Relationship Id="rId1" Type="http://schemas.openxmlformats.org/officeDocument/2006/relationships/slideLayout" Target="../slideLayouts/slideLayout10.xml"/><Relationship Id="rId6" Type="http://schemas.openxmlformats.org/officeDocument/2006/relationships/image" Target="../media/image4.jpeg"/><Relationship Id="rId11" Type="http://schemas.openxmlformats.org/officeDocument/2006/relationships/customXml" Target="../ink/ink2.xml"/><Relationship Id="rId5" Type="http://schemas.openxmlformats.org/officeDocument/2006/relationships/image" Target="../media/image3.png"/><Relationship Id="rId15" Type="http://schemas.openxmlformats.org/officeDocument/2006/relationships/customXml" Target="../ink/ink6.xml"/><Relationship Id="rId10" Type="http://schemas.openxmlformats.org/officeDocument/2006/relationships/image" Target="../media/image7.png"/><Relationship Id="rId4" Type="http://schemas.openxmlformats.org/officeDocument/2006/relationships/image" Target="../media/image2.emf"/><Relationship Id="rId9" Type="http://schemas.openxmlformats.org/officeDocument/2006/relationships/customXml" Target="../ink/ink1.xml"/><Relationship Id="rId14" Type="http://schemas.openxmlformats.org/officeDocument/2006/relationships/customXml" Target="../ink/ink5.xml"/></Relationships>
</file>

<file path=ppt/slides/_rels/slide2.xml.rels><?xml version="1.0" encoding="UTF-8" standalone="yes"?>
<Relationships xmlns="http://schemas.openxmlformats.org/package/2006/relationships"><Relationship Id="rId3" Type="http://schemas.microsoft.com/office/2018/10/relationships/comments" Target="../comments/modernComment_7FFFFEE0_50DF3E10.xml"/><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13.svg"/><Relationship Id="rId3" Type="http://schemas.microsoft.com/office/2018/10/relationships/comments" Target="../comments/modernComment_7FFFFFFF_A1CB5A05.xml"/><Relationship Id="rId7" Type="http://schemas.openxmlformats.org/officeDocument/2006/relationships/image" Target="../media/image12.sv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1.xml"/><Relationship Id="rId5" Type="http://schemas.openxmlformats.org/officeDocument/2006/relationships/image" Target="../media/image15.svg"/><Relationship Id="rId4" Type="http://schemas.openxmlformats.org/officeDocument/2006/relationships/image" Target="../media/image14.svg"/></Relationships>
</file>

<file path=ppt/slides/_rels/slide6.xml.rels><?xml version="1.0" encoding="UTF-8" standalone="yes"?>
<Relationships xmlns="http://schemas.openxmlformats.org/package/2006/relationships"><Relationship Id="rId3" Type="http://schemas.microsoft.com/office/2018/10/relationships/comments" Target="../comments/modernComment_114_13A8E99D.xml"/><Relationship Id="rId7" Type="http://schemas.openxmlformats.org/officeDocument/2006/relationships/image" Target="../media/image19.sv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7.xml.rels><?xml version="1.0" encoding="UTF-8" standalone="yes"?>
<Relationships xmlns="http://schemas.openxmlformats.org/package/2006/relationships"><Relationship Id="rId3" Type="http://schemas.microsoft.com/office/2018/10/relationships/comments" Target="../comments/modernComment_13F_961033D7.xml"/><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8" Type="http://schemas.openxmlformats.org/officeDocument/2006/relationships/image" Target="../media/image23.png"/><Relationship Id="rId3" Type="http://schemas.microsoft.com/office/2018/10/relationships/comments" Target="../comments/modernComment_11C_18259193.xml"/><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chart" Target="../charts/chart1.xml"/><Relationship Id="rId10" Type="http://schemas.openxmlformats.org/officeDocument/2006/relationships/image" Target="../media/image25.svg"/><Relationship Id="rId4" Type="http://schemas.openxmlformats.org/officeDocument/2006/relationships/image" Target="../media/image20.png"/><Relationship Id="rId9"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microsoft.com/office/2018/10/relationships/comments" Target="../comments/modernComment_10D_7BE08510.xml"/><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8" Type="http://schemas.openxmlformats.org/officeDocument/2006/relationships/image" Target="../media/image32.svg"/><Relationship Id="rId3" Type="http://schemas.microsoft.com/office/2018/10/relationships/comments" Target="../comments/modernComment_122_4FE75B52.xml"/><Relationship Id="rId7"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chart" Target="../charts/chart2.xml"/><Relationship Id="rId5" Type="http://schemas.openxmlformats.org/officeDocument/2006/relationships/image" Target="../media/image31.svg"/><Relationship Id="rId10" Type="http://schemas.openxmlformats.org/officeDocument/2006/relationships/hyperlink" Target="https://www.luminafoundation.org/wp-content/uploads/2025/05/Micro-Credentials-Impact-Report-25.pdf" TargetMode="External"/><Relationship Id="rId4" Type="http://schemas.openxmlformats.org/officeDocument/2006/relationships/image" Target="../media/image30.svg"/><Relationship Id="rId9" Type="http://schemas.openxmlformats.org/officeDocument/2006/relationships/hyperlink" Target="https://p3edu.com/wp-content/uploads/2025/10/2025-VOL-Report-Risepoint.pdf"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9.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8.svg"/><Relationship Id="rId7"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chart" Target="../charts/chart4.xml"/><Relationship Id="rId5" Type="http://schemas.openxmlformats.org/officeDocument/2006/relationships/image" Target="../media/image16.svg"/><Relationship Id="rId4" Type="http://schemas.openxmlformats.org/officeDocument/2006/relationships/image" Target="../media/image39.svg"/></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9.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4.xml.rels><?xml version="1.0" encoding="UTF-8" standalone="yes"?>
<Relationships xmlns="http://schemas.openxmlformats.org/package/2006/relationships"><Relationship Id="rId8" Type="http://schemas.openxmlformats.org/officeDocument/2006/relationships/image" Target="../media/image50.png"/><Relationship Id="rId3" Type="http://schemas.microsoft.com/office/2018/10/relationships/comments" Target="../comments/modernComment_126_9A7D5884.xml"/><Relationship Id="rId7" Type="http://schemas.openxmlformats.org/officeDocument/2006/relationships/image" Target="../media/image49.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48.svg"/><Relationship Id="rId5" Type="http://schemas.openxmlformats.org/officeDocument/2006/relationships/image" Target="../media/image47.svg"/><Relationship Id="rId10" Type="http://schemas.openxmlformats.org/officeDocument/2006/relationships/image" Target="../media/image52.png"/><Relationship Id="rId4" Type="http://schemas.openxmlformats.org/officeDocument/2006/relationships/image" Target="../media/image46.svg"/><Relationship Id="rId9" Type="http://schemas.openxmlformats.org/officeDocument/2006/relationships/image" Target="../media/image51.png"/></Relationships>
</file>

<file path=ppt/slides/_rels/slide15.xml.rels><?xml version="1.0" encoding="UTF-8" standalone="yes"?>
<Relationships xmlns="http://schemas.openxmlformats.org/package/2006/relationships"><Relationship Id="rId3" Type="http://schemas.microsoft.com/office/2018/10/relationships/comments" Target="../comments/modernComment_120_567A2A3A.xml"/><Relationship Id="rId7" Type="http://schemas.openxmlformats.org/officeDocument/2006/relationships/image" Target="../media/image56.png"/><Relationship Id="rId2" Type="http://schemas.openxmlformats.org/officeDocument/2006/relationships/notesSlide" Target="../notesSlides/notesSlide15.xml"/><Relationship Id="rId1" Type="http://schemas.openxmlformats.org/officeDocument/2006/relationships/slideLayout" Target="../slideLayouts/slideLayout9.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8" Type="http://schemas.openxmlformats.org/officeDocument/2006/relationships/image" Target="../media/image61.png"/><Relationship Id="rId3" Type="http://schemas.microsoft.com/office/2018/10/relationships/comments" Target="../comments/modernComment_135_35E1EB5E.xml"/><Relationship Id="rId7" Type="http://schemas.openxmlformats.org/officeDocument/2006/relationships/image" Target="../media/image60.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s://explore.gcu.edu/business/bachelors/online/?gcu=BS-BRAND|Bing|CPC|Business%20UG%20-%20Online|bachelor%20s%20degree%20in%20accounting%20online&amp;adID=81638864982615&amp;device=c&amp;adgroup=Accounting%20-%20Degree&amp;network=o&amp;msclkid=24b2cde35f361d738045a4361fadb37e&amp;matchtype=e&amp;utm_id=627360417&amp;utm_source=bing&amp;utm_medium=cpc&amp;utm_campaign=Business%20UG%20-%20Online&amp;utm_term=bachelor%20s%20degree%20in%20accounting%20online&amp;utm_content=Accounting%20-%20Degree" TargetMode="External"/><Relationship Id="rId5" Type="http://schemas.openxmlformats.org/officeDocument/2006/relationships/image" Target="../media/image59.png"/><Relationship Id="rId4" Type="http://schemas.openxmlformats.org/officeDocument/2006/relationships/image" Target="../media/image58.png"/><Relationship Id="rId9" Type="http://schemas.openxmlformats.org/officeDocument/2006/relationships/image" Target="../media/image62.png"/></Relationships>
</file>

<file path=ppt/slides/_rels/slide19.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59.png"/><Relationship Id="rId7" Type="http://schemas.openxmlformats.org/officeDocument/2006/relationships/image" Target="../media/image64.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hyperlink" Target="https://online.coloradotech.edu/ctu/colorado-tech/home-br?code=6069&amp;siteid=MICROSOFT&amp;Brand+-+Core+-+Phrase&amp;General+-+Phrase&amp;colorado+tech+institute&amp;p&amp;c&amp;gclid=3c6146bd316211eab6742f30d52b2ec5&amp;gclsrc=3p.ds&amp;msclkid=3c6146bd316211eab6742f30d52b2ec5&amp;utm_source=bing&amp;utm_medium=cpc&amp;utm_campaign=Brand%20-%20Core%20-%20Phrase&amp;utm_term=colorado%20tech%20institute&amp;utm_content=General%20-%20Phrase" TargetMode="External"/><Relationship Id="rId10" Type="http://schemas.openxmlformats.org/officeDocument/2006/relationships/image" Target="../media/image67.png"/><Relationship Id="rId4" Type="http://schemas.openxmlformats.org/officeDocument/2006/relationships/hyperlink" Target="https://cxl.com/blog/creating-urgency/" TargetMode="External"/><Relationship Id="rId9" Type="http://schemas.openxmlformats.org/officeDocument/2006/relationships/image" Target="../media/image66.png"/></Relationships>
</file>

<file path=ppt/slides/_rels/slide20.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7.png"/><Relationship Id="rId3" Type="http://schemas.openxmlformats.org/officeDocument/2006/relationships/image" Target="../media/image59.png"/><Relationship Id="rId7" Type="http://schemas.openxmlformats.org/officeDocument/2006/relationships/image" Target="../media/image71.png"/><Relationship Id="rId12" Type="http://schemas.openxmlformats.org/officeDocument/2006/relationships/image" Target="../media/image76.png"/><Relationship Id="rId2" Type="http://schemas.openxmlformats.org/officeDocument/2006/relationships/notesSlide" Target="../notesSlides/notesSlide20.xml"/><Relationship Id="rId1" Type="http://schemas.openxmlformats.org/officeDocument/2006/relationships/slideLayout" Target="../slideLayouts/slideLayout10.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68.png"/><Relationship Id="rId9" Type="http://schemas.openxmlformats.org/officeDocument/2006/relationships/image" Target="../media/image73.png"/></Relationships>
</file>

<file path=ppt/slides/_rels/slide21.xml.rels><?xml version="1.0" encoding="UTF-8" standalone="yes"?>
<Relationships xmlns="http://schemas.openxmlformats.org/package/2006/relationships"><Relationship Id="rId8" Type="http://schemas.openxmlformats.org/officeDocument/2006/relationships/hyperlink" Target="https://csuglobal.edu/academic-programs/undergraduate-degrees?cq_src=bing_ads&amp;cq_cmp=nb_gen_deg_core_bing_search&amp;cq_con=nb_ug_deg_online--bs-degrees-(brandsite)_sdi&amp;cq_term=online%20bachelor%20degrees&amp;cq_med=&amp;cq_net=o&amp;cq_plt=bp&amp;utm_source=bing&amp;utm_medium=cpc&amp;utm_campaign=nb_gen_ug_deg_core_bing_search&amp;utm_term=online%20bachelor%20degrees&amp;msclkid=e6895ad8031e1358448d330d3d81a2c7" TargetMode="External"/><Relationship Id="rId13" Type="http://schemas.openxmlformats.org/officeDocument/2006/relationships/image" Target="../media/image83.png"/><Relationship Id="rId3" Type="http://schemas.openxmlformats.org/officeDocument/2006/relationships/image" Target="../media/image78.png"/><Relationship Id="rId7" Type="http://schemas.openxmlformats.org/officeDocument/2006/relationships/hyperlink" Target="https://www.phoenix.edu/info/technology.html" TargetMode="External"/><Relationship Id="rId12" Type="http://schemas.openxmlformats.org/officeDocument/2006/relationships/image" Target="../media/image82.png"/><Relationship Id="rId2" Type="http://schemas.openxmlformats.org/officeDocument/2006/relationships/notesSlide" Target="../notesSlides/notesSlide21.xml"/><Relationship Id="rId16"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hyperlink" Target="https://asuonline.asu.edu/study/engineering-degrees/?gclid=883598c139bc1aa01b9df14f31b9c17f&amp;gclsrc=3p.ds&amp;&amp;utm_source=bing&amp;utm_medium=cpc&amp;utm_content=br_vertical_engineering_non&amp;utm_campaign=22-nat_acq-hi_br_verticals_non_ms&amp;utm_ecd22=22&amp;utm_term=arizona+state+university+engineering&amp;msclkid=883598c139bc1aa01b9df14f31b9c17f" TargetMode="External"/><Relationship Id="rId11" Type="http://schemas.openxmlformats.org/officeDocument/2006/relationships/image" Target="../media/image81.png"/><Relationship Id="rId5" Type="http://schemas.openxmlformats.org/officeDocument/2006/relationships/image" Target="../media/image59.png"/><Relationship Id="rId15" Type="http://schemas.openxmlformats.org/officeDocument/2006/relationships/image" Target="../media/image85.png"/><Relationship Id="rId10" Type="http://schemas.openxmlformats.org/officeDocument/2006/relationships/image" Target="../media/image80.png"/><Relationship Id="rId4" Type="http://schemas.openxmlformats.org/officeDocument/2006/relationships/image" Target="../media/image79.png"/><Relationship Id="rId9" Type="http://schemas.openxmlformats.org/officeDocument/2006/relationships/hyperlink" Target="https://info.waldenu.edu/?infinity=ict2~net~gaw~ar~~mt~e~cmp~WU_US_CONV_BING_PROSP_GEN_COMP_GRL-ACT_NA~ag~NA_GRL-ACT_Colorado_State_University_Exact&amp;utm_source=bing&amp;utm_medium=CPC&amp;utm_campaign=WU_US_CONV_BING_PROSP_GEN_COMP_GRL-ACT_NA&amp;utm_adgroup=NA_GRL-ACT_Colorado_State_University_Exact&amp;utm_matchtype=e&amp;utm_content=77996827517025&amp;utm_kxconf=vrguggp3m&amp;campaignid=18251423003&amp;gclid=7823fb3033891480cb2f92e566656c4c&amp;gclsrc=3p.ds&amp;&amp;comm_code=WAL-1050523&amp;msclkid=7823fb3033891480cb2f92e566656c4c" TargetMode="External"/><Relationship Id="rId14" Type="http://schemas.openxmlformats.org/officeDocument/2006/relationships/image" Target="../media/image8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1A7744B-426D-0051-13C9-757045A3C625}"/>
              </a:ext>
            </a:extLst>
          </p:cNvPr>
          <p:cNvPicPr>
            <a:picLocks noChangeAspect="1"/>
          </p:cNvPicPr>
          <p:nvPr/>
        </p:nvPicPr>
        <p:blipFill>
          <a:blip r:embed="rId4">
            <a:lum bright="100000"/>
          </a:blip>
          <a:stretch>
            <a:fillRect/>
          </a:stretch>
        </p:blipFill>
        <p:spPr>
          <a:xfrm>
            <a:off x="-2575473" y="-1296573"/>
            <a:ext cx="1854835" cy="408940"/>
          </a:xfrm>
          <a:prstGeom prst="rect">
            <a:avLst/>
          </a:prstGeom>
        </p:spPr>
      </p:pic>
      <p:sp>
        <p:nvSpPr>
          <p:cNvPr id="10" name="Title 7">
            <a:extLst>
              <a:ext uri="{FF2B5EF4-FFF2-40B4-BE49-F238E27FC236}">
                <a16:creationId xmlns:a16="http://schemas.microsoft.com/office/drawing/2014/main" id="{49AF2A6F-D270-B625-9FD0-02EC93B14B4A}"/>
              </a:ext>
            </a:extLst>
          </p:cNvPr>
          <p:cNvSpPr txBox="1">
            <a:spLocks/>
          </p:cNvSpPr>
          <p:nvPr/>
        </p:nvSpPr>
        <p:spPr>
          <a:xfrm>
            <a:off x="655467" y="3018327"/>
            <a:ext cx="5829160" cy="1354217"/>
          </a:xfrm>
          <a:prstGeom prst="rect">
            <a:avLst/>
          </a:prstGeom>
        </p:spPr>
        <p:txBody>
          <a:bodyPr wrap="square" lIns="91440">
            <a:spAutoFit/>
          </a:bodyPr>
          <a:lstStyle>
            <a:lvl1pPr marL="0" algn="ctr" defTabSz="914400" rtl="0" eaLnBrk="1" latinLnBrk="0" hangingPunct="1">
              <a:lnSpc>
                <a:spcPct val="90000"/>
              </a:lnSpc>
              <a:spcBef>
                <a:spcPct val="0"/>
              </a:spcBef>
              <a:buNone/>
              <a:defRPr lang="en-US" sz="2800" b="1" i="0" kern="1200">
                <a:solidFill>
                  <a:schemeClr val="tx1"/>
                </a:solidFill>
                <a:latin typeface="Poppins SemiBold" pitchFamily="2" charset="77"/>
                <a:ea typeface="+mj-ea"/>
                <a:cs typeface="Poppins SemiBold" pitchFamily="2" charset="77"/>
              </a:defRPr>
            </a:lvl1pPr>
          </a:lstStyle>
          <a:p>
            <a:pPr algn="l" fontAlgn="auto">
              <a:lnSpc>
                <a:spcPct val="100000"/>
              </a:lnSpc>
              <a:spcAft>
                <a:spcPts val="0"/>
              </a:spcAft>
              <a:defRPr/>
            </a:pPr>
            <a:r>
              <a:rPr lang="en-US" sz="5400">
                <a:solidFill>
                  <a:prstClr val="white"/>
                </a:solidFill>
                <a:latin typeface="Poppins ExtraLight"/>
                <a:cs typeface="Poppins ExtraLight"/>
              </a:rPr>
              <a:t>Horizon x DeVry</a:t>
            </a:r>
            <a:endParaRPr lang="en-US" sz="5400"/>
          </a:p>
          <a:p>
            <a:pPr lvl="0" algn="l">
              <a:lnSpc>
                <a:spcPct val="100000"/>
              </a:lnSpc>
              <a:spcAft>
                <a:spcPts val="0"/>
              </a:spcAft>
              <a:defRPr/>
            </a:pPr>
            <a:r>
              <a:rPr lang="en-US">
                <a:solidFill>
                  <a:schemeClr val="accent3"/>
                </a:solidFill>
              </a:rPr>
              <a:t>STRATEGIC AUDIT</a:t>
            </a:r>
          </a:p>
        </p:txBody>
      </p:sp>
      <p:sp>
        <p:nvSpPr>
          <p:cNvPr id="13" name="Rectangle 12">
            <a:extLst>
              <a:ext uri="{FF2B5EF4-FFF2-40B4-BE49-F238E27FC236}">
                <a16:creationId xmlns:a16="http://schemas.microsoft.com/office/drawing/2014/main" id="{AF57BBDB-0533-84D7-1940-0612AE30578E}"/>
              </a:ext>
            </a:extLst>
          </p:cNvPr>
          <p:cNvSpPr/>
          <p:nvPr/>
        </p:nvSpPr>
        <p:spPr>
          <a:xfrm>
            <a:off x="689852" y="5190760"/>
            <a:ext cx="2474886" cy="3768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Poppins"/>
                <a:ea typeface="+mn-ea"/>
                <a:cs typeface="Poppins"/>
              </a:rPr>
              <a:t>May</a:t>
            </a:r>
            <a:r>
              <a:rPr lang="en-US" sz="1600">
                <a:solidFill>
                  <a:srgbClr val="FFFFFF"/>
                </a:solidFill>
                <a:latin typeface="Poppins"/>
                <a:cs typeface="Poppins"/>
              </a:rPr>
              <a:t> </a:t>
            </a:r>
            <a:r>
              <a:rPr kumimoji="0" lang="en-US" sz="1600" b="0" i="0" u="none" strike="noStrike" kern="1200" cap="none" spc="0" normalizeH="0" baseline="0" noProof="0">
                <a:ln>
                  <a:noFill/>
                </a:ln>
                <a:solidFill>
                  <a:srgbClr val="FFFFFF"/>
                </a:solidFill>
                <a:effectLst/>
                <a:uLnTx/>
                <a:uFillTx/>
                <a:latin typeface="Poppins"/>
                <a:ea typeface="+mn-ea"/>
                <a:cs typeface="Poppins"/>
              </a:rPr>
              <a:t>2026</a:t>
            </a:r>
          </a:p>
        </p:txBody>
      </p:sp>
      <p:pic>
        <p:nvPicPr>
          <p:cNvPr id="7" name="Picture 6" descr="Logo&#10;&#10;Description automatically generated">
            <a:extLst>
              <a:ext uri="{FF2B5EF4-FFF2-40B4-BE49-F238E27FC236}">
                <a16:creationId xmlns:a16="http://schemas.microsoft.com/office/drawing/2014/main" id="{24D9A853-24CB-4138-FC23-B1D95B1FE1A2}"/>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43355"/>
          <a:stretch/>
        </p:blipFill>
        <p:spPr>
          <a:xfrm>
            <a:off x="758494" y="1454139"/>
            <a:ext cx="513918" cy="513816"/>
          </a:xfrm>
          <a:prstGeom prst="rect">
            <a:avLst/>
          </a:prstGeom>
        </p:spPr>
      </p:pic>
      <p:pic>
        <p:nvPicPr>
          <p:cNvPr id="8" name="Picture 7" descr="A person sitting on a bench using a computer&#10;&#10;AI-generated content may be incorrect.">
            <a:extLst>
              <a:ext uri="{FF2B5EF4-FFF2-40B4-BE49-F238E27FC236}">
                <a16:creationId xmlns:a16="http://schemas.microsoft.com/office/drawing/2014/main" id="{1C15E3A0-A305-5E00-5594-D2A550710C87}"/>
              </a:ext>
            </a:extLst>
          </p:cNvPr>
          <p:cNvPicPr>
            <a:picLocks noChangeAspect="1"/>
          </p:cNvPicPr>
          <p:nvPr/>
        </p:nvPicPr>
        <p:blipFill>
          <a:blip r:embed="rId6">
            <a:extLst>
              <a:ext uri="{28A0092B-C50C-407E-A947-70E740481C1C}">
                <a14:useLocalDpi xmlns:a14="http://schemas.microsoft.com/office/drawing/2010/main" val="0"/>
              </a:ext>
            </a:extLst>
          </a:blip>
          <a:srcRect l="30180" t="31777" r="15854" b="14257"/>
          <a:stretch>
            <a:fillRect/>
          </a:stretch>
        </p:blipFill>
        <p:spPr>
          <a:xfrm flipH="1">
            <a:off x="7581900" y="642134"/>
            <a:ext cx="4610100" cy="6215865"/>
          </a:xfrm>
          <a:prstGeom prst="round1Rect">
            <a:avLst>
              <a:gd name="adj" fmla="val 43052"/>
            </a:avLst>
          </a:prstGeom>
        </p:spPr>
      </p:pic>
      <p:pic>
        <p:nvPicPr>
          <p:cNvPr id="16" name="Picture 15" descr="A person holding a phone&#10;&#10;AI-generated content may be incorrect.">
            <a:extLst>
              <a:ext uri="{FF2B5EF4-FFF2-40B4-BE49-F238E27FC236}">
                <a16:creationId xmlns:a16="http://schemas.microsoft.com/office/drawing/2014/main" id="{3AFE6553-4564-C6E1-D9BC-8934672CFAFD}"/>
              </a:ext>
            </a:extLst>
          </p:cNvPr>
          <p:cNvPicPr>
            <a:picLocks noChangeAspect="1"/>
          </p:cNvPicPr>
          <p:nvPr/>
        </p:nvPicPr>
        <p:blipFill>
          <a:blip r:embed="rId7">
            <a:extLst>
              <a:ext uri="{28A0092B-C50C-407E-A947-70E740481C1C}">
                <a14:useLocalDpi xmlns:a14="http://schemas.microsoft.com/office/drawing/2010/main" val="0"/>
              </a:ext>
            </a:extLst>
          </a:blip>
          <a:srcRect l="34734" r="4894"/>
          <a:stretch>
            <a:fillRect/>
          </a:stretch>
        </p:blipFill>
        <p:spPr>
          <a:xfrm>
            <a:off x="5769269" y="172289"/>
            <a:ext cx="7341884" cy="6858000"/>
          </a:xfrm>
          <a:prstGeom prst="rect">
            <a:avLst/>
          </a:prstGeom>
        </p:spPr>
      </p:pic>
      <p:pic>
        <p:nvPicPr>
          <p:cNvPr id="1028" name="Picture 4">
            <a:extLst>
              <a:ext uri="{FF2B5EF4-FFF2-40B4-BE49-F238E27FC236}">
                <a16:creationId xmlns:a16="http://schemas.microsoft.com/office/drawing/2014/main" id="{85302CBB-78DA-A10B-8030-79DACEA09082}"/>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p:blipFill>
        <p:spPr bwMode="auto">
          <a:xfrm>
            <a:off x="1420745" y="1418795"/>
            <a:ext cx="1816698" cy="58450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9">
            <p14:nvContentPartPr>
              <p14:cNvPr id="2" name="Ink 1">
                <a:extLst>
                  <a:ext uri="{FF2B5EF4-FFF2-40B4-BE49-F238E27FC236}">
                    <a16:creationId xmlns:a16="http://schemas.microsoft.com/office/drawing/2014/main" id="{7EB1F8CB-15CA-3C2E-D3C6-44BCDB547D4E}"/>
                  </a:ext>
                </a:extLst>
              </p14:cNvPr>
              <p14:cNvContentPartPr/>
              <p14:nvPr/>
            </p14:nvContentPartPr>
            <p14:xfrm>
              <a:off x="2320079" y="3055031"/>
              <a:ext cx="11043" cy="11043"/>
            </p14:xfrm>
          </p:contentPart>
        </mc:Choice>
        <mc:Fallback xmlns="">
          <p:pic>
            <p:nvPicPr>
              <p:cNvPr id="2" name="Ink 1">
                <a:extLst>
                  <a:ext uri="{FF2B5EF4-FFF2-40B4-BE49-F238E27FC236}">
                    <a16:creationId xmlns:a16="http://schemas.microsoft.com/office/drawing/2014/main" id="{7EB1F8CB-15CA-3C2E-D3C6-44BCDB547D4E}"/>
                  </a:ext>
                </a:extLst>
              </p:cNvPr>
              <p:cNvPicPr/>
              <p:nvPr/>
            </p:nvPicPr>
            <p:blipFill>
              <a:blip r:embed="rId10"/>
              <a:stretch>
                <a:fillRect/>
              </a:stretch>
            </p:blipFill>
            <p:spPr>
              <a:xfrm>
                <a:off x="1767929" y="2502881"/>
                <a:ext cx="1104300" cy="11043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 name="Ink 2">
                <a:extLst>
                  <a:ext uri="{FF2B5EF4-FFF2-40B4-BE49-F238E27FC236}">
                    <a16:creationId xmlns:a16="http://schemas.microsoft.com/office/drawing/2014/main" id="{1EC914F0-8326-6931-7F75-7D3D2A500D3C}"/>
                  </a:ext>
                </a:extLst>
              </p14:cNvPr>
              <p14:cNvContentPartPr/>
              <p14:nvPr/>
            </p14:nvContentPartPr>
            <p14:xfrm>
              <a:off x="2323573" y="3053262"/>
              <a:ext cx="11043" cy="11043"/>
            </p14:xfrm>
          </p:contentPart>
        </mc:Choice>
        <mc:Fallback xmlns="">
          <p:pic>
            <p:nvPicPr>
              <p:cNvPr id="3" name="Ink 2">
                <a:extLst>
                  <a:ext uri="{FF2B5EF4-FFF2-40B4-BE49-F238E27FC236}">
                    <a16:creationId xmlns:a16="http://schemas.microsoft.com/office/drawing/2014/main" id="{1EC914F0-8326-6931-7F75-7D3D2A500D3C}"/>
                  </a:ext>
                </a:extLst>
              </p:cNvPr>
              <p:cNvPicPr/>
              <p:nvPr/>
            </p:nvPicPr>
            <p:blipFill>
              <a:blip r:embed="rId10"/>
              <a:stretch>
                <a:fillRect/>
              </a:stretch>
            </p:blipFill>
            <p:spPr>
              <a:xfrm>
                <a:off x="1771423" y="2501112"/>
                <a:ext cx="1104300" cy="11043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 name="Ink 3">
                <a:extLst>
                  <a:ext uri="{FF2B5EF4-FFF2-40B4-BE49-F238E27FC236}">
                    <a16:creationId xmlns:a16="http://schemas.microsoft.com/office/drawing/2014/main" id="{2C3AD23F-DAF1-8B42-A1B3-7C42052D5336}"/>
                  </a:ext>
                </a:extLst>
              </p14:cNvPr>
              <p14:cNvContentPartPr/>
              <p14:nvPr/>
            </p14:nvContentPartPr>
            <p14:xfrm>
              <a:off x="2269175" y="2737876"/>
              <a:ext cx="11043" cy="11043"/>
            </p14:xfrm>
          </p:contentPart>
        </mc:Choice>
        <mc:Fallback xmlns="">
          <p:pic>
            <p:nvPicPr>
              <p:cNvPr id="4" name="Ink 3">
                <a:extLst>
                  <a:ext uri="{FF2B5EF4-FFF2-40B4-BE49-F238E27FC236}">
                    <a16:creationId xmlns:a16="http://schemas.microsoft.com/office/drawing/2014/main" id="{2C3AD23F-DAF1-8B42-A1B3-7C42052D5336}"/>
                  </a:ext>
                </a:extLst>
              </p:cNvPr>
              <p:cNvPicPr/>
              <p:nvPr/>
            </p:nvPicPr>
            <p:blipFill>
              <a:blip r:embed="rId10"/>
              <a:stretch>
                <a:fillRect/>
              </a:stretch>
            </p:blipFill>
            <p:spPr>
              <a:xfrm>
                <a:off x="1717025" y="2185726"/>
                <a:ext cx="1104300" cy="11043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 name="Ink 4">
                <a:extLst>
                  <a:ext uri="{FF2B5EF4-FFF2-40B4-BE49-F238E27FC236}">
                    <a16:creationId xmlns:a16="http://schemas.microsoft.com/office/drawing/2014/main" id="{D5D1FABC-5570-49AC-59EA-C0CC5107CF0E}"/>
                  </a:ext>
                </a:extLst>
              </p14:cNvPr>
              <p14:cNvContentPartPr/>
              <p14:nvPr/>
            </p14:nvContentPartPr>
            <p14:xfrm>
              <a:off x="2269175" y="2730801"/>
              <a:ext cx="11043" cy="11043"/>
            </p14:xfrm>
          </p:contentPart>
        </mc:Choice>
        <mc:Fallback xmlns="">
          <p:pic>
            <p:nvPicPr>
              <p:cNvPr id="5" name="Ink 4">
                <a:extLst>
                  <a:ext uri="{FF2B5EF4-FFF2-40B4-BE49-F238E27FC236}">
                    <a16:creationId xmlns:a16="http://schemas.microsoft.com/office/drawing/2014/main" id="{D5D1FABC-5570-49AC-59EA-C0CC5107CF0E}"/>
                  </a:ext>
                </a:extLst>
              </p:cNvPr>
              <p:cNvPicPr/>
              <p:nvPr/>
            </p:nvPicPr>
            <p:blipFill>
              <a:blip r:embed="rId10"/>
              <a:stretch>
                <a:fillRect/>
              </a:stretch>
            </p:blipFill>
            <p:spPr>
              <a:xfrm>
                <a:off x="1717025" y="2178651"/>
                <a:ext cx="1104300" cy="11043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3B2D6EC0-B762-24B4-27C2-C47C9FEB7D5C}"/>
                  </a:ext>
                </a:extLst>
              </p14:cNvPr>
              <p14:cNvContentPartPr/>
              <p14:nvPr/>
            </p14:nvContentPartPr>
            <p14:xfrm>
              <a:off x="2297258" y="2712252"/>
              <a:ext cx="11043" cy="11043"/>
            </p14:xfrm>
          </p:contentPart>
        </mc:Choice>
        <mc:Fallback xmlns="">
          <p:pic>
            <p:nvPicPr>
              <p:cNvPr id="9" name="Ink 8">
                <a:extLst>
                  <a:ext uri="{FF2B5EF4-FFF2-40B4-BE49-F238E27FC236}">
                    <a16:creationId xmlns:a16="http://schemas.microsoft.com/office/drawing/2014/main" id="{3B2D6EC0-B762-24B4-27C2-C47C9FEB7D5C}"/>
                  </a:ext>
                </a:extLst>
              </p:cNvPr>
              <p:cNvPicPr/>
              <p:nvPr/>
            </p:nvPicPr>
            <p:blipFill>
              <a:blip r:embed="rId10"/>
              <a:stretch>
                <a:fillRect/>
              </a:stretch>
            </p:blipFill>
            <p:spPr>
              <a:xfrm>
                <a:off x="1745108" y="2160102"/>
                <a:ext cx="1104300" cy="11043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D8CEAAFE-3255-982C-F87C-100619D41EA9}"/>
                  </a:ext>
                </a:extLst>
              </p14:cNvPr>
              <p14:cNvContentPartPr/>
              <p14:nvPr/>
            </p14:nvContentPartPr>
            <p14:xfrm>
              <a:off x="2299027" y="2712252"/>
              <a:ext cx="11043" cy="11043"/>
            </p14:xfrm>
          </p:contentPart>
        </mc:Choice>
        <mc:Fallback xmlns="">
          <p:pic>
            <p:nvPicPr>
              <p:cNvPr id="11" name="Ink 10">
                <a:extLst>
                  <a:ext uri="{FF2B5EF4-FFF2-40B4-BE49-F238E27FC236}">
                    <a16:creationId xmlns:a16="http://schemas.microsoft.com/office/drawing/2014/main" id="{D8CEAAFE-3255-982C-F87C-100619D41EA9}"/>
                  </a:ext>
                </a:extLst>
              </p:cNvPr>
              <p:cNvPicPr/>
              <p:nvPr/>
            </p:nvPicPr>
            <p:blipFill>
              <a:blip r:embed="rId10"/>
              <a:stretch>
                <a:fillRect/>
              </a:stretch>
            </p:blipFill>
            <p:spPr>
              <a:xfrm>
                <a:off x="1746877" y="2160102"/>
                <a:ext cx="1104300" cy="11043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42CA133E-CCF4-7891-EE6C-78ECA0F86AD7}"/>
                  </a:ext>
                </a:extLst>
              </p14:cNvPr>
              <p14:cNvContentPartPr/>
              <p14:nvPr/>
            </p14:nvContentPartPr>
            <p14:xfrm>
              <a:off x="2323573" y="2750257"/>
              <a:ext cx="11043" cy="11043"/>
            </p14:xfrm>
          </p:contentPart>
        </mc:Choice>
        <mc:Fallback xmlns="">
          <p:pic>
            <p:nvPicPr>
              <p:cNvPr id="12" name="Ink 11">
                <a:extLst>
                  <a:ext uri="{FF2B5EF4-FFF2-40B4-BE49-F238E27FC236}">
                    <a16:creationId xmlns:a16="http://schemas.microsoft.com/office/drawing/2014/main" id="{42CA133E-CCF4-7891-EE6C-78ECA0F86AD7}"/>
                  </a:ext>
                </a:extLst>
              </p:cNvPr>
              <p:cNvPicPr/>
              <p:nvPr/>
            </p:nvPicPr>
            <p:blipFill>
              <a:blip r:embed="rId10"/>
              <a:stretch>
                <a:fillRect/>
              </a:stretch>
            </p:blipFill>
            <p:spPr>
              <a:xfrm>
                <a:off x="1771423" y="2198107"/>
                <a:ext cx="1104300" cy="1104300"/>
              </a:xfrm>
              <a:prstGeom prst="rect">
                <a:avLst/>
              </a:prstGeom>
            </p:spPr>
          </p:pic>
        </mc:Fallback>
      </mc:AlternateContent>
    </p:spTree>
    <p:extLst>
      <p:ext uri="{BB962C8B-B14F-4D97-AF65-F5344CB8AC3E}">
        <p14:creationId xmlns:p14="http://schemas.microsoft.com/office/powerpoint/2010/main" val="3128285381"/>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832C6-2B9B-8B76-53F2-DA2FFA7209F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161D5DC-235F-397C-4D08-E7AF94D2F0E6}"/>
              </a:ext>
            </a:extLst>
          </p:cNvPr>
          <p:cNvSpPr>
            <a:spLocks noGrp="1" noRot="1" noMove="1" noResize="1" noEditPoints="1" noAdjustHandles="1" noChangeArrowheads="1" noChangeShapeType="1"/>
          </p:cNvSpPr>
          <p:nvPr/>
        </p:nvSpPr>
        <p:spPr>
          <a:xfrm>
            <a:off x="0" y="-44714"/>
            <a:ext cx="12192000" cy="29004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srgbClr val="FFFFFF"/>
              </a:solidFill>
              <a:effectLst/>
              <a:uLnTx/>
              <a:uFillTx/>
              <a:latin typeface="Poppins" panose="00000500000000000000" pitchFamily="2" charset="0"/>
              <a:ea typeface="+mn-ea"/>
              <a:cs typeface="+mn-cs"/>
            </a:endParaRPr>
          </a:p>
        </p:txBody>
      </p:sp>
      <p:sp>
        <p:nvSpPr>
          <p:cNvPr id="3" name="Title 2">
            <a:extLst>
              <a:ext uri="{FF2B5EF4-FFF2-40B4-BE49-F238E27FC236}">
                <a16:creationId xmlns:a16="http://schemas.microsoft.com/office/drawing/2014/main" id="{DE403466-63BF-C561-22A7-9C29C30C5F3E}"/>
              </a:ext>
            </a:extLst>
          </p:cNvPr>
          <p:cNvSpPr>
            <a:spLocks noGrp="1"/>
          </p:cNvSpPr>
          <p:nvPr>
            <p:ph type="title"/>
          </p:nvPr>
        </p:nvSpPr>
        <p:spPr>
          <a:xfrm>
            <a:off x="854920" y="694933"/>
            <a:ext cx="6107243" cy="1944122"/>
          </a:xfrm>
        </p:spPr>
        <p:txBody>
          <a:bodyPr/>
          <a:lstStyle/>
          <a:p>
            <a:pPr algn="l">
              <a:lnSpc>
                <a:spcPct val="80000"/>
              </a:lnSpc>
            </a:pPr>
            <a:r>
              <a:rPr lang="en-US" sz="7000" b="0">
                <a:solidFill>
                  <a:schemeClr val="bg1"/>
                </a:solidFill>
                <a:latin typeface="Poppins ExtraLight" pitchFamily="2" charset="77"/>
                <a:cs typeface="Poppins ExtraLight" pitchFamily="2" charset="77"/>
              </a:rPr>
              <a:t>WHY WE’RE</a:t>
            </a:r>
            <a:br>
              <a:rPr lang="en-US" sz="7000">
                <a:solidFill>
                  <a:schemeClr val="bg1"/>
                </a:solidFill>
              </a:rPr>
            </a:br>
            <a:r>
              <a:rPr lang="en-US" sz="7000">
                <a:solidFill>
                  <a:schemeClr val="bg1"/>
                </a:solidFill>
                <a:latin typeface="Poppins ExtraBold" pitchFamily="2" charset="77"/>
                <a:cs typeface="Poppins ExtraBold" pitchFamily="2" charset="77"/>
              </a:rPr>
              <a:t>HERE TODAY</a:t>
            </a:r>
          </a:p>
        </p:txBody>
      </p:sp>
      <p:sp>
        <p:nvSpPr>
          <p:cNvPr id="2" name="TextBox 1">
            <a:extLst>
              <a:ext uri="{FF2B5EF4-FFF2-40B4-BE49-F238E27FC236}">
                <a16:creationId xmlns:a16="http://schemas.microsoft.com/office/drawing/2014/main" id="{24C5C080-45E7-55C3-6BA7-0B0FBF1A9530}"/>
              </a:ext>
            </a:extLst>
          </p:cNvPr>
          <p:cNvSpPr txBox="1">
            <a:spLocks noGrp="1" noRot="1" noMove="1" noResize="1" noEditPoints="1" noAdjustHandles="1" noChangeArrowheads="1" noChangeShapeType="1"/>
          </p:cNvSpPr>
          <p:nvPr/>
        </p:nvSpPr>
        <p:spPr>
          <a:xfrm>
            <a:off x="10213144" y="6217920"/>
            <a:ext cx="1908517" cy="550985"/>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CC0000"/>
              </a:solidFill>
              <a:effectLst/>
              <a:uLnTx/>
              <a:uFillTx/>
              <a:latin typeface="Poppins SemiBold" panose="00000700000000000000" pitchFamily="2" charset="0"/>
              <a:ea typeface="+mn-ea"/>
              <a:cs typeface="Poppins SemiBold" panose="00000700000000000000" pitchFamily="2" charset="0"/>
              <a:sym typeface="Moderat" pitchFamily="2" charset="77"/>
            </a:endParaRPr>
          </a:p>
        </p:txBody>
      </p:sp>
      <p:sp>
        <p:nvSpPr>
          <p:cNvPr id="5" name="TextBox 4">
            <a:extLst>
              <a:ext uri="{FF2B5EF4-FFF2-40B4-BE49-F238E27FC236}">
                <a16:creationId xmlns:a16="http://schemas.microsoft.com/office/drawing/2014/main" id="{12B6399F-26F1-D96E-2BE6-229C60C2AA91}"/>
              </a:ext>
            </a:extLst>
          </p:cNvPr>
          <p:cNvSpPr txBox="1"/>
          <p:nvPr/>
        </p:nvSpPr>
        <p:spPr>
          <a:xfrm>
            <a:off x="854920" y="3570592"/>
            <a:ext cx="7127546" cy="2146229"/>
          </a:xfrm>
          <a:prstGeom prst="rect">
            <a:avLst/>
          </a:prstGeom>
          <a:noFill/>
        </p:spPr>
        <p:txBody>
          <a:bodyPr wrap="square">
            <a:spAutoFit/>
          </a:bodyPr>
          <a:lstStyle/>
          <a:p>
            <a:pPr marL="0" marR="0" lvl="0" indent="0" algn="l" defTabSz="914400" rtl="0" eaLnBrk="1" fontAlgn="auto" latinLnBrk="0" hangingPunct="1">
              <a:lnSpc>
                <a:spcPct val="112000"/>
              </a:lnSpc>
              <a:spcBef>
                <a:spcPts val="0"/>
              </a:spcBef>
              <a:spcAft>
                <a:spcPts val="1400"/>
              </a:spcAft>
              <a:buClrTx/>
              <a:buSzTx/>
              <a:buFontTx/>
              <a:buNone/>
              <a:tabLst/>
              <a:defRPr/>
            </a:pPr>
            <a:r>
              <a:rPr kumimoji="0" lang="en-US" sz="2000" b="0" i="0" u="none" strike="noStrike" kern="1200" cap="none" spc="0" normalizeH="0" baseline="0" noProof="0">
                <a:ln>
                  <a:noFill/>
                </a:ln>
                <a:solidFill>
                  <a:srgbClr val="24282A"/>
                </a:solidFill>
                <a:effectLst/>
                <a:uLnTx/>
                <a:uFillTx/>
                <a:latin typeface="Poppins"/>
                <a:ea typeface="+mn-ea"/>
                <a:cs typeface="+mn-cs"/>
              </a:rPr>
              <a:t>We’re here to assess the industry landscape, competitive benchmarks, and DeVry’s current site performance to </a:t>
            </a:r>
            <a:r>
              <a:rPr kumimoji="0" lang="en-US" sz="2000" b="1" i="0" u="none" strike="noStrike" kern="1200" cap="none" spc="0" normalizeH="0" baseline="0" noProof="0">
                <a:ln>
                  <a:noFill/>
                </a:ln>
                <a:solidFill>
                  <a:srgbClr val="01239A"/>
                </a:solidFill>
                <a:effectLst/>
                <a:uLnTx/>
                <a:uFillTx/>
                <a:latin typeface="Poppins"/>
                <a:ea typeface="+mn-ea"/>
                <a:cs typeface="+mn-cs"/>
              </a:rPr>
              <a:t>identify the most impactful opportunities to strengthen the customer journey, improve conversion</a:t>
            </a:r>
            <a:r>
              <a:rPr kumimoji="0" lang="en-US" sz="2000" b="0" i="0" u="none" strike="noStrike" kern="1200" cap="none" spc="0" normalizeH="0" baseline="0" noProof="0">
                <a:ln>
                  <a:noFill/>
                </a:ln>
                <a:solidFill>
                  <a:srgbClr val="24282A"/>
                </a:solidFill>
                <a:effectLst/>
                <a:uLnTx/>
                <a:uFillTx/>
                <a:latin typeface="Poppins"/>
                <a:ea typeface="+mn-ea"/>
                <a:cs typeface="+mn-cs"/>
              </a:rPr>
              <a:t>, </a:t>
            </a:r>
            <a:r>
              <a:rPr kumimoji="0" lang="en-US" sz="2000" b="1" i="0" u="none" strike="noStrike" kern="1200" cap="none" spc="0" normalizeH="0" baseline="0" noProof="0">
                <a:ln>
                  <a:noFill/>
                </a:ln>
                <a:solidFill>
                  <a:srgbClr val="01239A"/>
                </a:solidFill>
                <a:effectLst/>
                <a:uLnTx/>
                <a:uFillTx/>
                <a:latin typeface="Poppins"/>
                <a:ea typeface="+mn-ea"/>
                <a:cs typeface="+mn-cs"/>
              </a:rPr>
              <a:t>and align on the priority actions </a:t>
            </a:r>
            <a:r>
              <a:rPr lang="en-US" sz="2000" b="1">
                <a:solidFill>
                  <a:srgbClr val="01239A"/>
                </a:solidFill>
                <a:latin typeface="Poppins"/>
              </a:rPr>
              <a:t>&amp; </a:t>
            </a:r>
            <a:r>
              <a:rPr kumimoji="0" lang="en-US" sz="2000" b="1" i="0" u="none" strike="noStrike" kern="1200" cap="none" spc="0" normalizeH="0" baseline="0" noProof="0">
                <a:ln>
                  <a:noFill/>
                </a:ln>
                <a:solidFill>
                  <a:srgbClr val="01239A"/>
                </a:solidFill>
                <a:effectLst/>
                <a:uLnTx/>
                <a:uFillTx/>
                <a:latin typeface="Poppins"/>
                <a:ea typeface="+mn-ea"/>
                <a:cs typeface="+mn-cs"/>
              </a:rPr>
              <a:t>path forward coming out of the audit.</a:t>
            </a:r>
          </a:p>
        </p:txBody>
      </p:sp>
      <p:sp>
        <p:nvSpPr>
          <p:cNvPr id="9" name="Rectangle: Diagonal Corners Rounded 8">
            <a:extLst>
              <a:ext uri="{FF2B5EF4-FFF2-40B4-BE49-F238E27FC236}">
                <a16:creationId xmlns:a16="http://schemas.microsoft.com/office/drawing/2014/main" id="{2C2D29C3-4DA5-E92B-BC71-7D1DB672483C}"/>
              </a:ext>
            </a:extLst>
          </p:cNvPr>
          <p:cNvSpPr/>
          <p:nvPr/>
        </p:nvSpPr>
        <p:spPr>
          <a:xfrm>
            <a:off x="8439150" y="403093"/>
            <a:ext cx="3752850" cy="6150108"/>
          </a:xfrm>
          <a:prstGeom prst="round2DiagRect">
            <a:avLst/>
          </a:prstGeom>
          <a:blipFill>
            <a:blip r:embed="rId4"/>
            <a:stretch>
              <a:fillRect/>
            </a:stretch>
          </a:blip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bg1"/>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1356807696"/>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DF855-35D0-701A-7C98-55F3810D08C2}"/>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9EC72510-805A-42CD-716F-5092920CD508}"/>
              </a:ext>
            </a:extLst>
          </p:cNvPr>
          <p:cNvSpPr/>
          <p:nvPr/>
        </p:nvSpPr>
        <p:spPr>
          <a:xfrm>
            <a:off x="0" y="1"/>
            <a:ext cx="12192000" cy="209256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srgbClr val="FFFFFF"/>
              </a:solidFill>
              <a:effectLst/>
              <a:uLnTx/>
              <a:uFillTx/>
              <a:latin typeface="Poppins" panose="00000500000000000000" pitchFamily="2" charset="0"/>
              <a:ea typeface="+mn-ea"/>
              <a:cs typeface="+mn-cs"/>
            </a:endParaRPr>
          </a:p>
        </p:txBody>
      </p:sp>
      <p:sp>
        <p:nvSpPr>
          <p:cNvPr id="9" name="Rectangle: Rounded Corners 8">
            <a:extLst>
              <a:ext uri="{FF2B5EF4-FFF2-40B4-BE49-F238E27FC236}">
                <a16:creationId xmlns:a16="http://schemas.microsoft.com/office/drawing/2014/main" id="{7A070023-DB36-CFC2-3BF0-5AD5880F9944}"/>
              </a:ext>
            </a:extLst>
          </p:cNvPr>
          <p:cNvSpPr/>
          <p:nvPr/>
        </p:nvSpPr>
        <p:spPr>
          <a:xfrm>
            <a:off x="8059790" y="2654941"/>
            <a:ext cx="3208564" cy="3272860"/>
          </a:xfrm>
          <a:prstGeom prst="roundRect">
            <a:avLst>
              <a:gd name="adj" fmla="val 5580"/>
            </a:avLst>
          </a:prstGeom>
          <a:noFill/>
          <a:ln w="254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3" name="Title 2">
            <a:extLst>
              <a:ext uri="{FF2B5EF4-FFF2-40B4-BE49-F238E27FC236}">
                <a16:creationId xmlns:a16="http://schemas.microsoft.com/office/drawing/2014/main" id="{F9B36976-0638-C36F-3C69-D31008877BF0}"/>
              </a:ext>
            </a:extLst>
          </p:cNvPr>
          <p:cNvSpPr>
            <a:spLocks noGrp="1"/>
          </p:cNvSpPr>
          <p:nvPr>
            <p:ph type="title"/>
          </p:nvPr>
        </p:nvSpPr>
        <p:spPr>
          <a:xfrm>
            <a:off x="568569" y="746742"/>
            <a:ext cx="11054862" cy="1082348"/>
          </a:xfrm>
        </p:spPr>
        <p:txBody>
          <a:bodyPr anchor="ctr"/>
          <a:lstStyle/>
          <a:p>
            <a:pPr>
              <a:lnSpc>
                <a:spcPct val="80000"/>
              </a:lnSpc>
            </a:pPr>
            <a:r>
              <a:rPr lang="en-US" sz="7000" b="0">
                <a:solidFill>
                  <a:schemeClr val="bg1"/>
                </a:solidFill>
                <a:latin typeface="Poppins ExtraLight" pitchFamily="2" charset="77"/>
                <a:cs typeface="Poppins ExtraLight" pitchFamily="2" charset="77"/>
              </a:rPr>
              <a:t>What We’ll </a:t>
            </a:r>
            <a:r>
              <a:rPr lang="en-US" sz="7000">
                <a:solidFill>
                  <a:schemeClr val="bg1"/>
                </a:solidFill>
                <a:latin typeface="Poppins ExtraBold" pitchFamily="2" charset="77"/>
                <a:cs typeface="Poppins ExtraBold" pitchFamily="2" charset="77"/>
              </a:rPr>
              <a:t>Cover</a:t>
            </a:r>
          </a:p>
        </p:txBody>
      </p:sp>
      <p:sp>
        <p:nvSpPr>
          <p:cNvPr id="4" name="Rectangle: Rounded Corners 3">
            <a:extLst>
              <a:ext uri="{FF2B5EF4-FFF2-40B4-BE49-F238E27FC236}">
                <a16:creationId xmlns:a16="http://schemas.microsoft.com/office/drawing/2014/main" id="{7392DD33-95A9-E058-9554-E3C910D7D625}"/>
              </a:ext>
            </a:extLst>
          </p:cNvPr>
          <p:cNvSpPr/>
          <p:nvPr/>
        </p:nvSpPr>
        <p:spPr>
          <a:xfrm>
            <a:off x="8356252" y="2974672"/>
            <a:ext cx="2615639" cy="2690404"/>
          </a:xfrm>
          <a:prstGeom prst="round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a:ln>
                  <a:noFill/>
                </a:ln>
                <a:solidFill>
                  <a:srgbClr val="24282A"/>
                </a:solidFill>
                <a:effectLst/>
                <a:uLnTx/>
                <a:uFillTx/>
                <a:latin typeface="Poppins"/>
                <a:ea typeface="+mn-ea"/>
                <a:cs typeface="+mn-cs"/>
              </a:rPr>
              <a:t>Align on the highest-priority optimization pillars, near term bridge actions, and the path forward</a:t>
            </a:r>
            <a:endParaRPr kumimoji="0" lang="en-US" b="0" i="0" u="none" strike="noStrike" kern="1200" cap="none" spc="0" normalizeH="0" baseline="0" noProof="0">
              <a:ln>
                <a:noFill/>
              </a:ln>
              <a:solidFill>
                <a:srgbClr val="24282A"/>
              </a:solidFill>
              <a:effectLst/>
              <a:uLnTx/>
              <a:uFillTx/>
              <a:latin typeface="Poppins"/>
              <a:ea typeface="+mn-ea"/>
              <a:cs typeface="Poppins"/>
            </a:endParaRPr>
          </a:p>
        </p:txBody>
      </p:sp>
      <p:sp>
        <p:nvSpPr>
          <p:cNvPr id="2" name="Rectangle: Rounded Corners 1">
            <a:extLst>
              <a:ext uri="{FF2B5EF4-FFF2-40B4-BE49-F238E27FC236}">
                <a16:creationId xmlns:a16="http://schemas.microsoft.com/office/drawing/2014/main" id="{38E89D2A-C1CA-762D-77E6-A99E510D3340}"/>
              </a:ext>
            </a:extLst>
          </p:cNvPr>
          <p:cNvSpPr/>
          <p:nvPr/>
        </p:nvSpPr>
        <p:spPr>
          <a:xfrm>
            <a:off x="3649990" y="4392834"/>
            <a:ext cx="2936910" cy="1534491"/>
          </a:xfrm>
          <a:prstGeom prst="roundRect">
            <a:avLst/>
          </a:prstGeom>
          <a:solidFill>
            <a:schemeClr val="accent2">
              <a:lumMod val="75000"/>
            </a:schemeClr>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0" fontAlgn="base" latinLnBrk="0" hangingPunct="0">
              <a:lnSpc>
                <a:spcPct val="110000"/>
              </a:lnSpc>
              <a:spcBef>
                <a:spcPct val="0"/>
              </a:spcBef>
              <a:spcAft>
                <a:spcPts val="400"/>
              </a:spcAft>
              <a:buClrTx/>
              <a:buSzTx/>
              <a:buFontTx/>
              <a:buNone/>
              <a:tabLst/>
              <a:defRPr/>
            </a:pPr>
            <a:r>
              <a:rPr kumimoji="0" lang="en-US" sz="1800" b="0" i="0" u="none" strike="noStrike" kern="1200" cap="none" spc="0" normalizeH="0" baseline="0" noProof="0">
                <a:ln>
                  <a:noFill/>
                </a:ln>
                <a:solidFill>
                  <a:srgbClr val="FFFFFF"/>
                </a:solidFill>
                <a:effectLst/>
                <a:uLnTx/>
                <a:uFillTx/>
                <a:latin typeface="Poppins"/>
                <a:ea typeface="+mn-ea"/>
                <a:cs typeface="+mn-cs"/>
              </a:rPr>
              <a:t>Path Forward: Roadmap &amp; Execution</a:t>
            </a:r>
          </a:p>
        </p:txBody>
      </p:sp>
      <p:sp>
        <p:nvSpPr>
          <p:cNvPr id="12" name="Rectangle: Rounded Corners 11">
            <a:extLst>
              <a:ext uri="{FF2B5EF4-FFF2-40B4-BE49-F238E27FC236}">
                <a16:creationId xmlns:a16="http://schemas.microsoft.com/office/drawing/2014/main" id="{AA764301-5703-54D6-1074-A009648CA59C}"/>
              </a:ext>
            </a:extLst>
          </p:cNvPr>
          <p:cNvSpPr/>
          <p:nvPr/>
        </p:nvSpPr>
        <p:spPr>
          <a:xfrm>
            <a:off x="568337" y="2655413"/>
            <a:ext cx="2936910" cy="1534491"/>
          </a:xfrm>
          <a:prstGeom prst="roundRect">
            <a:avLst/>
          </a:prstGeom>
          <a:solidFill>
            <a:schemeClr val="accent2">
              <a:lumMod val="75000"/>
            </a:schemeClr>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0" fontAlgn="base" latinLnBrk="0" hangingPunct="0">
              <a:lnSpc>
                <a:spcPct val="110000"/>
              </a:lnSpc>
              <a:spcBef>
                <a:spcPct val="0"/>
              </a:spcBef>
              <a:spcAft>
                <a:spcPts val="400"/>
              </a:spcAft>
              <a:buClrTx/>
              <a:buSzTx/>
              <a:buFontTx/>
              <a:buNone/>
              <a:tabLst/>
              <a:defRPr/>
            </a:pPr>
            <a:r>
              <a:rPr kumimoji="0" lang="en-US" sz="1800" b="0" i="0" u="none" strike="noStrike" kern="1200" cap="none" spc="0" normalizeH="0" baseline="0" noProof="0">
                <a:ln>
                  <a:noFill/>
                </a:ln>
                <a:solidFill>
                  <a:schemeClr val="bg1"/>
                </a:solidFill>
                <a:effectLst/>
                <a:uLnTx/>
                <a:uFillTx/>
                <a:latin typeface="Poppins"/>
                <a:ea typeface="+mn-ea"/>
                <a:cs typeface="+mn-cs"/>
              </a:rPr>
              <a:t>Audit Approach</a:t>
            </a:r>
          </a:p>
        </p:txBody>
      </p:sp>
      <p:sp>
        <p:nvSpPr>
          <p:cNvPr id="15" name="Rectangle: Rounded Corners 14">
            <a:extLst>
              <a:ext uri="{FF2B5EF4-FFF2-40B4-BE49-F238E27FC236}">
                <a16:creationId xmlns:a16="http://schemas.microsoft.com/office/drawing/2014/main" id="{67A57DEA-FBE5-A98A-0F06-6C7EC9F23D3C}"/>
              </a:ext>
            </a:extLst>
          </p:cNvPr>
          <p:cNvSpPr/>
          <p:nvPr/>
        </p:nvSpPr>
        <p:spPr>
          <a:xfrm>
            <a:off x="3644908" y="2654940"/>
            <a:ext cx="2936910" cy="1534491"/>
          </a:xfrm>
          <a:prstGeom prst="roundRect">
            <a:avLst/>
          </a:prstGeom>
          <a:solidFill>
            <a:schemeClr val="accent2">
              <a:lumMod val="75000"/>
            </a:schemeClr>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0" fontAlgn="base" latinLnBrk="0" hangingPunct="0">
              <a:lnSpc>
                <a:spcPct val="110000"/>
              </a:lnSpc>
              <a:spcBef>
                <a:spcPct val="0"/>
              </a:spcBef>
              <a:spcAft>
                <a:spcPts val="400"/>
              </a:spcAft>
              <a:buClrTx/>
              <a:buSzTx/>
              <a:buFontTx/>
              <a:buNone/>
              <a:tabLst/>
              <a:defRPr/>
            </a:pPr>
            <a:r>
              <a:rPr lang="en-US">
                <a:solidFill>
                  <a:srgbClr val="FFFFFF"/>
                </a:solidFill>
                <a:latin typeface="Poppins"/>
              </a:rPr>
              <a:t>Assessment + Findings</a:t>
            </a:r>
            <a:endParaRPr kumimoji="0" lang="en-US" sz="1800" b="0" i="0" u="none" strike="noStrike" kern="1200" cap="none" spc="0" normalizeH="0" baseline="0" noProof="0">
              <a:ln>
                <a:noFill/>
              </a:ln>
              <a:solidFill>
                <a:srgbClr val="FFFFFF"/>
              </a:solidFill>
              <a:effectLst/>
              <a:uLnTx/>
              <a:uFillTx/>
              <a:latin typeface="Poppins"/>
              <a:ea typeface="+mn-ea"/>
              <a:cs typeface="+mn-cs"/>
            </a:endParaRPr>
          </a:p>
        </p:txBody>
      </p:sp>
      <p:sp>
        <p:nvSpPr>
          <p:cNvPr id="16" name="Rectangle: Rounded Corners 15">
            <a:extLst>
              <a:ext uri="{FF2B5EF4-FFF2-40B4-BE49-F238E27FC236}">
                <a16:creationId xmlns:a16="http://schemas.microsoft.com/office/drawing/2014/main" id="{9AD55193-75F5-A14A-FF1B-CC75522295FB}"/>
              </a:ext>
            </a:extLst>
          </p:cNvPr>
          <p:cNvSpPr/>
          <p:nvPr/>
        </p:nvSpPr>
        <p:spPr>
          <a:xfrm>
            <a:off x="570404" y="4393308"/>
            <a:ext cx="2936910" cy="1534491"/>
          </a:xfrm>
          <a:prstGeom prst="roundRect">
            <a:avLst/>
          </a:prstGeom>
          <a:solidFill>
            <a:schemeClr val="accent2">
              <a:lumMod val="75000"/>
            </a:schemeClr>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0" fontAlgn="base" latinLnBrk="0" hangingPunct="0">
              <a:lnSpc>
                <a:spcPct val="110000"/>
              </a:lnSpc>
              <a:spcBef>
                <a:spcPct val="0"/>
              </a:spcBef>
              <a:spcAft>
                <a:spcPts val="400"/>
              </a:spcAft>
              <a:buClrTx/>
              <a:buSzTx/>
              <a:buFontTx/>
              <a:buNone/>
              <a:tabLst/>
              <a:defRPr/>
            </a:pPr>
            <a:r>
              <a:rPr kumimoji="0" lang="en-US" sz="1800" b="0" i="0" u="none" strike="noStrike" kern="1200" cap="none" spc="0" normalizeH="0" baseline="0" noProof="0" err="1">
                <a:ln>
                  <a:noFill/>
                </a:ln>
                <a:solidFill>
                  <a:srgbClr val="FFFFFF"/>
                </a:solidFill>
                <a:effectLst/>
                <a:uLnTx/>
                <a:uFillTx/>
                <a:latin typeface="Poppins"/>
                <a:ea typeface="+mn-ea"/>
                <a:cs typeface="+mn-cs"/>
              </a:rPr>
              <a:t>Bridg</a:t>
            </a:r>
            <a:r>
              <a:rPr lang="en-US">
                <a:solidFill>
                  <a:srgbClr val="FFFFFF"/>
                </a:solidFill>
                <a:latin typeface="Poppins"/>
              </a:rPr>
              <a:t>e Plan:</a:t>
            </a:r>
            <a:br>
              <a:rPr kumimoji="0" lang="en-US" sz="1800" b="0" i="0" u="none" strike="noStrike" kern="1200" cap="none" spc="0" normalizeH="0" baseline="0" noProof="0">
                <a:ln>
                  <a:noFill/>
                </a:ln>
                <a:solidFill>
                  <a:srgbClr val="FFFFFF"/>
                </a:solidFill>
                <a:effectLst/>
                <a:uLnTx/>
                <a:uFillTx/>
                <a:latin typeface="Poppins"/>
                <a:ea typeface="+mn-ea"/>
                <a:cs typeface="+mn-cs"/>
              </a:rPr>
            </a:br>
            <a:r>
              <a:rPr kumimoji="0" lang="en-US" sz="1800" b="0" i="0" u="none" strike="noStrike" kern="1200" cap="none" spc="0" normalizeH="0" baseline="0" noProof="0">
                <a:ln>
                  <a:noFill/>
                </a:ln>
                <a:solidFill>
                  <a:srgbClr val="FFFFFF"/>
                </a:solidFill>
                <a:effectLst/>
                <a:uLnTx/>
                <a:uFillTx/>
                <a:latin typeface="Poppins"/>
                <a:ea typeface="+mn-ea"/>
                <a:cs typeface="+mn-cs"/>
              </a:rPr>
              <a:t>Priority Modules &amp; Quick Hits Now</a:t>
            </a:r>
          </a:p>
        </p:txBody>
      </p:sp>
      <p:cxnSp>
        <p:nvCxnSpPr>
          <p:cNvPr id="14" name="Straight Arrow Connector 13">
            <a:extLst>
              <a:ext uri="{FF2B5EF4-FFF2-40B4-BE49-F238E27FC236}">
                <a16:creationId xmlns:a16="http://schemas.microsoft.com/office/drawing/2014/main" id="{0BCBF4C9-264E-25C0-5C59-647823E63790}"/>
              </a:ext>
            </a:extLst>
          </p:cNvPr>
          <p:cNvCxnSpPr>
            <a:cxnSpLocks/>
          </p:cNvCxnSpPr>
          <p:nvPr/>
        </p:nvCxnSpPr>
        <p:spPr>
          <a:xfrm>
            <a:off x="6683365" y="4279976"/>
            <a:ext cx="1228725" cy="0"/>
          </a:xfrm>
          <a:prstGeom prst="straightConnector1">
            <a:avLst/>
          </a:prstGeom>
          <a:ln w="25400" cap="rnd">
            <a:solidFill>
              <a:schemeClr val="accent2">
                <a:lumMod val="75000"/>
              </a:schemeClr>
            </a:solidFill>
            <a:round/>
            <a:tailEnd type="arrow" w="med" len="sm"/>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0F0D60B-702A-DA9C-F874-B2B8A00A8940}"/>
              </a:ext>
            </a:extLst>
          </p:cNvPr>
          <p:cNvSpPr txBox="1"/>
          <p:nvPr/>
        </p:nvSpPr>
        <p:spPr>
          <a:xfrm>
            <a:off x="6752914" y="3929360"/>
            <a:ext cx="1089625" cy="263149"/>
          </a:xfrm>
          <a:prstGeom prst="rect">
            <a:avLst/>
          </a:prstGeom>
          <a:noFill/>
        </p:spPr>
        <p:txBody>
          <a:bodyPr wrap="square">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sz="1200" b="1" i="1" u="none" strike="noStrike" kern="1200" cap="none" spc="0" normalizeH="0" baseline="0" noProof="0">
                <a:ln>
                  <a:noFill/>
                </a:ln>
                <a:solidFill>
                  <a:srgbClr val="24282A"/>
                </a:solidFill>
                <a:effectLst/>
                <a:uLnTx/>
                <a:uFillTx/>
                <a:latin typeface="Poppins" panose="00000500000000000000" pitchFamily="2" charset="0"/>
                <a:ea typeface="+mn-ea"/>
                <a:cs typeface="+mn-cs"/>
              </a:rPr>
              <a:t>Goal</a:t>
            </a:r>
          </a:p>
        </p:txBody>
      </p:sp>
      <p:sp>
        <p:nvSpPr>
          <p:cNvPr id="8" name="TextBox 7">
            <a:extLst>
              <a:ext uri="{FF2B5EF4-FFF2-40B4-BE49-F238E27FC236}">
                <a16:creationId xmlns:a16="http://schemas.microsoft.com/office/drawing/2014/main" id="{98E7C069-19CF-F129-C305-9A84C2BCC46B}"/>
              </a:ext>
            </a:extLst>
          </p:cNvPr>
          <p:cNvSpPr txBox="1"/>
          <p:nvPr/>
        </p:nvSpPr>
        <p:spPr>
          <a:xfrm>
            <a:off x="10213144" y="6217920"/>
            <a:ext cx="1908517" cy="550985"/>
          </a:xfrm>
          <a:prstGeom prst="rect">
            <a:avLst/>
          </a:prstGeom>
          <a:solidFill>
            <a:schemeClr val="bg1"/>
          </a:solid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B1923"/>
              </a:solidFill>
              <a:effectLst/>
              <a:uLnTx/>
              <a:uFillTx/>
              <a:latin typeface="Poppins SemiBold" panose="00000700000000000000" pitchFamily="2" charset="0"/>
              <a:ea typeface="+mn-ea"/>
              <a:cs typeface="Poppins SemiBold" panose="00000700000000000000" pitchFamily="2" charset="0"/>
              <a:sym typeface="Moderat" pitchFamily="2" charset="77"/>
            </a:endParaRPr>
          </a:p>
        </p:txBody>
      </p:sp>
      <p:sp>
        <p:nvSpPr>
          <p:cNvPr id="5" name="Slide Number Placeholder 5">
            <a:extLst>
              <a:ext uri="{FF2B5EF4-FFF2-40B4-BE49-F238E27FC236}">
                <a16:creationId xmlns:a16="http://schemas.microsoft.com/office/drawing/2014/main" id="{66B6F6A5-59C7-64D3-BAF8-5931A0C38EFE}"/>
              </a:ext>
            </a:extLst>
          </p:cNvPr>
          <p:cNvSpPr txBox="1">
            <a:spLocks/>
          </p:cNvSpPr>
          <p:nvPr/>
        </p:nvSpPr>
        <p:spPr>
          <a:xfrm>
            <a:off x="9491412" y="6401398"/>
            <a:ext cx="2556710" cy="365125"/>
          </a:xfrm>
          <a:prstGeom prst="rect">
            <a:avLst/>
          </a:prstGeom>
        </p:spPr>
        <p:txBody>
          <a:bodyPr vert="horz" lIns="91440" tIns="45720" rIns="91440" bIns="45720" rtlCol="0" anchor="ctr"/>
          <a:lstStyle>
            <a:defPPr>
              <a:defRPr lang="en-US"/>
            </a:defPPr>
            <a:lvl1pPr marL="0" algn="l" defTabSz="914400" rtl="0" eaLnBrk="1" latinLnBrk="0" hangingPunct="1">
              <a:defRPr sz="1000" kern="1200">
                <a:solidFill>
                  <a:schemeClr val="tx1">
                    <a:tint val="75000"/>
                  </a:schemeClr>
                </a:solidFill>
                <a:latin typeface="ClanOT-Book" panose="0200050303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lumMod val="50000"/>
                  </a:srgbClr>
                </a:solidFill>
                <a:effectLst/>
                <a:uLnTx/>
                <a:uFillTx/>
                <a:latin typeface="Poppins" panose="00000500000000000000" pitchFamily="2" charset="0"/>
                <a:ea typeface="+mn-ea"/>
                <a:cs typeface="Poppins" panose="00000500000000000000" pitchFamily="2" charset="0"/>
                <a:sym typeface="Symbol" panose="05050102010706020507" pitchFamily="18" charset="2"/>
              </a:rPr>
              <a:t>HORIZON COMMERCE  </a:t>
            </a:r>
            <a:fld id="{CF067BAB-ACAF-470B-88DC-99E80D1D4992}" type="slidenum">
              <a:rPr kumimoji="0" lang="en-US" sz="700" b="0" i="0" u="none" strike="noStrike" kern="1200" cap="none" spc="0" normalizeH="0" baseline="0" noProof="0" smtClean="0">
                <a:ln>
                  <a:noFill/>
                </a:ln>
                <a:solidFill>
                  <a:srgbClr val="FFFFFF">
                    <a:lumMod val="50000"/>
                  </a:srgbClr>
                </a:solidFill>
                <a:effectLst/>
                <a:uLnTx/>
                <a:uFillTx/>
                <a:latin typeface="Poppins" panose="00000500000000000000" pitchFamily="2" charset="0"/>
                <a:ea typeface="+mn-ea"/>
                <a:cs typeface="Poppins" panose="00000500000000000000" pitchFamily="2"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700" b="0" i="0" u="none" strike="noStrike" kern="1200" cap="none" spc="0" normalizeH="0" baseline="0" noProof="0">
              <a:ln>
                <a:noFill/>
              </a:ln>
              <a:solidFill>
                <a:srgbClr val="FFFFFF">
                  <a:lumMod val="50000"/>
                </a:srgbClr>
              </a:solidFill>
              <a:effectLst/>
              <a:uLnTx/>
              <a:uFillTx/>
              <a:latin typeface="Poppins" panose="00000500000000000000" pitchFamily="2" charset="0"/>
              <a:ea typeface="+mn-ea"/>
              <a:cs typeface="Poppins" panose="00000500000000000000" pitchFamily="2" charset="0"/>
            </a:endParaRPr>
          </a:p>
        </p:txBody>
      </p:sp>
    </p:spTree>
    <p:extLst>
      <p:ext uri="{BB962C8B-B14F-4D97-AF65-F5344CB8AC3E}">
        <p14:creationId xmlns:p14="http://schemas.microsoft.com/office/powerpoint/2010/main" val="660390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DA13B-AF9D-E426-438E-DDCD2702E86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D065A0C-C72F-9930-C86D-98943360F76D}"/>
              </a:ext>
            </a:extLst>
          </p:cNvPr>
          <p:cNvSpPr>
            <a:spLocks noGrp="1"/>
          </p:cNvSpPr>
          <p:nvPr>
            <p:ph type="title"/>
          </p:nvPr>
        </p:nvSpPr>
        <p:spPr>
          <a:xfrm>
            <a:off x="1411296" y="613836"/>
            <a:ext cx="9389012" cy="907183"/>
          </a:xfrm>
        </p:spPr>
        <p:txBody>
          <a:bodyPr>
            <a:noAutofit/>
          </a:bodyPr>
          <a:lstStyle/>
          <a:p>
            <a:r>
              <a:rPr lang="en-US">
                <a:solidFill>
                  <a:schemeClr val="accent2"/>
                </a:solidFill>
              </a:rPr>
              <a:t>Our End-to-End Approach for Unlocking Conversion Growth</a:t>
            </a:r>
          </a:p>
        </p:txBody>
      </p:sp>
      <p:sp>
        <p:nvSpPr>
          <p:cNvPr id="2" name="Rectangle: Top Corners Rounded 7">
            <a:extLst>
              <a:ext uri="{FF2B5EF4-FFF2-40B4-BE49-F238E27FC236}">
                <a16:creationId xmlns:a16="http://schemas.microsoft.com/office/drawing/2014/main" id="{28CB0E0D-EDA7-0172-55E0-0CEB260C32EA}"/>
              </a:ext>
            </a:extLst>
          </p:cNvPr>
          <p:cNvSpPr/>
          <p:nvPr/>
        </p:nvSpPr>
        <p:spPr>
          <a:xfrm>
            <a:off x="630429" y="2295581"/>
            <a:ext cx="10898175" cy="1093906"/>
          </a:xfrm>
          <a:prstGeom prst="round2SameRect">
            <a:avLst>
              <a:gd name="adj1" fmla="val 33886"/>
              <a:gd name="adj2" fmla="val 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eaLnBrk="1" fontAlgn="auto" hangingPunct="1">
              <a:spcBef>
                <a:spcPts val="0"/>
              </a:spcBef>
              <a:spcAft>
                <a:spcPts val="0"/>
              </a:spcAft>
              <a:defRPr/>
            </a:pPr>
            <a:endParaRPr lang="en-US">
              <a:solidFill>
                <a:srgbClr val="FFFFFF"/>
              </a:solidFill>
              <a:latin typeface="Poppins"/>
            </a:endParaRPr>
          </a:p>
        </p:txBody>
      </p:sp>
      <p:graphicFrame>
        <p:nvGraphicFramePr>
          <p:cNvPr id="9" name="Table 8">
            <a:extLst>
              <a:ext uri="{FF2B5EF4-FFF2-40B4-BE49-F238E27FC236}">
                <a16:creationId xmlns:a16="http://schemas.microsoft.com/office/drawing/2014/main" id="{EEAAB2AA-0890-CF14-05D0-30C573D64F22}"/>
              </a:ext>
            </a:extLst>
          </p:cNvPr>
          <p:cNvGraphicFramePr>
            <a:graphicFrameLocks noGrp="1"/>
          </p:cNvGraphicFramePr>
          <p:nvPr>
            <p:extLst>
              <p:ext uri="{D42A27DB-BD31-4B8C-83A1-F6EECF244321}">
                <p14:modId xmlns:p14="http://schemas.microsoft.com/office/powerpoint/2010/main" val="1710675483"/>
              </p:ext>
            </p:extLst>
          </p:nvPr>
        </p:nvGraphicFramePr>
        <p:xfrm>
          <a:off x="630429" y="2286000"/>
          <a:ext cx="10881360" cy="4572000"/>
        </p:xfrm>
        <a:graphic>
          <a:graphicData uri="http://schemas.openxmlformats.org/drawingml/2006/table">
            <a:tbl>
              <a:tblPr>
                <a:tableStyleId>{5C22544A-7EE6-4342-B048-85BDC9FD1C3A}</a:tableStyleId>
              </a:tblPr>
              <a:tblGrid>
                <a:gridCol w="2176272">
                  <a:extLst>
                    <a:ext uri="{9D8B030D-6E8A-4147-A177-3AD203B41FA5}">
                      <a16:colId xmlns:a16="http://schemas.microsoft.com/office/drawing/2014/main" val="1459249221"/>
                    </a:ext>
                  </a:extLst>
                </a:gridCol>
                <a:gridCol w="2176272">
                  <a:extLst>
                    <a:ext uri="{9D8B030D-6E8A-4147-A177-3AD203B41FA5}">
                      <a16:colId xmlns:a16="http://schemas.microsoft.com/office/drawing/2014/main" val="2440531078"/>
                    </a:ext>
                  </a:extLst>
                </a:gridCol>
                <a:gridCol w="2176272">
                  <a:extLst>
                    <a:ext uri="{9D8B030D-6E8A-4147-A177-3AD203B41FA5}">
                      <a16:colId xmlns:a16="http://schemas.microsoft.com/office/drawing/2014/main" val="735626348"/>
                    </a:ext>
                  </a:extLst>
                </a:gridCol>
                <a:gridCol w="2176272">
                  <a:extLst>
                    <a:ext uri="{9D8B030D-6E8A-4147-A177-3AD203B41FA5}">
                      <a16:colId xmlns:a16="http://schemas.microsoft.com/office/drawing/2014/main" val="1523408011"/>
                    </a:ext>
                  </a:extLst>
                </a:gridCol>
                <a:gridCol w="2176272">
                  <a:extLst>
                    <a:ext uri="{9D8B030D-6E8A-4147-A177-3AD203B41FA5}">
                      <a16:colId xmlns:a16="http://schemas.microsoft.com/office/drawing/2014/main" val="3125636129"/>
                    </a:ext>
                  </a:extLst>
                </a:gridCol>
              </a:tblGrid>
              <a:tr h="1074217">
                <a:tc>
                  <a:txBody>
                    <a:bodyPr/>
                    <a:lstStyle/>
                    <a:p>
                      <a:pPr algn="ctr" defTabSz="685783">
                        <a:spcAft>
                          <a:spcPts val="600"/>
                        </a:spcAft>
                        <a:defRPr/>
                      </a:pPr>
                      <a:r>
                        <a:rPr kumimoji="0" lang="en-US" sz="1600" b="1" i="0" u="none" strike="noStrike" kern="1200" cap="none" spc="0" normalizeH="0" baseline="0" noProof="0">
                          <a:ln>
                            <a:noFill/>
                          </a:ln>
                          <a:solidFill>
                            <a:schemeClr val="accent2"/>
                          </a:solidFill>
                          <a:effectLst/>
                          <a:uLnTx/>
                          <a:uFillTx/>
                          <a:latin typeface="Poppins SemiBold"/>
                          <a:ea typeface="+mn-ea"/>
                          <a:cs typeface="Poppins SemiBold"/>
                        </a:rPr>
                        <a:t>Goals and KPIs</a:t>
                      </a:r>
                      <a:endParaRPr kumimoji="0" lang="en-US" sz="1600" b="1" i="0" u="none" strike="noStrike" kern="1200" cap="none" spc="0" normalizeH="0" baseline="0" noProof="0">
                        <a:ln>
                          <a:noFill/>
                        </a:ln>
                        <a:solidFill>
                          <a:schemeClr val="accent2"/>
                        </a:solidFill>
                        <a:effectLst/>
                        <a:uLnTx/>
                        <a:uFillTx/>
                        <a:latin typeface="Poppins SemiBold" panose="00000700000000000000" pitchFamily="2" charset="0"/>
                        <a:ea typeface="+mn-ea"/>
                        <a:cs typeface="Poppins SemiBold" panose="00000700000000000000" pitchFamily="2" charset="0"/>
                      </a:endParaRPr>
                    </a:p>
                  </a:txBody>
                  <a:tcPr marL="182880" marR="182880" marT="182880" marB="182880" anchor="ctr">
                    <a:lnL w="12700" cap="flat" cmpd="sng" algn="ctr">
                      <a:no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lang="en-US" sz="1600" b="1" kern="1200">
                          <a:solidFill>
                            <a:schemeClr val="accent2"/>
                          </a:solidFill>
                          <a:latin typeface="+mj-lt"/>
                          <a:ea typeface="+mn-ea"/>
                          <a:cs typeface="+mn-cs"/>
                        </a:rPr>
                        <a:t>External Assessment</a:t>
                      </a:r>
                    </a:p>
                  </a:txBody>
                  <a:tcPr marL="182880" marR="182880" marT="182880" marB="18288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914400" rtl="0" eaLnBrk="1" latinLnBrk="0" hangingPunct="1"/>
                      <a:r>
                        <a:rPr lang="en-US" sz="1600" b="1" kern="1200">
                          <a:solidFill>
                            <a:schemeClr val="accent2"/>
                          </a:solidFill>
                          <a:latin typeface="+mj-lt"/>
                          <a:ea typeface="+mn-ea"/>
                          <a:cs typeface="+mn-cs"/>
                        </a:rPr>
                        <a:t>Internal Performance Assessment</a:t>
                      </a:r>
                    </a:p>
                  </a:txBody>
                  <a:tcPr marL="182880" marR="182880" marT="182880" marB="18288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1" kern="1200">
                          <a:solidFill>
                            <a:schemeClr val="accent2"/>
                          </a:solidFill>
                          <a:latin typeface="+mj-lt"/>
                          <a:ea typeface="+mn-ea"/>
                          <a:cs typeface="+mn-cs"/>
                        </a:rPr>
                        <a:t>DeVry Program Pillar Creation</a:t>
                      </a:r>
                    </a:p>
                  </a:txBody>
                  <a:tcPr marL="182880" marR="182880" marT="182880" marB="18288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mpd="sng">
                      <a:noFill/>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b="1" kern="1200">
                          <a:solidFill>
                            <a:schemeClr val="accent2"/>
                          </a:solidFill>
                          <a:latin typeface="+mj-lt"/>
                          <a:ea typeface="+mn-ea"/>
                          <a:cs typeface="+mn-cs"/>
                        </a:rPr>
                        <a:t>Test Concepting &amp; Road Mapping</a:t>
                      </a:r>
                    </a:p>
                  </a:txBody>
                  <a:tcPr marL="182880" marR="182880" marT="182880" marB="182880" anchor="ctr">
                    <a:lnL w="12700" cap="flat" cmpd="sng" algn="ctr">
                      <a:solidFill>
                        <a:schemeClr val="bg2"/>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8225199"/>
                  </a:ext>
                </a:extLst>
              </a:tr>
              <a:tr h="3401688">
                <a:tc>
                  <a:txBody>
                    <a:bodyPr/>
                    <a:lstStyle/>
                    <a:p>
                      <a:pPr marL="171450" indent="-171450">
                        <a:buFont typeface="Arial" panose="020B0604020202020204" pitchFamily="34" charset="0"/>
                        <a:buChar char="•"/>
                      </a:pPr>
                      <a:r>
                        <a:rPr lang="en-US" sz="1200">
                          <a:solidFill>
                            <a:schemeClr val="accent2"/>
                          </a:solidFill>
                        </a:rPr>
                        <a:t>Confirm primary conversion goals and funnel definitions (visit to inquiry, inquiry to next action).</a:t>
                      </a:r>
                    </a:p>
                    <a:p>
                      <a:pPr marL="171450" indent="-171450">
                        <a:buFont typeface="Arial" panose="020B0604020202020204" pitchFamily="34" charset="0"/>
                        <a:buChar char="•"/>
                      </a:pPr>
                      <a:r>
                        <a:rPr lang="en-US" sz="1200">
                          <a:solidFill>
                            <a:schemeClr val="accent2"/>
                          </a:solidFill>
                        </a:rPr>
                        <a:t>Align on success metrics and guardrails by stage (engagement, form progression, completion, lead quality proxies).</a:t>
                      </a:r>
                    </a:p>
                    <a:p>
                      <a:pPr marL="171450" indent="-171450">
                        <a:buFont typeface="Arial" panose="020B0604020202020204" pitchFamily="34" charset="0"/>
                        <a:buChar char="•"/>
                      </a:pPr>
                      <a:r>
                        <a:rPr lang="en-US" sz="1200">
                          <a:solidFill>
                            <a:schemeClr val="accent2"/>
                          </a:solidFill>
                        </a:rPr>
                        <a:t>Flag measurement dependencies that affect readouts and testing.</a:t>
                      </a:r>
                    </a:p>
                  </a:txBody>
                  <a:tcPr marL="182880" marR="182880" marT="182880" marB="18288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200">
                          <a:solidFill>
                            <a:schemeClr val="accent2"/>
                          </a:solidFill>
                        </a:rPr>
                        <a:t>Evaluate against industry trends, shifts in consumer behavior &amp; emerging best practices</a:t>
                      </a:r>
                    </a:p>
                    <a:p>
                      <a:pPr marL="171450" indent="-171450">
                        <a:buFont typeface="Arial" panose="020B0604020202020204" pitchFamily="34" charset="0"/>
                        <a:buChar char="•"/>
                      </a:pPr>
                      <a:endParaRPr lang="en-US" sz="1200">
                        <a:solidFill>
                          <a:schemeClr val="accent2"/>
                        </a:solidFill>
                      </a:endParaRPr>
                    </a:p>
                    <a:p>
                      <a:pPr marL="171450" indent="-171450">
                        <a:buFont typeface="Arial" panose="020B0604020202020204" pitchFamily="34" charset="0"/>
                        <a:buChar char="•"/>
                      </a:pPr>
                      <a:r>
                        <a:rPr lang="en-US" sz="1200">
                          <a:solidFill>
                            <a:schemeClr val="accent2"/>
                          </a:solidFill>
                        </a:rPr>
                        <a:t>Assess consumer sentiment through social listening</a:t>
                      </a:r>
                    </a:p>
                    <a:p>
                      <a:pPr marL="171450" indent="-171450">
                        <a:buFont typeface="Arial" panose="020B0604020202020204" pitchFamily="34" charset="0"/>
                        <a:buChar char="•"/>
                      </a:pPr>
                      <a:endParaRPr lang="en-US" sz="1200">
                        <a:solidFill>
                          <a:schemeClr val="accent2"/>
                        </a:solidFill>
                      </a:endParaRPr>
                    </a:p>
                    <a:p>
                      <a:pPr marL="171450" indent="-171450">
                        <a:buFont typeface="Arial" panose="020B0604020202020204" pitchFamily="34" charset="0"/>
                        <a:buChar char="•"/>
                      </a:pPr>
                      <a:r>
                        <a:rPr lang="en-US" sz="1200">
                          <a:solidFill>
                            <a:schemeClr val="accent2"/>
                          </a:solidFill>
                        </a:rPr>
                        <a:t>Benchmark Devry experience against core competitors</a:t>
                      </a:r>
                    </a:p>
                  </a:txBody>
                  <a:tcPr marL="182880" marR="182880" marT="182880" marB="18288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200">
                          <a:solidFill>
                            <a:schemeClr val="accent2"/>
                          </a:solidFill>
                        </a:rPr>
                        <a:t>Analyze performance by area of study and program where available.</a:t>
                      </a:r>
                    </a:p>
                    <a:p>
                      <a:pPr marL="171450" indent="-171450">
                        <a:buFont typeface="Arial" panose="020B0604020202020204" pitchFamily="34" charset="0"/>
                        <a:buChar char="•"/>
                      </a:pPr>
                      <a:endParaRPr lang="en-US" sz="1200">
                        <a:solidFill>
                          <a:schemeClr val="accent2"/>
                        </a:solidFill>
                      </a:endParaRPr>
                    </a:p>
                    <a:p>
                      <a:pPr marL="171450" indent="-171450">
                        <a:buFont typeface="Arial" panose="020B0604020202020204" pitchFamily="34" charset="0"/>
                        <a:buChar char="•"/>
                      </a:pPr>
                      <a:r>
                        <a:rPr lang="en-US" sz="1200">
                          <a:solidFill>
                            <a:schemeClr val="accent2"/>
                          </a:solidFill>
                        </a:rPr>
                        <a:t>Review mobile vs desktop behavior and conversion gaps.</a:t>
                      </a:r>
                    </a:p>
                    <a:p>
                      <a:pPr marL="171450" indent="-171450">
                        <a:buFont typeface="Arial" panose="020B0604020202020204" pitchFamily="34" charset="0"/>
                        <a:buChar char="•"/>
                      </a:pPr>
                      <a:endParaRPr lang="en-US" sz="1200">
                        <a:solidFill>
                          <a:schemeClr val="accent2"/>
                        </a:solidFill>
                      </a:endParaRPr>
                    </a:p>
                    <a:p>
                      <a:pPr marL="171450" indent="-171450">
                        <a:buFont typeface="Arial" panose="020B0604020202020204" pitchFamily="34" charset="0"/>
                        <a:buChar char="•"/>
                      </a:pPr>
                      <a:r>
                        <a:rPr lang="en-US" sz="1200">
                          <a:solidFill>
                            <a:schemeClr val="accent2"/>
                          </a:solidFill>
                        </a:rPr>
                        <a:t>Assess form progression and drop-off points, including visibility and usability issues.</a:t>
                      </a:r>
                    </a:p>
                  </a:txBody>
                  <a:tcPr marL="182880" marR="182880" marT="182880" marB="18288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200">
                          <a:solidFill>
                            <a:schemeClr val="accent2"/>
                          </a:solidFill>
                        </a:rPr>
                        <a:t>Outline test ideas based on audit findings</a:t>
                      </a:r>
                    </a:p>
                    <a:p>
                      <a:pPr marL="171450" indent="-171450">
                        <a:buFont typeface="Arial" panose="020B0604020202020204" pitchFamily="34" charset="0"/>
                        <a:buChar char="•"/>
                      </a:pPr>
                      <a:endParaRPr lang="en-US" sz="1200">
                        <a:solidFill>
                          <a:schemeClr val="accent2"/>
                        </a:solidFill>
                      </a:endParaRPr>
                    </a:p>
                    <a:p>
                      <a:pPr marL="171450" indent="-171450">
                        <a:buFont typeface="Arial" panose="020B0604020202020204" pitchFamily="34" charset="0"/>
                        <a:buChar char="•"/>
                      </a:pPr>
                      <a:r>
                        <a:rPr lang="en-US" sz="1200">
                          <a:solidFill>
                            <a:schemeClr val="accent2"/>
                          </a:solidFill>
                        </a:rPr>
                        <a:t>Identify consensus problems as strategic pillars for optimization</a:t>
                      </a:r>
                    </a:p>
                    <a:p>
                      <a:pPr marL="285750" lvl="0" indent="-285750" algn="l" defTabSz="685783">
                        <a:spcAft>
                          <a:spcPts val="600"/>
                        </a:spcAft>
                        <a:buFont typeface="Arial" panose="020B0604020202020204" pitchFamily="34" charset="0"/>
                        <a:buChar char="•"/>
                        <a:defRPr/>
                      </a:pPr>
                      <a:endParaRPr lang="en-US" sz="1200" kern="1200">
                        <a:solidFill>
                          <a:schemeClr val="accent2"/>
                        </a:solidFill>
                        <a:latin typeface="+mn-lt"/>
                        <a:ea typeface="+mn-ea"/>
                        <a:cs typeface="+mn-cs"/>
                      </a:endParaRPr>
                    </a:p>
                  </a:txBody>
                  <a:tcPr marL="182880" marR="182880" marT="182880" marB="18288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r>
                        <a:rPr lang="en-US" sz="1200">
                          <a:solidFill>
                            <a:schemeClr val="accent2"/>
                          </a:solidFill>
                        </a:rPr>
                        <a:t>Prioritize ideas, collaboratively refine them through joint brainstorming</a:t>
                      </a:r>
                    </a:p>
                    <a:p>
                      <a:pPr marL="171450" indent="-171450">
                        <a:buFont typeface="Arial" panose="020B0604020202020204" pitchFamily="34" charset="0"/>
                        <a:buChar char="•"/>
                      </a:pPr>
                      <a:endParaRPr lang="en-US" sz="1200">
                        <a:solidFill>
                          <a:schemeClr val="accent2"/>
                        </a:solidFill>
                      </a:endParaRPr>
                    </a:p>
                    <a:p>
                      <a:pPr marL="171450" indent="-171450">
                        <a:buFont typeface="Arial" panose="020B0604020202020204" pitchFamily="34" charset="0"/>
                        <a:buChar char="•"/>
                      </a:pPr>
                      <a:r>
                        <a:rPr lang="en-US" sz="1200">
                          <a:solidFill>
                            <a:schemeClr val="accent2"/>
                          </a:solidFill>
                        </a:rPr>
                        <a:t>Build a finalized pipeline based on impact, dependencies, &amp; scope</a:t>
                      </a:r>
                    </a:p>
                    <a:p>
                      <a:pPr marL="171450" lvl="0" indent="-171450" algn="l" defTabSz="685783">
                        <a:spcAft>
                          <a:spcPts val="600"/>
                        </a:spcAft>
                        <a:buFont typeface="Arial" panose="020B0604020202020204" pitchFamily="34" charset="0"/>
                        <a:buChar char="•"/>
                        <a:defRPr/>
                      </a:pPr>
                      <a:endParaRPr lang="en-US" sz="1200">
                        <a:solidFill>
                          <a:schemeClr val="accent2"/>
                        </a:solidFill>
                      </a:endParaRPr>
                    </a:p>
                  </a:txBody>
                  <a:tcPr marL="182880" marR="182880" marT="182880" marB="18288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6323165"/>
                  </a:ext>
                </a:extLst>
              </a:tr>
            </a:tbl>
          </a:graphicData>
        </a:graphic>
      </p:graphicFrame>
      <p:sp>
        <p:nvSpPr>
          <p:cNvPr id="13" name="Oval 12">
            <a:extLst>
              <a:ext uri="{FF2B5EF4-FFF2-40B4-BE49-F238E27FC236}">
                <a16:creationId xmlns:a16="http://schemas.microsoft.com/office/drawing/2014/main" id="{1EFA0DD0-6CE3-36B0-B2AE-927111FBBBD2}"/>
              </a:ext>
            </a:extLst>
          </p:cNvPr>
          <p:cNvSpPr/>
          <p:nvPr/>
        </p:nvSpPr>
        <p:spPr>
          <a:xfrm>
            <a:off x="1378514" y="1676867"/>
            <a:ext cx="800100" cy="744892"/>
          </a:xfrm>
          <a:prstGeom prst="ellipse">
            <a:avLst/>
          </a:prstGeom>
          <a:solidFill>
            <a:schemeClr val="accent2"/>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B679657-F2D3-062A-B5E7-447AB8E0EF54}"/>
              </a:ext>
            </a:extLst>
          </p:cNvPr>
          <p:cNvSpPr/>
          <p:nvPr/>
        </p:nvSpPr>
        <p:spPr>
          <a:xfrm>
            <a:off x="3482587" y="1658763"/>
            <a:ext cx="800100" cy="744892"/>
          </a:xfrm>
          <a:prstGeom prst="ellipse">
            <a:avLst/>
          </a:prstGeom>
          <a:solidFill>
            <a:schemeClr val="accent1"/>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34B3B97-032A-4903-E4A4-FFFF661D9EF0}"/>
              </a:ext>
            </a:extLst>
          </p:cNvPr>
          <p:cNvSpPr/>
          <p:nvPr/>
        </p:nvSpPr>
        <p:spPr>
          <a:xfrm>
            <a:off x="5679559" y="1658766"/>
            <a:ext cx="800100" cy="744892"/>
          </a:xfrm>
          <a:prstGeom prst="ellipse">
            <a:avLst/>
          </a:prstGeom>
          <a:solidFill>
            <a:schemeClr val="accent3"/>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99D114CF-9BB2-2007-4070-DCA2E98E6AF8}"/>
              </a:ext>
            </a:extLst>
          </p:cNvPr>
          <p:cNvSpPr/>
          <p:nvPr/>
        </p:nvSpPr>
        <p:spPr>
          <a:xfrm>
            <a:off x="7790574" y="1661578"/>
            <a:ext cx="800100" cy="744892"/>
          </a:xfrm>
          <a:prstGeom prst="ellipse">
            <a:avLst/>
          </a:prstGeom>
          <a:solidFill>
            <a:schemeClr val="accent4">
              <a:lumMod val="90000"/>
            </a:schemeClr>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0A8765B4-A451-03B8-D591-0E631DC25CE2}"/>
              </a:ext>
            </a:extLst>
          </p:cNvPr>
          <p:cNvSpPr/>
          <p:nvPr/>
        </p:nvSpPr>
        <p:spPr>
          <a:xfrm>
            <a:off x="9980604" y="1658763"/>
            <a:ext cx="800100" cy="744892"/>
          </a:xfrm>
          <a:prstGeom prst="ellipse">
            <a:avLst/>
          </a:prstGeom>
          <a:solidFill>
            <a:schemeClr val="accent5"/>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descr="Bullseye with solid fill">
            <a:extLst>
              <a:ext uri="{FF2B5EF4-FFF2-40B4-BE49-F238E27FC236}">
                <a16:creationId xmlns:a16="http://schemas.microsoft.com/office/drawing/2014/main" id="{5F5CC597-6E3B-4881-210D-824160832F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15067" y="1781926"/>
            <a:ext cx="516291" cy="504292"/>
          </a:xfrm>
          <a:prstGeom prst="rect">
            <a:avLst/>
          </a:prstGeom>
        </p:spPr>
      </p:pic>
      <p:pic>
        <p:nvPicPr>
          <p:cNvPr id="23" name="Graphic 22" descr="Store with solid fill">
            <a:extLst>
              <a:ext uri="{FF2B5EF4-FFF2-40B4-BE49-F238E27FC236}">
                <a16:creationId xmlns:a16="http://schemas.microsoft.com/office/drawing/2014/main" id="{686C74BE-AE72-4B48-68F2-44E946466BC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93784" y="1749673"/>
            <a:ext cx="577705" cy="564279"/>
          </a:xfrm>
          <a:prstGeom prst="rect">
            <a:avLst/>
          </a:prstGeom>
        </p:spPr>
      </p:pic>
      <p:pic>
        <p:nvPicPr>
          <p:cNvPr id="24" name="Graphic 23" descr="Checklist with solid fill">
            <a:extLst>
              <a:ext uri="{FF2B5EF4-FFF2-40B4-BE49-F238E27FC236}">
                <a16:creationId xmlns:a16="http://schemas.microsoft.com/office/drawing/2014/main" id="{75559AED-73E1-3EBB-A469-F96AC323608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14592" y="1797529"/>
            <a:ext cx="521305" cy="509190"/>
          </a:xfrm>
          <a:prstGeom prst="rect">
            <a:avLst/>
          </a:prstGeom>
        </p:spPr>
      </p:pic>
      <p:pic>
        <p:nvPicPr>
          <p:cNvPr id="25" name="Graphic 24" descr="Greek Pillar with solid fill">
            <a:extLst>
              <a:ext uri="{FF2B5EF4-FFF2-40B4-BE49-F238E27FC236}">
                <a16:creationId xmlns:a16="http://schemas.microsoft.com/office/drawing/2014/main" id="{780242EA-F9AF-D9C8-4B3B-E89DD89986E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04409" y="1775452"/>
            <a:ext cx="572429" cy="559126"/>
          </a:xfrm>
          <a:prstGeom prst="rect">
            <a:avLst/>
          </a:prstGeom>
        </p:spPr>
      </p:pic>
      <p:pic>
        <p:nvPicPr>
          <p:cNvPr id="26" name="Graphic 25" descr="Map with pin with solid fill">
            <a:extLst>
              <a:ext uri="{FF2B5EF4-FFF2-40B4-BE49-F238E27FC236}">
                <a16:creationId xmlns:a16="http://schemas.microsoft.com/office/drawing/2014/main" id="{A0E629DA-0CBB-79B9-B08A-728F632C956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068952" y="1728367"/>
            <a:ext cx="623403" cy="608915"/>
          </a:xfrm>
          <a:prstGeom prst="rect">
            <a:avLst/>
          </a:prstGeom>
        </p:spPr>
      </p:pic>
    </p:spTree>
    <p:extLst>
      <p:ext uri="{BB962C8B-B14F-4D97-AF65-F5344CB8AC3E}">
        <p14:creationId xmlns:p14="http://schemas.microsoft.com/office/powerpoint/2010/main" val="2714458629"/>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3E518-4A55-84F1-BDA7-6AA5EEB87BBF}"/>
            </a:ext>
          </a:extLst>
        </p:cNvPr>
        <p:cNvGrpSpPr/>
        <p:nvPr/>
      </p:nvGrpSpPr>
      <p:grpSpPr>
        <a:xfrm>
          <a:off x="0" y="0"/>
          <a:ext cx="0" cy="0"/>
          <a:chOff x="0" y="0"/>
          <a:chExt cx="0" cy="0"/>
        </a:xfrm>
      </p:grpSpPr>
      <p:sp>
        <p:nvSpPr>
          <p:cNvPr id="5" name="Title 8">
            <a:extLst>
              <a:ext uri="{FF2B5EF4-FFF2-40B4-BE49-F238E27FC236}">
                <a16:creationId xmlns:a16="http://schemas.microsoft.com/office/drawing/2014/main" id="{BBC84F74-1443-7928-FD84-BEB9E8BC682E}"/>
              </a:ext>
            </a:extLst>
          </p:cNvPr>
          <p:cNvSpPr>
            <a:spLocks noGrp="1"/>
          </p:cNvSpPr>
          <p:nvPr>
            <p:ph type="title"/>
            <p:custDataLst>
              <p:tags r:id="rId1"/>
            </p:custDataLst>
          </p:nvPr>
        </p:nvSpPr>
        <p:spPr>
          <a:xfrm>
            <a:off x="609600" y="639153"/>
            <a:ext cx="10972800" cy="792480"/>
          </a:xfrm>
        </p:spPr>
        <p:txBody>
          <a:bodyPr>
            <a:noAutofit/>
          </a:bodyPr>
          <a:lstStyle/>
          <a:p>
            <a:r>
              <a:rPr lang="en-US" altLang="en-US">
                <a:solidFill>
                  <a:schemeClr val="accent2"/>
                </a:solidFill>
              </a:rPr>
              <a:t>Strategic Audit Uncovers Impactful &amp; Testable Opportunities To Drive Growth With Clear Execution Path</a:t>
            </a:r>
          </a:p>
        </p:txBody>
      </p:sp>
      <p:sp>
        <p:nvSpPr>
          <p:cNvPr id="6" name="Rectangle: Rounded Corners 5">
            <a:extLst>
              <a:ext uri="{FF2B5EF4-FFF2-40B4-BE49-F238E27FC236}">
                <a16:creationId xmlns:a16="http://schemas.microsoft.com/office/drawing/2014/main" id="{8254F8EB-2B24-42F4-E9C4-DDC92E58CB7B}"/>
              </a:ext>
            </a:extLst>
          </p:cNvPr>
          <p:cNvSpPr/>
          <p:nvPr/>
        </p:nvSpPr>
        <p:spPr>
          <a:xfrm>
            <a:off x="3083565" y="1864513"/>
            <a:ext cx="3309497" cy="1839969"/>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a:solidFill>
                  <a:schemeClr val="tx1"/>
                </a:solidFill>
              </a:rPr>
              <a:t>Form Engagement Rate:</a:t>
            </a:r>
          </a:p>
          <a:p>
            <a:pPr algn="ctr"/>
            <a:r>
              <a:rPr lang="en-US" sz="1200">
                <a:solidFill>
                  <a:schemeClr val="tx1"/>
                </a:solidFill>
              </a:rPr>
              <a:t>Evaluates success at generating initial interest</a:t>
            </a:r>
          </a:p>
          <a:p>
            <a:pPr algn="ctr"/>
            <a:endParaRPr lang="en-US" sz="1000" b="1">
              <a:solidFill>
                <a:schemeClr val="tx1"/>
              </a:solidFill>
              <a:cs typeface="Poppins"/>
            </a:endParaRPr>
          </a:p>
          <a:p>
            <a:pPr algn="ctr"/>
            <a:r>
              <a:rPr lang="en-MY" sz="1400" b="1">
                <a:solidFill>
                  <a:schemeClr val="tx1"/>
                </a:solidFill>
                <a:ea typeface="Open Sans SemiBold"/>
                <a:cs typeface="Open Sans SemiBold"/>
              </a:rPr>
              <a:t>Area Of Study Engagement Rate: </a:t>
            </a:r>
            <a:r>
              <a:rPr lang="en-US" sz="1200">
                <a:solidFill>
                  <a:schemeClr val="tx1"/>
                </a:solidFill>
              </a:rPr>
              <a:t>Evaluates ability generate interest in specific topics / programs</a:t>
            </a:r>
            <a:endParaRPr lang="en-US" sz="1200">
              <a:solidFill>
                <a:schemeClr val="tx1"/>
              </a:solidFill>
              <a:cs typeface="Poppins"/>
            </a:endParaRPr>
          </a:p>
        </p:txBody>
      </p:sp>
      <p:sp>
        <p:nvSpPr>
          <p:cNvPr id="9" name="Rectangle: Rounded Corners 8">
            <a:extLst>
              <a:ext uri="{FF2B5EF4-FFF2-40B4-BE49-F238E27FC236}">
                <a16:creationId xmlns:a16="http://schemas.microsoft.com/office/drawing/2014/main" id="{F49BA07C-9044-9C52-ABEE-DFB8079DA7B0}"/>
              </a:ext>
            </a:extLst>
          </p:cNvPr>
          <p:cNvSpPr/>
          <p:nvPr/>
        </p:nvSpPr>
        <p:spPr>
          <a:xfrm>
            <a:off x="7037555" y="3095959"/>
            <a:ext cx="2430307" cy="2044459"/>
          </a:xfrm>
          <a:prstGeom prst="round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Revenue Growth</a:t>
            </a:r>
          </a:p>
        </p:txBody>
      </p:sp>
      <p:sp>
        <p:nvSpPr>
          <p:cNvPr id="13" name="TextBox 12">
            <a:extLst>
              <a:ext uri="{FF2B5EF4-FFF2-40B4-BE49-F238E27FC236}">
                <a16:creationId xmlns:a16="http://schemas.microsoft.com/office/drawing/2014/main" id="{7FA12C2D-BE5F-6319-8DAE-55FB41662302}"/>
              </a:ext>
            </a:extLst>
          </p:cNvPr>
          <p:cNvSpPr txBox="1"/>
          <p:nvPr/>
        </p:nvSpPr>
        <p:spPr>
          <a:xfrm>
            <a:off x="3620440" y="1700257"/>
            <a:ext cx="2121388" cy="369332"/>
          </a:xfrm>
          <a:prstGeom prst="rect">
            <a:avLst/>
          </a:prstGeom>
          <a:solidFill>
            <a:schemeClr val="bg1"/>
          </a:solidFill>
        </p:spPr>
        <p:txBody>
          <a:bodyPr wrap="square">
            <a:spAutoFit/>
          </a:bodyPr>
          <a:lstStyle/>
          <a:p>
            <a:pPr algn="ctr"/>
            <a:r>
              <a:rPr lang="en-US" b="1">
                <a:latin typeface="+mn-lt"/>
              </a:rPr>
              <a:t>Capture Interest</a:t>
            </a:r>
          </a:p>
        </p:txBody>
      </p:sp>
      <p:pic>
        <p:nvPicPr>
          <p:cNvPr id="14" name="Graphic 13" descr="Add with solid fill">
            <a:extLst>
              <a:ext uri="{FF2B5EF4-FFF2-40B4-BE49-F238E27FC236}">
                <a16:creationId xmlns:a16="http://schemas.microsoft.com/office/drawing/2014/main" id="{DD91A053-5E17-A8B7-F928-3F9CB6F9A81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05107" y="3830441"/>
            <a:ext cx="465496" cy="465496"/>
          </a:xfrm>
          <a:prstGeom prst="rect">
            <a:avLst/>
          </a:prstGeom>
        </p:spPr>
      </p:pic>
      <p:grpSp>
        <p:nvGrpSpPr>
          <p:cNvPr id="16" name="Group 15">
            <a:extLst>
              <a:ext uri="{FF2B5EF4-FFF2-40B4-BE49-F238E27FC236}">
                <a16:creationId xmlns:a16="http://schemas.microsoft.com/office/drawing/2014/main" id="{A527A4BC-2A49-4762-7302-528C4F7BC88F}"/>
              </a:ext>
            </a:extLst>
          </p:cNvPr>
          <p:cNvGrpSpPr/>
          <p:nvPr/>
        </p:nvGrpSpPr>
        <p:grpSpPr>
          <a:xfrm>
            <a:off x="3032845" y="4342734"/>
            <a:ext cx="3410019" cy="2224089"/>
            <a:chOff x="4138389" y="4139791"/>
            <a:chExt cx="3410019" cy="2224089"/>
          </a:xfrm>
        </p:grpSpPr>
        <p:sp>
          <p:nvSpPr>
            <p:cNvPr id="17" name="Rectangle: Rounded Corners 16">
              <a:extLst>
                <a:ext uri="{FF2B5EF4-FFF2-40B4-BE49-F238E27FC236}">
                  <a16:creationId xmlns:a16="http://schemas.microsoft.com/office/drawing/2014/main" id="{6143E26C-6571-EC0D-788B-69F5B1F4DC71}"/>
                </a:ext>
              </a:extLst>
            </p:cNvPr>
            <p:cNvSpPr/>
            <p:nvPr/>
          </p:nvSpPr>
          <p:spPr>
            <a:xfrm>
              <a:off x="4138389" y="4324457"/>
              <a:ext cx="3410019" cy="2039423"/>
            </a:xfrm>
            <a:prstGeom prst="round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b="1">
                  <a:solidFill>
                    <a:schemeClr val="tx1"/>
                  </a:solidFill>
                </a:rPr>
                <a:t>Visit to Inquiry (V2I)</a:t>
              </a:r>
            </a:p>
            <a:p>
              <a:pPr algn="ctr"/>
              <a:r>
                <a:rPr lang="en-US" sz="1200">
                  <a:solidFill>
                    <a:schemeClr val="tx1"/>
                  </a:solidFill>
                </a:rPr>
                <a:t>Evaluates legitimacy of initial interest</a:t>
              </a:r>
              <a:endParaRPr lang="en-US" sz="1400" b="1">
                <a:solidFill>
                  <a:schemeClr val="tx1"/>
                </a:solidFill>
              </a:endParaRPr>
            </a:p>
            <a:p>
              <a:pPr algn="ctr"/>
              <a:endParaRPr lang="en-MY" sz="1400" b="1">
                <a:solidFill>
                  <a:schemeClr val="tx1"/>
                </a:solidFill>
                <a:ea typeface="Open Sans SemiBold"/>
                <a:cs typeface="Open Sans SemiBold"/>
              </a:endParaRPr>
            </a:p>
            <a:p>
              <a:pPr algn="ctr"/>
              <a:r>
                <a:rPr lang="en-MY" sz="1400" b="1">
                  <a:solidFill>
                    <a:schemeClr val="tx1"/>
                  </a:solidFill>
                  <a:ea typeface="Open Sans SemiBold"/>
                  <a:cs typeface="Open Sans SemiBold"/>
                </a:rPr>
                <a:t>Inquiry to Appointment (I2A)</a:t>
              </a:r>
              <a:endParaRPr lang="en-MY" sz="1400">
                <a:solidFill>
                  <a:schemeClr val="tx1"/>
                </a:solidFill>
                <a:ea typeface="Open Sans SemiBold"/>
                <a:cs typeface="Open Sans SemiBold"/>
              </a:endParaRPr>
            </a:p>
            <a:p>
              <a:pPr algn="ctr"/>
              <a:r>
                <a:rPr lang="en-US" sz="1200">
                  <a:solidFill>
                    <a:schemeClr val="tx1"/>
                  </a:solidFill>
                </a:rPr>
                <a:t>Evaluates ability to sustain and build on engagement for an easier sales experience</a:t>
              </a:r>
              <a:endParaRPr lang="en-US" sz="1200" b="1">
                <a:solidFill>
                  <a:schemeClr val="tx1"/>
                </a:solidFill>
              </a:endParaRPr>
            </a:p>
          </p:txBody>
        </p:sp>
        <p:sp>
          <p:nvSpPr>
            <p:cNvPr id="18" name="TextBox 17">
              <a:extLst>
                <a:ext uri="{FF2B5EF4-FFF2-40B4-BE49-F238E27FC236}">
                  <a16:creationId xmlns:a16="http://schemas.microsoft.com/office/drawing/2014/main" id="{EAB05BB4-8F55-DEAE-382D-09CFA96A6FA8}"/>
                </a:ext>
              </a:extLst>
            </p:cNvPr>
            <p:cNvSpPr txBox="1"/>
            <p:nvPr/>
          </p:nvSpPr>
          <p:spPr>
            <a:xfrm>
              <a:off x="4779302" y="4139791"/>
              <a:ext cx="2121388" cy="369332"/>
            </a:xfrm>
            <a:prstGeom prst="rect">
              <a:avLst/>
            </a:prstGeom>
            <a:solidFill>
              <a:schemeClr val="bg1"/>
            </a:solidFill>
          </p:spPr>
          <p:txBody>
            <a:bodyPr wrap="square">
              <a:spAutoFit/>
            </a:bodyPr>
            <a:lstStyle/>
            <a:p>
              <a:pPr algn="ctr"/>
              <a:r>
                <a:rPr lang="en-US" b="1">
                  <a:latin typeface="+mn-lt"/>
                </a:rPr>
                <a:t>Convert Intent</a:t>
              </a:r>
            </a:p>
          </p:txBody>
        </p:sp>
      </p:grpSp>
      <p:pic>
        <p:nvPicPr>
          <p:cNvPr id="19" name="Graphic 18" descr="Chevron arrows with solid fill">
            <a:extLst>
              <a:ext uri="{FF2B5EF4-FFF2-40B4-BE49-F238E27FC236}">
                <a16:creationId xmlns:a16="http://schemas.microsoft.com/office/drawing/2014/main" id="{93315272-2EA0-FA88-CC34-E1A88FE9150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396691" y="3858806"/>
            <a:ext cx="466344" cy="466344"/>
          </a:xfrm>
          <a:prstGeom prst="rect">
            <a:avLst/>
          </a:prstGeom>
        </p:spPr>
      </p:pic>
    </p:spTree>
    <p:extLst>
      <p:ext uri="{BB962C8B-B14F-4D97-AF65-F5344CB8AC3E}">
        <p14:creationId xmlns:p14="http://schemas.microsoft.com/office/powerpoint/2010/main" val="202111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20">
            <a:extLst>
              <a:ext uri="{FF2B5EF4-FFF2-40B4-BE49-F238E27FC236}">
                <a16:creationId xmlns:a16="http://schemas.microsoft.com/office/drawing/2014/main" id="{EEC2B2FA-8536-1510-F527-0B7E439C6979}"/>
              </a:ext>
            </a:extLst>
          </p:cNvPr>
          <p:cNvSpPr/>
          <p:nvPr/>
        </p:nvSpPr>
        <p:spPr>
          <a:xfrm>
            <a:off x="6129127" y="2334571"/>
            <a:ext cx="2591021" cy="3433266"/>
          </a:xfrm>
          <a:prstGeom prst="roundRect">
            <a:avLst/>
          </a:prstGeom>
          <a:solidFill>
            <a:schemeClr val="accent4"/>
          </a:solidFill>
          <a:ln w="28575">
            <a:solidFill>
              <a:schemeClr val="accent4"/>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a:ea typeface="+mn-ea"/>
              <a:cs typeface="+mn-cs"/>
            </a:endParaRPr>
          </a:p>
        </p:txBody>
      </p:sp>
      <p:sp>
        <p:nvSpPr>
          <p:cNvPr id="3" name="TextBox 2">
            <a:extLst>
              <a:ext uri="{FF2B5EF4-FFF2-40B4-BE49-F238E27FC236}">
                <a16:creationId xmlns:a16="http://schemas.microsoft.com/office/drawing/2014/main" id="{B47A65D2-1FD3-2800-A8F4-6704A396C26D}"/>
              </a:ext>
            </a:extLst>
          </p:cNvPr>
          <p:cNvSpPr txBox="1"/>
          <p:nvPr/>
        </p:nvSpPr>
        <p:spPr>
          <a:xfrm>
            <a:off x="6136015" y="3209423"/>
            <a:ext cx="2591021" cy="17235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srgbClr val="000000"/>
                </a:solidFill>
                <a:effectLst/>
                <a:uLnTx/>
                <a:uFillTx/>
                <a:latin typeface="Poppins SemiBold"/>
                <a:ea typeface="+mn-lt"/>
                <a:cs typeface="Arial" panose="020B0604020202020204" pitchFamily="34" charset="0"/>
              </a:rPr>
              <a:t>Arduous Lead Capture</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Poppins (Headings)"/>
              <a:ea typeface="Open Sans SemiBold"/>
              <a:cs typeface="Arial"/>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1" u="none" strike="noStrike" kern="1200" cap="none" spc="0" normalizeH="0" baseline="0" noProof="0">
                <a:ln>
                  <a:noFill/>
                </a:ln>
                <a:solidFill>
                  <a:srgbClr val="000000"/>
                </a:solidFill>
                <a:effectLst/>
                <a:uLnTx/>
                <a:uFillTx/>
                <a:latin typeface="Poppins (Headings)"/>
                <a:ea typeface="Open Sans SemiBold"/>
                <a:cs typeface="Arial"/>
              </a:rPr>
              <a:t>High-intent is getting stranded by friction and low-intent never gets nurtured into intent</a:t>
            </a:r>
            <a:endParaRPr kumimoji="0" lang="en-US" sz="1400" b="1" i="1" u="none" strike="noStrike" kern="1200" cap="none" spc="0" normalizeH="0" baseline="0" noProof="0">
              <a:ln>
                <a:noFill/>
              </a:ln>
              <a:solidFill>
                <a:srgbClr val="000000"/>
              </a:solidFill>
              <a:effectLst/>
              <a:uLnTx/>
              <a:uFillTx/>
              <a:latin typeface="Poppins SemiBold"/>
              <a:ea typeface="+mn-ea"/>
              <a:cs typeface="Arial" panose="020B0604020202020204" pitchFamily="34" charset="0"/>
            </a:endParaRPr>
          </a:p>
        </p:txBody>
      </p:sp>
      <p:sp>
        <p:nvSpPr>
          <p:cNvPr id="4" name="Oval 3">
            <a:extLst>
              <a:ext uri="{FF2B5EF4-FFF2-40B4-BE49-F238E27FC236}">
                <a16:creationId xmlns:a16="http://schemas.microsoft.com/office/drawing/2014/main" id="{579229BF-D0FB-C192-85E1-21CC21495AB2}"/>
              </a:ext>
            </a:extLst>
          </p:cNvPr>
          <p:cNvSpPr/>
          <p:nvPr/>
        </p:nvSpPr>
        <p:spPr>
          <a:xfrm>
            <a:off x="6957414" y="1799778"/>
            <a:ext cx="914400" cy="914400"/>
          </a:xfrm>
          <a:prstGeom prst="ellipse">
            <a:avLst/>
          </a:prstGeom>
          <a:solidFill>
            <a:schemeClr val="accent4"/>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a:ea typeface="+mn-ea"/>
              <a:cs typeface="+mn-cs"/>
            </a:endParaRPr>
          </a:p>
        </p:txBody>
      </p:sp>
      <p:pic>
        <p:nvPicPr>
          <p:cNvPr id="5" name="Graphic 4" descr="Document with solid fill">
            <a:extLst>
              <a:ext uri="{FF2B5EF4-FFF2-40B4-BE49-F238E27FC236}">
                <a16:creationId xmlns:a16="http://schemas.microsoft.com/office/drawing/2014/main" id="{E511E52E-5117-99DE-0639-C8C4D57E38B8}"/>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7142326" y="1971606"/>
            <a:ext cx="607977" cy="607977"/>
          </a:xfrm>
          <a:prstGeom prst="rect">
            <a:avLst/>
          </a:prstGeom>
        </p:spPr>
      </p:pic>
      <p:sp>
        <p:nvSpPr>
          <p:cNvPr id="6" name="Rectangle: Rounded Corners 9">
            <a:extLst>
              <a:ext uri="{FF2B5EF4-FFF2-40B4-BE49-F238E27FC236}">
                <a16:creationId xmlns:a16="http://schemas.microsoft.com/office/drawing/2014/main" id="{4F2731F0-1E4E-1830-B73F-57D3C64178BE}"/>
              </a:ext>
            </a:extLst>
          </p:cNvPr>
          <p:cNvSpPr/>
          <p:nvPr/>
        </p:nvSpPr>
        <p:spPr>
          <a:xfrm>
            <a:off x="620088" y="2324522"/>
            <a:ext cx="2591021" cy="3443315"/>
          </a:xfrm>
          <a:prstGeom prst="roundRect">
            <a:avLst/>
          </a:prstGeom>
          <a:solidFill>
            <a:srgbClr val="0059FF"/>
          </a:solidFill>
          <a:ln w="28575">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a:ea typeface="+mn-ea"/>
              <a:cs typeface="+mn-cs"/>
            </a:endParaRPr>
          </a:p>
        </p:txBody>
      </p:sp>
      <p:sp>
        <p:nvSpPr>
          <p:cNvPr id="7" name="TextBox 6">
            <a:extLst>
              <a:ext uri="{FF2B5EF4-FFF2-40B4-BE49-F238E27FC236}">
                <a16:creationId xmlns:a16="http://schemas.microsoft.com/office/drawing/2014/main" id="{6612D2E3-F940-E057-C9DF-0306E5526BC0}"/>
              </a:ext>
            </a:extLst>
          </p:cNvPr>
          <p:cNvSpPr txBox="1"/>
          <p:nvPr/>
        </p:nvSpPr>
        <p:spPr>
          <a:xfrm>
            <a:off x="666413" y="3194034"/>
            <a:ext cx="2536662" cy="15081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0" algn="ctr">
              <a:defRPr/>
            </a:pPr>
            <a:r>
              <a:rPr lang="en-MY">
                <a:solidFill>
                  <a:srgbClr val="FFFFFF"/>
                </a:solidFill>
                <a:latin typeface="Poppins SemiBold"/>
                <a:cs typeface="Arial" panose="020B0604020202020204" pitchFamily="34" charset="0"/>
              </a:rPr>
              <a:t>Lack of Information Hierarchy</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a:ea typeface="+mn-ea"/>
              <a:cs typeface="Arial"/>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GB" sz="1400" i="1" u="none" strike="noStrike" kern="1200" cap="none" spc="0" normalizeH="0" baseline="0" noProof="0">
                <a:ln>
                  <a:noFill/>
                </a:ln>
                <a:solidFill>
                  <a:srgbClr val="FFFFFF"/>
                </a:solidFill>
                <a:effectLst/>
                <a:uLnTx/>
                <a:uFillTx/>
                <a:latin typeface="Poppins"/>
                <a:ea typeface="+mn-ea"/>
                <a:cs typeface="Arial"/>
              </a:rPr>
              <a:t>Undecided visitors are lost before they ever reach proof or form intent</a:t>
            </a:r>
            <a:endParaRPr kumimoji="0" lang="en-MY" sz="1400" i="1" u="none" strike="noStrike" kern="1200" cap="none" spc="0" normalizeH="0" baseline="0" noProof="0">
              <a:ln>
                <a:noFill/>
              </a:ln>
              <a:solidFill>
                <a:srgbClr val="FFFFFF"/>
              </a:solidFill>
              <a:effectLst/>
              <a:uLnTx/>
              <a:uFillTx/>
              <a:latin typeface="Poppins SemiBold"/>
              <a:ea typeface="+mn-ea"/>
              <a:cs typeface="Arial" panose="020B0604020202020204" pitchFamily="34" charset="0"/>
            </a:endParaRPr>
          </a:p>
        </p:txBody>
      </p:sp>
      <p:sp>
        <p:nvSpPr>
          <p:cNvPr id="8" name="Oval 7">
            <a:extLst>
              <a:ext uri="{FF2B5EF4-FFF2-40B4-BE49-F238E27FC236}">
                <a16:creationId xmlns:a16="http://schemas.microsoft.com/office/drawing/2014/main" id="{B1AE5FC8-D1AC-CA36-FB61-71FAFDB32077}"/>
              </a:ext>
            </a:extLst>
          </p:cNvPr>
          <p:cNvSpPr/>
          <p:nvPr/>
        </p:nvSpPr>
        <p:spPr>
          <a:xfrm>
            <a:off x="1458398" y="1799778"/>
            <a:ext cx="914400" cy="914400"/>
          </a:xfrm>
          <a:prstGeom prst="ellipse">
            <a:avLst/>
          </a:prstGeom>
          <a:solidFill>
            <a:schemeClr val="accent1"/>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a:ea typeface="+mn-ea"/>
              <a:cs typeface="+mn-cs"/>
            </a:endParaRPr>
          </a:p>
        </p:txBody>
      </p:sp>
      <p:sp>
        <p:nvSpPr>
          <p:cNvPr id="9" name="Rectangle: Rounded Corners 8">
            <a:extLst>
              <a:ext uri="{FF2B5EF4-FFF2-40B4-BE49-F238E27FC236}">
                <a16:creationId xmlns:a16="http://schemas.microsoft.com/office/drawing/2014/main" id="{C138541F-E80E-F5DB-7ADB-1C04551C0B95}"/>
              </a:ext>
            </a:extLst>
          </p:cNvPr>
          <p:cNvSpPr/>
          <p:nvPr/>
        </p:nvSpPr>
        <p:spPr>
          <a:xfrm>
            <a:off x="8917162" y="2324522"/>
            <a:ext cx="2591021" cy="3435790"/>
          </a:xfrm>
          <a:prstGeom prst="roundRect">
            <a:avLst/>
          </a:prstGeom>
          <a:solidFill>
            <a:schemeClr val="accent2"/>
          </a:solidFill>
          <a:ln w="28575">
            <a:solidFill>
              <a:schemeClr val="accent2"/>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a:ea typeface="+mn-ea"/>
              <a:cs typeface="+mn-cs"/>
            </a:endParaRPr>
          </a:p>
        </p:txBody>
      </p:sp>
      <p:sp>
        <p:nvSpPr>
          <p:cNvPr id="10" name="Rectangle: Rounded Corners 26">
            <a:extLst>
              <a:ext uri="{FF2B5EF4-FFF2-40B4-BE49-F238E27FC236}">
                <a16:creationId xmlns:a16="http://schemas.microsoft.com/office/drawing/2014/main" id="{50049A03-E26E-BB91-A669-B8B32B65E817}"/>
              </a:ext>
            </a:extLst>
          </p:cNvPr>
          <p:cNvSpPr/>
          <p:nvPr/>
        </p:nvSpPr>
        <p:spPr>
          <a:xfrm>
            <a:off x="3336212" y="2324522"/>
            <a:ext cx="2591021" cy="3433266"/>
          </a:xfrm>
          <a:prstGeom prst="roundRect">
            <a:avLst/>
          </a:prstGeom>
          <a:solidFill>
            <a:schemeClr val="accent3"/>
          </a:solidFill>
          <a:ln w="28575">
            <a:solidFill>
              <a:schemeClr val="accent3"/>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a:ea typeface="+mn-ea"/>
              <a:cs typeface="+mn-cs"/>
            </a:endParaRPr>
          </a:p>
        </p:txBody>
      </p:sp>
      <p:sp>
        <p:nvSpPr>
          <p:cNvPr id="11" name="TextBox 10">
            <a:extLst>
              <a:ext uri="{FF2B5EF4-FFF2-40B4-BE49-F238E27FC236}">
                <a16:creationId xmlns:a16="http://schemas.microsoft.com/office/drawing/2014/main" id="{086C5A0A-8DCB-2C60-0B00-142ED8CF97D3}"/>
              </a:ext>
            </a:extLst>
          </p:cNvPr>
          <p:cNvSpPr txBox="1"/>
          <p:nvPr/>
        </p:nvSpPr>
        <p:spPr>
          <a:xfrm>
            <a:off x="3358286" y="3194034"/>
            <a:ext cx="2568947" cy="15081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a:ln>
                  <a:noFill/>
                </a:ln>
                <a:solidFill>
                  <a:srgbClr val="000000"/>
                </a:solidFill>
                <a:effectLst/>
                <a:uLnTx/>
                <a:uFillTx/>
                <a:latin typeface="Poppins SemiBold"/>
                <a:ea typeface="+mn-lt"/>
                <a:cs typeface="Arial" panose="020B0604020202020204" pitchFamily="34" charset="0"/>
              </a:rPr>
              <a:t>Unclear Value Props &amp; Credibility</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400" b="0" i="0" u="none" strike="noStrike" kern="1200" cap="none" spc="0" normalizeH="0" baseline="0" noProof="0">
              <a:ln>
                <a:noFill/>
              </a:ln>
              <a:solidFill>
                <a:srgbClr val="000000"/>
              </a:solidFill>
              <a:effectLst/>
              <a:uLnTx/>
              <a:uFillTx/>
              <a:latin typeface="Poppins"/>
              <a:ea typeface="+mn-ea"/>
              <a:cs typeface="Arial"/>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400" b="0" i="1" u="none" strike="noStrike" kern="1200" cap="none" spc="0" normalizeH="0" baseline="0" noProof="0">
                <a:ln>
                  <a:noFill/>
                </a:ln>
                <a:solidFill>
                  <a:srgbClr val="000000"/>
                </a:solidFill>
                <a:effectLst/>
                <a:uLnTx/>
                <a:uFillTx/>
                <a:latin typeface="Poppins"/>
                <a:ea typeface="+mn-ea"/>
                <a:cs typeface="Arial"/>
              </a:rPr>
              <a:t>Users hesitate because trust and payoff aren’t earned before the ask</a:t>
            </a:r>
            <a:endParaRPr kumimoji="0" lang="en-US" sz="1400" b="0" i="1" u="none" strike="noStrike" kern="1200" cap="none" spc="0" normalizeH="0" baseline="0" noProof="0">
              <a:ln>
                <a:noFill/>
              </a:ln>
              <a:solidFill>
                <a:srgbClr val="000000"/>
              </a:solidFill>
              <a:effectLst/>
              <a:uLnTx/>
              <a:uFillTx/>
              <a:latin typeface="Poppins"/>
              <a:ea typeface="+mn-ea"/>
              <a:cs typeface="Arial"/>
            </a:endParaRPr>
          </a:p>
        </p:txBody>
      </p:sp>
      <p:sp>
        <p:nvSpPr>
          <p:cNvPr id="12" name="Oval 11">
            <a:extLst>
              <a:ext uri="{FF2B5EF4-FFF2-40B4-BE49-F238E27FC236}">
                <a16:creationId xmlns:a16="http://schemas.microsoft.com/office/drawing/2014/main" id="{B1FB1BD9-081E-118F-3A3F-426B806F4D07}"/>
              </a:ext>
            </a:extLst>
          </p:cNvPr>
          <p:cNvSpPr/>
          <p:nvPr/>
        </p:nvSpPr>
        <p:spPr>
          <a:xfrm>
            <a:off x="4171650" y="1799778"/>
            <a:ext cx="914400" cy="914400"/>
          </a:xfrm>
          <a:prstGeom prst="ellipse">
            <a:avLst/>
          </a:prstGeom>
          <a:solidFill>
            <a:schemeClr val="accent3"/>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a:ea typeface="+mn-ea"/>
              <a:cs typeface="+mn-cs"/>
            </a:endParaRPr>
          </a:p>
        </p:txBody>
      </p:sp>
      <p:pic>
        <p:nvPicPr>
          <p:cNvPr id="13" name="Graphic 12" descr="Plane Window with solid fill">
            <a:extLst>
              <a:ext uri="{FF2B5EF4-FFF2-40B4-BE49-F238E27FC236}">
                <a16:creationId xmlns:a16="http://schemas.microsoft.com/office/drawing/2014/main" id="{DEF6E663-A2DC-4570-1E52-8EB4AF06329B}"/>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4346913" y="1943880"/>
            <a:ext cx="584775" cy="584775"/>
          </a:xfrm>
          <a:prstGeom prst="rect">
            <a:avLst/>
          </a:prstGeom>
        </p:spPr>
      </p:pic>
      <p:sp>
        <p:nvSpPr>
          <p:cNvPr id="14" name="Oval 13">
            <a:extLst>
              <a:ext uri="{FF2B5EF4-FFF2-40B4-BE49-F238E27FC236}">
                <a16:creationId xmlns:a16="http://schemas.microsoft.com/office/drawing/2014/main" id="{5F4CBCA0-9F76-8154-398F-CC8D4C136A58}"/>
              </a:ext>
            </a:extLst>
          </p:cNvPr>
          <p:cNvSpPr/>
          <p:nvPr/>
        </p:nvSpPr>
        <p:spPr>
          <a:xfrm>
            <a:off x="9759495" y="1799778"/>
            <a:ext cx="914400" cy="914400"/>
          </a:xfrm>
          <a:prstGeom prst="ellipse">
            <a:avLst/>
          </a:prstGeom>
          <a:solidFill>
            <a:schemeClr val="accent2"/>
          </a:solidFill>
          <a:ln w="19050">
            <a:solidFill>
              <a:schemeClr val="bg1"/>
            </a:solid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a:ea typeface="+mn-ea"/>
              <a:cs typeface="+mn-cs"/>
            </a:endParaRPr>
          </a:p>
        </p:txBody>
      </p:sp>
      <p:sp>
        <p:nvSpPr>
          <p:cNvPr id="15" name="TextBox 14">
            <a:extLst>
              <a:ext uri="{FF2B5EF4-FFF2-40B4-BE49-F238E27FC236}">
                <a16:creationId xmlns:a16="http://schemas.microsoft.com/office/drawing/2014/main" id="{44E453A3-CEFD-FE39-1485-82026F568E68}"/>
              </a:ext>
            </a:extLst>
          </p:cNvPr>
          <p:cNvSpPr txBox="1"/>
          <p:nvPr/>
        </p:nvSpPr>
        <p:spPr>
          <a:xfrm>
            <a:off x="8917162" y="3194034"/>
            <a:ext cx="2591021" cy="172354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defPPr>
              <a:defRPr lang="en-US"/>
            </a:defPPr>
            <a:lvl1pPr marL="0" marR="0" lvl="0" indent="0" algn="ctr" defTabSz="457200" eaLnBrk="1" fontAlgn="auto" latinLnBrk="0" hangingPunct="1">
              <a:lnSpc>
                <a:spcPct val="100000"/>
              </a:lnSpc>
              <a:spcBef>
                <a:spcPts val="0"/>
              </a:spcBef>
              <a:spcAft>
                <a:spcPts val="0"/>
              </a:spcAft>
              <a:buClrTx/>
              <a:buSzTx/>
              <a:buFontTx/>
              <a:buNone/>
              <a:tabLst/>
              <a:defRPr kumimoji="0" sz="1600" b="1" i="0" u="none" strike="noStrike" cap="none" spc="0" normalizeH="0" baseline="0">
                <a:ln>
                  <a:noFill/>
                </a:ln>
                <a:solidFill>
                  <a:srgbClr val="FFFFFF"/>
                </a:solidFill>
                <a:effectLst/>
                <a:uLnTx/>
                <a:uFillTx/>
                <a:latin typeface="+mj-lt"/>
                <a:ea typeface="+mn-lt"/>
                <a:cs typeface="Arial" panose="020B0604020202020204" pitchFamily="34" charset="0"/>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Poppins SemiBold"/>
                <a:cs typeface="Arial" panose="020B0604020202020204" pitchFamily="34" charset="0"/>
              </a:rPr>
              <a:t>No Lead Nurture Post-Inquiry </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400" b="0" i="1" u="none" strike="noStrike" kern="1200" cap="none" spc="0" normalizeH="0" baseline="0" noProof="0">
              <a:ln>
                <a:noFill/>
              </a:ln>
              <a:solidFill>
                <a:srgbClr val="FFFFFF"/>
              </a:solidFill>
              <a:effectLst/>
              <a:uLnTx/>
              <a:uFillTx/>
              <a:latin typeface="Poppins"/>
              <a:ea typeface="Calibri"/>
              <a:cs typeface="Calibri"/>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GB" sz="1400" b="0" i="1">
                <a:latin typeface="Poppins"/>
                <a:ea typeface="Calibri"/>
                <a:cs typeface="Calibri"/>
              </a:rPr>
              <a:t>Downstream value remains under‑captured even after an inquiry is won</a:t>
            </a:r>
            <a:endParaRPr kumimoji="0" lang="en-GB" sz="1400" b="0" i="1" u="none" strike="noStrike" kern="1200" cap="none" spc="0" normalizeH="0" baseline="0" noProof="0">
              <a:ln>
                <a:noFill/>
              </a:ln>
              <a:solidFill>
                <a:srgbClr val="FFFFFF"/>
              </a:solidFill>
              <a:effectLst/>
              <a:uLnTx/>
              <a:uFillTx/>
              <a:latin typeface="Poppins"/>
              <a:ea typeface="Calibri"/>
              <a:cs typeface="Calibri"/>
            </a:endParaRPr>
          </a:p>
        </p:txBody>
      </p:sp>
      <p:pic>
        <p:nvPicPr>
          <p:cNvPr id="16" name="Graphic 15" descr="Hierarchy with solid fill">
            <a:extLst>
              <a:ext uri="{FF2B5EF4-FFF2-40B4-BE49-F238E27FC236}">
                <a16:creationId xmlns:a16="http://schemas.microsoft.com/office/drawing/2014/main" id="{71AB6A93-183F-FA9E-9CAB-86BB2F9A1F49}"/>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601273" y="1948714"/>
            <a:ext cx="640080" cy="640080"/>
          </a:xfrm>
          <a:prstGeom prst="rect">
            <a:avLst/>
          </a:prstGeom>
        </p:spPr>
      </p:pic>
      <p:pic>
        <p:nvPicPr>
          <p:cNvPr id="17" name="Graphic 16" descr="Watering Plant with solid fill">
            <a:extLst>
              <a:ext uri="{FF2B5EF4-FFF2-40B4-BE49-F238E27FC236}">
                <a16:creationId xmlns:a16="http://schemas.microsoft.com/office/drawing/2014/main" id="{C6F4497D-5E48-2CD3-3717-63D7A7F5604A}"/>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9892632" y="1926276"/>
            <a:ext cx="640080" cy="640080"/>
          </a:xfrm>
          <a:prstGeom prst="rect">
            <a:avLst/>
          </a:prstGeom>
        </p:spPr>
      </p:pic>
      <p:sp>
        <p:nvSpPr>
          <p:cNvPr id="18" name="Title 1">
            <a:extLst>
              <a:ext uri="{FF2B5EF4-FFF2-40B4-BE49-F238E27FC236}">
                <a16:creationId xmlns:a16="http://schemas.microsoft.com/office/drawing/2014/main" id="{84331701-4E32-AEA2-D57F-D2D8B39CF012}"/>
              </a:ext>
            </a:extLst>
          </p:cNvPr>
          <p:cNvSpPr txBox="1">
            <a:spLocks/>
          </p:cNvSpPr>
          <p:nvPr/>
        </p:nvSpPr>
        <p:spPr>
          <a:xfrm>
            <a:off x="554001" y="637697"/>
            <a:ext cx="11150252" cy="536422"/>
          </a:xfrm>
          <a:prstGeom prst="rect">
            <a:avLst/>
          </a:prstGeom>
        </p:spPr>
        <p:txBody>
          <a:bodyPr vert="horz" lIns="91440" tIns="45720" rIns="91440" bIns="45720" rtlCol="0" anchor="t">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lvl="0" algn="ctr" defTabSz="914369">
              <a:lnSpc>
                <a:spcPct val="95000"/>
              </a:lnSpc>
              <a:defRPr/>
            </a:pPr>
            <a:r>
              <a:rPr lang="en-GB" sz="2800">
                <a:solidFill>
                  <a:schemeClr val="accent2"/>
                </a:solidFill>
                <a:latin typeface="+mj-lt"/>
              </a:rPr>
              <a:t>Journey Breakdowns Are Eroding Enrollment Opportunity</a:t>
            </a:r>
            <a:endParaRPr lang="en-US" sz="2800">
              <a:solidFill>
                <a:schemeClr val="accent2"/>
              </a:solidFill>
              <a:latin typeface="+mj-lt"/>
            </a:endParaRPr>
          </a:p>
        </p:txBody>
      </p:sp>
    </p:spTree>
    <p:extLst>
      <p:ext uri="{BB962C8B-B14F-4D97-AF65-F5344CB8AC3E}">
        <p14:creationId xmlns:p14="http://schemas.microsoft.com/office/powerpoint/2010/main" val="329836957"/>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3DBE8-2807-7485-539E-55BA42931973}"/>
            </a:ext>
          </a:extLst>
        </p:cNvPr>
        <p:cNvGrpSpPr/>
        <p:nvPr/>
      </p:nvGrpSpPr>
      <p:grpSpPr>
        <a:xfrm>
          <a:off x="0" y="0"/>
          <a:ext cx="0" cy="0"/>
          <a:chOff x="0" y="0"/>
          <a:chExt cx="0" cy="0"/>
        </a:xfrm>
      </p:grpSpPr>
      <p:sp>
        <p:nvSpPr>
          <p:cNvPr id="19" name="Oval 18">
            <a:extLst>
              <a:ext uri="{FF2B5EF4-FFF2-40B4-BE49-F238E27FC236}">
                <a16:creationId xmlns:a16="http://schemas.microsoft.com/office/drawing/2014/main" id="{FDDE920D-46C3-583C-DA5F-1A057F474A97}"/>
              </a:ext>
            </a:extLst>
          </p:cNvPr>
          <p:cNvSpPr/>
          <p:nvPr/>
        </p:nvSpPr>
        <p:spPr>
          <a:xfrm>
            <a:off x="501073" y="6266051"/>
            <a:ext cx="152400" cy="152400"/>
          </a:xfrm>
          <a:prstGeom prst="ellipse">
            <a:avLst/>
          </a:prstGeom>
          <a:solidFill>
            <a:srgbClr val="92D050"/>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20" name="TextBox 19">
            <a:extLst>
              <a:ext uri="{FF2B5EF4-FFF2-40B4-BE49-F238E27FC236}">
                <a16:creationId xmlns:a16="http://schemas.microsoft.com/office/drawing/2014/main" id="{BA8BCABE-9C33-01DD-94FC-A9536F0FF0E1}"/>
              </a:ext>
            </a:extLst>
          </p:cNvPr>
          <p:cNvSpPr txBox="1"/>
          <p:nvPr/>
        </p:nvSpPr>
        <p:spPr>
          <a:xfrm>
            <a:off x="704273" y="6144916"/>
            <a:ext cx="1143000" cy="366382"/>
          </a:xfrm>
          <a:prstGeom prst="rect">
            <a:avLst/>
          </a:prstGeom>
          <a:noFill/>
        </p:spPr>
        <p:txBody>
          <a:bodyPr vertOverflow="overflow" vert="horz" wrap="square" lIns="91440" tIns="91440" rIns="91440" bIns="91440" rtlCol="0" anchor="t">
            <a:spAutoFit/>
          </a:bodyPr>
          <a:lstStyle/>
          <a:p>
            <a:pPr marL="0" marR="0" indent="0" algn="l" defTabSz="914400" rtl="0" eaLnBrk="1" fontAlgn="base" latinLnBrk="0" hangingPunct="1">
              <a:lnSpc>
                <a:spcPct val="112000"/>
              </a:lnSpc>
              <a:spcBef>
                <a:spcPct val="0"/>
              </a:spcBef>
              <a:spcAft>
                <a:spcPct val="0"/>
              </a:spcAft>
              <a:buClr>
                <a:srgbClr val="442735"/>
              </a:buClr>
              <a:buSzTx/>
              <a:buFontTx/>
              <a:buNone/>
              <a:tabLst/>
            </a:pPr>
            <a:r>
              <a:rPr kumimoji="0" lang="en-US" sz="1100" b="0" i="0" u="none" strike="noStrike" kern="1200" cap="none" spc="0" normalizeH="0" baseline="0" noProof="0">
                <a:ln>
                  <a:noFill/>
                </a:ln>
                <a:solidFill>
                  <a:srgbClr val="262626"/>
                </a:solidFill>
                <a:effectLst/>
                <a:uLnTx/>
                <a:uFillTx/>
                <a:latin typeface="+mn-lt"/>
                <a:ea typeface="+mn-ea"/>
                <a:cs typeface="+mn-cs"/>
              </a:rPr>
              <a:t>Doing well</a:t>
            </a:r>
          </a:p>
        </p:txBody>
      </p:sp>
      <p:sp>
        <p:nvSpPr>
          <p:cNvPr id="21" name="Oval 20">
            <a:extLst>
              <a:ext uri="{FF2B5EF4-FFF2-40B4-BE49-F238E27FC236}">
                <a16:creationId xmlns:a16="http://schemas.microsoft.com/office/drawing/2014/main" id="{C1B21120-3F16-1951-9401-0DB4311D0FE4}"/>
              </a:ext>
            </a:extLst>
          </p:cNvPr>
          <p:cNvSpPr/>
          <p:nvPr/>
        </p:nvSpPr>
        <p:spPr>
          <a:xfrm>
            <a:off x="1759523" y="6266051"/>
            <a:ext cx="152400" cy="152400"/>
          </a:xfrm>
          <a:prstGeom prst="ellipse">
            <a:avLst/>
          </a:prstGeom>
          <a:solidFill>
            <a:srgbClr val="FFC000"/>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22" name="TextBox 21">
            <a:extLst>
              <a:ext uri="{FF2B5EF4-FFF2-40B4-BE49-F238E27FC236}">
                <a16:creationId xmlns:a16="http://schemas.microsoft.com/office/drawing/2014/main" id="{5B9324A1-BBD8-9E92-1CE2-8C7CD75C6678}"/>
              </a:ext>
            </a:extLst>
          </p:cNvPr>
          <p:cNvSpPr txBox="1"/>
          <p:nvPr/>
        </p:nvSpPr>
        <p:spPr>
          <a:xfrm>
            <a:off x="1962723" y="6144916"/>
            <a:ext cx="1143000" cy="366382"/>
          </a:xfrm>
          <a:prstGeom prst="rect">
            <a:avLst/>
          </a:prstGeom>
          <a:noFill/>
        </p:spPr>
        <p:txBody>
          <a:bodyPr vertOverflow="overflow" vert="horz" wrap="square" lIns="91440" tIns="91440" rIns="91440" bIns="91440" rtlCol="0" anchor="t">
            <a:spAutoFit/>
          </a:bodyPr>
          <a:lstStyle/>
          <a:p>
            <a:pPr marL="0" marR="0" indent="0" algn="l" defTabSz="914400" rtl="0" eaLnBrk="1" fontAlgn="base" latinLnBrk="0" hangingPunct="1">
              <a:lnSpc>
                <a:spcPct val="112000"/>
              </a:lnSpc>
              <a:spcBef>
                <a:spcPct val="0"/>
              </a:spcBef>
              <a:spcAft>
                <a:spcPct val="0"/>
              </a:spcAft>
              <a:buClr>
                <a:srgbClr val="442735"/>
              </a:buClr>
              <a:buSzTx/>
              <a:buFontTx/>
              <a:buNone/>
              <a:tabLst/>
            </a:pPr>
            <a:r>
              <a:rPr kumimoji="0" lang="en-US" sz="1100" b="0" i="0" u="none" strike="noStrike" kern="1200" cap="none" spc="0" normalizeH="0" baseline="0" noProof="0">
                <a:ln>
                  <a:noFill/>
                </a:ln>
                <a:solidFill>
                  <a:srgbClr val="262626"/>
                </a:solidFill>
                <a:effectLst/>
                <a:uLnTx/>
                <a:uFillTx/>
                <a:latin typeface="+mn-lt"/>
                <a:ea typeface="+mn-ea"/>
                <a:cs typeface="+mn-cs"/>
              </a:rPr>
              <a:t>Partial</a:t>
            </a:r>
          </a:p>
        </p:txBody>
      </p:sp>
      <p:sp>
        <p:nvSpPr>
          <p:cNvPr id="23" name="Oval 22">
            <a:extLst>
              <a:ext uri="{FF2B5EF4-FFF2-40B4-BE49-F238E27FC236}">
                <a16:creationId xmlns:a16="http://schemas.microsoft.com/office/drawing/2014/main" id="{901DEE33-0993-F27D-C925-D014363919CE}"/>
              </a:ext>
            </a:extLst>
          </p:cNvPr>
          <p:cNvSpPr/>
          <p:nvPr/>
        </p:nvSpPr>
        <p:spPr>
          <a:xfrm>
            <a:off x="2763973" y="6266051"/>
            <a:ext cx="152400" cy="152400"/>
          </a:xfrm>
          <a:prstGeom prst="ellipse">
            <a:avLst/>
          </a:prstGeom>
          <a:solidFill>
            <a:srgbClr val="C00000"/>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24" name="TextBox 23">
            <a:extLst>
              <a:ext uri="{FF2B5EF4-FFF2-40B4-BE49-F238E27FC236}">
                <a16:creationId xmlns:a16="http://schemas.microsoft.com/office/drawing/2014/main" id="{1EDFCC84-BA6E-2F22-C763-3BACFCB2FACD}"/>
              </a:ext>
            </a:extLst>
          </p:cNvPr>
          <p:cNvSpPr txBox="1"/>
          <p:nvPr/>
        </p:nvSpPr>
        <p:spPr>
          <a:xfrm>
            <a:off x="2967173" y="6144916"/>
            <a:ext cx="1143000" cy="366382"/>
          </a:xfrm>
          <a:prstGeom prst="rect">
            <a:avLst/>
          </a:prstGeom>
          <a:noFill/>
        </p:spPr>
        <p:txBody>
          <a:bodyPr vertOverflow="overflow" vert="horz" wrap="square" lIns="91440" tIns="91440" rIns="91440" bIns="91440" rtlCol="0" anchor="t">
            <a:spAutoFit/>
          </a:bodyPr>
          <a:lstStyle/>
          <a:p>
            <a:pPr marL="0" marR="0" indent="0" algn="l" defTabSz="914400" rtl="0" eaLnBrk="1" fontAlgn="base" latinLnBrk="0" hangingPunct="1">
              <a:lnSpc>
                <a:spcPct val="112000"/>
              </a:lnSpc>
              <a:spcBef>
                <a:spcPct val="0"/>
              </a:spcBef>
              <a:spcAft>
                <a:spcPct val="0"/>
              </a:spcAft>
              <a:buClr>
                <a:srgbClr val="442735"/>
              </a:buClr>
              <a:buSzTx/>
              <a:buFontTx/>
              <a:buNone/>
              <a:tabLst/>
            </a:pPr>
            <a:r>
              <a:rPr kumimoji="0" lang="en-US" sz="1100" b="0" i="0" u="none" strike="noStrike" kern="1200" cap="none" spc="0" normalizeH="0" baseline="0" noProof="0">
                <a:ln>
                  <a:noFill/>
                </a:ln>
                <a:solidFill>
                  <a:srgbClr val="262626"/>
                </a:solidFill>
                <a:effectLst/>
                <a:uLnTx/>
                <a:uFillTx/>
                <a:latin typeface="+mn-lt"/>
                <a:ea typeface="+mn-ea"/>
                <a:cs typeface="+mn-cs"/>
              </a:rPr>
              <a:t>Gap</a:t>
            </a:r>
          </a:p>
        </p:txBody>
      </p:sp>
      <p:sp>
        <p:nvSpPr>
          <p:cNvPr id="25" name="Rectangle: Rounded Corners 24">
            <a:extLst>
              <a:ext uri="{FF2B5EF4-FFF2-40B4-BE49-F238E27FC236}">
                <a16:creationId xmlns:a16="http://schemas.microsoft.com/office/drawing/2014/main" id="{CC50D9AF-D94F-85ED-43FC-7430D2AF5273}"/>
              </a:ext>
            </a:extLst>
          </p:cNvPr>
          <p:cNvSpPr/>
          <p:nvPr/>
        </p:nvSpPr>
        <p:spPr>
          <a:xfrm>
            <a:off x="381000" y="1473200"/>
            <a:ext cx="2743200" cy="4643079"/>
          </a:xfrm>
          <a:prstGeom prst="roundRect">
            <a:avLst/>
          </a:prstGeom>
          <a:solidFill>
            <a:srgbClr val="F5F2EE"/>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26" name="Rectangle 25">
            <a:extLst>
              <a:ext uri="{FF2B5EF4-FFF2-40B4-BE49-F238E27FC236}">
                <a16:creationId xmlns:a16="http://schemas.microsoft.com/office/drawing/2014/main" id="{911A60E6-9E26-8D4F-A7F0-42839E8935C9}"/>
              </a:ext>
            </a:extLst>
          </p:cNvPr>
          <p:cNvSpPr/>
          <p:nvPr/>
        </p:nvSpPr>
        <p:spPr>
          <a:xfrm>
            <a:off x="381000" y="1473200"/>
            <a:ext cx="2743200" cy="76200"/>
          </a:xfrm>
          <a:prstGeom prst="rect">
            <a:avLst/>
          </a:prstGeom>
          <a:solidFill>
            <a:schemeClr val="accent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27" name="TextBox 26">
            <a:extLst>
              <a:ext uri="{FF2B5EF4-FFF2-40B4-BE49-F238E27FC236}">
                <a16:creationId xmlns:a16="http://schemas.microsoft.com/office/drawing/2014/main" id="{D7081101-5A8D-90B0-C7B5-C2A3D7942973}"/>
              </a:ext>
            </a:extLst>
          </p:cNvPr>
          <p:cNvSpPr txBox="1"/>
          <p:nvPr/>
        </p:nvSpPr>
        <p:spPr>
          <a:xfrm>
            <a:off x="533400" y="1600200"/>
            <a:ext cx="508000" cy="415948"/>
          </a:xfrm>
          <a:prstGeom prst="rect">
            <a:avLst/>
          </a:prstGeom>
          <a:noFill/>
        </p:spPr>
        <p:txBody>
          <a:bodyPr vertOverflow="overflow" vert="horz" wrap="square" lIns="91440" tIns="91440" rIns="91440" bIns="91440" rtlCol="0" anchor="t">
            <a:spAutoFit/>
          </a:bodyPr>
          <a:lstStyle/>
          <a:p>
            <a:pPr marL="0" marR="0" indent="0" algn="l" defTabSz="914400" rtl="0" eaLnBrk="1" fontAlgn="base" latinLnBrk="0" hangingPunct="1">
              <a:lnSpc>
                <a:spcPct val="112000"/>
              </a:lnSpc>
              <a:spcBef>
                <a:spcPct val="0"/>
              </a:spcBef>
              <a:spcAft>
                <a:spcPct val="0"/>
              </a:spcAft>
              <a:buClr>
                <a:srgbClr val="442735"/>
              </a:buClr>
              <a:buSzTx/>
              <a:buFontTx/>
              <a:buNone/>
              <a:tabLst/>
            </a:pPr>
            <a:r>
              <a:rPr kumimoji="0" lang="en-US" sz="1400" b="1" i="0" u="none" strike="noStrike" kern="1200" cap="none" spc="0" normalizeH="0" baseline="0" noProof="0">
                <a:ln>
                  <a:noFill/>
                </a:ln>
                <a:solidFill>
                  <a:srgbClr val="01239A"/>
                </a:solidFill>
                <a:effectLst/>
                <a:uLnTx/>
                <a:uFillTx/>
                <a:latin typeface="+mn-lt"/>
                <a:ea typeface="+mn-ea"/>
                <a:cs typeface="+mn-cs"/>
              </a:rPr>
              <a:t>01</a:t>
            </a:r>
          </a:p>
        </p:txBody>
      </p:sp>
      <p:sp>
        <p:nvSpPr>
          <p:cNvPr id="28" name="TextBox 27">
            <a:extLst>
              <a:ext uri="{FF2B5EF4-FFF2-40B4-BE49-F238E27FC236}">
                <a16:creationId xmlns:a16="http://schemas.microsoft.com/office/drawing/2014/main" id="{0A283737-38E7-FD5C-8BB7-9DACDC371492}"/>
              </a:ext>
            </a:extLst>
          </p:cNvPr>
          <p:cNvSpPr txBox="1"/>
          <p:nvPr/>
        </p:nvSpPr>
        <p:spPr>
          <a:xfrm>
            <a:off x="508000" y="1905000"/>
            <a:ext cx="2489200" cy="415948"/>
          </a:xfrm>
          <a:prstGeom prst="rect">
            <a:avLst/>
          </a:prstGeom>
          <a:noFill/>
        </p:spPr>
        <p:txBody>
          <a:bodyPr vertOverflow="overflow" vert="horz" wrap="square" lIns="91440" tIns="91440" rIns="91440" bIns="91440" rtlCol="0" anchor="t">
            <a:spAutoFit/>
          </a:bodyPr>
          <a:lstStyle/>
          <a:p>
            <a:pPr marL="0" marR="0" indent="0" algn="l" defTabSz="914400" rtl="0" eaLnBrk="1" fontAlgn="base" latinLnBrk="0" hangingPunct="1">
              <a:lnSpc>
                <a:spcPct val="112000"/>
              </a:lnSpc>
              <a:spcBef>
                <a:spcPct val="0"/>
              </a:spcBef>
              <a:spcAft>
                <a:spcPct val="0"/>
              </a:spcAft>
              <a:buClr>
                <a:srgbClr val="442735"/>
              </a:buClr>
              <a:buSzTx/>
              <a:buFontTx/>
              <a:buNone/>
              <a:tabLst/>
            </a:pPr>
            <a:r>
              <a:rPr kumimoji="0" lang="en-US" sz="1400" b="1" i="0" u="none" strike="noStrike" kern="1200" cap="none" spc="0" normalizeH="0" baseline="0" noProof="0">
                <a:ln>
                  <a:noFill/>
                </a:ln>
                <a:solidFill>
                  <a:srgbClr val="262626"/>
                </a:solidFill>
                <a:effectLst/>
                <a:uLnTx/>
                <a:uFillTx/>
                <a:latin typeface="+mn-lt"/>
                <a:ea typeface="+mn-ea"/>
                <a:cs typeface="+mn-cs"/>
              </a:rPr>
              <a:t>Information </a:t>
            </a:r>
            <a:r>
              <a:rPr lang="en-US" sz="1400" b="1">
                <a:solidFill>
                  <a:srgbClr val="262626"/>
                </a:solidFill>
                <a:latin typeface="+mn-lt"/>
              </a:rPr>
              <a:t>Hierarchy</a:t>
            </a:r>
            <a:endParaRPr kumimoji="0" lang="en-US" sz="1400" b="1" i="0" u="none" strike="noStrike" kern="1200" cap="none" spc="0" normalizeH="0" baseline="0" noProof="0">
              <a:ln>
                <a:noFill/>
              </a:ln>
              <a:solidFill>
                <a:srgbClr val="262626"/>
              </a:solidFill>
              <a:effectLst/>
              <a:uLnTx/>
              <a:uFillTx/>
              <a:latin typeface="+mn-lt"/>
              <a:ea typeface="+mn-ea"/>
              <a:cs typeface="+mn-cs"/>
            </a:endParaRPr>
          </a:p>
        </p:txBody>
      </p:sp>
      <p:sp>
        <p:nvSpPr>
          <p:cNvPr id="29" name="TextBox 28">
            <a:extLst>
              <a:ext uri="{FF2B5EF4-FFF2-40B4-BE49-F238E27FC236}">
                <a16:creationId xmlns:a16="http://schemas.microsoft.com/office/drawing/2014/main" id="{CB7AE1B9-D147-2C13-F4B7-ECC8BA11165D}"/>
              </a:ext>
            </a:extLst>
          </p:cNvPr>
          <p:cNvSpPr txBox="1"/>
          <p:nvPr/>
        </p:nvSpPr>
        <p:spPr>
          <a:xfrm>
            <a:off x="507999" y="2463800"/>
            <a:ext cx="2597723" cy="1805687"/>
          </a:xfrm>
          <a:prstGeom prst="rect">
            <a:avLst/>
          </a:prstGeom>
          <a:noFill/>
        </p:spPr>
        <p:txBody>
          <a:bodyPr vertOverflow="overflow" vert="horz" wrap="square" lIns="91440" tIns="91440" rIns="91440" bIns="91440" rtlCol="0" anchor="t">
            <a:spAutoFit/>
          </a:bodyPr>
          <a:lstStyle/>
          <a:p>
            <a:pPr eaLnBrk="1" hangingPunct="1">
              <a:lnSpc>
                <a:spcPct val="112000"/>
              </a:lnSpc>
              <a:buClr>
                <a:srgbClr val="442735"/>
              </a:buClr>
            </a:pPr>
            <a:r>
              <a:rPr kumimoji="0" lang="en-US" sz="1050" b="0" i="0" u="none" strike="noStrike" kern="1200" cap="none" spc="0" normalizeH="0" baseline="0" noProof="0">
                <a:ln>
                  <a:noFill/>
                </a:ln>
                <a:solidFill>
                  <a:srgbClr val="262626"/>
                </a:solidFill>
                <a:effectLst/>
                <a:uLnTx/>
                <a:uFillTx/>
                <a:latin typeface="+mn-lt"/>
                <a:ea typeface="+mn-ea"/>
                <a:cs typeface="+mn-cs"/>
              </a:rPr>
              <a:t>• Topic discovery content (Basic)
• Topic-based pathing </a:t>
            </a:r>
            <a:r>
              <a:rPr lang="en-US" sz="1050">
                <a:solidFill>
                  <a:srgbClr val="262626"/>
                </a:solidFill>
                <a:latin typeface="+mn-lt"/>
              </a:rPr>
              <a:t>(Basic) </a:t>
            </a:r>
            <a:r>
              <a:rPr kumimoji="0" lang="en-US" sz="1050" b="0" i="0" u="none" strike="noStrike" kern="1200" cap="none" spc="0" normalizeH="0" baseline="0" noProof="0">
                <a:ln>
                  <a:noFill/>
                </a:ln>
                <a:solidFill>
                  <a:srgbClr val="262626"/>
                </a:solidFill>
                <a:effectLst/>
                <a:uLnTx/>
                <a:uFillTx/>
                <a:latin typeface="+mn-lt"/>
                <a:ea typeface="+mn-ea"/>
                <a:cs typeface="+mn-cs"/>
              </a:rPr>
              <a:t>
• Program-specific content (Moderate)
• Program pathing </a:t>
            </a:r>
            <a:r>
              <a:rPr lang="en-US" sz="1050">
                <a:solidFill>
                  <a:srgbClr val="262626"/>
                </a:solidFill>
                <a:latin typeface="+mn-lt"/>
              </a:rPr>
              <a:t>(Moderate) </a:t>
            </a:r>
            <a:r>
              <a:rPr kumimoji="0" lang="en-US" sz="1050" b="0" i="0" u="none" strike="noStrike" kern="1200" cap="none" spc="0" normalizeH="0" baseline="0" noProof="0">
                <a:ln>
                  <a:noFill/>
                </a:ln>
                <a:solidFill>
                  <a:srgbClr val="262626"/>
                </a:solidFill>
                <a:effectLst/>
                <a:uLnTx/>
                <a:uFillTx/>
                <a:latin typeface="+mn-lt"/>
                <a:ea typeface="+mn-ea"/>
                <a:cs typeface="+mn-cs"/>
              </a:rPr>
              <a:t>
• Outcome pathing</a:t>
            </a:r>
            <a:r>
              <a:rPr lang="en-US" sz="1050">
                <a:solidFill>
                  <a:srgbClr val="262626"/>
                </a:solidFill>
                <a:latin typeface="+mn-lt"/>
              </a:rPr>
              <a:t> (Moderate) </a:t>
            </a:r>
            <a:r>
              <a:rPr kumimoji="0" lang="en-US" sz="1050" b="0" i="0" u="none" strike="noStrike" kern="1200" cap="none" spc="0" normalizeH="0" baseline="0" noProof="0">
                <a:ln>
                  <a:noFill/>
                </a:ln>
                <a:solidFill>
                  <a:srgbClr val="262626"/>
                </a:solidFill>
                <a:effectLst/>
                <a:uLnTx/>
                <a:uFillTx/>
                <a:latin typeface="+mn-lt"/>
                <a:ea typeface="+mn-ea"/>
                <a:cs typeface="+mn-cs"/>
              </a:rPr>
              <a:t>
• Recommendations</a:t>
            </a:r>
            <a:r>
              <a:rPr lang="en-US" sz="1050">
                <a:solidFill>
                  <a:srgbClr val="262626"/>
                </a:solidFill>
                <a:latin typeface="+mn-lt"/>
              </a:rPr>
              <a:t> (Sophisticated) </a:t>
            </a:r>
            <a:r>
              <a:rPr kumimoji="0" lang="en-US" sz="1050" b="0" i="0" u="none" strike="noStrike" kern="1200" cap="none" spc="0" normalizeH="0" baseline="0" noProof="0">
                <a:ln>
                  <a:noFill/>
                </a:ln>
                <a:solidFill>
                  <a:srgbClr val="262626"/>
                </a:solidFill>
                <a:effectLst/>
                <a:uLnTx/>
                <a:uFillTx/>
                <a:latin typeface="+mn-lt"/>
                <a:ea typeface="+mn-ea"/>
                <a:cs typeface="+mn-cs"/>
              </a:rPr>
              <a:t>
• Guided journeys </a:t>
            </a:r>
            <a:r>
              <a:rPr lang="en-US" sz="1050">
                <a:solidFill>
                  <a:srgbClr val="262626"/>
                </a:solidFill>
                <a:latin typeface="+mn-lt"/>
              </a:rPr>
              <a:t>(Sophisticated)</a:t>
            </a:r>
            <a:endParaRPr kumimoji="0" lang="en-US" sz="1050" b="0" i="0" u="none" strike="noStrike" kern="1200" cap="none" spc="0" normalizeH="0" baseline="0" noProof="0">
              <a:ln>
                <a:noFill/>
              </a:ln>
              <a:solidFill>
                <a:srgbClr val="262626"/>
              </a:solidFill>
              <a:effectLst/>
              <a:uLnTx/>
              <a:uFillTx/>
              <a:latin typeface="+mn-lt"/>
              <a:ea typeface="+mn-ea"/>
              <a:cs typeface="+mn-cs"/>
            </a:endParaRPr>
          </a:p>
        </p:txBody>
      </p:sp>
      <p:sp>
        <p:nvSpPr>
          <p:cNvPr id="30" name="TextBox 29">
            <a:extLst>
              <a:ext uri="{FF2B5EF4-FFF2-40B4-BE49-F238E27FC236}">
                <a16:creationId xmlns:a16="http://schemas.microsoft.com/office/drawing/2014/main" id="{3F46653A-023E-A7A8-48DB-7AA7F7ED1FA9}"/>
              </a:ext>
            </a:extLst>
          </p:cNvPr>
          <p:cNvSpPr txBox="1"/>
          <p:nvPr/>
        </p:nvSpPr>
        <p:spPr>
          <a:xfrm>
            <a:off x="508000" y="4096324"/>
            <a:ext cx="2489200" cy="349839"/>
          </a:xfrm>
          <a:prstGeom prst="rect">
            <a:avLst/>
          </a:prstGeom>
          <a:noFill/>
        </p:spPr>
        <p:txBody>
          <a:bodyPr vertOverflow="overflow" vert="horz" wrap="square" lIns="91440" tIns="91440" rIns="91440" bIns="91440" rtlCol="0" anchor="t">
            <a:spAutoFit/>
          </a:bodyPr>
          <a:lstStyle/>
          <a:p>
            <a:pPr marL="0" marR="0" indent="0" algn="l" defTabSz="914400" rtl="0" eaLnBrk="1" fontAlgn="base" latinLnBrk="0" hangingPunct="1">
              <a:lnSpc>
                <a:spcPct val="112000"/>
              </a:lnSpc>
              <a:spcBef>
                <a:spcPct val="0"/>
              </a:spcBef>
              <a:spcAft>
                <a:spcPct val="0"/>
              </a:spcAft>
              <a:buClr>
                <a:srgbClr val="442735"/>
              </a:buClr>
              <a:buSzTx/>
              <a:buFontTx/>
              <a:buNone/>
              <a:tabLst/>
            </a:pPr>
            <a:r>
              <a:rPr kumimoji="0" lang="en-US" sz="1000" b="1" i="0" u="none" strike="noStrike" kern="1200" cap="none" spc="0" normalizeH="0" baseline="0" noProof="0">
                <a:ln>
                  <a:noFill/>
                </a:ln>
                <a:solidFill>
                  <a:srgbClr val="595959"/>
                </a:solidFill>
                <a:effectLst/>
                <a:uLnTx/>
                <a:uFillTx/>
                <a:latin typeface="+mn-lt"/>
                <a:ea typeface="+mn-ea"/>
                <a:cs typeface="+mn-cs"/>
              </a:rPr>
              <a:t>Score</a:t>
            </a:r>
          </a:p>
        </p:txBody>
      </p:sp>
      <p:sp>
        <p:nvSpPr>
          <p:cNvPr id="31" name="TextBox 30">
            <a:extLst>
              <a:ext uri="{FF2B5EF4-FFF2-40B4-BE49-F238E27FC236}">
                <a16:creationId xmlns:a16="http://schemas.microsoft.com/office/drawing/2014/main" id="{46CCB0B8-E430-2E41-048A-DD5B92C5993D}"/>
              </a:ext>
            </a:extLst>
          </p:cNvPr>
          <p:cNvSpPr txBox="1"/>
          <p:nvPr/>
        </p:nvSpPr>
        <p:spPr>
          <a:xfrm>
            <a:off x="508000" y="4408740"/>
            <a:ext cx="1981200" cy="349839"/>
          </a:xfrm>
          <a:prstGeom prst="rect">
            <a:avLst/>
          </a:prstGeom>
          <a:noFill/>
        </p:spPr>
        <p:txBody>
          <a:bodyPr vertOverflow="overflow" vert="horz" wrap="square" lIns="91440" tIns="91440" rIns="91440" bIns="91440" rtlCol="0" anchor="t">
            <a:spAutoFit/>
          </a:bodyPr>
          <a:lstStyle/>
          <a:p>
            <a:pPr marL="0" marR="0" indent="0" algn="l" defTabSz="914400" rtl="0" eaLnBrk="1" fontAlgn="base" latinLnBrk="0" hangingPunct="1">
              <a:lnSpc>
                <a:spcPct val="112000"/>
              </a:lnSpc>
              <a:spcBef>
                <a:spcPct val="0"/>
              </a:spcBef>
              <a:spcAft>
                <a:spcPct val="0"/>
              </a:spcAft>
              <a:buClr>
                <a:srgbClr val="442735"/>
              </a:buClr>
              <a:buSzTx/>
              <a:buFontTx/>
              <a:buNone/>
              <a:tabLst/>
            </a:pPr>
            <a:r>
              <a:rPr kumimoji="0" lang="en-US" sz="1000" b="0" i="0" u="none" strike="noStrike" kern="1200" cap="none" spc="0" normalizeH="0" baseline="0" noProof="0">
                <a:ln>
                  <a:noFill/>
                </a:ln>
                <a:solidFill>
                  <a:srgbClr val="262626"/>
                </a:solidFill>
                <a:effectLst/>
                <a:uLnTx/>
                <a:uFillTx/>
                <a:latin typeface="+mn-lt"/>
                <a:ea typeface="+mn-ea"/>
                <a:cs typeface="+mn-cs"/>
              </a:rPr>
              <a:t>DeVry today</a:t>
            </a:r>
          </a:p>
        </p:txBody>
      </p:sp>
      <p:sp>
        <p:nvSpPr>
          <p:cNvPr id="33" name="Rectangle 32">
            <a:extLst>
              <a:ext uri="{FF2B5EF4-FFF2-40B4-BE49-F238E27FC236}">
                <a16:creationId xmlns:a16="http://schemas.microsoft.com/office/drawing/2014/main" id="{24CE414C-AE7B-C7B9-5E96-D7341FB0ADC7}"/>
              </a:ext>
            </a:extLst>
          </p:cNvPr>
          <p:cNvSpPr/>
          <p:nvPr/>
        </p:nvSpPr>
        <p:spPr>
          <a:xfrm>
            <a:off x="508000" y="4681215"/>
            <a:ext cx="2489200" cy="101600"/>
          </a:xfrm>
          <a:prstGeom prst="rect">
            <a:avLst/>
          </a:prstGeom>
          <a:solidFill>
            <a:srgbClr val="E0DCD5"/>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34" name="Rectangle 33">
            <a:extLst>
              <a:ext uri="{FF2B5EF4-FFF2-40B4-BE49-F238E27FC236}">
                <a16:creationId xmlns:a16="http://schemas.microsoft.com/office/drawing/2014/main" id="{3891EF0D-D872-BF35-7F43-0BDEB7D3A440}"/>
              </a:ext>
            </a:extLst>
          </p:cNvPr>
          <p:cNvSpPr/>
          <p:nvPr/>
        </p:nvSpPr>
        <p:spPr>
          <a:xfrm>
            <a:off x="508000" y="4681215"/>
            <a:ext cx="1066800" cy="101600"/>
          </a:xfrm>
          <a:prstGeom prst="rect">
            <a:avLst/>
          </a:prstGeom>
          <a:solidFill>
            <a:srgbClr val="C00000"/>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35" name="TextBox 34">
            <a:extLst>
              <a:ext uri="{FF2B5EF4-FFF2-40B4-BE49-F238E27FC236}">
                <a16:creationId xmlns:a16="http://schemas.microsoft.com/office/drawing/2014/main" id="{F6C23C37-6DC7-0659-5CB6-7D4CF0CCE71D}"/>
              </a:ext>
            </a:extLst>
          </p:cNvPr>
          <p:cNvSpPr txBox="1"/>
          <p:nvPr/>
        </p:nvSpPr>
        <p:spPr>
          <a:xfrm>
            <a:off x="508000" y="4891340"/>
            <a:ext cx="1981200" cy="349839"/>
          </a:xfrm>
          <a:prstGeom prst="rect">
            <a:avLst/>
          </a:prstGeom>
          <a:noFill/>
        </p:spPr>
        <p:txBody>
          <a:bodyPr vertOverflow="overflow" vert="horz" wrap="square" lIns="91440" tIns="91440" rIns="91440" bIns="91440" rtlCol="0" anchor="t">
            <a:spAutoFit/>
          </a:bodyPr>
          <a:lstStyle/>
          <a:p>
            <a:pPr marL="0" marR="0" indent="0" algn="l" defTabSz="914400" rtl="0" eaLnBrk="1" fontAlgn="base" latinLnBrk="0" hangingPunct="1">
              <a:lnSpc>
                <a:spcPct val="112000"/>
              </a:lnSpc>
              <a:spcBef>
                <a:spcPct val="0"/>
              </a:spcBef>
              <a:spcAft>
                <a:spcPct val="0"/>
              </a:spcAft>
              <a:buClr>
                <a:srgbClr val="442735"/>
              </a:buClr>
              <a:buSzTx/>
              <a:buFontTx/>
              <a:buNone/>
              <a:tabLst/>
            </a:pPr>
            <a:r>
              <a:rPr kumimoji="0" lang="en-US" sz="1000" b="0" i="0" u="none" strike="noStrike" kern="1200" cap="none" spc="0" normalizeH="0" baseline="0" noProof="0">
                <a:ln>
                  <a:noFill/>
                </a:ln>
                <a:solidFill>
                  <a:srgbClr val="262626"/>
                </a:solidFill>
                <a:effectLst/>
                <a:uLnTx/>
                <a:uFillTx/>
                <a:latin typeface="+mn-lt"/>
                <a:ea typeface="+mn-ea"/>
                <a:cs typeface="+mn-cs"/>
              </a:rPr>
              <a:t>With optimizations</a:t>
            </a:r>
          </a:p>
        </p:txBody>
      </p:sp>
      <p:sp>
        <p:nvSpPr>
          <p:cNvPr id="37" name="Rectangle 36">
            <a:extLst>
              <a:ext uri="{FF2B5EF4-FFF2-40B4-BE49-F238E27FC236}">
                <a16:creationId xmlns:a16="http://schemas.microsoft.com/office/drawing/2014/main" id="{1143C41D-6067-74CE-22F8-1CB5A5F54731}"/>
              </a:ext>
            </a:extLst>
          </p:cNvPr>
          <p:cNvSpPr/>
          <p:nvPr/>
        </p:nvSpPr>
        <p:spPr>
          <a:xfrm>
            <a:off x="508000" y="5163815"/>
            <a:ext cx="2489200" cy="101600"/>
          </a:xfrm>
          <a:prstGeom prst="rect">
            <a:avLst/>
          </a:prstGeom>
          <a:solidFill>
            <a:srgbClr val="E0DCD5"/>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38" name="Rectangle 37">
            <a:extLst>
              <a:ext uri="{FF2B5EF4-FFF2-40B4-BE49-F238E27FC236}">
                <a16:creationId xmlns:a16="http://schemas.microsoft.com/office/drawing/2014/main" id="{54C30E79-6B7E-AE85-6416-5B63D668ABFB}"/>
              </a:ext>
            </a:extLst>
          </p:cNvPr>
          <p:cNvSpPr/>
          <p:nvPr/>
        </p:nvSpPr>
        <p:spPr>
          <a:xfrm>
            <a:off x="507999" y="5163815"/>
            <a:ext cx="2230437" cy="101600"/>
          </a:xfrm>
          <a:prstGeom prst="rect">
            <a:avLst/>
          </a:prstGeom>
          <a:solidFill>
            <a:srgbClr val="92D050"/>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39" name="TextBox 38">
            <a:extLst>
              <a:ext uri="{FF2B5EF4-FFF2-40B4-BE49-F238E27FC236}">
                <a16:creationId xmlns:a16="http://schemas.microsoft.com/office/drawing/2014/main" id="{952F1A1D-F995-46A0-A051-4A3BFD50F629}"/>
              </a:ext>
            </a:extLst>
          </p:cNvPr>
          <p:cNvSpPr txBox="1"/>
          <p:nvPr/>
        </p:nvSpPr>
        <p:spPr>
          <a:xfrm>
            <a:off x="508000" y="5373940"/>
            <a:ext cx="1981200" cy="349839"/>
          </a:xfrm>
          <a:prstGeom prst="rect">
            <a:avLst/>
          </a:prstGeom>
          <a:noFill/>
        </p:spPr>
        <p:txBody>
          <a:bodyPr vertOverflow="overflow" vert="horz" wrap="square" lIns="91440" tIns="91440" rIns="91440" bIns="91440" rtlCol="0" anchor="t">
            <a:spAutoFit/>
          </a:bodyPr>
          <a:lstStyle/>
          <a:p>
            <a:pPr marL="0" marR="0" indent="0" algn="l" defTabSz="914400" rtl="0" eaLnBrk="1" fontAlgn="base" latinLnBrk="0" hangingPunct="1">
              <a:lnSpc>
                <a:spcPct val="112000"/>
              </a:lnSpc>
              <a:spcBef>
                <a:spcPct val="0"/>
              </a:spcBef>
              <a:spcAft>
                <a:spcPct val="0"/>
              </a:spcAft>
              <a:buClr>
                <a:srgbClr val="442735"/>
              </a:buClr>
              <a:buSzTx/>
              <a:buFontTx/>
              <a:buNone/>
              <a:tabLst/>
            </a:pPr>
            <a:r>
              <a:rPr kumimoji="0" lang="en-US" sz="1000" b="0" i="0" u="none" strike="noStrike" kern="1200" cap="none" spc="0" normalizeH="0" baseline="0" noProof="0">
                <a:ln>
                  <a:noFill/>
                </a:ln>
                <a:solidFill>
                  <a:srgbClr val="262626"/>
                </a:solidFill>
                <a:effectLst/>
                <a:uLnTx/>
                <a:uFillTx/>
                <a:latin typeface="+mn-lt"/>
                <a:ea typeface="+mn-ea"/>
                <a:cs typeface="+mn-cs"/>
              </a:rPr>
              <a:t>Industry</a:t>
            </a:r>
          </a:p>
        </p:txBody>
      </p:sp>
      <p:sp>
        <p:nvSpPr>
          <p:cNvPr id="41" name="Rectangle 40">
            <a:extLst>
              <a:ext uri="{FF2B5EF4-FFF2-40B4-BE49-F238E27FC236}">
                <a16:creationId xmlns:a16="http://schemas.microsoft.com/office/drawing/2014/main" id="{96725363-E080-5E45-F20B-A2C142DDBFBA}"/>
              </a:ext>
            </a:extLst>
          </p:cNvPr>
          <p:cNvSpPr/>
          <p:nvPr/>
        </p:nvSpPr>
        <p:spPr>
          <a:xfrm>
            <a:off x="508000" y="5646415"/>
            <a:ext cx="2489200" cy="101600"/>
          </a:xfrm>
          <a:prstGeom prst="rect">
            <a:avLst/>
          </a:prstGeom>
          <a:solidFill>
            <a:srgbClr val="E0DCD5"/>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42" name="Rectangle 41">
            <a:extLst>
              <a:ext uri="{FF2B5EF4-FFF2-40B4-BE49-F238E27FC236}">
                <a16:creationId xmlns:a16="http://schemas.microsoft.com/office/drawing/2014/main" id="{20C57568-8FD7-D81E-C7CF-63FA7EE12199}"/>
              </a:ext>
            </a:extLst>
          </p:cNvPr>
          <p:cNvSpPr/>
          <p:nvPr/>
        </p:nvSpPr>
        <p:spPr>
          <a:xfrm>
            <a:off x="508000" y="5646415"/>
            <a:ext cx="2146300" cy="101600"/>
          </a:xfrm>
          <a:prstGeom prst="rect">
            <a:avLst/>
          </a:prstGeom>
          <a:solidFill>
            <a:srgbClr val="92D050"/>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43" name="Rectangle: Rounded Corners 42">
            <a:extLst>
              <a:ext uri="{FF2B5EF4-FFF2-40B4-BE49-F238E27FC236}">
                <a16:creationId xmlns:a16="http://schemas.microsoft.com/office/drawing/2014/main" id="{9433E9A0-37E1-5348-861C-6DEBB74646B6}"/>
              </a:ext>
            </a:extLst>
          </p:cNvPr>
          <p:cNvSpPr/>
          <p:nvPr/>
        </p:nvSpPr>
        <p:spPr>
          <a:xfrm>
            <a:off x="3276600" y="1473200"/>
            <a:ext cx="2743200" cy="4643079"/>
          </a:xfrm>
          <a:prstGeom prst="roundRect">
            <a:avLst/>
          </a:prstGeom>
          <a:solidFill>
            <a:srgbClr val="F5F2EE"/>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44" name="Rectangle 43">
            <a:extLst>
              <a:ext uri="{FF2B5EF4-FFF2-40B4-BE49-F238E27FC236}">
                <a16:creationId xmlns:a16="http://schemas.microsoft.com/office/drawing/2014/main" id="{4A06D5A2-EBDB-2419-4A42-B79A44636A67}"/>
              </a:ext>
            </a:extLst>
          </p:cNvPr>
          <p:cNvSpPr/>
          <p:nvPr/>
        </p:nvSpPr>
        <p:spPr>
          <a:xfrm>
            <a:off x="3276600" y="1473200"/>
            <a:ext cx="2743200" cy="76200"/>
          </a:xfrm>
          <a:prstGeom prst="rect">
            <a:avLst/>
          </a:prstGeom>
          <a:solidFill>
            <a:schemeClr val="accent3"/>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45" name="TextBox 44">
            <a:extLst>
              <a:ext uri="{FF2B5EF4-FFF2-40B4-BE49-F238E27FC236}">
                <a16:creationId xmlns:a16="http://schemas.microsoft.com/office/drawing/2014/main" id="{8151D908-7414-367D-B621-1414A246D7F8}"/>
              </a:ext>
            </a:extLst>
          </p:cNvPr>
          <p:cNvSpPr txBox="1"/>
          <p:nvPr/>
        </p:nvSpPr>
        <p:spPr>
          <a:xfrm>
            <a:off x="3429000" y="1600200"/>
            <a:ext cx="508000" cy="415948"/>
          </a:xfrm>
          <a:prstGeom prst="rect">
            <a:avLst/>
          </a:prstGeom>
          <a:noFill/>
        </p:spPr>
        <p:txBody>
          <a:bodyPr vertOverflow="overflow" vert="horz" wrap="square" lIns="91440" tIns="91440" rIns="91440" bIns="91440" rtlCol="0" anchor="t">
            <a:spAutoFit/>
          </a:bodyPr>
          <a:lstStyle/>
          <a:p>
            <a:pPr marL="0" marR="0" indent="0" algn="l" defTabSz="914400" rtl="0" eaLnBrk="1" fontAlgn="base" latinLnBrk="0" hangingPunct="1">
              <a:lnSpc>
                <a:spcPct val="112000"/>
              </a:lnSpc>
              <a:spcBef>
                <a:spcPct val="0"/>
              </a:spcBef>
              <a:spcAft>
                <a:spcPct val="0"/>
              </a:spcAft>
              <a:buClr>
                <a:srgbClr val="442735"/>
              </a:buClr>
              <a:buSzTx/>
              <a:buFontTx/>
              <a:buNone/>
              <a:tabLst/>
            </a:pPr>
            <a:r>
              <a:rPr kumimoji="0" lang="en-US" sz="1400" b="1" i="0" u="none" strike="noStrike" kern="1200" cap="none" spc="0" normalizeH="0" baseline="0" noProof="0">
                <a:ln>
                  <a:noFill/>
                </a:ln>
                <a:solidFill>
                  <a:srgbClr val="01239A"/>
                </a:solidFill>
                <a:effectLst/>
                <a:uLnTx/>
                <a:uFillTx/>
                <a:latin typeface="+mn-lt"/>
                <a:ea typeface="+mn-ea"/>
                <a:cs typeface="+mn-cs"/>
              </a:rPr>
              <a:t>02</a:t>
            </a:r>
          </a:p>
        </p:txBody>
      </p:sp>
      <p:sp>
        <p:nvSpPr>
          <p:cNvPr id="46" name="TextBox 45">
            <a:extLst>
              <a:ext uri="{FF2B5EF4-FFF2-40B4-BE49-F238E27FC236}">
                <a16:creationId xmlns:a16="http://schemas.microsoft.com/office/drawing/2014/main" id="{0982FCDA-54A6-5A36-67F8-FC23BB98BD3D}"/>
              </a:ext>
            </a:extLst>
          </p:cNvPr>
          <p:cNvSpPr txBox="1"/>
          <p:nvPr/>
        </p:nvSpPr>
        <p:spPr>
          <a:xfrm>
            <a:off x="3403600" y="1905000"/>
            <a:ext cx="2489200" cy="415948"/>
          </a:xfrm>
          <a:prstGeom prst="rect">
            <a:avLst/>
          </a:prstGeom>
          <a:noFill/>
        </p:spPr>
        <p:txBody>
          <a:bodyPr vertOverflow="overflow" vert="horz" wrap="square" lIns="91440" tIns="91440" rIns="91440" bIns="91440" rtlCol="0" anchor="t">
            <a:spAutoFit/>
          </a:bodyPr>
          <a:lstStyle/>
          <a:p>
            <a:pPr marL="0" marR="0" indent="0" algn="l" defTabSz="914400" rtl="0" eaLnBrk="1" fontAlgn="base" latinLnBrk="0" hangingPunct="1">
              <a:lnSpc>
                <a:spcPct val="112000"/>
              </a:lnSpc>
              <a:spcBef>
                <a:spcPct val="0"/>
              </a:spcBef>
              <a:spcAft>
                <a:spcPct val="0"/>
              </a:spcAft>
              <a:buClr>
                <a:srgbClr val="442735"/>
              </a:buClr>
              <a:buSzTx/>
              <a:buFontTx/>
              <a:buNone/>
              <a:tabLst/>
            </a:pPr>
            <a:r>
              <a:rPr kumimoji="0" lang="en-US" sz="1400" b="1" i="0" u="none" strike="noStrike" kern="1200" cap="none" spc="0" normalizeH="0" baseline="0" noProof="0">
                <a:ln>
                  <a:noFill/>
                </a:ln>
                <a:solidFill>
                  <a:srgbClr val="262626"/>
                </a:solidFill>
                <a:effectLst/>
                <a:uLnTx/>
                <a:uFillTx/>
                <a:latin typeface="+mn-lt"/>
                <a:ea typeface="+mn-ea"/>
                <a:cs typeface="+mn-cs"/>
              </a:rPr>
              <a:t>Value Props &amp; Credibility</a:t>
            </a:r>
          </a:p>
        </p:txBody>
      </p:sp>
      <p:sp>
        <p:nvSpPr>
          <p:cNvPr id="47" name="TextBox 46">
            <a:extLst>
              <a:ext uri="{FF2B5EF4-FFF2-40B4-BE49-F238E27FC236}">
                <a16:creationId xmlns:a16="http://schemas.microsoft.com/office/drawing/2014/main" id="{EAFB1831-F0A3-CB83-89F6-468CD172EE65}"/>
              </a:ext>
            </a:extLst>
          </p:cNvPr>
          <p:cNvSpPr txBox="1"/>
          <p:nvPr/>
        </p:nvSpPr>
        <p:spPr>
          <a:xfrm>
            <a:off x="3403600" y="2463800"/>
            <a:ext cx="2616200" cy="1262846"/>
          </a:xfrm>
          <a:prstGeom prst="rect">
            <a:avLst/>
          </a:prstGeom>
          <a:noFill/>
        </p:spPr>
        <p:txBody>
          <a:bodyPr vertOverflow="overflow" vert="horz" wrap="square" lIns="91440" tIns="91440" rIns="91440" bIns="91440" rtlCol="0" anchor="t">
            <a:spAutoFit/>
          </a:bodyPr>
          <a:lstStyle/>
          <a:p>
            <a:pPr eaLnBrk="1" hangingPunct="1">
              <a:lnSpc>
                <a:spcPct val="112000"/>
              </a:lnSpc>
              <a:buClr>
                <a:srgbClr val="442735"/>
              </a:buClr>
            </a:pPr>
            <a:r>
              <a:rPr kumimoji="0" lang="en-US" sz="1050" b="0" i="0" u="none" strike="noStrike" kern="1200" cap="none" spc="0" normalizeH="0" baseline="0" noProof="0">
                <a:ln>
                  <a:noFill/>
                </a:ln>
                <a:solidFill>
                  <a:srgbClr val="262626"/>
                </a:solidFill>
                <a:effectLst/>
                <a:uLnTx/>
                <a:uFillTx/>
                <a:latin typeface="+mn-lt"/>
                <a:ea typeface="+mn-ea"/>
                <a:cs typeface="+mn-cs"/>
              </a:rPr>
              <a:t>• Online modality</a:t>
            </a:r>
            <a:r>
              <a:rPr lang="en-US" sz="1050">
                <a:solidFill>
                  <a:srgbClr val="262626"/>
                </a:solidFill>
                <a:latin typeface="+mn-lt"/>
              </a:rPr>
              <a:t> (Basic) </a:t>
            </a:r>
            <a:r>
              <a:rPr kumimoji="0" lang="en-US" sz="1050" b="0" i="0" u="none" strike="noStrike" kern="1200" cap="none" spc="0" normalizeH="0" baseline="0" noProof="0">
                <a:ln>
                  <a:noFill/>
                </a:ln>
                <a:solidFill>
                  <a:srgbClr val="262626"/>
                </a:solidFill>
                <a:effectLst/>
                <a:uLnTx/>
                <a:uFillTx/>
                <a:latin typeface="+mn-lt"/>
                <a:ea typeface="+mn-ea"/>
                <a:cs typeface="+mn-cs"/>
              </a:rPr>
              <a:t>
• Stackable pathways </a:t>
            </a:r>
            <a:r>
              <a:rPr lang="en-US" sz="1050">
                <a:solidFill>
                  <a:srgbClr val="262626"/>
                </a:solidFill>
                <a:latin typeface="+mn-lt"/>
              </a:rPr>
              <a:t>(Basic) </a:t>
            </a:r>
            <a:r>
              <a:rPr kumimoji="0" lang="en-US" sz="1050" b="0" i="0" u="none" strike="noStrike" kern="1200" cap="none" spc="0" normalizeH="0" baseline="0" noProof="0">
                <a:ln>
                  <a:noFill/>
                </a:ln>
                <a:solidFill>
                  <a:srgbClr val="262626"/>
                </a:solidFill>
                <a:effectLst/>
                <a:uLnTx/>
                <a:uFillTx/>
                <a:latin typeface="+mn-lt"/>
                <a:ea typeface="+mn-ea"/>
                <a:cs typeface="+mn-cs"/>
              </a:rPr>
              <a:t>
• Career outcomes (Moderate)
• Cost transparency </a:t>
            </a:r>
            <a:r>
              <a:rPr lang="en-US" sz="1050">
                <a:solidFill>
                  <a:srgbClr val="262626"/>
                </a:solidFill>
                <a:latin typeface="+mn-lt"/>
              </a:rPr>
              <a:t>(Moderate) </a:t>
            </a:r>
            <a:r>
              <a:rPr kumimoji="0" lang="en-US" sz="1050" b="0" i="0" u="none" strike="noStrike" kern="1200" cap="none" spc="0" normalizeH="0" baseline="0" noProof="0">
                <a:ln>
                  <a:noFill/>
                </a:ln>
                <a:solidFill>
                  <a:srgbClr val="262626"/>
                </a:solidFill>
                <a:effectLst/>
                <a:uLnTx/>
                <a:uFillTx/>
                <a:latin typeface="+mn-lt"/>
                <a:ea typeface="+mn-ea"/>
                <a:cs typeface="+mn-cs"/>
              </a:rPr>
              <a:t>
• Tailored emphasis </a:t>
            </a:r>
            <a:r>
              <a:rPr lang="en-US" sz="1050">
                <a:solidFill>
                  <a:srgbClr val="262626"/>
                </a:solidFill>
                <a:latin typeface="+mn-lt"/>
              </a:rPr>
              <a:t>(Moderate) </a:t>
            </a:r>
            <a:r>
              <a:rPr kumimoji="0" lang="en-US" sz="1050" b="0" i="0" u="none" strike="noStrike" kern="1200" cap="none" spc="0" normalizeH="0" baseline="0" noProof="0">
                <a:ln>
                  <a:noFill/>
                </a:ln>
                <a:solidFill>
                  <a:srgbClr val="262626"/>
                </a:solidFill>
                <a:effectLst/>
                <a:uLnTx/>
                <a:uFillTx/>
                <a:latin typeface="+mn-lt"/>
                <a:ea typeface="+mn-ea"/>
                <a:cs typeface="+mn-cs"/>
              </a:rPr>
              <a:t>
• Value calculator </a:t>
            </a:r>
            <a:r>
              <a:rPr lang="en-US" sz="1050">
                <a:solidFill>
                  <a:srgbClr val="262626"/>
                </a:solidFill>
                <a:latin typeface="+mn-lt"/>
              </a:rPr>
              <a:t>(Sophisticated)</a:t>
            </a:r>
            <a:endParaRPr kumimoji="0" lang="en-US" sz="1050" b="0" i="0" u="none" strike="noStrike" kern="1200" cap="none" spc="0" normalizeH="0" baseline="0" noProof="0">
              <a:ln>
                <a:noFill/>
              </a:ln>
              <a:solidFill>
                <a:srgbClr val="262626"/>
              </a:solidFill>
              <a:effectLst/>
              <a:uLnTx/>
              <a:uFillTx/>
              <a:latin typeface="+mn-lt"/>
              <a:ea typeface="+mn-ea"/>
              <a:cs typeface="+mn-cs"/>
            </a:endParaRPr>
          </a:p>
        </p:txBody>
      </p:sp>
      <p:sp>
        <p:nvSpPr>
          <p:cNvPr id="48" name="TextBox 47">
            <a:extLst>
              <a:ext uri="{FF2B5EF4-FFF2-40B4-BE49-F238E27FC236}">
                <a16:creationId xmlns:a16="http://schemas.microsoft.com/office/drawing/2014/main" id="{63FB5DE2-81BA-FB16-94D8-8740678718C1}"/>
              </a:ext>
            </a:extLst>
          </p:cNvPr>
          <p:cNvSpPr txBox="1"/>
          <p:nvPr/>
        </p:nvSpPr>
        <p:spPr>
          <a:xfrm>
            <a:off x="3403600" y="4096324"/>
            <a:ext cx="2489200" cy="349839"/>
          </a:xfrm>
          <a:prstGeom prst="rect">
            <a:avLst/>
          </a:prstGeom>
          <a:noFill/>
        </p:spPr>
        <p:txBody>
          <a:bodyPr vertOverflow="overflow" vert="horz" wrap="square" lIns="91440" tIns="91440" rIns="91440" bIns="91440" rtlCol="0" anchor="t">
            <a:spAutoFit/>
          </a:bodyPr>
          <a:lstStyle/>
          <a:p>
            <a:pPr marL="0" marR="0" indent="0" algn="l" defTabSz="914400" rtl="0" eaLnBrk="1" fontAlgn="base" latinLnBrk="0" hangingPunct="1">
              <a:lnSpc>
                <a:spcPct val="112000"/>
              </a:lnSpc>
              <a:spcBef>
                <a:spcPct val="0"/>
              </a:spcBef>
              <a:spcAft>
                <a:spcPct val="0"/>
              </a:spcAft>
              <a:buClr>
                <a:srgbClr val="442735"/>
              </a:buClr>
              <a:buSzTx/>
              <a:buFontTx/>
              <a:buNone/>
              <a:tabLst/>
            </a:pPr>
            <a:r>
              <a:rPr kumimoji="0" lang="en-US" sz="1000" b="1" i="0" u="none" strike="noStrike" kern="1200" cap="none" spc="0" normalizeH="0" baseline="0" noProof="0">
                <a:ln>
                  <a:noFill/>
                </a:ln>
                <a:solidFill>
                  <a:srgbClr val="595959"/>
                </a:solidFill>
                <a:effectLst/>
                <a:uLnTx/>
                <a:uFillTx/>
                <a:latin typeface="+mn-lt"/>
                <a:ea typeface="+mn-ea"/>
                <a:cs typeface="+mn-cs"/>
              </a:rPr>
              <a:t>Score</a:t>
            </a:r>
          </a:p>
        </p:txBody>
      </p:sp>
      <p:sp>
        <p:nvSpPr>
          <p:cNvPr id="49" name="TextBox 48">
            <a:extLst>
              <a:ext uri="{FF2B5EF4-FFF2-40B4-BE49-F238E27FC236}">
                <a16:creationId xmlns:a16="http://schemas.microsoft.com/office/drawing/2014/main" id="{B5050E19-4292-461C-46A5-C6126C8C92BF}"/>
              </a:ext>
            </a:extLst>
          </p:cNvPr>
          <p:cNvSpPr txBox="1"/>
          <p:nvPr/>
        </p:nvSpPr>
        <p:spPr>
          <a:xfrm>
            <a:off x="3403600" y="4408740"/>
            <a:ext cx="1981200" cy="349839"/>
          </a:xfrm>
          <a:prstGeom prst="rect">
            <a:avLst/>
          </a:prstGeom>
          <a:noFill/>
        </p:spPr>
        <p:txBody>
          <a:bodyPr vertOverflow="overflow" vert="horz" wrap="square" lIns="91440" tIns="91440" rIns="91440" bIns="91440" rtlCol="0" anchor="t">
            <a:spAutoFit/>
          </a:bodyPr>
          <a:lstStyle/>
          <a:p>
            <a:pPr marL="0" marR="0" indent="0" algn="l" defTabSz="914400" rtl="0" eaLnBrk="1" fontAlgn="base" latinLnBrk="0" hangingPunct="1">
              <a:lnSpc>
                <a:spcPct val="112000"/>
              </a:lnSpc>
              <a:spcBef>
                <a:spcPct val="0"/>
              </a:spcBef>
              <a:spcAft>
                <a:spcPct val="0"/>
              </a:spcAft>
              <a:buClr>
                <a:srgbClr val="442735"/>
              </a:buClr>
              <a:buSzTx/>
              <a:buFontTx/>
              <a:buNone/>
              <a:tabLst/>
            </a:pPr>
            <a:r>
              <a:rPr kumimoji="0" lang="en-US" sz="1000" b="0" i="0" u="none" strike="noStrike" kern="1200" cap="none" spc="0" normalizeH="0" baseline="0" noProof="0">
                <a:ln>
                  <a:noFill/>
                </a:ln>
                <a:solidFill>
                  <a:srgbClr val="262626"/>
                </a:solidFill>
                <a:effectLst/>
                <a:uLnTx/>
                <a:uFillTx/>
                <a:latin typeface="+mn-lt"/>
                <a:ea typeface="+mn-ea"/>
                <a:cs typeface="+mn-cs"/>
              </a:rPr>
              <a:t>DeVry today</a:t>
            </a:r>
          </a:p>
        </p:txBody>
      </p:sp>
      <p:sp>
        <p:nvSpPr>
          <p:cNvPr id="51" name="Rectangle 50">
            <a:extLst>
              <a:ext uri="{FF2B5EF4-FFF2-40B4-BE49-F238E27FC236}">
                <a16:creationId xmlns:a16="http://schemas.microsoft.com/office/drawing/2014/main" id="{2E5F2D54-0BDC-B826-B238-F9D153C30F69}"/>
              </a:ext>
            </a:extLst>
          </p:cNvPr>
          <p:cNvSpPr/>
          <p:nvPr/>
        </p:nvSpPr>
        <p:spPr>
          <a:xfrm>
            <a:off x="3403600" y="4681215"/>
            <a:ext cx="2489200" cy="101600"/>
          </a:xfrm>
          <a:prstGeom prst="rect">
            <a:avLst/>
          </a:prstGeom>
          <a:solidFill>
            <a:srgbClr val="E0DCD5"/>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52" name="Rectangle 51">
            <a:extLst>
              <a:ext uri="{FF2B5EF4-FFF2-40B4-BE49-F238E27FC236}">
                <a16:creationId xmlns:a16="http://schemas.microsoft.com/office/drawing/2014/main" id="{76301611-A9C4-A3C6-B5F2-324EBC9E044D}"/>
              </a:ext>
            </a:extLst>
          </p:cNvPr>
          <p:cNvSpPr/>
          <p:nvPr/>
        </p:nvSpPr>
        <p:spPr>
          <a:xfrm>
            <a:off x="3403600" y="4681215"/>
            <a:ext cx="1663700" cy="101600"/>
          </a:xfrm>
          <a:prstGeom prst="rect">
            <a:avLst/>
          </a:prstGeom>
          <a:solidFill>
            <a:srgbClr val="FFC000"/>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53" name="TextBox 52">
            <a:extLst>
              <a:ext uri="{FF2B5EF4-FFF2-40B4-BE49-F238E27FC236}">
                <a16:creationId xmlns:a16="http://schemas.microsoft.com/office/drawing/2014/main" id="{04365B98-BDC2-83BA-3A0A-53BEAD991170}"/>
              </a:ext>
            </a:extLst>
          </p:cNvPr>
          <p:cNvSpPr txBox="1"/>
          <p:nvPr/>
        </p:nvSpPr>
        <p:spPr>
          <a:xfrm>
            <a:off x="3403600" y="4891340"/>
            <a:ext cx="1981200" cy="349839"/>
          </a:xfrm>
          <a:prstGeom prst="rect">
            <a:avLst/>
          </a:prstGeom>
          <a:noFill/>
        </p:spPr>
        <p:txBody>
          <a:bodyPr vertOverflow="overflow" vert="horz" wrap="square" lIns="91440" tIns="91440" rIns="91440" bIns="91440" rtlCol="0" anchor="t">
            <a:spAutoFit/>
          </a:bodyPr>
          <a:lstStyle/>
          <a:p>
            <a:pPr marL="0" marR="0" indent="0" algn="l" defTabSz="914400" rtl="0" eaLnBrk="1" fontAlgn="base" latinLnBrk="0" hangingPunct="1">
              <a:lnSpc>
                <a:spcPct val="112000"/>
              </a:lnSpc>
              <a:spcBef>
                <a:spcPct val="0"/>
              </a:spcBef>
              <a:spcAft>
                <a:spcPct val="0"/>
              </a:spcAft>
              <a:buClr>
                <a:srgbClr val="442735"/>
              </a:buClr>
              <a:buSzTx/>
              <a:buFontTx/>
              <a:buNone/>
              <a:tabLst/>
            </a:pPr>
            <a:r>
              <a:rPr kumimoji="0" lang="en-US" sz="1000" b="0" i="0" u="none" strike="noStrike" kern="1200" cap="none" spc="0" normalizeH="0" baseline="0" noProof="0">
                <a:ln>
                  <a:noFill/>
                </a:ln>
                <a:solidFill>
                  <a:srgbClr val="262626"/>
                </a:solidFill>
                <a:effectLst/>
                <a:uLnTx/>
                <a:uFillTx/>
                <a:latin typeface="+mn-lt"/>
                <a:ea typeface="+mn-ea"/>
                <a:cs typeface="+mn-cs"/>
              </a:rPr>
              <a:t>With optimizations</a:t>
            </a:r>
          </a:p>
        </p:txBody>
      </p:sp>
      <p:sp>
        <p:nvSpPr>
          <p:cNvPr id="55" name="Rectangle 54">
            <a:extLst>
              <a:ext uri="{FF2B5EF4-FFF2-40B4-BE49-F238E27FC236}">
                <a16:creationId xmlns:a16="http://schemas.microsoft.com/office/drawing/2014/main" id="{B3A5949B-1469-7305-947D-DE3CB090EDD2}"/>
              </a:ext>
            </a:extLst>
          </p:cNvPr>
          <p:cNvSpPr/>
          <p:nvPr/>
        </p:nvSpPr>
        <p:spPr>
          <a:xfrm>
            <a:off x="3403600" y="5163815"/>
            <a:ext cx="2489200" cy="101600"/>
          </a:xfrm>
          <a:prstGeom prst="rect">
            <a:avLst/>
          </a:prstGeom>
          <a:solidFill>
            <a:srgbClr val="E0DCD5"/>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56" name="Rectangle 55">
            <a:extLst>
              <a:ext uri="{FF2B5EF4-FFF2-40B4-BE49-F238E27FC236}">
                <a16:creationId xmlns:a16="http://schemas.microsoft.com/office/drawing/2014/main" id="{BB027ED1-F8D4-FE54-126F-A5DB86F8815E}"/>
              </a:ext>
            </a:extLst>
          </p:cNvPr>
          <p:cNvSpPr/>
          <p:nvPr/>
        </p:nvSpPr>
        <p:spPr>
          <a:xfrm>
            <a:off x="3403599" y="5163815"/>
            <a:ext cx="2230437" cy="101600"/>
          </a:xfrm>
          <a:prstGeom prst="rect">
            <a:avLst/>
          </a:prstGeom>
          <a:solidFill>
            <a:srgbClr val="92D050"/>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57" name="TextBox 56">
            <a:extLst>
              <a:ext uri="{FF2B5EF4-FFF2-40B4-BE49-F238E27FC236}">
                <a16:creationId xmlns:a16="http://schemas.microsoft.com/office/drawing/2014/main" id="{79FA6A71-8D99-6DCA-9048-F72AAE8FBACE}"/>
              </a:ext>
            </a:extLst>
          </p:cNvPr>
          <p:cNvSpPr txBox="1"/>
          <p:nvPr/>
        </p:nvSpPr>
        <p:spPr>
          <a:xfrm>
            <a:off x="3403600" y="5373940"/>
            <a:ext cx="1981200" cy="349839"/>
          </a:xfrm>
          <a:prstGeom prst="rect">
            <a:avLst/>
          </a:prstGeom>
          <a:noFill/>
        </p:spPr>
        <p:txBody>
          <a:bodyPr vertOverflow="overflow" vert="horz" wrap="square" lIns="91440" tIns="91440" rIns="91440" bIns="91440" rtlCol="0" anchor="t">
            <a:spAutoFit/>
          </a:bodyPr>
          <a:lstStyle/>
          <a:p>
            <a:pPr marL="0" marR="0" indent="0" algn="l" defTabSz="914400" rtl="0" eaLnBrk="1" fontAlgn="base" latinLnBrk="0" hangingPunct="1">
              <a:lnSpc>
                <a:spcPct val="112000"/>
              </a:lnSpc>
              <a:spcBef>
                <a:spcPct val="0"/>
              </a:spcBef>
              <a:spcAft>
                <a:spcPct val="0"/>
              </a:spcAft>
              <a:buClr>
                <a:srgbClr val="442735"/>
              </a:buClr>
              <a:buSzTx/>
              <a:buFontTx/>
              <a:buNone/>
              <a:tabLst/>
            </a:pPr>
            <a:r>
              <a:rPr kumimoji="0" lang="en-US" sz="1000" b="0" i="0" u="none" strike="noStrike" kern="1200" cap="none" spc="0" normalizeH="0" baseline="0" noProof="0">
                <a:ln>
                  <a:noFill/>
                </a:ln>
                <a:solidFill>
                  <a:srgbClr val="262626"/>
                </a:solidFill>
                <a:effectLst/>
                <a:uLnTx/>
                <a:uFillTx/>
                <a:latin typeface="+mn-lt"/>
                <a:ea typeface="+mn-ea"/>
                <a:cs typeface="+mn-cs"/>
              </a:rPr>
              <a:t>Industry</a:t>
            </a:r>
          </a:p>
        </p:txBody>
      </p:sp>
      <p:sp>
        <p:nvSpPr>
          <p:cNvPr id="59" name="Rectangle 58">
            <a:extLst>
              <a:ext uri="{FF2B5EF4-FFF2-40B4-BE49-F238E27FC236}">
                <a16:creationId xmlns:a16="http://schemas.microsoft.com/office/drawing/2014/main" id="{7363A6D5-29BB-8963-8B5D-B9460244C87D}"/>
              </a:ext>
            </a:extLst>
          </p:cNvPr>
          <p:cNvSpPr/>
          <p:nvPr/>
        </p:nvSpPr>
        <p:spPr>
          <a:xfrm>
            <a:off x="3403600" y="5646415"/>
            <a:ext cx="2489200" cy="101600"/>
          </a:xfrm>
          <a:prstGeom prst="rect">
            <a:avLst/>
          </a:prstGeom>
          <a:solidFill>
            <a:srgbClr val="E0DCD5"/>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60" name="Rectangle 59">
            <a:extLst>
              <a:ext uri="{FF2B5EF4-FFF2-40B4-BE49-F238E27FC236}">
                <a16:creationId xmlns:a16="http://schemas.microsoft.com/office/drawing/2014/main" id="{1B4114FE-B661-49BC-93CB-18A40C36CC5B}"/>
              </a:ext>
            </a:extLst>
          </p:cNvPr>
          <p:cNvSpPr/>
          <p:nvPr/>
        </p:nvSpPr>
        <p:spPr>
          <a:xfrm>
            <a:off x="3403600" y="5646415"/>
            <a:ext cx="2286000" cy="101600"/>
          </a:xfrm>
          <a:prstGeom prst="rect">
            <a:avLst/>
          </a:prstGeom>
          <a:solidFill>
            <a:srgbClr val="92D050"/>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61" name="Rectangle: Rounded Corners 60">
            <a:extLst>
              <a:ext uri="{FF2B5EF4-FFF2-40B4-BE49-F238E27FC236}">
                <a16:creationId xmlns:a16="http://schemas.microsoft.com/office/drawing/2014/main" id="{6CE4DA72-209F-E563-759A-1149BF3FF5E7}"/>
              </a:ext>
            </a:extLst>
          </p:cNvPr>
          <p:cNvSpPr/>
          <p:nvPr/>
        </p:nvSpPr>
        <p:spPr>
          <a:xfrm>
            <a:off x="6172200" y="1473200"/>
            <a:ext cx="2743200" cy="4643079"/>
          </a:xfrm>
          <a:prstGeom prst="roundRect">
            <a:avLst/>
          </a:prstGeom>
          <a:solidFill>
            <a:srgbClr val="F5F2EE"/>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62" name="Rectangle 61">
            <a:extLst>
              <a:ext uri="{FF2B5EF4-FFF2-40B4-BE49-F238E27FC236}">
                <a16:creationId xmlns:a16="http://schemas.microsoft.com/office/drawing/2014/main" id="{4214CACF-420D-753E-7E74-3F47515842C2}"/>
              </a:ext>
            </a:extLst>
          </p:cNvPr>
          <p:cNvSpPr/>
          <p:nvPr/>
        </p:nvSpPr>
        <p:spPr>
          <a:xfrm>
            <a:off x="6172200" y="1473200"/>
            <a:ext cx="2743200" cy="76200"/>
          </a:xfrm>
          <a:prstGeom prst="rect">
            <a:avLst/>
          </a:prstGeom>
          <a:solidFill>
            <a:schemeClr val="accent4"/>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63" name="TextBox 62">
            <a:extLst>
              <a:ext uri="{FF2B5EF4-FFF2-40B4-BE49-F238E27FC236}">
                <a16:creationId xmlns:a16="http://schemas.microsoft.com/office/drawing/2014/main" id="{E7426A2C-21E7-D4C0-DA88-E67C0B49DEBF}"/>
              </a:ext>
            </a:extLst>
          </p:cNvPr>
          <p:cNvSpPr txBox="1"/>
          <p:nvPr/>
        </p:nvSpPr>
        <p:spPr>
          <a:xfrm>
            <a:off x="6324600" y="1600200"/>
            <a:ext cx="508000" cy="415948"/>
          </a:xfrm>
          <a:prstGeom prst="rect">
            <a:avLst/>
          </a:prstGeom>
          <a:noFill/>
        </p:spPr>
        <p:txBody>
          <a:bodyPr vertOverflow="overflow" vert="horz" wrap="square" lIns="91440" tIns="91440" rIns="91440" bIns="91440" rtlCol="0" anchor="t">
            <a:spAutoFit/>
          </a:bodyPr>
          <a:lstStyle/>
          <a:p>
            <a:pPr marL="0" marR="0" indent="0" algn="l" defTabSz="914400" rtl="0" eaLnBrk="1" fontAlgn="base" latinLnBrk="0" hangingPunct="1">
              <a:lnSpc>
                <a:spcPct val="112000"/>
              </a:lnSpc>
              <a:spcBef>
                <a:spcPct val="0"/>
              </a:spcBef>
              <a:spcAft>
                <a:spcPct val="0"/>
              </a:spcAft>
              <a:buClr>
                <a:srgbClr val="442735"/>
              </a:buClr>
              <a:buSzTx/>
              <a:buFontTx/>
              <a:buNone/>
              <a:tabLst/>
            </a:pPr>
            <a:r>
              <a:rPr kumimoji="0" lang="en-US" sz="1400" b="1" i="0" u="none" strike="noStrike" kern="1200" cap="none" spc="0" normalizeH="0" baseline="0" noProof="0">
                <a:ln>
                  <a:noFill/>
                </a:ln>
                <a:solidFill>
                  <a:srgbClr val="01239A"/>
                </a:solidFill>
                <a:effectLst/>
                <a:uLnTx/>
                <a:uFillTx/>
                <a:latin typeface="+mn-lt"/>
                <a:ea typeface="+mn-ea"/>
                <a:cs typeface="+mn-cs"/>
              </a:rPr>
              <a:t>03</a:t>
            </a:r>
          </a:p>
        </p:txBody>
      </p:sp>
      <p:sp>
        <p:nvSpPr>
          <p:cNvPr id="64" name="TextBox 63">
            <a:extLst>
              <a:ext uri="{FF2B5EF4-FFF2-40B4-BE49-F238E27FC236}">
                <a16:creationId xmlns:a16="http://schemas.microsoft.com/office/drawing/2014/main" id="{B2894730-D4B3-79CC-C333-1D637DD2C391}"/>
              </a:ext>
            </a:extLst>
          </p:cNvPr>
          <p:cNvSpPr txBox="1"/>
          <p:nvPr/>
        </p:nvSpPr>
        <p:spPr>
          <a:xfrm>
            <a:off x="6299200" y="1905000"/>
            <a:ext cx="2489200" cy="415948"/>
          </a:xfrm>
          <a:prstGeom prst="rect">
            <a:avLst/>
          </a:prstGeom>
          <a:noFill/>
        </p:spPr>
        <p:txBody>
          <a:bodyPr vertOverflow="overflow" vert="horz" wrap="square" lIns="91440" tIns="91440" rIns="91440" bIns="91440" rtlCol="0" anchor="t">
            <a:spAutoFit/>
          </a:bodyPr>
          <a:lstStyle/>
          <a:p>
            <a:pPr marL="0" marR="0" indent="0" algn="l" defTabSz="914400" rtl="0" eaLnBrk="1" fontAlgn="base" latinLnBrk="0" hangingPunct="1">
              <a:lnSpc>
                <a:spcPct val="112000"/>
              </a:lnSpc>
              <a:spcBef>
                <a:spcPct val="0"/>
              </a:spcBef>
              <a:spcAft>
                <a:spcPct val="0"/>
              </a:spcAft>
              <a:buClr>
                <a:srgbClr val="442735"/>
              </a:buClr>
              <a:buSzTx/>
              <a:buFontTx/>
              <a:buNone/>
              <a:tabLst/>
            </a:pPr>
            <a:r>
              <a:rPr kumimoji="0" lang="en-US" sz="1400" b="1" i="0" u="none" strike="noStrike" kern="1200" cap="none" spc="0" normalizeH="0" baseline="0" noProof="0">
                <a:ln>
                  <a:noFill/>
                </a:ln>
                <a:solidFill>
                  <a:srgbClr val="262626"/>
                </a:solidFill>
                <a:effectLst/>
                <a:uLnTx/>
                <a:uFillTx/>
                <a:latin typeface="+mn-lt"/>
                <a:ea typeface="+mn-ea"/>
                <a:cs typeface="+mn-cs"/>
              </a:rPr>
              <a:t>Lead Capture</a:t>
            </a:r>
          </a:p>
        </p:txBody>
      </p:sp>
      <p:sp>
        <p:nvSpPr>
          <p:cNvPr id="65" name="TextBox 64">
            <a:extLst>
              <a:ext uri="{FF2B5EF4-FFF2-40B4-BE49-F238E27FC236}">
                <a16:creationId xmlns:a16="http://schemas.microsoft.com/office/drawing/2014/main" id="{718A263E-E6AA-849A-F9A6-6C811F4CBBEA}"/>
              </a:ext>
            </a:extLst>
          </p:cNvPr>
          <p:cNvSpPr txBox="1"/>
          <p:nvPr/>
        </p:nvSpPr>
        <p:spPr>
          <a:xfrm>
            <a:off x="6299200" y="2463800"/>
            <a:ext cx="2616200" cy="1443793"/>
          </a:xfrm>
          <a:prstGeom prst="rect">
            <a:avLst/>
          </a:prstGeom>
          <a:noFill/>
        </p:spPr>
        <p:txBody>
          <a:bodyPr vertOverflow="overflow" vert="horz" wrap="square" lIns="91440" tIns="91440" rIns="91440" bIns="91440" rtlCol="0" anchor="t">
            <a:spAutoFit/>
          </a:bodyPr>
          <a:lstStyle/>
          <a:p>
            <a:pPr eaLnBrk="1" hangingPunct="1">
              <a:lnSpc>
                <a:spcPct val="112000"/>
              </a:lnSpc>
              <a:buClr>
                <a:srgbClr val="442735"/>
              </a:buClr>
            </a:pPr>
            <a:r>
              <a:rPr kumimoji="0" lang="en-US" sz="1050" b="0" i="0" u="none" strike="noStrike" kern="1200" cap="none" spc="0" normalizeH="0" baseline="0" noProof="0">
                <a:ln>
                  <a:noFill/>
                </a:ln>
                <a:solidFill>
                  <a:srgbClr val="262626"/>
                </a:solidFill>
                <a:effectLst/>
                <a:uLnTx/>
                <a:uFillTx/>
                <a:latin typeface="+mn-lt"/>
                <a:ea typeface="+mn-ea"/>
                <a:cs typeface="+mn-cs"/>
              </a:rPr>
              <a:t>• Form urgency</a:t>
            </a:r>
            <a:r>
              <a:rPr lang="en-US" sz="1050">
                <a:solidFill>
                  <a:srgbClr val="262626"/>
                </a:solidFill>
                <a:latin typeface="+mn-lt"/>
              </a:rPr>
              <a:t> (Basic) </a:t>
            </a:r>
            <a:r>
              <a:rPr kumimoji="0" lang="en-US" sz="1050" b="0" i="0" u="none" strike="noStrike" kern="1200" cap="none" spc="0" normalizeH="0" baseline="0" noProof="0">
                <a:ln>
                  <a:noFill/>
                </a:ln>
                <a:solidFill>
                  <a:srgbClr val="262626"/>
                </a:solidFill>
                <a:effectLst/>
                <a:uLnTx/>
                <a:uFillTx/>
                <a:latin typeface="+mn-lt"/>
                <a:ea typeface="+mn-ea"/>
                <a:cs typeface="+mn-cs"/>
              </a:rPr>
              <a:t>
• Field filtering &amp; pre-fill</a:t>
            </a:r>
            <a:r>
              <a:rPr lang="en-US" sz="1050">
                <a:solidFill>
                  <a:srgbClr val="262626"/>
                </a:solidFill>
                <a:latin typeface="+mn-lt"/>
              </a:rPr>
              <a:t> (Moderate) </a:t>
            </a:r>
          </a:p>
          <a:p>
            <a:pPr eaLnBrk="1" hangingPunct="1">
              <a:lnSpc>
                <a:spcPct val="112000"/>
              </a:lnSpc>
              <a:buClr>
                <a:srgbClr val="442735"/>
              </a:buClr>
            </a:pPr>
            <a:r>
              <a:rPr kumimoji="0" lang="en-US" sz="1050" b="0" i="0" u="none" strike="noStrike" kern="1200" cap="none" spc="0" normalizeH="0" baseline="0" noProof="0">
                <a:ln>
                  <a:noFill/>
                </a:ln>
                <a:solidFill>
                  <a:srgbClr val="262626"/>
                </a:solidFill>
                <a:effectLst/>
                <a:uLnTx/>
                <a:uFillTx/>
                <a:latin typeface="+mn-lt"/>
                <a:ea typeface="+mn-ea"/>
                <a:cs typeface="+mn-cs"/>
              </a:rPr>
              <a:t>• Mobile optimization (Moderate)
• Need-based inquiry (Sophisticated)
• Guided upper-funnel capture </a:t>
            </a:r>
            <a:r>
              <a:rPr lang="en-US" sz="1050">
                <a:solidFill>
                  <a:srgbClr val="262626"/>
                </a:solidFill>
                <a:latin typeface="+mn-lt"/>
              </a:rPr>
              <a:t>(Sophisticated)</a:t>
            </a:r>
            <a:endParaRPr kumimoji="0" lang="en-US" sz="1050" b="0" i="0" u="none" strike="noStrike" kern="1200" cap="none" spc="0" normalizeH="0" baseline="0" noProof="0">
              <a:ln>
                <a:noFill/>
              </a:ln>
              <a:solidFill>
                <a:srgbClr val="262626"/>
              </a:solidFill>
              <a:effectLst/>
              <a:uLnTx/>
              <a:uFillTx/>
              <a:latin typeface="+mn-lt"/>
              <a:ea typeface="+mn-ea"/>
              <a:cs typeface="+mn-cs"/>
            </a:endParaRPr>
          </a:p>
        </p:txBody>
      </p:sp>
      <p:sp>
        <p:nvSpPr>
          <p:cNvPr id="66" name="TextBox 65">
            <a:extLst>
              <a:ext uri="{FF2B5EF4-FFF2-40B4-BE49-F238E27FC236}">
                <a16:creationId xmlns:a16="http://schemas.microsoft.com/office/drawing/2014/main" id="{4A1498C2-5F1D-CE2F-DE9D-64EDBF4E7289}"/>
              </a:ext>
            </a:extLst>
          </p:cNvPr>
          <p:cNvSpPr txBox="1"/>
          <p:nvPr/>
        </p:nvSpPr>
        <p:spPr>
          <a:xfrm>
            <a:off x="6299200" y="4096324"/>
            <a:ext cx="2489200" cy="349839"/>
          </a:xfrm>
          <a:prstGeom prst="rect">
            <a:avLst/>
          </a:prstGeom>
          <a:noFill/>
        </p:spPr>
        <p:txBody>
          <a:bodyPr vertOverflow="overflow" vert="horz" wrap="square" lIns="91440" tIns="91440" rIns="91440" bIns="91440" rtlCol="0" anchor="t">
            <a:spAutoFit/>
          </a:bodyPr>
          <a:lstStyle/>
          <a:p>
            <a:pPr marL="0" marR="0" indent="0" algn="l" defTabSz="914400" rtl="0" eaLnBrk="1" fontAlgn="base" latinLnBrk="0" hangingPunct="1">
              <a:lnSpc>
                <a:spcPct val="112000"/>
              </a:lnSpc>
              <a:spcBef>
                <a:spcPct val="0"/>
              </a:spcBef>
              <a:spcAft>
                <a:spcPct val="0"/>
              </a:spcAft>
              <a:buClr>
                <a:srgbClr val="442735"/>
              </a:buClr>
              <a:buSzTx/>
              <a:buFontTx/>
              <a:buNone/>
              <a:tabLst/>
            </a:pPr>
            <a:r>
              <a:rPr kumimoji="0" lang="en-US" sz="1000" b="1" i="0" u="none" strike="noStrike" kern="1200" cap="none" spc="0" normalizeH="0" baseline="0" noProof="0">
                <a:ln>
                  <a:noFill/>
                </a:ln>
                <a:solidFill>
                  <a:srgbClr val="595959"/>
                </a:solidFill>
                <a:effectLst/>
                <a:uLnTx/>
                <a:uFillTx/>
                <a:latin typeface="+mn-lt"/>
                <a:ea typeface="+mn-ea"/>
                <a:cs typeface="+mn-cs"/>
              </a:rPr>
              <a:t>Score</a:t>
            </a:r>
          </a:p>
        </p:txBody>
      </p:sp>
      <p:sp>
        <p:nvSpPr>
          <p:cNvPr id="67" name="TextBox 66">
            <a:extLst>
              <a:ext uri="{FF2B5EF4-FFF2-40B4-BE49-F238E27FC236}">
                <a16:creationId xmlns:a16="http://schemas.microsoft.com/office/drawing/2014/main" id="{9400EDD7-A582-4A44-E46A-4C7A4BF451C9}"/>
              </a:ext>
            </a:extLst>
          </p:cNvPr>
          <p:cNvSpPr txBox="1"/>
          <p:nvPr/>
        </p:nvSpPr>
        <p:spPr>
          <a:xfrm>
            <a:off x="6299200" y="4408740"/>
            <a:ext cx="1981200" cy="349839"/>
          </a:xfrm>
          <a:prstGeom prst="rect">
            <a:avLst/>
          </a:prstGeom>
          <a:noFill/>
        </p:spPr>
        <p:txBody>
          <a:bodyPr vertOverflow="overflow" vert="horz" wrap="square" lIns="91440" tIns="91440" rIns="91440" bIns="91440" rtlCol="0" anchor="t">
            <a:spAutoFit/>
          </a:bodyPr>
          <a:lstStyle/>
          <a:p>
            <a:pPr marL="0" marR="0" indent="0" algn="l" defTabSz="914400" rtl="0" eaLnBrk="1" fontAlgn="base" latinLnBrk="0" hangingPunct="1">
              <a:lnSpc>
                <a:spcPct val="112000"/>
              </a:lnSpc>
              <a:spcBef>
                <a:spcPct val="0"/>
              </a:spcBef>
              <a:spcAft>
                <a:spcPct val="0"/>
              </a:spcAft>
              <a:buClr>
                <a:srgbClr val="442735"/>
              </a:buClr>
              <a:buSzTx/>
              <a:buFontTx/>
              <a:buNone/>
              <a:tabLst/>
            </a:pPr>
            <a:r>
              <a:rPr kumimoji="0" lang="en-US" sz="1000" b="0" i="0" u="none" strike="noStrike" kern="1200" cap="none" spc="0" normalizeH="0" baseline="0" noProof="0">
                <a:ln>
                  <a:noFill/>
                </a:ln>
                <a:solidFill>
                  <a:srgbClr val="262626"/>
                </a:solidFill>
                <a:effectLst/>
                <a:uLnTx/>
                <a:uFillTx/>
                <a:latin typeface="+mn-lt"/>
                <a:ea typeface="+mn-ea"/>
                <a:cs typeface="+mn-cs"/>
              </a:rPr>
              <a:t>DeVry today</a:t>
            </a:r>
          </a:p>
        </p:txBody>
      </p:sp>
      <p:sp>
        <p:nvSpPr>
          <p:cNvPr id="69" name="Rectangle 68">
            <a:extLst>
              <a:ext uri="{FF2B5EF4-FFF2-40B4-BE49-F238E27FC236}">
                <a16:creationId xmlns:a16="http://schemas.microsoft.com/office/drawing/2014/main" id="{C62939B6-E1DB-4BA0-2D85-0EC53B851FB3}"/>
              </a:ext>
            </a:extLst>
          </p:cNvPr>
          <p:cNvSpPr/>
          <p:nvPr/>
        </p:nvSpPr>
        <p:spPr>
          <a:xfrm>
            <a:off x="6299200" y="4681215"/>
            <a:ext cx="2489200" cy="101600"/>
          </a:xfrm>
          <a:prstGeom prst="rect">
            <a:avLst/>
          </a:prstGeom>
          <a:solidFill>
            <a:srgbClr val="E0DCD5"/>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70" name="TextBox 69">
            <a:extLst>
              <a:ext uri="{FF2B5EF4-FFF2-40B4-BE49-F238E27FC236}">
                <a16:creationId xmlns:a16="http://schemas.microsoft.com/office/drawing/2014/main" id="{1354ECEA-F191-1221-1C7B-5B7FFB322F4D}"/>
              </a:ext>
            </a:extLst>
          </p:cNvPr>
          <p:cNvSpPr txBox="1"/>
          <p:nvPr/>
        </p:nvSpPr>
        <p:spPr>
          <a:xfrm>
            <a:off x="6299200" y="4891340"/>
            <a:ext cx="1981200" cy="349839"/>
          </a:xfrm>
          <a:prstGeom prst="rect">
            <a:avLst/>
          </a:prstGeom>
          <a:noFill/>
        </p:spPr>
        <p:txBody>
          <a:bodyPr vertOverflow="overflow" vert="horz" wrap="square" lIns="91440" tIns="91440" rIns="91440" bIns="91440" rtlCol="0" anchor="t">
            <a:spAutoFit/>
          </a:bodyPr>
          <a:lstStyle/>
          <a:p>
            <a:pPr marL="0" marR="0" indent="0" algn="l" defTabSz="914400" rtl="0" eaLnBrk="1" fontAlgn="base" latinLnBrk="0" hangingPunct="1">
              <a:lnSpc>
                <a:spcPct val="112000"/>
              </a:lnSpc>
              <a:spcBef>
                <a:spcPct val="0"/>
              </a:spcBef>
              <a:spcAft>
                <a:spcPct val="0"/>
              </a:spcAft>
              <a:buClr>
                <a:srgbClr val="442735"/>
              </a:buClr>
              <a:buSzTx/>
              <a:buFontTx/>
              <a:buNone/>
              <a:tabLst/>
            </a:pPr>
            <a:r>
              <a:rPr kumimoji="0" lang="en-US" sz="1000" b="0" i="0" u="none" strike="noStrike" kern="1200" cap="none" spc="0" normalizeH="0" baseline="0" noProof="0">
                <a:ln>
                  <a:noFill/>
                </a:ln>
                <a:solidFill>
                  <a:srgbClr val="262626"/>
                </a:solidFill>
                <a:effectLst/>
                <a:uLnTx/>
                <a:uFillTx/>
                <a:latin typeface="+mn-lt"/>
                <a:ea typeface="+mn-ea"/>
                <a:cs typeface="+mn-cs"/>
              </a:rPr>
              <a:t>With optimizations</a:t>
            </a:r>
          </a:p>
        </p:txBody>
      </p:sp>
      <p:sp>
        <p:nvSpPr>
          <p:cNvPr id="72" name="Rectangle 71">
            <a:extLst>
              <a:ext uri="{FF2B5EF4-FFF2-40B4-BE49-F238E27FC236}">
                <a16:creationId xmlns:a16="http://schemas.microsoft.com/office/drawing/2014/main" id="{F616FA7F-42BB-EE9C-89F5-50FD0862B6A5}"/>
              </a:ext>
            </a:extLst>
          </p:cNvPr>
          <p:cNvSpPr/>
          <p:nvPr/>
        </p:nvSpPr>
        <p:spPr>
          <a:xfrm>
            <a:off x="6299200" y="5163815"/>
            <a:ext cx="2489200" cy="101600"/>
          </a:xfrm>
          <a:prstGeom prst="rect">
            <a:avLst/>
          </a:prstGeom>
          <a:solidFill>
            <a:srgbClr val="E0DCD5"/>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73" name="Rectangle 72">
            <a:extLst>
              <a:ext uri="{FF2B5EF4-FFF2-40B4-BE49-F238E27FC236}">
                <a16:creationId xmlns:a16="http://schemas.microsoft.com/office/drawing/2014/main" id="{B8CC6C9F-97A6-8EAE-83A6-6B249870FB73}"/>
              </a:ext>
            </a:extLst>
          </p:cNvPr>
          <p:cNvSpPr/>
          <p:nvPr/>
        </p:nvSpPr>
        <p:spPr>
          <a:xfrm>
            <a:off x="6299200" y="5163815"/>
            <a:ext cx="2134839" cy="101600"/>
          </a:xfrm>
          <a:prstGeom prst="rect">
            <a:avLst/>
          </a:prstGeom>
          <a:solidFill>
            <a:srgbClr val="92D050"/>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74" name="TextBox 73">
            <a:extLst>
              <a:ext uri="{FF2B5EF4-FFF2-40B4-BE49-F238E27FC236}">
                <a16:creationId xmlns:a16="http://schemas.microsoft.com/office/drawing/2014/main" id="{FD653622-E420-24C2-7CAF-D48866DDA8D4}"/>
              </a:ext>
            </a:extLst>
          </p:cNvPr>
          <p:cNvSpPr txBox="1"/>
          <p:nvPr/>
        </p:nvSpPr>
        <p:spPr>
          <a:xfrm>
            <a:off x="6299200" y="5373940"/>
            <a:ext cx="1981200" cy="349839"/>
          </a:xfrm>
          <a:prstGeom prst="rect">
            <a:avLst/>
          </a:prstGeom>
          <a:noFill/>
        </p:spPr>
        <p:txBody>
          <a:bodyPr vertOverflow="overflow" vert="horz" wrap="square" lIns="91440" tIns="91440" rIns="91440" bIns="91440" rtlCol="0" anchor="t">
            <a:spAutoFit/>
          </a:bodyPr>
          <a:lstStyle/>
          <a:p>
            <a:pPr marL="0" marR="0" indent="0" algn="l" defTabSz="914400" rtl="0" eaLnBrk="1" fontAlgn="base" latinLnBrk="0" hangingPunct="1">
              <a:lnSpc>
                <a:spcPct val="112000"/>
              </a:lnSpc>
              <a:spcBef>
                <a:spcPct val="0"/>
              </a:spcBef>
              <a:spcAft>
                <a:spcPct val="0"/>
              </a:spcAft>
              <a:buClr>
                <a:srgbClr val="442735"/>
              </a:buClr>
              <a:buSzTx/>
              <a:buFontTx/>
              <a:buNone/>
              <a:tabLst/>
            </a:pPr>
            <a:r>
              <a:rPr kumimoji="0" lang="en-US" sz="1000" b="0" i="0" u="none" strike="noStrike" kern="1200" cap="none" spc="0" normalizeH="0" baseline="0" noProof="0">
                <a:ln>
                  <a:noFill/>
                </a:ln>
                <a:solidFill>
                  <a:srgbClr val="262626"/>
                </a:solidFill>
                <a:effectLst/>
                <a:uLnTx/>
                <a:uFillTx/>
                <a:latin typeface="+mn-lt"/>
                <a:ea typeface="+mn-ea"/>
                <a:cs typeface="+mn-cs"/>
              </a:rPr>
              <a:t>Industry</a:t>
            </a:r>
          </a:p>
        </p:txBody>
      </p:sp>
      <p:sp>
        <p:nvSpPr>
          <p:cNvPr id="76" name="Rectangle 75">
            <a:extLst>
              <a:ext uri="{FF2B5EF4-FFF2-40B4-BE49-F238E27FC236}">
                <a16:creationId xmlns:a16="http://schemas.microsoft.com/office/drawing/2014/main" id="{8F793AF0-0A8B-D1AE-E8B9-4C48B408E54D}"/>
              </a:ext>
            </a:extLst>
          </p:cNvPr>
          <p:cNvSpPr/>
          <p:nvPr/>
        </p:nvSpPr>
        <p:spPr>
          <a:xfrm>
            <a:off x="6299200" y="5646415"/>
            <a:ext cx="2489200" cy="101600"/>
          </a:xfrm>
          <a:prstGeom prst="rect">
            <a:avLst/>
          </a:prstGeom>
          <a:solidFill>
            <a:srgbClr val="E0DCD5"/>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77" name="Rectangle 76">
            <a:extLst>
              <a:ext uri="{FF2B5EF4-FFF2-40B4-BE49-F238E27FC236}">
                <a16:creationId xmlns:a16="http://schemas.microsoft.com/office/drawing/2014/main" id="{4758F56B-AE47-131B-AA1B-4BD11C51C355}"/>
              </a:ext>
            </a:extLst>
          </p:cNvPr>
          <p:cNvSpPr/>
          <p:nvPr/>
        </p:nvSpPr>
        <p:spPr>
          <a:xfrm>
            <a:off x="6299200" y="5646415"/>
            <a:ext cx="2416175" cy="101600"/>
          </a:xfrm>
          <a:prstGeom prst="rect">
            <a:avLst/>
          </a:prstGeom>
          <a:solidFill>
            <a:srgbClr val="92D050"/>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78" name="Rectangle: Rounded Corners 77">
            <a:extLst>
              <a:ext uri="{FF2B5EF4-FFF2-40B4-BE49-F238E27FC236}">
                <a16:creationId xmlns:a16="http://schemas.microsoft.com/office/drawing/2014/main" id="{B014654E-3FC4-B852-25DA-EC750D67456D}"/>
              </a:ext>
            </a:extLst>
          </p:cNvPr>
          <p:cNvSpPr/>
          <p:nvPr/>
        </p:nvSpPr>
        <p:spPr>
          <a:xfrm>
            <a:off x="9067800" y="1473200"/>
            <a:ext cx="2743200" cy="4643079"/>
          </a:xfrm>
          <a:prstGeom prst="roundRect">
            <a:avLst/>
          </a:prstGeom>
          <a:solidFill>
            <a:srgbClr val="F5F2EE"/>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79" name="Rectangle 78">
            <a:extLst>
              <a:ext uri="{FF2B5EF4-FFF2-40B4-BE49-F238E27FC236}">
                <a16:creationId xmlns:a16="http://schemas.microsoft.com/office/drawing/2014/main" id="{2CB77DE2-361F-3313-427E-5B03141A01B3}"/>
              </a:ext>
            </a:extLst>
          </p:cNvPr>
          <p:cNvSpPr/>
          <p:nvPr/>
        </p:nvSpPr>
        <p:spPr>
          <a:xfrm>
            <a:off x="9067800" y="1473200"/>
            <a:ext cx="2743200" cy="76200"/>
          </a:xfrm>
          <a:prstGeom prst="rect">
            <a:avLst/>
          </a:prstGeom>
          <a:solidFill>
            <a:srgbClr val="01239A"/>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80" name="TextBox 79">
            <a:extLst>
              <a:ext uri="{FF2B5EF4-FFF2-40B4-BE49-F238E27FC236}">
                <a16:creationId xmlns:a16="http://schemas.microsoft.com/office/drawing/2014/main" id="{AEE554BB-552E-8468-8706-9EA0E28812F2}"/>
              </a:ext>
            </a:extLst>
          </p:cNvPr>
          <p:cNvSpPr txBox="1"/>
          <p:nvPr/>
        </p:nvSpPr>
        <p:spPr>
          <a:xfrm>
            <a:off x="9220200" y="1600200"/>
            <a:ext cx="508000" cy="415948"/>
          </a:xfrm>
          <a:prstGeom prst="rect">
            <a:avLst/>
          </a:prstGeom>
          <a:noFill/>
        </p:spPr>
        <p:txBody>
          <a:bodyPr vertOverflow="overflow" vert="horz" wrap="square" lIns="91440" tIns="91440" rIns="91440" bIns="91440" rtlCol="0" anchor="t">
            <a:spAutoFit/>
          </a:bodyPr>
          <a:lstStyle/>
          <a:p>
            <a:pPr marL="0" marR="0" indent="0" algn="l" defTabSz="914400" rtl="0" eaLnBrk="1" fontAlgn="base" latinLnBrk="0" hangingPunct="1">
              <a:lnSpc>
                <a:spcPct val="112000"/>
              </a:lnSpc>
              <a:spcBef>
                <a:spcPct val="0"/>
              </a:spcBef>
              <a:spcAft>
                <a:spcPct val="0"/>
              </a:spcAft>
              <a:buClr>
                <a:srgbClr val="442735"/>
              </a:buClr>
              <a:buSzTx/>
              <a:buFontTx/>
              <a:buNone/>
              <a:tabLst/>
            </a:pPr>
            <a:r>
              <a:rPr kumimoji="0" lang="en-US" sz="1400" b="1" i="0" u="none" strike="noStrike" kern="1200" cap="none" spc="0" normalizeH="0" baseline="0" noProof="0">
                <a:ln>
                  <a:noFill/>
                </a:ln>
                <a:solidFill>
                  <a:srgbClr val="01239A"/>
                </a:solidFill>
                <a:effectLst/>
                <a:uLnTx/>
                <a:uFillTx/>
                <a:latin typeface="+mn-lt"/>
                <a:ea typeface="+mn-ea"/>
                <a:cs typeface="+mn-cs"/>
              </a:rPr>
              <a:t>04</a:t>
            </a:r>
          </a:p>
        </p:txBody>
      </p:sp>
      <p:sp>
        <p:nvSpPr>
          <p:cNvPr id="81" name="TextBox 80">
            <a:extLst>
              <a:ext uri="{FF2B5EF4-FFF2-40B4-BE49-F238E27FC236}">
                <a16:creationId xmlns:a16="http://schemas.microsoft.com/office/drawing/2014/main" id="{09D67869-A966-61F0-6FF7-F1283456BC4E}"/>
              </a:ext>
            </a:extLst>
          </p:cNvPr>
          <p:cNvSpPr txBox="1"/>
          <p:nvPr/>
        </p:nvSpPr>
        <p:spPr>
          <a:xfrm>
            <a:off x="9194800" y="1905000"/>
            <a:ext cx="2489200" cy="415948"/>
          </a:xfrm>
          <a:prstGeom prst="rect">
            <a:avLst/>
          </a:prstGeom>
          <a:noFill/>
        </p:spPr>
        <p:txBody>
          <a:bodyPr vertOverflow="overflow" vert="horz" wrap="square" lIns="91440" tIns="91440" rIns="91440" bIns="91440" rtlCol="0" anchor="t">
            <a:spAutoFit/>
          </a:bodyPr>
          <a:lstStyle/>
          <a:p>
            <a:pPr marL="0" marR="0" indent="0" algn="l" defTabSz="914400" rtl="0" eaLnBrk="1" fontAlgn="base" latinLnBrk="0" hangingPunct="1">
              <a:lnSpc>
                <a:spcPct val="112000"/>
              </a:lnSpc>
              <a:spcBef>
                <a:spcPct val="0"/>
              </a:spcBef>
              <a:spcAft>
                <a:spcPct val="0"/>
              </a:spcAft>
              <a:buClr>
                <a:srgbClr val="442735"/>
              </a:buClr>
              <a:buSzTx/>
              <a:buFontTx/>
              <a:buNone/>
              <a:tabLst/>
            </a:pPr>
            <a:r>
              <a:rPr kumimoji="0" lang="en-US" sz="1400" b="1" i="0" u="none" strike="noStrike" kern="1200" cap="none" spc="0" normalizeH="0" baseline="0" noProof="0">
                <a:ln>
                  <a:noFill/>
                </a:ln>
                <a:solidFill>
                  <a:srgbClr val="262626"/>
                </a:solidFill>
                <a:effectLst/>
                <a:uLnTx/>
                <a:uFillTx/>
                <a:latin typeface="+mn-lt"/>
                <a:ea typeface="+mn-ea"/>
                <a:cs typeface="+mn-cs"/>
              </a:rPr>
              <a:t>Lead Nurture</a:t>
            </a:r>
          </a:p>
        </p:txBody>
      </p:sp>
      <p:sp>
        <p:nvSpPr>
          <p:cNvPr id="82" name="TextBox 81">
            <a:extLst>
              <a:ext uri="{FF2B5EF4-FFF2-40B4-BE49-F238E27FC236}">
                <a16:creationId xmlns:a16="http://schemas.microsoft.com/office/drawing/2014/main" id="{064AF372-6A75-211C-86CD-3F6125A02E1E}"/>
              </a:ext>
            </a:extLst>
          </p:cNvPr>
          <p:cNvSpPr txBox="1"/>
          <p:nvPr/>
        </p:nvSpPr>
        <p:spPr>
          <a:xfrm>
            <a:off x="9194800" y="2463800"/>
            <a:ext cx="2616200" cy="1443793"/>
          </a:xfrm>
          <a:prstGeom prst="rect">
            <a:avLst/>
          </a:prstGeom>
          <a:noFill/>
        </p:spPr>
        <p:txBody>
          <a:bodyPr vertOverflow="overflow" vert="horz" wrap="square" lIns="91440" tIns="91440" rIns="91440" bIns="91440" rtlCol="0" anchor="t">
            <a:spAutoFit/>
          </a:bodyPr>
          <a:lstStyle/>
          <a:p>
            <a:pPr eaLnBrk="1" hangingPunct="1">
              <a:lnSpc>
                <a:spcPct val="112000"/>
              </a:lnSpc>
              <a:buClr>
                <a:srgbClr val="442735"/>
              </a:buClr>
            </a:pPr>
            <a:r>
              <a:rPr kumimoji="0" lang="en-US" sz="1050" b="0" i="0" u="none" strike="noStrike" kern="1200" cap="none" spc="0" normalizeH="0" baseline="0" noProof="0">
                <a:ln>
                  <a:noFill/>
                </a:ln>
                <a:solidFill>
                  <a:srgbClr val="262626"/>
                </a:solidFill>
                <a:effectLst/>
                <a:uLnTx/>
                <a:uFillTx/>
                <a:latin typeface="+mn-lt"/>
                <a:ea typeface="+mn-ea"/>
                <a:cs typeface="+mn-cs"/>
              </a:rPr>
              <a:t>• Positive consultation framing </a:t>
            </a:r>
            <a:r>
              <a:rPr lang="en-US" sz="1050">
                <a:solidFill>
                  <a:srgbClr val="262626"/>
                </a:solidFill>
                <a:latin typeface="+mn-lt"/>
              </a:rPr>
              <a:t>(Basic) </a:t>
            </a:r>
            <a:r>
              <a:rPr kumimoji="0" lang="en-US" sz="1050" b="0" i="0" u="none" strike="noStrike" kern="1200" cap="none" spc="0" normalizeH="0" baseline="0" noProof="0">
                <a:ln>
                  <a:noFill/>
                </a:ln>
                <a:solidFill>
                  <a:srgbClr val="262626"/>
                </a:solidFill>
                <a:effectLst/>
                <a:uLnTx/>
                <a:uFillTx/>
                <a:latin typeface="+mn-lt"/>
                <a:ea typeface="+mn-ea"/>
                <a:cs typeface="+mn-cs"/>
              </a:rPr>
              <a:t>
• Clear expectations</a:t>
            </a:r>
            <a:r>
              <a:rPr lang="en-US" sz="1050">
                <a:solidFill>
                  <a:srgbClr val="262626"/>
                </a:solidFill>
                <a:latin typeface="+mn-lt"/>
              </a:rPr>
              <a:t> (Basic) </a:t>
            </a:r>
            <a:r>
              <a:rPr kumimoji="0" lang="en-US" sz="1050" b="0" i="0" u="none" strike="noStrike" kern="1200" cap="none" spc="0" normalizeH="0" baseline="0" noProof="0">
                <a:ln>
                  <a:noFill/>
                </a:ln>
                <a:solidFill>
                  <a:srgbClr val="262626"/>
                </a:solidFill>
                <a:effectLst/>
                <a:uLnTx/>
                <a:uFillTx/>
                <a:latin typeface="+mn-lt"/>
                <a:ea typeface="+mn-ea"/>
                <a:cs typeface="+mn-cs"/>
              </a:rPr>
              <a:t>
• Post-inquiry freedom
(Moderate)</a:t>
            </a:r>
          </a:p>
          <a:p>
            <a:pPr eaLnBrk="1" hangingPunct="1">
              <a:lnSpc>
                <a:spcPct val="112000"/>
              </a:lnSpc>
              <a:buClr>
                <a:srgbClr val="442735"/>
              </a:buClr>
            </a:pPr>
            <a:r>
              <a:rPr kumimoji="0" lang="en-US" sz="1050" b="0" i="0" u="none" strike="noStrike" kern="1200" cap="none" spc="0" normalizeH="0" baseline="0" noProof="0">
                <a:ln>
                  <a:noFill/>
                </a:ln>
                <a:solidFill>
                  <a:srgbClr val="262626"/>
                </a:solidFill>
                <a:effectLst/>
                <a:uLnTx/>
                <a:uFillTx/>
                <a:latin typeface="+mn-lt"/>
                <a:ea typeface="+mn-ea"/>
                <a:cs typeface="+mn-cs"/>
              </a:rPr>
              <a:t>• Lead prioritization data </a:t>
            </a:r>
            <a:r>
              <a:rPr lang="en-US" sz="1050">
                <a:solidFill>
                  <a:srgbClr val="262626"/>
                </a:solidFill>
                <a:latin typeface="+mn-lt"/>
              </a:rPr>
              <a:t>(Sophisticated)</a:t>
            </a:r>
            <a:endParaRPr kumimoji="0" lang="en-US" sz="1050" b="0" i="0" u="none" strike="noStrike" kern="1200" cap="none" spc="0" normalizeH="0" baseline="0" noProof="0">
              <a:ln>
                <a:noFill/>
              </a:ln>
              <a:solidFill>
                <a:srgbClr val="262626"/>
              </a:solidFill>
              <a:effectLst/>
              <a:uLnTx/>
              <a:uFillTx/>
              <a:latin typeface="+mn-lt"/>
              <a:ea typeface="+mn-ea"/>
              <a:cs typeface="+mn-cs"/>
            </a:endParaRPr>
          </a:p>
        </p:txBody>
      </p:sp>
      <p:sp>
        <p:nvSpPr>
          <p:cNvPr id="83" name="TextBox 82">
            <a:extLst>
              <a:ext uri="{FF2B5EF4-FFF2-40B4-BE49-F238E27FC236}">
                <a16:creationId xmlns:a16="http://schemas.microsoft.com/office/drawing/2014/main" id="{8929C65F-909B-4E89-E8F6-E60B18A5BEF8}"/>
              </a:ext>
            </a:extLst>
          </p:cNvPr>
          <p:cNvSpPr txBox="1"/>
          <p:nvPr/>
        </p:nvSpPr>
        <p:spPr>
          <a:xfrm>
            <a:off x="9194800" y="4096324"/>
            <a:ext cx="2489200" cy="349839"/>
          </a:xfrm>
          <a:prstGeom prst="rect">
            <a:avLst/>
          </a:prstGeom>
          <a:noFill/>
        </p:spPr>
        <p:txBody>
          <a:bodyPr vertOverflow="overflow" vert="horz" wrap="square" lIns="91440" tIns="91440" rIns="91440" bIns="91440" rtlCol="0" anchor="t">
            <a:spAutoFit/>
          </a:bodyPr>
          <a:lstStyle/>
          <a:p>
            <a:pPr marL="0" marR="0" indent="0" algn="l" defTabSz="914400" rtl="0" eaLnBrk="1" fontAlgn="base" latinLnBrk="0" hangingPunct="1">
              <a:lnSpc>
                <a:spcPct val="112000"/>
              </a:lnSpc>
              <a:spcBef>
                <a:spcPct val="0"/>
              </a:spcBef>
              <a:spcAft>
                <a:spcPct val="0"/>
              </a:spcAft>
              <a:buClr>
                <a:srgbClr val="442735"/>
              </a:buClr>
              <a:buSzTx/>
              <a:buFontTx/>
              <a:buNone/>
              <a:tabLst/>
            </a:pPr>
            <a:r>
              <a:rPr kumimoji="0" lang="en-US" sz="1000" b="1" i="0" u="none" strike="noStrike" kern="1200" cap="none" spc="0" normalizeH="0" baseline="0" noProof="0">
                <a:ln>
                  <a:noFill/>
                </a:ln>
                <a:solidFill>
                  <a:srgbClr val="595959"/>
                </a:solidFill>
                <a:effectLst/>
                <a:uLnTx/>
                <a:uFillTx/>
                <a:latin typeface="+mn-lt"/>
                <a:ea typeface="+mn-ea"/>
                <a:cs typeface="+mn-cs"/>
              </a:rPr>
              <a:t>Score</a:t>
            </a:r>
          </a:p>
        </p:txBody>
      </p:sp>
      <p:sp>
        <p:nvSpPr>
          <p:cNvPr id="84" name="TextBox 83">
            <a:extLst>
              <a:ext uri="{FF2B5EF4-FFF2-40B4-BE49-F238E27FC236}">
                <a16:creationId xmlns:a16="http://schemas.microsoft.com/office/drawing/2014/main" id="{5A3C0718-4996-0171-B201-9306EA35A3FA}"/>
              </a:ext>
            </a:extLst>
          </p:cNvPr>
          <p:cNvSpPr txBox="1"/>
          <p:nvPr/>
        </p:nvSpPr>
        <p:spPr>
          <a:xfrm>
            <a:off x="9194800" y="4408740"/>
            <a:ext cx="1981200" cy="349839"/>
          </a:xfrm>
          <a:prstGeom prst="rect">
            <a:avLst/>
          </a:prstGeom>
          <a:noFill/>
        </p:spPr>
        <p:txBody>
          <a:bodyPr vertOverflow="overflow" vert="horz" wrap="square" lIns="91440" tIns="91440" rIns="91440" bIns="91440" rtlCol="0" anchor="t">
            <a:spAutoFit/>
          </a:bodyPr>
          <a:lstStyle/>
          <a:p>
            <a:pPr marL="0" marR="0" indent="0" algn="l" defTabSz="914400" rtl="0" eaLnBrk="1" fontAlgn="base" latinLnBrk="0" hangingPunct="1">
              <a:lnSpc>
                <a:spcPct val="112000"/>
              </a:lnSpc>
              <a:spcBef>
                <a:spcPct val="0"/>
              </a:spcBef>
              <a:spcAft>
                <a:spcPct val="0"/>
              </a:spcAft>
              <a:buClr>
                <a:srgbClr val="442735"/>
              </a:buClr>
              <a:buSzTx/>
              <a:buFontTx/>
              <a:buNone/>
              <a:tabLst/>
            </a:pPr>
            <a:r>
              <a:rPr kumimoji="0" lang="en-US" sz="1000" b="0" i="0" u="none" strike="noStrike" kern="1200" cap="none" spc="0" normalizeH="0" baseline="0" noProof="0">
                <a:ln>
                  <a:noFill/>
                </a:ln>
                <a:solidFill>
                  <a:srgbClr val="262626"/>
                </a:solidFill>
                <a:effectLst/>
                <a:uLnTx/>
                <a:uFillTx/>
                <a:latin typeface="+mn-lt"/>
                <a:ea typeface="+mn-ea"/>
                <a:cs typeface="+mn-cs"/>
              </a:rPr>
              <a:t>DeVry today</a:t>
            </a:r>
          </a:p>
        </p:txBody>
      </p:sp>
      <p:sp>
        <p:nvSpPr>
          <p:cNvPr id="86" name="Rectangle 85">
            <a:extLst>
              <a:ext uri="{FF2B5EF4-FFF2-40B4-BE49-F238E27FC236}">
                <a16:creationId xmlns:a16="http://schemas.microsoft.com/office/drawing/2014/main" id="{E628C253-528B-6FF1-A92D-D17583D54A83}"/>
              </a:ext>
            </a:extLst>
          </p:cNvPr>
          <p:cNvSpPr/>
          <p:nvPr/>
        </p:nvSpPr>
        <p:spPr>
          <a:xfrm>
            <a:off x="9194800" y="4681215"/>
            <a:ext cx="2489200" cy="101600"/>
          </a:xfrm>
          <a:prstGeom prst="rect">
            <a:avLst/>
          </a:prstGeom>
          <a:solidFill>
            <a:srgbClr val="E0DCD5"/>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87" name="Rectangle 86">
            <a:extLst>
              <a:ext uri="{FF2B5EF4-FFF2-40B4-BE49-F238E27FC236}">
                <a16:creationId xmlns:a16="http://schemas.microsoft.com/office/drawing/2014/main" id="{B5C58818-C977-8E98-37DF-CADD6D1A1EAD}"/>
              </a:ext>
            </a:extLst>
          </p:cNvPr>
          <p:cNvSpPr/>
          <p:nvPr/>
        </p:nvSpPr>
        <p:spPr>
          <a:xfrm>
            <a:off x="9194800" y="4681215"/>
            <a:ext cx="1803400" cy="101600"/>
          </a:xfrm>
          <a:prstGeom prst="rect">
            <a:avLst/>
          </a:prstGeom>
          <a:solidFill>
            <a:srgbClr val="FFC000"/>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88" name="TextBox 87">
            <a:extLst>
              <a:ext uri="{FF2B5EF4-FFF2-40B4-BE49-F238E27FC236}">
                <a16:creationId xmlns:a16="http://schemas.microsoft.com/office/drawing/2014/main" id="{87F03D4B-F80E-CD3D-9EB3-2B384124D88D}"/>
              </a:ext>
            </a:extLst>
          </p:cNvPr>
          <p:cNvSpPr txBox="1"/>
          <p:nvPr/>
        </p:nvSpPr>
        <p:spPr>
          <a:xfrm>
            <a:off x="9194800" y="4891340"/>
            <a:ext cx="1981200" cy="349839"/>
          </a:xfrm>
          <a:prstGeom prst="rect">
            <a:avLst/>
          </a:prstGeom>
          <a:noFill/>
        </p:spPr>
        <p:txBody>
          <a:bodyPr vertOverflow="overflow" vert="horz" wrap="square" lIns="91440" tIns="91440" rIns="91440" bIns="91440" rtlCol="0" anchor="t">
            <a:spAutoFit/>
          </a:bodyPr>
          <a:lstStyle/>
          <a:p>
            <a:pPr marL="0" marR="0" indent="0" algn="l" defTabSz="914400" rtl="0" eaLnBrk="1" fontAlgn="base" latinLnBrk="0" hangingPunct="1">
              <a:lnSpc>
                <a:spcPct val="112000"/>
              </a:lnSpc>
              <a:spcBef>
                <a:spcPct val="0"/>
              </a:spcBef>
              <a:spcAft>
                <a:spcPct val="0"/>
              </a:spcAft>
              <a:buClr>
                <a:srgbClr val="442735"/>
              </a:buClr>
              <a:buSzTx/>
              <a:buFontTx/>
              <a:buNone/>
              <a:tabLst/>
            </a:pPr>
            <a:r>
              <a:rPr kumimoji="0" lang="en-US" sz="1000" b="0" i="0" u="none" strike="noStrike" kern="1200" cap="none" spc="0" normalizeH="0" baseline="0" noProof="0">
                <a:ln>
                  <a:noFill/>
                </a:ln>
                <a:solidFill>
                  <a:srgbClr val="262626"/>
                </a:solidFill>
                <a:effectLst/>
                <a:uLnTx/>
                <a:uFillTx/>
                <a:latin typeface="+mn-lt"/>
                <a:ea typeface="+mn-ea"/>
                <a:cs typeface="+mn-cs"/>
              </a:rPr>
              <a:t>With optimizations</a:t>
            </a:r>
          </a:p>
        </p:txBody>
      </p:sp>
      <p:sp>
        <p:nvSpPr>
          <p:cNvPr id="90" name="Rectangle 89">
            <a:extLst>
              <a:ext uri="{FF2B5EF4-FFF2-40B4-BE49-F238E27FC236}">
                <a16:creationId xmlns:a16="http://schemas.microsoft.com/office/drawing/2014/main" id="{789F0570-9B16-B60A-808F-61C67D227BCA}"/>
              </a:ext>
            </a:extLst>
          </p:cNvPr>
          <p:cNvSpPr/>
          <p:nvPr/>
        </p:nvSpPr>
        <p:spPr>
          <a:xfrm>
            <a:off x="9194800" y="5163815"/>
            <a:ext cx="2489200" cy="101600"/>
          </a:xfrm>
          <a:prstGeom prst="rect">
            <a:avLst/>
          </a:prstGeom>
          <a:solidFill>
            <a:srgbClr val="E0DCD5"/>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91" name="Rectangle 90">
            <a:extLst>
              <a:ext uri="{FF2B5EF4-FFF2-40B4-BE49-F238E27FC236}">
                <a16:creationId xmlns:a16="http://schemas.microsoft.com/office/drawing/2014/main" id="{52A1DC56-A533-D332-984F-B1EA846A4E70}"/>
              </a:ext>
            </a:extLst>
          </p:cNvPr>
          <p:cNvSpPr/>
          <p:nvPr/>
        </p:nvSpPr>
        <p:spPr>
          <a:xfrm>
            <a:off x="9194800" y="5163815"/>
            <a:ext cx="2407920" cy="101600"/>
          </a:xfrm>
          <a:prstGeom prst="rect">
            <a:avLst/>
          </a:prstGeom>
          <a:solidFill>
            <a:srgbClr val="92D050"/>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92" name="TextBox 91">
            <a:extLst>
              <a:ext uri="{FF2B5EF4-FFF2-40B4-BE49-F238E27FC236}">
                <a16:creationId xmlns:a16="http://schemas.microsoft.com/office/drawing/2014/main" id="{1ED4473F-15C2-7C57-D206-431A3FA2978D}"/>
              </a:ext>
            </a:extLst>
          </p:cNvPr>
          <p:cNvSpPr txBox="1"/>
          <p:nvPr/>
        </p:nvSpPr>
        <p:spPr>
          <a:xfrm>
            <a:off x="9194800" y="5373940"/>
            <a:ext cx="1981200" cy="349839"/>
          </a:xfrm>
          <a:prstGeom prst="rect">
            <a:avLst/>
          </a:prstGeom>
          <a:noFill/>
        </p:spPr>
        <p:txBody>
          <a:bodyPr vertOverflow="overflow" vert="horz" wrap="square" lIns="91440" tIns="91440" rIns="91440" bIns="91440" rtlCol="0" anchor="t">
            <a:spAutoFit/>
          </a:bodyPr>
          <a:lstStyle/>
          <a:p>
            <a:pPr marL="0" marR="0" indent="0" algn="l" defTabSz="914400" rtl="0" eaLnBrk="1" fontAlgn="base" latinLnBrk="0" hangingPunct="1">
              <a:lnSpc>
                <a:spcPct val="112000"/>
              </a:lnSpc>
              <a:spcBef>
                <a:spcPct val="0"/>
              </a:spcBef>
              <a:spcAft>
                <a:spcPct val="0"/>
              </a:spcAft>
              <a:buClr>
                <a:srgbClr val="442735"/>
              </a:buClr>
              <a:buSzTx/>
              <a:buFontTx/>
              <a:buNone/>
              <a:tabLst/>
            </a:pPr>
            <a:r>
              <a:rPr kumimoji="0" lang="en-US" sz="1000" b="0" i="0" u="none" strike="noStrike" kern="1200" cap="none" spc="0" normalizeH="0" baseline="0" noProof="0">
                <a:ln>
                  <a:noFill/>
                </a:ln>
                <a:solidFill>
                  <a:srgbClr val="262626"/>
                </a:solidFill>
                <a:effectLst/>
                <a:uLnTx/>
                <a:uFillTx/>
                <a:latin typeface="+mn-lt"/>
                <a:ea typeface="+mn-ea"/>
                <a:cs typeface="+mn-cs"/>
              </a:rPr>
              <a:t>Industry</a:t>
            </a:r>
          </a:p>
        </p:txBody>
      </p:sp>
      <p:sp>
        <p:nvSpPr>
          <p:cNvPr id="94" name="Rectangle 93">
            <a:extLst>
              <a:ext uri="{FF2B5EF4-FFF2-40B4-BE49-F238E27FC236}">
                <a16:creationId xmlns:a16="http://schemas.microsoft.com/office/drawing/2014/main" id="{E1E05A2A-9D69-4D4A-DA99-A6E569288065}"/>
              </a:ext>
            </a:extLst>
          </p:cNvPr>
          <p:cNvSpPr/>
          <p:nvPr/>
        </p:nvSpPr>
        <p:spPr>
          <a:xfrm>
            <a:off x="9194800" y="5646415"/>
            <a:ext cx="2489200" cy="101600"/>
          </a:xfrm>
          <a:prstGeom prst="rect">
            <a:avLst/>
          </a:prstGeom>
          <a:solidFill>
            <a:srgbClr val="E0DCD5"/>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95" name="Rectangle 94">
            <a:extLst>
              <a:ext uri="{FF2B5EF4-FFF2-40B4-BE49-F238E27FC236}">
                <a16:creationId xmlns:a16="http://schemas.microsoft.com/office/drawing/2014/main" id="{9C83B967-92B6-E530-67A6-F61970C8856B}"/>
              </a:ext>
            </a:extLst>
          </p:cNvPr>
          <p:cNvSpPr/>
          <p:nvPr/>
        </p:nvSpPr>
        <p:spPr>
          <a:xfrm>
            <a:off x="9194800" y="5646415"/>
            <a:ext cx="2184400" cy="101600"/>
          </a:xfrm>
          <a:prstGeom prst="rect">
            <a:avLst/>
          </a:prstGeom>
          <a:solidFill>
            <a:srgbClr val="92D050"/>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100" name="Rectangle 99">
            <a:extLst>
              <a:ext uri="{FF2B5EF4-FFF2-40B4-BE49-F238E27FC236}">
                <a16:creationId xmlns:a16="http://schemas.microsoft.com/office/drawing/2014/main" id="{AB042661-DB4E-316D-2979-08755F2DFD93}"/>
              </a:ext>
            </a:extLst>
          </p:cNvPr>
          <p:cNvSpPr/>
          <p:nvPr/>
        </p:nvSpPr>
        <p:spPr>
          <a:xfrm>
            <a:off x="6299200" y="4685351"/>
            <a:ext cx="520700" cy="101600"/>
          </a:xfrm>
          <a:prstGeom prst="rect">
            <a:avLst/>
          </a:prstGeom>
          <a:solidFill>
            <a:srgbClr val="C00000"/>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algn="ctr"/>
            <a:endParaRPr lang="en-US" sz="1600" b="1">
              <a:cs typeface="Poppins SemiBold" pitchFamily="2" charset="77"/>
            </a:endParaRPr>
          </a:p>
        </p:txBody>
      </p:sp>
      <p:sp>
        <p:nvSpPr>
          <p:cNvPr id="2" name="TextBox 1">
            <a:extLst>
              <a:ext uri="{FF2B5EF4-FFF2-40B4-BE49-F238E27FC236}">
                <a16:creationId xmlns:a16="http://schemas.microsoft.com/office/drawing/2014/main" id="{EDC67009-4131-3A59-5578-94063ED328A2}"/>
              </a:ext>
            </a:extLst>
          </p:cNvPr>
          <p:cNvSpPr txBox="1"/>
          <p:nvPr/>
        </p:nvSpPr>
        <p:spPr>
          <a:xfrm>
            <a:off x="24263" y="6574649"/>
            <a:ext cx="7806990" cy="257506"/>
          </a:xfrm>
          <a:prstGeom prst="rect">
            <a:avLst/>
          </a:prstGeom>
          <a:noFill/>
        </p:spPr>
        <p:txBody>
          <a:bodyPr wrap="square" rtlCol="0">
            <a:spAutoFit/>
          </a:bodyPr>
          <a:lstStyle/>
          <a:p>
            <a:pPr algn="l">
              <a:lnSpc>
                <a:spcPct val="112000"/>
              </a:lnSpc>
            </a:pPr>
            <a:r>
              <a:rPr lang="en-US" sz="1000" i="1">
                <a:solidFill>
                  <a:schemeClr val="tx1">
                    <a:lumMod val="50000"/>
                    <a:lumOff val="50000"/>
                  </a:schemeClr>
                </a:solidFill>
                <a:latin typeface="+mn-lt"/>
              </a:rPr>
              <a:t>Tactical implementations scored 1 – 5 and averaged for total score</a:t>
            </a:r>
          </a:p>
        </p:txBody>
      </p:sp>
      <p:sp>
        <p:nvSpPr>
          <p:cNvPr id="3" name="Title 1">
            <a:extLst>
              <a:ext uri="{FF2B5EF4-FFF2-40B4-BE49-F238E27FC236}">
                <a16:creationId xmlns:a16="http://schemas.microsoft.com/office/drawing/2014/main" id="{2A336601-9A94-054E-9751-6FF29199EBF6}"/>
              </a:ext>
            </a:extLst>
          </p:cNvPr>
          <p:cNvSpPr txBox="1">
            <a:spLocks/>
          </p:cNvSpPr>
          <p:nvPr/>
        </p:nvSpPr>
        <p:spPr>
          <a:xfrm>
            <a:off x="507999" y="627375"/>
            <a:ext cx="11150252" cy="1227999"/>
          </a:xfrm>
          <a:prstGeom prst="rect">
            <a:avLst/>
          </a:prstGeom>
        </p:spPr>
        <p:txBody>
          <a:bodyPr vert="horz" lIns="91440" tIns="45720" rIns="91440" bIns="45720" rtlCol="0" anchor="t">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lvl="0" algn="ctr" defTabSz="914369">
              <a:lnSpc>
                <a:spcPct val="95000"/>
              </a:lnSpc>
              <a:defRPr/>
            </a:pPr>
            <a:r>
              <a:rPr lang="en-US" sz="2800" b="1">
                <a:solidFill>
                  <a:srgbClr val="01239A"/>
                </a:solidFill>
                <a:latin typeface="+mj-lt"/>
              </a:rPr>
              <a:t>Benchmarking DeVry By Pillar: Today &amp; Potential After 1 Year</a:t>
            </a:r>
            <a:endParaRPr lang="en-US" sz="2800" b="1">
              <a:solidFill>
                <a:schemeClr val="accent2"/>
              </a:solidFill>
              <a:latin typeface="+mj-lt"/>
            </a:endParaRPr>
          </a:p>
        </p:txBody>
      </p:sp>
    </p:spTree>
    <p:extLst>
      <p:ext uri="{BB962C8B-B14F-4D97-AF65-F5344CB8AC3E}">
        <p14:creationId xmlns:p14="http://schemas.microsoft.com/office/powerpoint/2010/main" val="2517644247"/>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2">
            <a:extLst>
              <a:ext uri="{FF2B5EF4-FFF2-40B4-BE49-F238E27FC236}">
                <a16:creationId xmlns:a16="http://schemas.microsoft.com/office/drawing/2014/main" id="{8B6036A1-CFDA-ADA8-AAD2-F099E30D12FD}"/>
              </a:ext>
            </a:extLst>
          </p:cNvPr>
          <p:cNvSpPr/>
          <p:nvPr/>
        </p:nvSpPr>
        <p:spPr>
          <a:xfrm>
            <a:off x="4402455" y="2007108"/>
            <a:ext cx="3413760" cy="4389120"/>
          </a:xfrm>
          <a:prstGeom prst="roundRect">
            <a:avLst/>
          </a:prstGeom>
          <a:solidFill>
            <a:srgbClr val="FFFFFF"/>
          </a:solidFill>
          <a:ln>
            <a:solidFill>
              <a:srgbClr val="002855"/>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Poppins"/>
              <a:ea typeface="+mn-ea"/>
              <a:cs typeface="+mn-cs"/>
            </a:endParaRPr>
          </a:p>
        </p:txBody>
      </p:sp>
      <p:sp>
        <p:nvSpPr>
          <p:cNvPr id="11" name="Shape 3">
            <a:extLst>
              <a:ext uri="{FF2B5EF4-FFF2-40B4-BE49-F238E27FC236}">
                <a16:creationId xmlns:a16="http://schemas.microsoft.com/office/drawing/2014/main" id="{3CB6A0B8-4557-25EF-833F-0035E37F8D95}"/>
              </a:ext>
            </a:extLst>
          </p:cNvPr>
          <p:cNvSpPr/>
          <p:nvPr/>
        </p:nvSpPr>
        <p:spPr>
          <a:xfrm>
            <a:off x="4402455" y="2007108"/>
            <a:ext cx="3413760" cy="936602"/>
          </a:xfrm>
          <a:prstGeom prst="roundRect">
            <a:avLst/>
          </a:prstGeom>
          <a:solidFill>
            <a:schemeClr val="accent2"/>
          </a:solidFill>
          <a:ln w="38100">
            <a:solidFill>
              <a:schemeClr val="bg1"/>
            </a:solidFill>
          </a:ln>
          <a:effectLst>
            <a:outerShdw blurRad="63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endParaRPr>
          </a:p>
        </p:txBody>
      </p:sp>
      <p:sp>
        <p:nvSpPr>
          <p:cNvPr id="16" name="Text 5">
            <a:extLst>
              <a:ext uri="{FF2B5EF4-FFF2-40B4-BE49-F238E27FC236}">
                <a16:creationId xmlns:a16="http://schemas.microsoft.com/office/drawing/2014/main" id="{8ACBEBA6-ABAF-47D4-5EB4-E2A9A8F6D5B4}"/>
              </a:ext>
            </a:extLst>
          </p:cNvPr>
          <p:cNvSpPr/>
          <p:nvPr/>
        </p:nvSpPr>
        <p:spPr>
          <a:xfrm>
            <a:off x="5135480" y="2176258"/>
            <a:ext cx="2436895" cy="548640"/>
          </a:xfrm>
          <a:prstGeom prst="rect">
            <a:avLst/>
          </a:prstGeom>
          <a:noFill/>
          <a:ln/>
        </p:spPr>
        <p:txBody>
          <a:bodyPr wrap="square" lIns="0" tIns="0" rIns="0" bIns="0" rtlCol="0" anchor="ctr"/>
          <a:lstStyle/>
          <a:p>
            <a:pPr lvl="0" eaLnBrk="1" fontAlgn="auto" hangingPunct="1">
              <a:spcBef>
                <a:spcPts val="0"/>
              </a:spcBef>
              <a:spcAft>
                <a:spcPts val="0"/>
              </a:spcAft>
              <a:defRPr/>
            </a:pPr>
            <a:r>
              <a:rPr lang="en-US" sz="1600" b="1" kern="0">
                <a:solidFill>
                  <a:schemeClr val="bg1"/>
                </a:solidFill>
                <a:latin typeface="Poppins SemiBold"/>
                <a:cs typeface="Poppins"/>
              </a:rPr>
              <a:t>Most Users Don’t Know What They Want (At First)</a:t>
            </a:r>
            <a:endParaRPr kumimoji="0" lang="en-US" sz="1600" b="0" i="0" u="none" strike="noStrike" kern="1200" cap="none" spc="0" normalizeH="0" baseline="0" noProof="0">
              <a:ln>
                <a:noFill/>
              </a:ln>
              <a:solidFill>
                <a:schemeClr val="bg1"/>
              </a:solidFill>
              <a:effectLst/>
              <a:uLnTx/>
              <a:uFillTx/>
              <a:latin typeface="Poppins SemiBold"/>
              <a:ea typeface="+mn-ea"/>
              <a:cs typeface="Poppins SemiBold"/>
            </a:endParaRPr>
          </a:p>
        </p:txBody>
      </p:sp>
      <p:sp>
        <p:nvSpPr>
          <p:cNvPr id="22" name="Text 7">
            <a:extLst>
              <a:ext uri="{FF2B5EF4-FFF2-40B4-BE49-F238E27FC236}">
                <a16:creationId xmlns:a16="http://schemas.microsoft.com/office/drawing/2014/main" id="{0F55B23B-D1AF-0C30-47AF-E0C4E9F945FF}"/>
              </a:ext>
            </a:extLst>
          </p:cNvPr>
          <p:cNvSpPr/>
          <p:nvPr/>
        </p:nvSpPr>
        <p:spPr>
          <a:xfrm>
            <a:off x="4632960" y="2997109"/>
            <a:ext cx="2926080" cy="1089425"/>
          </a:xfrm>
          <a:prstGeom prst="rect">
            <a:avLst/>
          </a:prstGeom>
          <a:noFill/>
          <a:ln/>
        </p:spPr>
        <p:txBody>
          <a:bodyPr wrap="square" lIns="0" tIns="0" rIns="0" bIns="0" rtlCol="0" anchor="ctr"/>
          <a:lstStyle/>
          <a:p>
            <a:pPr lvl="0" algn="ctr" eaLnBrk="1" fontAlgn="auto" hangingPunct="1">
              <a:spcBef>
                <a:spcPts val="0"/>
              </a:spcBef>
              <a:spcAft>
                <a:spcPts val="0"/>
              </a:spcAft>
              <a:defRPr/>
            </a:pPr>
            <a:r>
              <a:rPr lang="en-GB" sz="1200">
                <a:solidFill>
                  <a:srgbClr val="000000"/>
                </a:solidFill>
                <a:latin typeface="+mn-lt"/>
              </a:rPr>
              <a:t>41% of paid spend targets queries without clear level or pathway - the experience then asks users to choose without specific context</a:t>
            </a:r>
            <a:endParaRPr kumimoji="0" lang="en-US" sz="1200" b="0" i="0" u="none" strike="noStrike" kern="1200" cap="none" spc="0" normalizeH="0" baseline="0" noProof="0">
              <a:ln>
                <a:noFill/>
              </a:ln>
              <a:solidFill>
                <a:srgbClr val="000000"/>
              </a:solidFill>
              <a:effectLst/>
              <a:uLnTx/>
              <a:uFillTx/>
              <a:latin typeface="+mn-lt"/>
              <a:ea typeface="Calibri"/>
              <a:cs typeface="Poppins"/>
            </a:endParaRPr>
          </a:p>
        </p:txBody>
      </p:sp>
      <p:sp>
        <p:nvSpPr>
          <p:cNvPr id="23" name="Shape 8">
            <a:extLst>
              <a:ext uri="{FF2B5EF4-FFF2-40B4-BE49-F238E27FC236}">
                <a16:creationId xmlns:a16="http://schemas.microsoft.com/office/drawing/2014/main" id="{6412020C-925F-91AC-81A7-E2C59CCF55B6}"/>
              </a:ext>
            </a:extLst>
          </p:cNvPr>
          <p:cNvSpPr>
            <a:spLocks noGrp="1" noRot="1" noMove="1" noResize="1" noEditPoints="1" noAdjustHandles="1" noChangeArrowheads="1" noChangeShapeType="1"/>
          </p:cNvSpPr>
          <p:nvPr/>
        </p:nvSpPr>
        <p:spPr>
          <a:xfrm>
            <a:off x="8060055" y="2007108"/>
            <a:ext cx="3413760" cy="4389120"/>
          </a:xfrm>
          <a:prstGeom prst="roundRect">
            <a:avLst/>
          </a:prstGeom>
          <a:solidFill>
            <a:srgbClr val="FFFFFF"/>
          </a:solidFill>
          <a:ln>
            <a:solidFill>
              <a:srgbClr val="1A7CBA"/>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Poppins"/>
              <a:ea typeface="+mn-ea"/>
              <a:cs typeface="+mn-cs"/>
            </a:endParaRPr>
          </a:p>
        </p:txBody>
      </p:sp>
      <p:sp>
        <p:nvSpPr>
          <p:cNvPr id="25" name="Shape 9">
            <a:extLst>
              <a:ext uri="{FF2B5EF4-FFF2-40B4-BE49-F238E27FC236}">
                <a16:creationId xmlns:a16="http://schemas.microsoft.com/office/drawing/2014/main" id="{DD39CBFE-2FE6-A8B1-FDD5-595C11CFDD66}"/>
              </a:ext>
            </a:extLst>
          </p:cNvPr>
          <p:cNvSpPr/>
          <p:nvPr/>
        </p:nvSpPr>
        <p:spPr>
          <a:xfrm>
            <a:off x="8060055" y="2007108"/>
            <a:ext cx="3413760" cy="936602"/>
          </a:xfrm>
          <a:prstGeom prst="roundRect">
            <a:avLst/>
          </a:prstGeom>
          <a:solidFill>
            <a:schemeClr val="accent2"/>
          </a:solidFill>
          <a:ln w="38100">
            <a:solidFill>
              <a:schemeClr val="bg1"/>
            </a:solidFill>
          </a:ln>
          <a:effectLst>
            <a:outerShdw blurRad="63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endParaRPr>
          </a:p>
        </p:txBody>
      </p:sp>
      <p:pic>
        <p:nvPicPr>
          <p:cNvPr id="26" name="Image 1" descr="preencoded.png">
            <a:extLst>
              <a:ext uri="{FF2B5EF4-FFF2-40B4-BE49-F238E27FC236}">
                <a16:creationId xmlns:a16="http://schemas.microsoft.com/office/drawing/2014/main" id="{9FCF35F5-36BC-695D-31FC-4AEB59E4243F}"/>
              </a:ext>
            </a:extLst>
          </p:cNvPr>
          <p:cNvPicPr>
            <a:picLocks noChangeAspect="1"/>
          </p:cNvPicPr>
          <p:nvPr/>
        </p:nvPicPr>
        <p:blipFill>
          <a:blip r:embed="rId4"/>
          <a:stretch>
            <a:fillRect/>
          </a:stretch>
        </p:blipFill>
        <p:spPr>
          <a:xfrm>
            <a:off x="8254735" y="2209652"/>
            <a:ext cx="426720" cy="426720"/>
          </a:xfrm>
          <a:prstGeom prst="rect">
            <a:avLst/>
          </a:prstGeom>
        </p:spPr>
      </p:pic>
      <p:sp>
        <p:nvSpPr>
          <p:cNvPr id="27" name="Text 11">
            <a:extLst>
              <a:ext uri="{FF2B5EF4-FFF2-40B4-BE49-F238E27FC236}">
                <a16:creationId xmlns:a16="http://schemas.microsoft.com/office/drawing/2014/main" id="{C1CA6BFB-D790-DAD8-08C4-48313518DE9A}"/>
              </a:ext>
            </a:extLst>
          </p:cNvPr>
          <p:cNvSpPr/>
          <p:nvPr/>
        </p:nvSpPr>
        <p:spPr>
          <a:xfrm>
            <a:off x="8783248" y="2176258"/>
            <a:ext cx="2592675" cy="548640"/>
          </a:xfrm>
          <a:prstGeom prst="rect">
            <a:avLst/>
          </a:prstGeom>
          <a:noFill/>
          <a:ln/>
        </p:spPr>
        <p:txBody>
          <a:bodyPr wrap="square" lIns="0" tIns="0" rIns="0" bIns="0" rtlCol="0" anchor="ctr"/>
          <a:lstStyle/>
          <a:p>
            <a:pPr lvl="0" eaLnBrk="1" fontAlgn="auto" hangingPunct="1">
              <a:spcBef>
                <a:spcPts val="0"/>
              </a:spcBef>
              <a:spcAft>
                <a:spcPts val="0"/>
              </a:spcAft>
              <a:defRPr/>
            </a:pPr>
            <a:r>
              <a:rPr lang="en-US" sz="1600" b="1" kern="0">
                <a:solidFill>
                  <a:schemeClr val="bg1"/>
                </a:solidFill>
                <a:latin typeface="Poppins SemiBold"/>
                <a:cs typeface="Poppins"/>
              </a:rPr>
              <a:t>Competitors Guide Discovery, Rather than Gate It</a:t>
            </a:r>
            <a:endParaRPr kumimoji="0" lang="en-US" sz="1600" b="1" i="0" u="none" strike="noStrike" kern="1200" cap="none" spc="0" normalizeH="0" baseline="0" noProof="0">
              <a:ln>
                <a:noFill/>
              </a:ln>
              <a:solidFill>
                <a:schemeClr val="bg1"/>
              </a:solidFill>
              <a:effectLst/>
              <a:uLnTx/>
              <a:uFillTx/>
              <a:latin typeface="Poppins SemiBold"/>
              <a:ea typeface="+mn-ea"/>
              <a:cs typeface="Poppins SemiBold"/>
            </a:endParaRPr>
          </a:p>
        </p:txBody>
      </p:sp>
      <p:sp>
        <p:nvSpPr>
          <p:cNvPr id="30" name="Shape 14">
            <a:extLst>
              <a:ext uri="{FF2B5EF4-FFF2-40B4-BE49-F238E27FC236}">
                <a16:creationId xmlns:a16="http://schemas.microsoft.com/office/drawing/2014/main" id="{A54EA5DA-FB05-6B43-363C-D6837E031998}"/>
              </a:ext>
            </a:extLst>
          </p:cNvPr>
          <p:cNvSpPr>
            <a:spLocks noGrp="1" noRot="1" noMove="1" noResize="1" noEditPoints="1" noAdjustHandles="1" noChangeArrowheads="1" noChangeShapeType="1"/>
          </p:cNvSpPr>
          <p:nvPr/>
        </p:nvSpPr>
        <p:spPr>
          <a:xfrm>
            <a:off x="726040" y="2007108"/>
            <a:ext cx="3413760" cy="4389120"/>
          </a:xfrm>
          <a:prstGeom prst="roundRect">
            <a:avLst/>
          </a:prstGeom>
          <a:solidFill>
            <a:srgbClr val="FFFFFF"/>
          </a:solidFill>
          <a:ln>
            <a:solidFill>
              <a:schemeClr val="accent2"/>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Poppins"/>
              <a:ea typeface="+mn-ea"/>
              <a:cs typeface="+mn-cs"/>
            </a:endParaRPr>
          </a:p>
        </p:txBody>
      </p:sp>
      <p:sp>
        <p:nvSpPr>
          <p:cNvPr id="31" name="Shape 15">
            <a:extLst>
              <a:ext uri="{FF2B5EF4-FFF2-40B4-BE49-F238E27FC236}">
                <a16:creationId xmlns:a16="http://schemas.microsoft.com/office/drawing/2014/main" id="{59D1EED9-510A-C1BC-EFB8-61091A2A57E4}"/>
              </a:ext>
            </a:extLst>
          </p:cNvPr>
          <p:cNvSpPr/>
          <p:nvPr/>
        </p:nvSpPr>
        <p:spPr>
          <a:xfrm>
            <a:off x="726040" y="2007108"/>
            <a:ext cx="3413760" cy="936602"/>
          </a:xfrm>
          <a:prstGeom prst="roundRect">
            <a:avLst/>
          </a:prstGeom>
          <a:solidFill>
            <a:schemeClr val="accent2"/>
          </a:solidFill>
          <a:ln w="38100">
            <a:solidFill>
              <a:schemeClr val="bg1"/>
            </a:solidFill>
          </a:ln>
          <a:effectLst>
            <a:outerShdw blurRad="63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endParaRPr>
          </a:p>
        </p:txBody>
      </p:sp>
      <p:sp>
        <p:nvSpPr>
          <p:cNvPr id="33" name="Text 17">
            <a:extLst>
              <a:ext uri="{FF2B5EF4-FFF2-40B4-BE49-F238E27FC236}">
                <a16:creationId xmlns:a16="http://schemas.microsoft.com/office/drawing/2014/main" id="{B3E84CFB-DE5D-7D62-03D9-FDBC372089E1}"/>
              </a:ext>
            </a:extLst>
          </p:cNvPr>
          <p:cNvSpPr/>
          <p:nvPr/>
        </p:nvSpPr>
        <p:spPr>
          <a:xfrm>
            <a:off x="1468473" y="2205754"/>
            <a:ext cx="2446302" cy="548640"/>
          </a:xfrm>
          <a:prstGeom prst="rect">
            <a:avLst/>
          </a:prstGeom>
          <a:noFill/>
          <a:ln/>
        </p:spPr>
        <p:txBody>
          <a:bodyPr wrap="square" lIns="0" tIns="0" rIns="0" bIns="0" rtlCol="0" anchor="ctr"/>
          <a:lstStyle/>
          <a:p>
            <a:pPr eaLnBrk="1" fontAlgn="auto" hangingPunct="1">
              <a:spcBef>
                <a:spcPts val="0"/>
              </a:spcBef>
              <a:spcAft>
                <a:spcPts val="0"/>
              </a:spcAft>
              <a:defRPr/>
            </a:pPr>
            <a:r>
              <a:rPr lang="en-US" sz="1600" b="1" kern="0">
                <a:solidFill>
                  <a:schemeClr val="bg1"/>
                </a:solidFill>
                <a:latin typeface="Poppins SemiBold"/>
                <a:cs typeface="Poppins"/>
              </a:rPr>
              <a:t>Specificity Indicates Intent</a:t>
            </a:r>
            <a:endParaRPr lang="en-US" sz="1600">
              <a:solidFill>
                <a:schemeClr val="bg1"/>
              </a:solidFill>
              <a:latin typeface="Poppins SemiBold"/>
              <a:cs typeface="Poppins SemiBold"/>
            </a:endParaRPr>
          </a:p>
        </p:txBody>
      </p:sp>
      <p:sp>
        <p:nvSpPr>
          <p:cNvPr id="10" name="Title 1">
            <a:extLst>
              <a:ext uri="{FF2B5EF4-FFF2-40B4-BE49-F238E27FC236}">
                <a16:creationId xmlns:a16="http://schemas.microsoft.com/office/drawing/2014/main" id="{4A064A8D-533F-F135-CFE2-E0581FD932FA}"/>
              </a:ext>
            </a:extLst>
          </p:cNvPr>
          <p:cNvSpPr txBox="1">
            <a:spLocks/>
          </p:cNvSpPr>
          <p:nvPr/>
        </p:nvSpPr>
        <p:spPr>
          <a:xfrm>
            <a:off x="534209" y="614204"/>
            <a:ext cx="11150252" cy="1227999"/>
          </a:xfrm>
          <a:prstGeom prst="rect">
            <a:avLst/>
          </a:prstGeom>
        </p:spPr>
        <p:txBody>
          <a:bodyPr vert="horz" lIns="91440" tIns="45720" rIns="91440" bIns="45720" rtlCol="0" anchor="t">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lvl="0" algn="ctr" defTabSz="914369">
              <a:lnSpc>
                <a:spcPct val="95000"/>
              </a:lnSpc>
              <a:defRPr/>
            </a:pPr>
            <a:r>
              <a:rPr lang="en-US" sz="2800">
                <a:solidFill>
                  <a:schemeClr val="accent2"/>
                </a:solidFill>
                <a:latin typeface="+mj-lt"/>
              </a:rPr>
              <a:t>Progressive Discovery Converts Undecided </a:t>
            </a:r>
            <a:br>
              <a:rPr lang="en-US" sz="2800">
                <a:solidFill>
                  <a:schemeClr val="accent2"/>
                </a:solidFill>
                <a:latin typeface="+mj-lt"/>
              </a:rPr>
            </a:br>
            <a:r>
              <a:rPr lang="en-US" sz="2800">
                <a:solidFill>
                  <a:schemeClr val="accent2"/>
                </a:solidFill>
                <a:latin typeface="+mj-lt"/>
              </a:rPr>
              <a:t>Users Into Qualified Inquiries</a:t>
            </a:r>
          </a:p>
        </p:txBody>
      </p:sp>
      <p:sp>
        <p:nvSpPr>
          <p:cNvPr id="12" name="Rectangle: Rounded Corners 11">
            <a:extLst>
              <a:ext uri="{FF2B5EF4-FFF2-40B4-BE49-F238E27FC236}">
                <a16:creationId xmlns:a16="http://schemas.microsoft.com/office/drawing/2014/main" id="{1E31DC3B-05A9-631E-31FE-DC569F5890CA}"/>
              </a:ext>
            </a:extLst>
          </p:cNvPr>
          <p:cNvSpPr/>
          <p:nvPr/>
        </p:nvSpPr>
        <p:spPr>
          <a:xfrm>
            <a:off x="-211873" y="178940"/>
            <a:ext cx="2364523" cy="305926"/>
          </a:xfrm>
          <a:prstGeom prst="roundRect">
            <a:avLst>
              <a:gd name="adj" fmla="val 50000"/>
            </a:avLst>
          </a:prstGeom>
          <a:solidFill>
            <a:srgbClr val="0059FF"/>
          </a:solidFill>
          <a:ln>
            <a:solidFill>
              <a:schemeClr val="accent1"/>
            </a:solidFill>
          </a:ln>
        </p:spPr>
        <p:style>
          <a:lnRef idx="0">
            <a:scrgbClr r="0" g="0" b="0"/>
          </a:lnRef>
          <a:fillRef idx="0">
            <a:scrgbClr r="0" g="0" b="0"/>
          </a:fillRef>
          <a:effectRef idx="0">
            <a:scrgbClr r="0" g="0" b="0"/>
          </a:effectRef>
          <a:fontRef idx="minor">
            <a:schemeClr val="lt1"/>
          </a:fontRef>
        </p:style>
        <p:txBody>
          <a:bodyPr wrap="none" lIns="91440" tIns="45720" rIns="91440" bIns="45720"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0" fontAlgn="base"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Poppins SemiBold"/>
                <a:ea typeface="+mn-ea"/>
                <a:cs typeface="Poppins SemiBold"/>
              </a:rPr>
              <a:t>Information Hierarchy</a:t>
            </a:r>
            <a:endParaRPr kumimoji="0" lang="en-US" sz="1800" b="0" i="0" u="none" strike="noStrike" kern="1200" cap="none" spc="0" normalizeH="0" baseline="0" noProof="0">
              <a:ln>
                <a:noFill/>
              </a:ln>
              <a:solidFill>
                <a:schemeClr val="bg1"/>
              </a:solidFill>
              <a:effectLst/>
              <a:uLnTx/>
              <a:uFillTx/>
              <a:latin typeface="Poppins"/>
              <a:ea typeface="+mn-ea"/>
              <a:cs typeface="+mn-cs"/>
            </a:endParaRPr>
          </a:p>
        </p:txBody>
      </p:sp>
      <p:graphicFrame>
        <p:nvGraphicFramePr>
          <p:cNvPr id="13" name="Chart 12">
            <a:extLst>
              <a:ext uri="{FF2B5EF4-FFF2-40B4-BE49-F238E27FC236}">
                <a16:creationId xmlns:a16="http://schemas.microsoft.com/office/drawing/2014/main" id="{1D59AA62-941F-3DE3-A379-76E381E36337}"/>
              </a:ext>
            </a:extLst>
          </p:cNvPr>
          <p:cNvGraphicFramePr>
            <a:graphicFrameLocks/>
          </p:cNvGraphicFramePr>
          <p:nvPr>
            <p:extLst>
              <p:ext uri="{D42A27DB-BD31-4B8C-83A1-F6EECF244321}">
                <p14:modId xmlns:p14="http://schemas.microsoft.com/office/powerpoint/2010/main" val="4139586052"/>
              </p:ext>
            </p:extLst>
          </p:nvPr>
        </p:nvGraphicFramePr>
        <p:xfrm>
          <a:off x="876060" y="4117536"/>
          <a:ext cx="3113720" cy="1915194"/>
        </p:xfrm>
        <a:graphic>
          <a:graphicData uri="http://schemas.openxmlformats.org/drawingml/2006/chart">
            <c:chart xmlns:c="http://schemas.openxmlformats.org/drawingml/2006/chart" xmlns:r="http://schemas.openxmlformats.org/officeDocument/2006/relationships" r:id="rId5"/>
          </a:graphicData>
        </a:graphic>
      </p:graphicFrame>
      <p:pic>
        <p:nvPicPr>
          <p:cNvPr id="17" name="Graphic 16" descr="Woman Shrugging with solid fill">
            <a:extLst>
              <a:ext uri="{FF2B5EF4-FFF2-40B4-BE49-F238E27FC236}">
                <a16:creationId xmlns:a16="http://schemas.microsoft.com/office/drawing/2014/main" id="{538A07E6-E7CA-EFF3-7FBA-5A6EA8320CB8}"/>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4483600" y="2150945"/>
            <a:ext cx="578210" cy="578210"/>
          </a:xfrm>
          <a:prstGeom prst="rect">
            <a:avLst/>
          </a:prstGeom>
        </p:spPr>
      </p:pic>
      <p:cxnSp>
        <p:nvCxnSpPr>
          <p:cNvPr id="21" name="Straight Arrow Connector 20">
            <a:extLst>
              <a:ext uri="{FF2B5EF4-FFF2-40B4-BE49-F238E27FC236}">
                <a16:creationId xmlns:a16="http://schemas.microsoft.com/office/drawing/2014/main" id="{F8FD1F75-4951-E12A-57A9-D835A913382D}"/>
              </a:ext>
            </a:extLst>
          </p:cNvPr>
          <p:cNvCxnSpPr>
            <a:cxnSpLocks/>
          </p:cNvCxnSpPr>
          <p:nvPr/>
        </p:nvCxnSpPr>
        <p:spPr>
          <a:xfrm flipV="1">
            <a:off x="9190975" y="5138269"/>
            <a:ext cx="111369" cy="1"/>
          </a:xfrm>
          <a:prstGeom prst="straightConnector1">
            <a:avLst/>
          </a:prstGeom>
          <a:ln w="19050" cap="rnd">
            <a:solidFill>
              <a:schemeClr val="accent2"/>
            </a:solidFill>
            <a:prstDash val="solid"/>
            <a:round/>
            <a:tailEnd type="triangle"/>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20C18C97-1E7A-D99E-53B3-E259E7A49D54}"/>
              </a:ext>
            </a:extLst>
          </p:cNvPr>
          <p:cNvGrpSpPr/>
          <p:nvPr/>
        </p:nvGrpSpPr>
        <p:grpSpPr>
          <a:xfrm>
            <a:off x="8247439" y="4117536"/>
            <a:ext cx="3038991" cy="2041467"/>
            <a:chOff x="8296144" y="4121551"/>
            <a:chExt cx="3038991" cy="2041467"/>
          </a:xfrm>
        </p:grpSpPr>
        <p:pic>
          <p:nvPicPr>
            <p:cNvPr id="19" name="Picture 18">
              <a:extLst>
                <a:ext uri="{FF2B5EF4-FFF2-40B4-BE49-F238E27FC236}">
                  <a16:creationId xmlns:a16="http://schemas.microsoft.com/office/drawing/2014/main" id="{A7530378-4667-A501-959F-2D3C9A2AEA6A}"/>
                </a:ext>
              </a:extLst>
            </p:cNvPr>
            <p:cNvPicPr>
              <a:picLocks noChangeAspect="1"/>
            </p:cNvPicPr>
            <p:nvPr/>
          </p:nvPicPr>
          <p:blipFill>
            <a:blip r:embed="rId7"/>
            <a:stretch>
              <a:fillRect/>
            </a:stretch>
          </p:blipFill>
          <p:spPr>
            <a:xfrm>
              <a:off x="8296144" y="4121551"/>
              <a:ext cx="943536" cy="204146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0" name="Picture 19">
              <a:extLst>
                <a:ext uri="{FF2B5EF4-FFF2-40B4-BE49-F238E27FC236}">
                  <a16:creationId xmlns:a16="http://schemas.microsoft.com/office/drawing/2014/main" id="{733507C6-3322-4A94-31DB-952C1162C4BE}"/>
                </a:ext>
              </a:extLst>
            </p:cNvPr>
            <p:cNvPicPr>
              <a:picLocks noChangeAspect="1"/>
            </p:cNvPicPr>
            <p:nvPr/>
          </p:nvPicPr>
          <p:blipFill>
            <a:blip r:embed="rId8"/>
            <a:stretch>
              <a:fillRect/>
            </a:stretch>
          </p:blipFill>
          <p:spPr>
            <a:xfrm>
              <a:off x="9351049" y="4123211"/>
              <a:ext cx="942000" cy="203814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4" name="Picture 23">
              <a:extLst>
                <a:ext uri="{FF2B5EF4-FFF2-40B4-BE49-F238E27FC236}">
                  <a16:creationId xmlns:a16="http://schemas.microsoft.com/office/drawing/2014/main" id="{62BEF8FC-FDF9-1383-D8D0-E0CAB9E53A49}"/>
                </a:ext>
              </a:extLst>
            </p:cNvPr>
            <p:cNvPicPr>
              <a:picLocks noChangeAspect="1"/>
            </p:cNvPicPr>
            <p:nvPr/>
          </p:nvPicPr>
          <p:blipFill>
            <a:blip r:embed="rId9"/>
            <a:stretch>
              <a:fillRect/>
            </a:stretch>
          </p:blipFill>
          <p:spPr>
            <a:xfrm>
              <a:off x="10393134" y="4123211"/>
              <a:ext cx="942001" cy="203814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grpSp>
      <p:sp>
        <p:nvSpPr>
          <p:cNvPr id="39" name="Oval 38">
            <a:extLst>
              <a:ext uri="{FF2B5EF4-FFF2-40B4-BE49-F238E27FC236}">
                <a16:creationId xmlns:a16="http://schemas.microsoft.com/office/drawing/2014/main" id="{08F6E42A-E3CB-60F7-729D-BE0AC726BC27}"/>
              </a:ext>
            </a:extLst>
          </p:cNvPr>
          <p:cNvSpPr/>
          <p:nvPr/>
        </p:nvSpPr>
        <p:spPr>
          <a:xfrm>
            <a:off x="3895960" y="5491804"/>
            <a:ext cx="1276965" cy="1257923"/>
          </a:xfrm>
          <a:prstGeom prst="ellipse">
            <a:avLst/>
          </a:prstGeom>
          <a:solidFill>
            <a:schemeClr val="accent2"/>
          </a:solidFill>
          <a:ln w="38100">
            <a:solidFill>
              <a:schemeClr val="bg1"/>
            </a:solidFill>
          </a:ln>
          <a:effectLst>
            <a:outerShdw blurRad="63500" sx="102000" sy="102000" algn="ctr" rotWithShape="0">
              <a:srgbClr val="000000">
                <a:alpha val="43137"/>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0" fontAlgn="base" latinLnBrk="0" hangingPunct="0">
              <a:lnSpc>
                <a:spcPct val="80000"/>
              </a:lnSpc>
              <a:spcBef>
                <a:spcPct val="0"/>
              </a:spcBef>
              <a:spcAft>
                <a:spcPct val="0"/>
              </a:spcAft>
              <a:buClrTx/>
              <a:buSzTx/>
              <a:buFontTx/>
              <a:buNone/>
              <a:tabLst/>
              <a:defRPr/>
            </a:pPr>
            <a:r>
              <a:rPr lang="en-US" b="1">
                <a:solidFill>
                  <a:srgbClr val="FAE201"/>
                </a:solidFill>
                <a:latin typeface="Poppins"/>
              </a:rPr>
              <a:t>+43% CVR</a:t>
            </a:r>
          </a:p>
          <a:p>
            <a:pPr marL="0" marR="0" lvl="0" indent="0" algn="ctr" defTabSz="914400" rtl="0" eaLnBrk="0" fontAlgn="base" latinLnBrk="0" hangingPunct="0">
              <a:lnSpc>
                <a:spcPct val="100000"/>
              </a:lnSpc>
              <a:spcBef>
                <a:spcPct val="0"/>
              </a:spcBef>
              <a:spcAft>
                <a:spcPct val="0"/>
              </a:spcAft>
              <a:buClrTx/>
              <a:buSzTx/>
              <a:buFontTx/>
              <a:buNone/>
              <a:tabLst/>
              <a:defRPr/>
            </a:pPr>
            <a:r>
              <a:rPr lang="en-US" sz="800">
                <a:solidFill>
                  <a:schemeClr val="bg1"/>
                </a:solidFill>
                <a:latin typeface="Poppins"/>
                <a:cs typeface="Poppins"/>
              </a:rPr>
              <a:t>when specific</a:t>
            </a:r>
          </a:p>
          <a:p>
            <a:pPr marL="0" marR="0" lvl="0" indent="0" algn="ctr" defTabSz="914400" rtl="0" eaLnBrk="0" fontAlgn="base" latinLnBrk="0" hangingPunct="0">
              <a:lnSpc>
                <a:spcPct val="100000"/>
              </a:lnSpc>
              <a:spcBef>
                <a:spcPct val="0"/>
              </a:spcBef>
              <a:spcAft>
                <a:spcPct val="0"/>
              </a:spcAft>
              <a:buClrTx/>
              <a:buSzTx/>
              <a:buFontTx/>
              <a:buNone/>
              <a:tabLst/>
              <a:defRPr/>
            </a:pPr>
            <a:r>
              <a:rPr lang="en-US" sz="800">
                <a:solidFill>
                  <a:schemeClr val="bg1"/>
                </a:solidFill>
                <a:latin typeface="Poppins"/>
                <a:cs typeface="Poppins"/>
              </a:rPr>
              <a:t>query → specific LP*</a:t>
            </a:r>
          </a:p>
        </p:txBody>
      </p:sp>
      <p:pic>
        <p:nvPicPr>
          <p:cNvPr id="41" name="Graphic 40" descr="Magnifying glass with solid fill">
            <a:extLst>
              <a:ext uri="{FF2B5EF4-FFF2-40B4-BE49-F238E27FC236}">
                <a16:creationId xmlns:a16="http://schemas.microsoft.com/office/drawing/2014/main" id="{2E6878E0-C390-A790-88E9-ACDC0168E992}"/>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858279" y="2201980"/>
            <a:ext cx="497196" cy="497196"/>
          </a:xfrm>
          <a:prstGeom prst="rect">
            <a:avLst/>
          </a:prstGeom>
        </p:spPr>
      </p:pic>
      <p:sp>
        <p:nvSpPr>
          <p:cNvPr id="36" name="Text 7">
            <a:extLst>
              <a:ext uri="{FF2B5EF4-FFF2-40B4-BE49-F238E27FC236}">
                <a16:creationId xmlns:a16="http://schemas.microsoft.com/office/drawing/2014/main" id="{037213E0-F2C4-1A45-A405-147BCCB5CD74}"/>
              </a:ext>
            </a:extLst>
          </p:cNvPr>
          <p:cNvSpPr/>
          <p:nvPr/>
        </p:nvSpPr>
        <p:spPr>
          <a:xfrm>
            <a:off x="969880" y="2997109"/>
            <a:ext cx="2926080" cy="1089425"/>
          </a:xfrm>
          <a:prstGeom prst="rect">
            <a:avLst/>
          </a:prstGeom>
          <a:noFill/>
          <a:ln/>
        </p:spPr>
        <p:txBody>
          <a:bodyPr wrap="square" lIns="0" tIns="0" rIns="0" bIns="0" rtlCol="0" anchor="ctr"/>
          <a:lstStyle/>
          <a:p>
            <a:pPr algn="ctr" eaLnBrk="1" fontAlgn="auto" hangingPunct="1">
              <a:spcBef>
                <a:spcPts val="0"/>
              </a:spcBef>
              <a:spcAft>
                <a:spcPts val="0"/>
              </a:spcAft>
              <a:defRPr/>
            </a:pPr>
            <a:r>
              <a:rPr lang="en-US" sz="1200">
                <a:solidFill>
                  <a:srgbClr val="000000"/>
                </a:solidFill>
                <a:latin typeface="+mn-lt"/>
              </a:rPr>
              <a:t>When specific query intent matches landing page specificity, V2I improves by +44% and broad content for broad queries by +10% -- matching works, and specificity indicates intent</a:t>
            </a:r>
            <a:endParaRPr lang="en-US" sz="1200">
              <a:solidFill>
                <a:srgbClr val="000000"/>
              </a:solidFill>
              <a:latin typeface="+mn-lt"/>
              <a:ea typeface="Calibri"/>
              <a:cs typeface="Poppins"/>
            </a:endParaRPr>
          </a:p>
        </p:txBody>
      </p:sp>
      <p:sp>
        <p:nvSpPr>
          <p:cNvPr id="37" name="Text 7">
            <a:extLst>
              <a:ext uri="{FF2B5EF4-FFF2-40B4-BE49-F238E27FC236}">
                <a16:creationId xmlns:a16="http://schemas.microsoft.com/office/drawing/2014/main" id="{503DE7DB-A80B-EAD6-9726-A72365482C75}"/>
              </a:ext>
            </a:extLst>
          </p:cNvPr>
          <p:cNvSpPr/>
          <p:nvPr/>
        </p:nvSpPr>
        <p:spPr>
          <a:xfrm>
            <a:off x="8310304" y="2997109"/>
            <a:ext cx="2926080" cy="1089425"/>
          </a:xfrm>
          <a:prstGeom prst="rect">
            <a:avLst/>
          </a:prstGeom>
          <a:noFill/>
          <a:ln/>
        </p:spPr>
        <p:txBody>
          <a:bodyPr wrap="square" lIns="0" tIns="0" rIns="0" bIns="0" rtlCol="0" anchor="ctr"/>
          <a:lstStyle/>
          <a:p>
            <a:pPr lvl="0" algn="ctr" eaLnBrk="1" fontAlgn="auto" hangingPunct="1">
              <a:spcBef>
                <a:spcPts val="0"/>
              </a:spcBef>
              <a:spcAft>
                <a:spcPts val="0"/>
              </a:spcAft>
              <a:defRPr/>
            </a:pPr>
            <a:r>
              <a:rPr lang="en-GB" sz="1200">
                <a:solidFill>
                  <a:srgbClr val="000000"/>
                </a:solidFill>
                <a:latin typeface="+mn-lt"/>
              </a:rPr>
              <a:t>ASU and Coursera use quiz-style pathfinders and topic → program flows to move undecided users toward specific programs without forcing premature decisions</a:t>
            </a:r>
          </a:p>
        </p:txBody>
      </p:sp>
      <p:sp>
        <p:nvSpPr>
          <p:cNvPr id="2" name="TextBox 1">
            <a:extLst>
              <a:ext uri="{FF2B5EF4-FFF2-40B4-BE49-F238E27FC236}">
                <a16:creationId xmlns:a16="http://schemas.microsoft.com/office/drawing/2014/main" id="{58B394EC-6EC6-0AFA-0001-99DD7C8AFB0B}"/>
              </a:ext>
            </a:extLst>
          </p:cNvPr>
          <p:cNvSpPr txBox="1"/>
          <p:nvPr/>
        </p:nvSpPr>
        <p:spPr>
          <a:xfrm>
            <a:off x="204587" y="6489366"/>
            <a:ext cx="6149340" cy="222625"/>
          </a:xfrm>
          <a:prstGeom prst="rect">
            <a:avLst/>
          </a:prstGeom>
          <a:noFill/>
        </p:spPr>
        <p:txBody>
          <a:bodyPr wrap="square">
            <a:spAutoFit/>
          </a:bodyPr>
          <a:lstStyle/>
          <a:p>
            <a:pPr defTabSz="914377">
              <a:lnSpc>
                <a:spcPct val="110000"/>
              </a:lnSpc>
              <a:spcAft>
                <a:spcPts val="1000"/>
              </a:spcAft>
              <a:defRPr/>
            </a:pPr>
            <a:r>
              <a:rPr kumimoji="0" lang="en-US" sz="800" b="0" i="0" u="none" strike="noStrike" kern="1200" cap="none" spc="0" normalizeH="0" baseline="0" noProof="0">
                <a:ln>
                  <a:noFill/>
                </a:ln>
                <a:solidFill>
                  <a:schemeClr val="tx1">
                    <a:lumMod val="50000"/>
                    <a:lumOff val="50000"/>
                  </a:schemeClr>
                </a:solidFill>
                <a:effectLst/>
                <a:uLnTx/>
                <a:uFillTx/>
                <a:latin typeface="+mn-lt"/>
                <a:ea typeface="+mn-ea"/>
                <a:cs typeface="+mn-cs"/>
              </a:rPr>
              <a:t>*2025 data on KWDs &gt; $25 spend</a:t>
            </a:r>
            <a:endParaRPr lang="en-US" sz="800">
              <a:latin typeface="+mn-lt"/>
            </a:endParaRPr>
          </a:p>
        </p:txBody>
      </p:sp>
      <p:grpSp>
        <p:nvGrpSpPr>
          <p:cNvPr id="3" name="Group 2">
            <a:extLst>
              <a:ext uri="{FF2B5EF4-FFF2-40B4-BE49-F238E27FC236}">
                <a16:creationId xmlns:a16="http://schemas.microsoft.com/office/drawing/2014/main" id="{28A79933-5C46-51C4-4946-C22D525B312E}"/>
              </a:ext>
            </a:extLst>
          </p:cNvPr>
          <p:cNvGrpSpPr/>
          <p:nvPr/>
        </p:nvGrpSpPr>
        <p:grpSpPr>
          <a:xfrm>
            <a:off x="4557713" y="4355215"/>
            <a:ext cx="3076574" cy="1014957"/>
            <a:chOff x="1442526" y="4342679"/>
            <a:chExt cx="4819208" cy="1589848"/>
          </a:xfrm>
        </p:grpSpPr>
        <p:grpSp>
          <p:nvGrpSpPr>
            <p:cNvPr id="14" name="Group 13">
              <a:extLst>
                <a:ext uri="{FF2B5EF4-FFF2-40B4-BE49-F238E27FC236}">
                  <a16:creationId xmlns:a16="http://schemas.microsoft.com/office/drawing/2014/main" id="{3B669FBD-1F59-D4C5-53B6-FD142E8DE384}"/>
                </a:ext>
              </a:extLst>
            </p:cNvPr>
            <p:cNvGrpSpPr/>
            <p:nvPr/>
          </p:nvGrpSpPr>
          <p:grpSpPr>
            <a:xfrm>
              <a:off x="1442526" y="4420271"/>
              <a:ext cx="4819208" cy="1434664"/>
              <a:chOff x="1442526" y="4420271"/>
              <a:chExt cx="4819208" cy="1434664"/>
            </a:xfrm>
          </p:grpSpPr>
          <p:pic>
            <p:nvPicPr>
              <p:cNvPr id="28" name="Picture 27">
                <a:extLst>
                  <a:ext uri="{FF2B5EF4-FFF2-40B4-BE49-F238E27FC236}">
                    <a16:creationId xmlns:a16="http://schemas.microsoft.com/office/drawing/2014/main" id="{49943FA0-EFD4-D0F3-889B-4C116CD70917}"/>
                  </a:ext>
                </a:extLst>
              </p:cNvPr>
              <p:cNvPicPr>
                <a:picLocks noChangeAspect="1"/>
              </p:cNvPicPr>
              <p:nvPr/>
            </p:nvPicPr>
            <p:blipFill>
              <a:blip r:embed="rId11"/>
              <a:srcRect r="75080"/>
              <a:stretch>
                <a:fillRect/>
              </a:stretch>
            </p:blipFill>
            <p:spPr>
              <a:xfrm>
                <a:off x="1442526" y="4420271"/>
                <a:ext cx="1291265" cy="1434664"/>
              </a:xfrm>
              <a:prstGeom prst="rect">
                <a:avLst/>
              </a:prstGeom>
              <a:ln>
                <a:noFill/>
              </a:ln>
            </p:spPr>
          </p:pic>
          <p:pic>
            <p:nvPicPr>
              <p:cNvPr id="29" name="Picture 28">
                <a:extLst>
                  <a:ext uri="{FF2B5EF4-FFF2-40B4-BE49-F238E27FC236}">
                    <a16:creationId xmlns:a16="http://schemas.microsoft.com/office/drawing/2014/main" id="{4FE01F3A-0CB3-689B-8F75-D48B7E6845EF}"/>
                  </a:ext>
                </a:extLst>
              </p:cNvPr>
              <p:cNvPicPr>
                <a:picLocks noChangeAspect="1"/>
              </p:cNvPicPr>
              <p:nvPr/>
            </p:nvPicPr>
            <p:blipFill>
              <a:blip r:embed="rId11"/>
              <a:srcRect l="32096"/>
              <a:stretch>
                <a:fillRect/>
              </a:stretch>
            </p:blipFill>
            <p:spPr>
              <a:xfrm>
                <a:off x="2743199" y="4420271"/>
                <a:ext cx="3518535" cy="1434664"/>
              </a:xfrm>
              <a:prstGeom prst="rect">
                <a:avLst/>
              </a:prstGeom>
              <a:ln>
                <a:noFill/>
              </a:ln>
            </p:spPr>
          </p:pic>
        </p:grpSp>
        <p:sp>
          <p:nvSpPr>
            <p:cNvPr id="18" name="Rectangle: Rounded Corners 17">
              <a:extLst>
                <a:ext uri="{FF2B5EF4-FFF2-40B4-BE49-F238E27FC236}">
                  <a16:creationId xmlns:a16="http://schemas.microsoft.com/office/drawing/2014/main" id="{D76A4EAB-6591-27B0-3B92-3769761D2BB5}"/>
                </a:ext>
              </a:extLst>
            </p:cNvPr>
            <p:cNvSpPr/>
            <p:nvPr/>
          </p:nvSpPr>
          <p:spPr>
            <a:xfrm>
              <a:off x="2691624" y="4342679"/>
              <a:ext cx="871105" cy="158984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err="1">
                <a:solidFill>
                  <a:schemeClr val="bg1"/>
                </a:solidFill>
                <a:latin typeface="Poppins SemiBold" panose="00000700000000000000" pitchFamily="2" charset="0"/>
                <a:cs typeface="Poppins SemiBold" panose="00000700000000000000" pitchFamily="2" charset="0"/>
              </a:endParaRPr>
            </a:p>
          </p:txBody>
        </p:sp>
      </p:grpSp>
    </p:spTree>
    <p:extLst>
      <p:ext uri="{BB962C8B-B14F-4D97-AF65-F5344CB8AC3E}">
        <p14:creationId xmlns:p14="http://schemas.microsoft.com/office/powerpoint/2010/main" val="405115283"/>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91108-599A-D27C-B0F7-BDFE8CCED15C}"/>
            </a:ext>
          </a:extLst>
        </p:cNvPr>
        <p:cNvGrpSpPr/>
        <p:nvPr/>
      </p:nvGrpSpPr>
      <p:grpSpPr>
        <a:xfrm>
          <a:off x="0" y="0"/>
          <a:ext cx="0" cy="0"/>
          <a:chOff x="0" y="0"/>
          <a:chExt cx="0" cy="0"/>
        </a:xfrm>
      </p:grpSpPr>
      <p:sp>
        <p:nvSpPr>
          <p:cNvPr id="18" name="Title 1">
            <a:extLst>
              <a:ext uri="{FF2B5EF4-FFF2-40B4-BE49-F238E27FC236}">
                <a16:creationId xmlns:a16="http://schemas.microsoft.com/office/drawing/2014/main" id="{203A5929-FE4A-2AC6-EEE1-739B5BD5A2F8}"/>
              </a:ext>
            </a:extLst>
          </p:cNvPr>
          <p:cNvSpPr txBox="1">
            <a:spLocks/>
          </p:cNvSpPr>
          <p:nvPr/>
        </p:nvSpPr>
        <p:spPr>
          <a:xfrm>
            <a:off x="519618" y="618470"/>
            <a:ext cx="11150252" cy="1227999"/>
          </a:xfrm>
          <a:prstGeom prst="rect">
            <a:avLst/>
          </a:prstGeom>
        </p:spPr>
        <p:txBody>
          <a:bodyPr vert="horz" lIns="91440" tIns="45720" rIns="91440" bIns="45720" rtlCol="0" anchor="t">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lvl="0" algn="ctr" defTabSz="914369">
              <a:lnSpc>
                <a:spcPct val="95000"/>
              </a:lnSpc>
              <a:defRPr/>
            </a:pPr>
            <a:r>
              <a:rPr lang="en-US" sz="2800">
                <a:solidFill>
                  <a:schemeClr val="accent2"/>
                </a:solidFill>
                <a:latin typeface="+mj-lt"/>
              </a:rPr>
              <a:t>Optimization Opportunities: </a:t>
            </a:r>
          </a:p>
          <a:p>
            <a:pPr lvl="0" algn="ctr" defTabSz="914369">
              <a:lnSpc>
                <a:spcPct val="95000"/>
              </a:lnSpc>
              <a:defRPr/>
            </a:pPr>
            <a:r>
              <a:rPr lang="en-US" sz="2800">
                <a:solidFill>
                  <a:schemeClr val="accent2"/>
                </a:solidFill>
                <a:latin typeface="+mj-lt"/>
              </a:rPr>
              <a:t>Topic &amp; Career Goal Pathing Enable Progressive Discovery</a:t>
            </a:r>
          </a:p>
        </p:txBody>
      </p:sp>
      <p:sp>
        <p:nvSpPr>
          <p:cNvPr id="31" name="Rectangle: Rounded Corners 30">
            <a:extLst>
              <a:ext uri="{FF2B5EF4-FFF2-40B4-BE49-F238E27FC236}">
                <a16:creationId xmlns:a16="http://schemas.microsoft.com/office/drawing/2014/main" id="{90F4961A-6E65-3526-34FC-8CC0740408A8}"/>
              </a:ext>
            </a:extLst>
          </p:cNvPr>
          <p:cNvSpPr/>
          <p:nvPr/>
        </p:nvSpPr>
        <p:spPr>
          <a:xfrm>
            <a:off x="-211873" y="178940"/>
            <a:ext cx="2364523" cy="305926"/>
          </a:xfrm>
          <a:prstGeom prst="roundRect">
            <a:avLst>
              <a:gd name="adj" fmla="val 50000"/>
            </a:avLst>
          </a:prstGeom>
          <a:solidFill>
            <a:srgbClr val="0059FF"/>
          </a:solidFill>
          <a:ln>
            <a:solidFill>
              <a:schemeClr val="accent1"/>
            </a:solidFill>
          </a:ln>
        </p:spPr>
        <p:style>
          <a:lnRef idx="0">
            <a:scrgbClr r="0" g="0" b="0"/>
          </a:lnRef>
          <a:fillRef idx="0">
            <a:scrgbClr r="0" g="0" b="0"/>
          </a:fillRef>
          <a:effectRef idx="0">
            <a:scrgbClr r="0" g="0" b="0"/>
          </a:effectRef>
          <a:fontRef idx="minor">
            <a:schemeClr val="lt1"/>
          </a:fontRef>
        </p:style>
        <p:txBody>
          <a:bodyPr wrap="none" lIns="91440" tIns="45720" rIns="91440" bIns="45720"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0" fontAlgn="base"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Poppins SemiBold"/>
                <a:ea typeface="+mn-ea"/>
                <a:cs typeface="Poppins SemiBold"/>
              </a:rPr>
              <a:t>Information Hierarchy</a:t>
            </a:r>
            <a:endParaRPr kumimoji="0" lang="en-US" sz="1800" b="0" i="0" u="none" strike="noStrike" kern="1200" cap="none" spc="0" normalizeH="0" baseline="0" noProof="0">
              <a:ln>
                <a:noFill/>
              </a:ln>
              <a:solidFill>
                <a:schemeClr val="bg1"/>
              </a:solidFill>
              <a:effectLst/>
              <a:uLnTx/>
              <a:uFillTx/>
              <a:latin typeface="Poppins"/>
              <a:ea typeface="+mn-ea"/>
              <a:cs typeface="+mn-cs"/>
            </a:endParaRPr>
          </a:p>
        </p:txBody>
      </p:sp>
      <p:grpSp>
        <p:nvGrpSpPr>
          <p:cNvPr id="37" name="Group 36">
            <a:extLst>
              <a:ext uri="{FF2B5EF4-FFF2-40B4-BE49-F238E27FC236}">
                <a16:creationId xmlns:a16="http://schemas.microsoft.com/office/drawing/2014/main" id="{6AACF5B6-E6F7-E188-823B-328BDCF588BA}"/>
              </a:ext>
            </a:extLst>
          </p:cNvPr>
          <p:cNvGrpSpPr/>
          <p:nvPr/>
        </p:nvGrpSpPr>
        <p:grpSpPr>
          <a:xfrm>
            <a:off x="2069955" y="1755982"/>
            <a:ext cx="8052090" cy="4690399"/>
            <a:chOff x="2152650" y="1755982"/>
            <a:chExt cx="8052090" cy="4690399"/>
          </a:xfrm>
        </p:grpSpPr>
        <p:sp>
          <p:nvSpPr>
            <p:cNvPr id="19" name="Rectangle: Rounded Corners 18">
              <a:extLst>
                <a:ext uri="{FF2B5EF4-FFF2-40B4-BE49-F238E27FC236}">
                  <a16:creationId xmlns:a16="http://schemas.microsoft.com/office/drawing/2014/main" id="{4A404078-D918-259F-2A7D-D74855DB2266}"/>
                </a:ext>
              </a:extLst>
            </p:cNvPr>
            <p:cNvSpPr>
              <a:spLocks/>
            </p:cNvSpPr>
            <p:nvPr/>
          </p:nvSpPr>
          <p:spPr>
            <a:xfrm flipV="1">
              <a:off x="4897279" y="4189568"/>
              <a:ext cx="2560320" cy="2250757"/>
            </a:xfrm>
            <a:prstGeom prst="roundRect">
              <a:avLst>
                <a:gd name="adj" fmla="val 7970"/>
              </a:avLst>
            </a:prstGeom>
            <a:solidFill>
              <a:schemeClr val="accent4"/>
            </a:solidFill>
            <a:ln w="22225">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D1AD9715-0842-BD61-0749-BB0DFDDB94AF}"/>
                </a:ext>
              </a:extLst>
            </p:cNvPr>
            <p:cNvSpPr/>
            <p:nvPr/>
          </p:nvSpPr>
          <p:spPr>
            <a:xfrm>
              <a:off x="4938427" y="4557979"/>
              <a:ext cx="2478024" cy="1715983"/>
            </a:xfrm>
            <a:prstGeom prst="rect">
              <a:avLst/>
            </a:prstGeom>
          </p:spPr>
          <p:txBody>
            <a:bodyPr wrap="square" lIns="91440" tIns="45720" rIns="91440" bIns="45720" anchor="t">
              <a:spAutoFit/>
            </a:bodyPr>
            <a:lstStyle/>
            <a:p>
              <a:pPr marL="0" marR="0" lvl="0" indent="0" algn="ctr" defTabSz="914400" rtl="0" eaLnBrk="0" fontAlgn="base" latinLnBrk="0" hangingPunct="0">
                <a:lnSpc>
                  <a:spcPct val="112000"/>
                </a:lnSpc>
                <a:spcBef>
                  <a:spcPct val="0"/>
                </a:spcBef>
                <a:spcAft>
                  <a:spcPts val="900"/>
                </a:spcAft>
                <a:buClrTx/>
                <a:buSzTx/>
                <a:buFontTx/>
                <a:buNone/>
                <a:tabLst/>
                <a:defRPr/>
              </a:pPr>
              <a:r>
                <a:rPr kumimoji="0" lang="en-US" sz="1400" b="0" i="0" u="none" strike="noStrike" kern="1200" cap="none" spc="0" normalizeH="0" baseline="0" noProof="0">
                  <a:ln>
                    <a:noFill/>
                  </a:ln>
                  <a:solidFill>
                    <a:schemeClr val="accent1"/>
                  </a:solidFill>
                  <a:effectLst/>
                  <a:uLnTx/>
                  <a:uFillTx/>
                  <a:latin typeface="Poppins SemiBold"/>
                  <a:ea typeface="Calibri"/>
                  <a:cs typeface="Poppins SemiBold"/>
                </a:rPr>
                <a:t>SPECIFIC PROGRAM DISCOVERY</a:t>
              </a:r>
              <a:endParaRPr kumimoji="0" lang="en-US" sz="1800" b="0" i="0" u="none" strike="noStrike" kern="1200" cap="none" spc="0" normalizeH="0" baseline="0" noProof="0">
                <a:ln>
                  <a:noFill/>
                </a:ln>
                <a:solidFill>
                  <a:schemeClr val="accent1"/>
                </a:solidFill>
                <a:effectLst/>
                <a:uLnTx/>
                <a:uFillTx/>
                <a:latin typeface="Calibri" panose="020F0502020204030204" pitchFamily="34" charset="0"/>
                <a:ea typeface="+mn-ea"/>
                <a:cs typeface="+mn-cs"/>
              </a:endParaRPr>
            </a:p>
            <a:p>
              <a:pPr lvl="0" algn="ctr">
                <a:lnSpc>
                  <a:spcPct val="112000"/>
                </a:lnSpc>
                <a:defRPr/>
              </a:pPr>
              <a:r>
                <a:rPr lang="en-US" sz="1200">
                  <a:latin typeface="+mn-lt"/>
                  <a:cs typeface="Poppins"/>
                  <a:sym typeface="Wingdings" panose="05000000000000000000" pitchFamily="2" charset="2"/>
                </a:rPr>
                <a:t>Enabling user discovery all the way to their exact program of interest avoids halting exploration and produces high quality leads</a:t>
              </a:r>
              <a:endParaRPr kumimoji="0" lang="en-US" sz="1200" b="0" i="0" u="none" strike="noStrike" kern="1200" cap="none" spc="0" normalizeH="0" baseline="0" noProof="0">
                <a:ln>
                  <a:noFill/>
                </a:ln>
                <a:solidFill>
                  <a:srgbClr val="FFFFFF"/>
                </a:solidFill>
                <a:effectLst/>
                <a:uLnTx/>
                <a:uFillTx/>
                <a:latin typeface="Poppins"/>
                <a:ea typeface="Calibri"/>
                <a:cs typeface="Poppins"/>
              </a:endParaRPr>
            </a:p>
          </p:txBody>
        </p:sp>
        <p:sp>
          <p:nvSpPr>
            <p:cNvPr id="25" name="Rectangle: Rounded Corners 24">
              <a:extLst>
                <a:ext uri="{FF2B5EF4-FFF2-40B4-BE49-F238E27FC236}">
                  <a16:creationId xmlns:a16="http://schemas.microsoft.com/office/drawing/2014/main" id="{AA99F838-C24A-6B12-FF93-888B2A115033}"/>
                </a:ext>
              </a:extLst>
            </p:cNvPr>
            <p:cNvSpPr/>
            <p:nvPr/>
          </p:nvSpPr>
          <p:spPr>
            <a:xfrm flipV="1">
              <a:off x="2152650" y="4337206"/>
              <a:ext cx="2560320" cy="2103120"/>
            </a:xfrm>
            <a:prstGeom prst="roundRect">
              <a:avLst>
                <a:gd name="adj" fmla="val 7970"/>
              </a:avLst>
            </a:prstGeom>
            <a:solidFill>
              <a:schemeClr val="accent4"/>
            </a:solidFill>
            <a:ln w="22225">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669859DD-45BA-D19B-771C-B02C2289B646}"/>
                </a:ext>
              </a:extLst>
            </p:cNvPr>
            <p:cNvSpPr/>
            <p:nvPr/>
          </p:nvSpPr>
          <p:spPr>
            <a:xfrm>
              <a:off x="2191661" y="4557979"/>
              <a:ext cx="2484472" cy="1888402"/>
            </a:xfrm>
            <a:prstGeom prst="rect">
              <a:avLst/>
            </a:prstGeom>
          </p:spPr>
          <p:txBody>
            <a:bodyPr wrap="square" lIns="91440" tIns="45720" rIns="91440" bIns="45720" anchor="t">
              <a:spAutoFit/>
            </a:bodyPr>
            <a:lstStyle/>
            <a:p>
              <a:pPr marL="0" marR="0" lvl="0" indent="0" algn="ctr" defTabSz="914400" rtl="0" eaLnBrk="0" fontAlgn="base" latinLnBrk="0" hangingPunct="0">
                <a:lnSpc>
                  <a:spcPct val="112000"/>
                </a:lnSpc>
                <a:spcBef>
                  <a:spcPct val="0"/>
                </a:spcBef>
                <a:spcAft>
                  <a:spcPts val="900"/>
                </a:spcAft>
                <a:buClrTx/>
                <a:buSzTx/>
                <a:buFontTx/>
                <a:buNone/>
                <a:tabLst/>
                <a:defRPr/>
              </a:pPr>
              <a:r>
                <a:rPr kumimoji="0" lang="en-US" sz="1400" b="0" i="0" u="none" strike="noStrike" kern="1200" cap="none" spc="0" normalizeH="0" baseline="0" noProof="0">
                  <a:ln>
                    <a:noFill/>
                  </a:ln>
                  <a:solidFill>
                    <a:srgbClr val="0059FF"/>
                  </a:solidFill>
                  <a:effectLst/>
                  <a:uLnTx/>
                  <a:uFillTx/>
                  <a:latin typeface="Poppins SemiBold"/>
                  <a:ea typeface="Calibri"/>
                  <a:cs typeface="Poppins SemiBold"/>
                </a:rPr>
                <a:t>PROGRESSIVE PATHING</a:t>
              </a:r>
              <a:endParaRPr kumimoji="0" lang="en-US" sz="1800" b="0" i="0" u="none" strike="noStrike" kern="1200" cap="none" spc="0" normalizeH="0" baseline="0" noProof="0">
                <a:ln>
                  <a:noFill/>
                </a:ln>
                <a:solidFill>
                  <a:srgbClr val="0059FF"/>
                </a:solidFill>
                <a:effectLst/>
                <a:uLnTx/>
                <a:uFillTx/>
                <a:latin typeface="Calibri" panose="020F0502020204030204" pitchFamily="34" charset="0"/>
                <a:ea typeface="+mn-ea"/>
                <a:cs typeface="+mn-cs"/>
              </a:endParaRPr>
            </a:p>
            <a:p>
              <a:pPr lvl="0" algn="ctr">
                <a:lnSpc>
                  <a:spcPct val="112000"/>
                </a:lnSpc>
                <a:spcAft>
                  <a:spcPts val="900"/>
                </a:spcAft>
                <a:defRPr/>
              </a:pPr>
              <a:r>
                <a:rPr lang="en-GB" sz="1200">
                  <a:latin typeface="Poppins"/>
                  <a:ea typeface="Calibri"/>
                  <a:cs typeface="Poppins"/>
                </a:rPr>
                <a:t>Improved content discovery enables users to progress from high‑level interests to targeted programs, reducing friction through focused specialization paths and streamlined navigation</a:t>
              </a:r>
              <a:endParaRPr lang="en-US" sz="1200">
                <a:latin typeface="Poppins"/>
                <a:ea typeface="Calibri"/>
                <a:cs typeface="Poppins"/>
              </a:endParaRPr>
            </a:p>
          </p:txBody>
        </p:sp>
        <p:pic>
          <p:nvPicPr>
            <p:cNvPr id="27" name="Picture 26">
              <a:extLst>
                <a:ext uri="{FF2B5EF4-FFF2-40B4-BE49-F238E27FC236}">
                  <a16:creationId xmlns:a16="http://schemas.microsoft.com/office/drawing/2014/main" id="{C7EF5B9A-A31B-C182-16C7-09170AC798F9}"/>
                </a:ext>
              </a:extLst>
            </p:cNvPr>
            <p:cNvPicPr>
              <a:picLocks/>
            </p:cNvPicPr>
            <p:nvPr/>
          </p:nvPicPr>
          <p:blipFill>
            <a:blip r:embed="rId4"/>
            <a:srcRect t="3971" b="3971"/>
            <a:stretch/>
          </p:blipFill>
          <p:spPr>
            <a:xfrm>
              <a:off x="2152650" y="1755982"/>
              <a:ext cx="2562925" cy="2743199"/>
            </a:xfrm>
            <a:prstGeom prst="round2SameRect">
              <a:avLst>
                <a:gd name="adj1" fmla="val 8679"/>
                <a:gd name="adj2" fmla="val 0"/>
              </a:avLst>
            </a:prstGeom>
            <a:ln w="12700">
              <a:solidFill>
                <a:schemeClr val="accent4"/>
              </a:solidFill>
            </a:ln>
          </p:spPr>
        </p:pic>
        <p:pic>
          <p:nvPicPr>
            <p:cNvPr id="30" name="Picture 29">
              <a:extLst>
                <a:ext uri="{FF2B5EF4-FFF2-40B4-BE49-F238E27FC236}">
                  <a16:creationId xmlns:a16="http://schemas.microsoft.com/office/drawing/2014/main" id="{E291105D-0201-8868-4B13-4A9DF51025DB}"/>
                </a:ext>
              </a:extLst>
            </p:cNvPr>
            <p:cNvPicPr>
              <a:picLocks/>
            </p:cNvPicPr>
            <p:nvPr/>
          </p:nvPicPr>
          <p:blipFill>
            <a:blip r:embed="rId5"/>
            <a:srcRect t="12875" b="12875"/>
            <a:stretch/>
          </p:blipFill>
          <p:spPr>
            <a:xfrm>
              <a:off x="4897279" y="1755982"/>
              <a:ext cx="2567394" cy="2743199"/>
            </a:xfrm>
            <a:prstGeom prst="round2SameRect">
              <a:avLst>
                <a:gd name="adj1" fmla="val 8679"/>
                <a:gd name="adj2" fmla="val 0"/>
              </a:avLst>
            </a:prstGeom>
            <a:ln w="12700">
              <a:solidFill>
                <a:schemeClr val="accent4"/>
              </a:solidFill>
            </a:ln>
          </p:spPr>
        </p:pic>
        <p:sp>
          <p:nvSpPr>
            <p:cNvPr id="33" name="Rectangle: Rounded Corners 32">
              <a:extLst>
                <a:ext uri="{FF2B5EF4-FFF2-40B4-BE49-F238E27FC236}">
                  <a16:creationId xmlns:a16="http://schemas.microsoft.com/office/drawing/2014/main" id="{B9842C81-2C11-6517-AEEA-BA950067B5F1}"/>
                </a:ext>
              </a:extLst>
            </p:cNvPr>
            <p:cNvSpPr/>
            <p:nvPr/>
          </p:nvSpPr>
          <p:spPr>
            <a:xfrm flipV="1">
              <a:off x="7637346" y="4337206"/>
              <a:ext cx="2560320" cy="2103120"/>
            </a:xfrm>
            <a:prstGeom prst="roundRect">
              <a:avLst>
                <a:gd name="adj" fmla="val 7970"/>
              </a:avLst>
            </a:prstGeom>
            <a:solidFill>
              <a:schemeClr val="accent4"/>
            </a:solidFill>
            <a:ln w="22225">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 name="Rectangle 33">
              <a:extLst>
                <a:ext uri="{FF2B5EF4-FFF2-40B4-BE49-F238E27FC236}">
                  <a16:creationId xmlns:a16="http://schemas.microsoft.com/office/drawing/2014/main" id="{235D9CBD-6BE3-6DD0-1C77-F412D7D868ED}"/>
                </a:ext>
              </a:extLst>
            </p:cNvPr>
            <p:cNvSpPr/>
            <p:nvPr/>
          </p:nvSpPr>
          <p:spPr>
            <a:xfrm>
              <a:off x="7678494" y="4557979"/>
              <a:ext cx="2478024" cy="1681551"/>
            </a:xfrm>
            <a:prstGeom prst="rect">
              <a:avLst/>
            </a:prstGeom>
          </p:spPr>
          <p:txBody>
            <a:bodyPr wrap="square" lIns="91440" tIns="45720" rIns="91440" bIns="45720" anchor="t">
              <a:spAutoFit/>
            </a:bodyPr>
            <a:lstStyle/>
            <a:p>
              <a:pPr marL="0" marR="0" lvl="0" indent="0" algn="ctr" defTabSz="914400" rtl="0" eaLnBrk="0" fontAlgn="base" latinLnBrk="0" hangingPunct="0">
                <a:lnSpc>
                  <a:spcPct val="112000"/>
                </a:lnSpc>
                <a:spcBef>
                  <a:spcPct val="0"/>
                </a:spcBef>
                <a:spcAft>
                  <a:spcPts val="900"/>
                </a:spcAft>
                <a:buClrTx/>
                <a:buSzTx/>
                <a:buFontTx/>
                <a:buNone/>
                <a:tabLst/>
                <a:defRPr/>
              </a:pPr>
              <a:r>
                <a:rPr kumimoji="0" lang="en-US" sz="1400" b="0" i="0" u="none" strike="noStrike" kern="1200" cap="none" spc="0" normalizeH="0" baseline="0" noProof="0">
                  <a:ln>
                    <a:noFill/>
                  </a:ln>
                  <a:solidFill>
                    <a:schemeClr val="accent1"/>
                  </a:solidFill>
                  <a:effectLst/>
                  <a:uLnTx/>
                  <a:uFillTx/>
                  <a:latin typeface="Poppins SemiBold"/>
                  <a:ea typeface="Calibri"/>
                  <a:cs typeface="Poppins SemiBold"/>
                </a:rPr>
                <a:t>GUIDED USER PATHS</a:t>
              </a:r>
              <a:endParaRPr kumimoji="0" lang="en-US" sz="1800" b="0" i="0" u="none" strike="noStrike" kern="1200" cap="none" spc="0" normalizeH="0" baseline="0" noProof="0">
                <a:ln>
                  <a:noFill/>
                </a:ln>
                <a:solidFill>
                  <a:schemeClr val="accent1"/>
                </a:solidFill>
                <a:effectLst/>
                <a:uLnTx/>
                <a:uFillTx/>
                <a:latin typeface="Calibri" panose="020F0502020204030204" pitchFamily="34" charset="0"/>
                <a:ea typeface="+mn-ea"/>
                <a:cs typeface="+mn-cs"/>
              </a:endParaRPr>
            </a:p>
            <a:p>
              <a:pPr lvl="0" algn="ctr">
                <a:lnSpc>
                  <a:spcPct val="112000"/>
                </a:lnSpc>
                <a:defRPr/>
              </a:pPr>
              <a:r>
                <a:rPr lang="en-US" sz="1200">
                  <a:latin typeface="+mn-lt"/>
                  <a:cs typeface="Poppins"/>
                  <a:sym typeface="Wingdings" panose="05000000000000000000" pitchFamily="2" charset="2"/>
                </a:rPr>
                <a:t>Guided pathfinders reduce decision burden for undecided users, especially when decisions are put into user terms like role-based discovery</a:t>
              </a:r>
              <a:endParaRPr kumimoji="0" lang="en-US" sz="1200" b="0" i="0" u="none" strike="noStrike" kern="1200" cap="none" spc="0" normalizeH="0" baseline="0" noProof="0">
                <a:ln>
                  <a:noFill/>
                </a:ln>
                <a:solidFill>
                  <a:srgbClr val="FFFFFF"/>
                </a:solidFill>
                <a:effectLst/>
                <a:uLnTx/>
                <a:uFillTx/>
                <a:latin typeface="+mn-lt"/>
                <a:ea typeface="Calibri"/>
                <a:cs typeface="Poppins"/>
              </a:endParaRPr>
            </a:p>
          </p:txBody>
        </p:sp>
        <p:pic>
          <p:nvPicPr>
            <p:cNvPr id="35" name="Picture 34">
              <a:extLst>
                <a:ext uri="{FF2B5EF4-FFF2-40B4-BE49-F238E27FC236}">
                  <a16:creationId xmlns:a16="http://schemas.microsoft.com/office/drawing/2014/main" id="{2E97232E-834C-E0FA-7F46-FE1642D89084}"/>
                </a:ext>
              </a:extLst>
            </p:cNvPr>
            <p:cNvPicPr>
              <a:picLocks/>
            </p:cNvPicPr>
            <p:nvPr/>
          </p:nvPicPr>
          <p:blipFill>
            <a:blip r:embed="rId6"/>
            <a:srcRect t="891" b="891"/>
            <a:stretch/>
          </p:blipFill>
          <p:spPr>
            <a:xfrm>
              <a:off x="7637346" y="1755982"/>
              <a:ext cx="2567394" cy="2743199"/>
            </a:xfrm>
            <a:prstGeom prst="round2SameRect">
              <a:avLst>
                <a:gd name="adj1" fmla="val 8679"/>
                <a:gd name="adj2" fmla="val 0"/>
              </a:avLst>
            </a:prstGeom>
            <a:ln w="12700">
              <a:solidFill>
                <a:schemeClr val="accent4"/>
              </a:solidFill>
            </a:ln>
          </p:spPr>
        </p:pic>
      </p:grpSp>
    </p:spTree>
    <p:extLst>
      <p:ext uri="{BB962C8B-B14F-4D97-AF65-F5344CB8AC3E}">
        <p14:creationId xmlns:p14="http://schemas.microsoft.com/office/powerpoint/2010/main" val="2078311696"/>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C4C48-1725-66EC-B059-F8A8F45DB51F}"/>
            </a:ext>
          </a:extLst>
        </p:cNvPr>
        <p:cNvGrpSpPr/>
        <p:nvPr/>
      </p:nvGrpSpPr>
      <p:grpSpPr>
        <a:xfrm>
          <a:off x="0" y="0"/>
          <a:ext cx="0" cy="0"/>
          <a:chOff x="0" y="0"/>
          <a:chExt cx="0" cy="0"/>
        </a:xfrm>
      </p:grpSpPr>
      <p:sp>
        <p:nvSpPr>
          <p:cNvPr id="7" name="Shape 2">
            <a:extLst>
              <a:ext uri="{FF2B5EF4-FFF2-40B4-BE49-F238E27FC236}">
                <a16:creationId xmlns:a16="http://schemas.microsoft.com/office/drawing/2014/main" id="{FF215261-E1AB-E376-ED0B-7587459C860B}"/>
              </a:ext>
            </a:extLst>
          </p:cNvPr>
          <p:cNvSpPr/>
          <p:nvPr/>
        </p:nvSpPr>
        <p:spPr>
          <a:xfrm>
            <a:off x="4402455" y="2026158"/>
            <a:ext cx="3413760" cy="4389120"/>
          </a:xfrm>
          <a:prstGeom prst="roundRect">
            <a:avLst/>
          </a:prstGeom>
          <a:solidFill>
            <a:srgbClr val="FFFFFF"/>
          </a:solidFill>
          <a:ln>
            <a:solidFill>
              <a:srgbClr val="002855"/>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Poppins"/>
              <a:ea typeface="+mn-ea"/>
              <a:cs typeface="+mn-cs"/>
            </a:endParaRPr>
          </a:p>
        </p:txBody>
      </p:sp>
      <p:sp>
        <p:nvSpPr>
          <p:cNvPr id="11" name="Shape 3">
            <a:extLst>
              <a:ext uri="{FF2B5EF4-FFF2-40B4-BE49-F238E27FC236}">
                <a16:creationId xmlns:a16="http://schemas.microsoft.com/office/drawing/2014/main" id="{12F161D5-2343-F5ED-B784-C307AF4CBD57}"/>
              </a:ext>
            </a:extLst>
          </p:cNvPr>
          <p:cNvSpPr/>
          <p:nvPr/>
        </p:nvSpPr>
        <p:spPr>
          <a:xfrm>
            <a:off x="4402455" y="2007108"/>
            <a:ext cx="3413760" cy="936602"/>
          </a:xfrm>
          <a:prstGeom prst="roundRect">
            <a:avLst/>
          </a:prstGeom>
          <a:solidFill>
            <a:schemeClr val="accent2"/>
          </a:solidFill>
          <a:ln w="38100">
            <a:solidFill>
              <a:schemeClr val="bg1"/>
            </a:solidFill>
          </a:ln>
          <a:effectLst>
            <a:outerShdw blurRad="63500" sx="102000" sy="102000" algn="ctr"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endParaRPr>
          </a:p>
        </p:txBody>
      </p:sp>
      <p:sp>
        <p:nvSpPr>
          <p:cNvPr id="16" name="Text 5">
            <a:extLst>
              <a:ext uri="{FF2B5EF4-FFF2-40B4-BE49-F238E27FC236}">
                <a16:creationId xmlns:a16="http://schemas.microsoft.com/office/drawing/2014/main" id="{8E3B50BB-26AA-F8C7-6B6B-606C5BB78ED9}"/>
              </a:ext>
            </a:extLst>
          </p:cNvPr>
          <p:cNvSpPr/>
          <p:nvPr/>
        </p:nvSpPr>
        <p:spPr>
          <a:xfrm>
            <a:off x="5135480" y="2176258"/>
            <a:ext cx="2436895" cy="548640"/>
          </a:xfrm>
          <a:prstGeom prst="rect">
            <a:avLst/>
          </a:prstGeom>
          <a:noFill/>
          <a:ln/>
        </p:spPr>
        <p:txBody>
          <a:bodyPr wrap="square" lIns="0" tIns="0" rIns="0" bIns="0" rtlCol="0" anchor="ctr"/>
          <a:lstStyle/>
          <a:p>
            <a:pPr lvl="0" eaLnBrk="1" fontAlgn="auto" hangingPunct="1">
              <a:spcBef>
                <a:spcPts val="0"/>
              </a:spcBef>
              <a:spcAft>
                <a:spcPts val="0"/>
              </a:spcAft>
              <a:defRPr/>
            </a:pPr>
            <a:r>
              <a:rPr lang="en-US" sz="1600" b="1" kern="0">
                <a:solidFill>
                  <a:schemeClr val="bg1"/>
                </a:solidFill>
                <a:latin typeface="Poppins SemiBold"/>
                <a:cs typeface="Poppins"/>
              </a:rPr>
              <a:t>Cost Clarity Is A Measurable Conversion Lever</a:t>
            </a:r>
            <a:endParaRPr kumimoji="0" lang="en-US" sz="1600" b="0" i="0" u="none" strike="noStrike" kern="1200" cap="none" spc="0" normalizeH="0" baseline="0" noProof="0">
              <a:ln>
                <a:noFill/>
              </a:ln>
              <a:solidFill>
                <a:schemeClr val="bg1"/>
              </a:solidFill>
              <a:effectLst/>
              <a:uLnTx/>
              <a:uFillTx/>
              <a:latin typeface="Poppins SemiBold"/>
              <a:ea typeface="+mn-ea"/>
              <a:cs typeface="Poppins SemiBold"/>
            </a:endParaRPr>
          </a:p>
        </p:txBody>
      </p:sp>
      <p:sp>
        <p:nvSpPr>
          <p:cNvPr id="22" name="Text 7">
            <a:extLst>
              <a:ext uri="{FF2B5EF4-FFF2-40B4-BE49-F238E27FC236}">
                <a16:creationId xmlns:a16="http://schemas.microsoft.com/office/drawing/2014/main" id="{AD7F447E-69A4-7E4B-A326-E47544AE46B9}"/>
              </a:ext>
            </a:extLst>
          </p:cNvPr>
          <p:cNvSpPr/>
          <p:nvPr/>
        </p:nvSpPr>
        <p:spPr>
          <a:xfrm>
            <a:off x="4632960" y="3000178"/>
            <a:ext cx="2926080" cy="1194215"/>
          </a:xfrm>
          <a:prstGeom prst="rect">
            <a:avLst/>
          </a:prstGeom>
          <a:noFill/>
          <a:ln/>
        </p:spPr>
        <p:txBody>
          <a:bodyPr wrap="square" lIns="0" tIns="0" rIns="0" bIns="0" rtlCol="0" anchor="ctr"/>
          <a:lstStyle/>
          <a:p>
            <a:pPr lvl="0" algn="ctr" eaLnBrk="1" fontAlgn="auto" hangingPunct="1">
              <a:spcBef>
                <a:spcPts val="0"/>
              </a:spcBef>
              <a:spcAft>
                <a:spcPts val="0"/>
              </a:spcAft>
              <a:defRPr/>
            </a:pPr>
            <a:r>
              <a:rPr lang="en-GB" sz="1200">
                <a:latin typeface="+mn-lt"/>
                <a:ea typeface="Calibri"/>
                <a:cs typeface="Arial"/>
              </a:rPr>
              <a:t>Returning adults need early cost‑to‑value reassurance; competitors provide it up front, while DeVry delays tuition context—despite affordability page form delivering </a:t>
            </a:r>
            <a:r>
              <a:rPr lang="en-GB" sz="1200" b="1">
                <a:latin typeface="+mn-lt"/>
                <a:ea typeface="Calibri"/>
                <a:cs typeface="Arial"/>
              </a:rPr>
              <a:t>+43.9% </a:t>
            </a:r>
            <a:r>
              <a:rPr lang="en-GB" sz="1200">
                <a:latin typeface="+mn-lt"/>
                <a:ea typeface="Calibri"/>
                <a:cs typeface="Arial"/>
              </a:rPr>
              <a:t>higher completion rates</a:t>
            </a:r>
            <a:endParaRPr kumimoji="0" lang="en-US" sz="1200" b="0" i="0" u="none" strike="noStrike" kern="1200" cap="none" spc="0" normalizeH="0" baseline="0" noProof="0">
              <a:ln>
                <a:noFill/>
              </a:ln>
              <a:solidFill>
                <a:srgbClr val="000000"/>
              </a:solidFill>
              <a:effectLst/>
              <a:uLnTx/>
              <a:uFillTx/>
              <a:latin typeface="+mn-lt"/>
              <a:ea typeface="Calibri"/>
              <a:cs typeface="Poppins"/>
            </a:endParaRPr>
          </a:p>
        </p:txBody>
      </p:sp>
      <p:sp>
        <p:nvSpPr>
          <p:cNvPr id="23" name="Shape 8">
            <a:extLst>
              <a:ext uri="{FF2B5EF4-FFF2-40B4-BE49-F238E27FC236}">
                <a16:creationId xmlns:a16="http://schemas.microsoft.com/office/drawing/2014/main" id="{E6BE5900-A609-BE6C-653E-F13876EB9CA2}"/>
              </a:ext>
            </a:extLst>
          </p:cNvPr>
          <p:cNvSpPr>
            <a:spLocks noGrp="1" noRot="1" noMove="1" noResize="1" noEditPoints="1" noAdjustHandles="1" noChangeArrowheads="1" noChangeShapeType="1"/>
          </p:cNvSpPr>
          <p:nvPr/>
        </p:nvSpPr>
        <p:spPr>
          <a:xfrm>
            <a:off x="8060055" y="2007108"/>
            <a:ext cx="3413760" cy="4389120"/>
          </a:xfrm>
          <a:prstGeom prst="roundRect">
            <a:avLst/>
          </a:prstGeom>
          <a:solidFill>
            <a:srgbClr val="FFFFFF"/>
          </a:solidFill>
          <a:ln>
            <a:solidFill>
              <a:srgbClr val="1A7CBA"/>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Poppins"/>
              <a:ea typeface="+mn-ea"/>
              <a:cs typeface="+mn-cs"/>
            </a:endParaRPr>
          </a:p>
        </p:txBody>
      </p:sp>
      <p:sp>
        <p:nvSpPr>
          <p:cNvPr id="25" name="Shape 9">
            <a:extLst>
              <a:ext uri="{FF2B5EF4-FFF2-40B4-BE49-F238E27FC236}">
                <a16:creationId xmlns:a16="http://schemas.microsoft.com/office/drawing/2014/main" id="{9DBEEDE4-0086-9A68-067D-B9AE2B953635}"/>
              </a:ext>
            </a:extLst>
          </p:cNvPr>
          <p:cNvSpPr/>
          <p:nvPr/>
        </p:nvSpPr>
        <p:spPr>
          <a:xfrm>
            <a:off x="8060055" y="2007108"/>
            <a:ext cx="3413760" cy="936602"/>
          </a:xfrm>
          <a:prstGeom prst="roundRect">
            <a:avLst/>
          </a:prstGeom>
          <a:solidFill>
            <a:schemeClr val="accent2"/>
          </a:solidFill>
          <a:ln w="38100">
            <a:solidFill>
              <a:schemeClr val="bg1"/>
            </a:solidFill>
          </a:ln>
          <a:effectLst>
            <a:outerShdw blurRad="63500" sx="102000" sy="102000" algn="ctr"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endParaRPr>
          </a:p>
        </p:txBody>
      </p:sp>
      <p:sp>
        <p:nvSpPr>
          <p:cNvPr id="27" name="Text 11">
            <a:extLst>
              <a:ext uri="{FF2B5EF4-FFF2-40B4-BE49-F238E27FC236}">
                <a16:creationId xmlns:a16="http://schemas.microsoft.com/office/drawing/2014/main" id="{DB6AE139-C648-A06E-7EB9-4730BC244629}"/>
              </a:ext>
            </a:extLst>
          </p:cNvPr>
          <p:cNvSpPr/>
          <p:nvPr/>
        </p:nvSpPr>
        <p:spPr>
          <a:xfrm>
            <a:off x="8783248" y="2197278"/>
            <a:ext cx="2592675" cy="548640"/>
          </a:xfrm>
          <a:prstGeom prst="rect">
            <a:avLst/>
          </a:prstGeom>
          <a:noFill/>
          <a:ln/>
        </p:spPr>
        <p:txBody>
          <a:bodyPr wrap="square" lIns="0" tIns="0" rIns="0" bIns="0" rtlCol="0" anchor="ctr"/>
          <a:lstStyle/>
          <a:p>
            <a:pPr lvl="0" eaLnBrk="1" fontAlgn="auto" hangingPunct="1">
              <a:spcBef>
                <a:spcPts val="0"/>
              </a:spcBef>
              <a:spcAft>
                <a:spcPts val="0"/>
              </a:spcAft>
              <a:defRPr/>
            </a:pPr>
            <a:r>
              <a:rPr lang="en-US" sz="1600" b="1" kern="0">
                <a:solidFill>
                  <a:schemeClr val="bg1"/>
                </a:solidFill>
                <a:latin typeface="Poppins SemiBold"/>
                <a:cs typeface="Poppins"/>
              </a:rPr>
              <a:t>Stackable Pathways + Online Modality Lower The Inquiry Barrier</a:t>
            </a:r>
            <a:endParaRPr kumimoji="0" lang="en-US" sz="1600" b="1" i="0" u="none" strike="noStrike" kern="1200" cap="none" spc="0" normalizeH="0" baseline="0" noProof="0">
              <a:ln>
                <a:noFill/>
              </a:ln>
              <a:solidFill>
                <a:schemeClr val="bg1"/>
              </a:solidFill>
              <a:effectLst/>
              <a:uLnTx/>
              <a:uFillTx/>
              <a:latin typeface="Poppins SemiBold"/>
              <a:ea typeface="+mn-ea"/>
              <a:cs typeface="Poppins SemiBold"/>
            </a:endParaRPr>
          </a:p>
        </p:txBody>
      </p:sp>
      <p:sp>
        <p:nvSpPr>
          <p:cNvPr id="29" name="Text 13">
            <a:extLst>
              <a:ext uri="{FF2B5EF4-FFF2-40B4-BE49-F238E27FC236}">
                <a16:creationId xmlns:a16="http://schemas.microsoft.com/office/drawing/2014/main" id="{3E7B21D6-6BE4-B8AF-1AF5-ACF48448711E}"/>
              </a:ext>
            </a:extLst>
          </p:cNvPr>
          <p:cNvSpPr/>
          <p:nvPr/>
        </p:nvSpPr>
        <p:spPr>
          <a:xfrm>
            <a:off x="8303894" y="3044290"/>
            <a:ext cx="2926080" cy="1105991"/>
          </a:xfrm>
          <a:prstGeom prst="rect">
            <a:avLst/>
          </a:prstGeom>
          <a:noFill/>
          <a:ln/>
        </p:spPr>
        <p:txBody>
          <a:bodyPr wrap="square" lIns="0" tIns="0" rIns="0" bIns="0" rtlCol="0" anchor="ctr"/>
          <a:lstStyle/>
          <a:p>
            <a:pPr lvl="0" algn="ctr" eaLnBrk="1" fontAlgn="auto" hangingPunct="1">
              <a:spcBef>
                <a:spcPts val="0"/>
              </a:spcBef>
              <a:spcAft>
                <a:spcPts val="0"/>
              </a:spcAft>
              <a:defRPr/>
            </a:pPr>
            <a:r>
              <a:rPr lang="en-GB" sz="1200" kern="0">
                <a:latin typeface="Poppins"/>
                <a:cs typeface="Poppins"/>
              </a:rPr>
              <a:t>Students are **</a:t>
            </a:r>
            <a:r>
              <a:rPr lang="en-GB" sz="1200" b="1" kern="0">
                <a:latin typeface="Poppins"/>
                <a:cs typeface="Poppins"/>
              </a:rPr>
              <a:t>2.4x</a:t>
            </a:r>
            <a:r>
              <a:rPr lang="en-GB" sz="1200" kern="0">
                <a:latin typeface="Poppins"/>
                <a:cs typeface="Poppins"/>
              </a:rPr>
              <a:t> more likely to enroll when programs offer stackable credentials, yet despite </a:t>
            </a:r>
            <a:r>
              <a:rPr lang="en-GB" sz="1200" b="1" kern="0">
                <a:latin typeface="Poppins"/>
                <a:cs typeface="Poppins"/>
              </a:rPr>
              <a:t>96% </a:t>
            </a:r>
            <a:r>
              <a:rPr lang="en-GB" sz="1200" kern="0">
                <a:latin typeface="Poppins"/>
                <a:cs typeface="Poppins"/>
              </a:rPr>
              <a:t>of DeVry inquiries preferring some online modality, this preference isn’t visually reinforced</a:t>
            </a:r>
          </a:p>
        </p:txBody>
      </p:sp>
      <p:sp>
        <p:nvSpPr>
          <p:cNvPr id="30" name="Shape 14">
            <a:extLst>
              <a:ext uri="{FF2B5EF4-FFF2-40B4-BE49-F238E27FC236}">
                <a16:creationId xmlns:a16="http://schemas.microsoft.com/office/drawing/2014/main" id="{B4CF6C86-2B88-81C0-87FE-CDD41197E154}"/>
              </a:ext>
            </a:extLst>
          </p:cNvPr>
          <p:cNvSpPr>
            <a:spLocks noGrp="1" noRot="1" noMove="1" noResize="1" noEditPoints="1" noAdjustHandles="1" noChangeArrowheads="1" noChangeShapeType="1"/>
          </p:cNvSpPr>
          <p:nvPr/>
        </p:nvSpPr>
        <p:spPr>
          <a:xfrm>
            <a:off x="726040" y="2007108"/>
            <a:ext cx="3413760" cy="4389120"/>
          </a:xfrm>
          <a:prstGeom prst="roundRect">
            <a:avLst/>
          </a:prstGeom>
          <a:solidFill>
            <a:srgbClr val="FFFFFF"/>
          </a:solidFill>
          <a:ln>
            <a:solidFill>
              <a:schemeClr val="accent2"/>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Poppins"/>
              <a:ea typeface="+mn-ea"/>
              <a:cs typeface="+mn-cs"/>
            </a:endParaRPr>
          </a:p>
        </p:txBody>
      </p:sp>
      <p:sp>
        <p:nvSpPr>
          <p:cNvPr id="31" name="Shape 15">
            <a:extLst>
              <a:ext uri="{FF2B5EF4-FFF2-40B4-BE49-F238E27FC236}">
                <a16:creationId xmlns:a16="http://schemas.microsoft.com/office/drawing/2014/main" id="{0F61F7AC-EF0A-A0F0-0E68-A5972CEF5146}"/>
              </a:ext>
            </a:extLst>
          </p:cNvPr>
          <p:cNvSpPr/>
          <p:nvPr/>
        </p:nvSpPr>
        <p:spPr>
          <a:xfrm>
            <a:off x="726040" y="2007108"/>
            <a:ext cx="3413760" cy="936602"/>
          </a:xfrm>
          <a:prstGeom prst="roundRect">
            <a:avLst/>
          </a:prstGeom>
          <a:solidFill>
            <a:schemeClr val="accent2"/>
          </a:solidFill>
          <a:ln w="38100">
            <a:solidFill>
              <a:schemeClr val="bg1"/>
            </a:solidFill>
          </a:ln>
          <a:effectLst>
            <a:outerShdw blurRad="63500" sx="102000" sy="102000" algn="ctr"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endParaRPr>
          </a:p>
        </p:txBody>
      </p:sp>
      <p:sp>
        <p:nvSpPr>
          <p:cNvPr id="33" name="Text 17">
            <a:extLst>
              <a:ext uri="{FF2B5EF4-FFF2-40B4-BE49-F238E27FC236}">
                <a16:creationId xmlns:a16="http://schemas.microsoft.com/office/drawing/2014/main" id="{82B5316B-60DF-C3CD-B8A6-5C77FBA48541}"/>
              </a:ext>
            </a:extLst>
          </p:cNvPr>
          <p:cNvSpPr/>
          <p:nvPr/>
        </p:nvSpPr>
        <p:spPr>
          <a:xfrm>
            <a:off x="1468473" y="2205754"/>
            <a:ext cx="2446302" cy="548640"/>
          </a:xfrm>
          <a:prstGeom prst="rect">
            <a:avLst/>
          </a:prstGeom>
          <a:noFill/>
          <a:ln/>
        </p:spPr>
        <p:txBody>
          <a:bodyPr wrap="square" lIns="0" tIns="0" rIns="0" bIns="0" rtlCol="0" anchor="ctr"/>
          <a:lstStyle/>
          <a:p>
            <a:pPr lvl="0" eaLnBrk="1" fontAlgn="auto" hangingPunct="1">
              <a:spcBef>
                <a:spcPts val="0"/>
              </a:spcBef>
              <a:spcAft>
                <a:spcPts val="0"/>
              </a:spcAft>
              <a:defRPr/>
            </a:pPr>
            <a:r>
              <a:rPr lang="en-US" sz="1600" b="1" kern="0">
                <a:solidFill>
                  <a:schemeClr val="bg1"/>
                </a:solidFill>
                <a:latin typeface="Poppins SemiBold"/>
                <a:cs typeface="Poppins"/>
              </a:rPr>
              <a:t>Career Outcomes Are The Primary Driver</a:t>
            </a:r>
            <a:endParaRPr kumimoji="0" lang="en-US" sz="1600" b="1" i="0" u="none" strike="noStrike" kern="1200" cap="none" spc="0" normalizeH="0" baseline="0" noProof="0">
              <a:ln>
                <a:noFill/>
              </a:ln>
              <a:solidFill>
                <a:schemeClr val="bg1"/>
              </a:solidFill>
              <a:effectLst/>
              <a:uLnTx/>
              <a:uFillTx/>
              <a:latin typeface="Poppins SemiBold"/>
              <a:ea typeface="+mn-ea"/>
              <a:cs typeface="Poppins SemiBold"/>
            </a:endParaRPr>
          </a:p>
        </p:txBody>
      </p:sp>
      <p:sp>
        <p:nvSpPr>
          <p:cNvPr id="35" name="Text 19">
            <a:extLst>
              <a:ext uri="{FF2B5EF4-FFF2-40B4-BE49-F238E27FC236}">
                <a16:creationId xmlns:a16="http://schemas.microsoft.com/office/drawing/2014/main" id="{742474B7-A8C9-A342-761B-43FA01AC911E}"/>
              </a:ext>
            </a:extLst>
          </p:cNvPr>
          <p:cNvSpPr/>
          <p:nvPr/>
        </p:nvSpPr>
        <p:spPr>
          <a:xfrm>
            <a:off x="988695" y="3023114"/>
            <a:ext cx="2926080" cy="1148343"/>
          </a:xfrm>
          <a:prstGeom prst="rect">
            <a:avLst/>
          </a:prstGeom>
          <a:noFill/>
          <a:ln/>
        </p:spPr>
        <p:txBody>
          <a:bodyPr wrap="square" lIns="0" tIns="0" rIns="0" bIns="0" rtlCol="0" anchor="ctr"/>
          <a:lstStyle/>
          <a:p>
            <a:pPr lvl="0" algn="ctr" eaLnBrk="1" fontAlgn="auto" hangingPunct="1">
              <a:spcBef>
                <a:spcPts val="0"/>
              </a:spcBef>
              <a:spcAft>
                <a:spcPts val="0"/>
              </a:spcAft>
              <a:defRPr/>
            </a:pPr>
            <a:r>
              <a:rPr lang="en-GB" sz="1200" kern="0">
                <a:latin typeface="Poppins"/>
                <a:cs typeface="Poppins"/>
              </a:rPr>
              <a:t>Competitors make skills, tools, and outcomes easy to scan; DeVry does not yet provide the hands‑on proof, curriculum clarity, or employer cues tech users rely on to validate value and commit</a:t>
            </a:r>
            <a:endParaRPr kumimoji="0" lang="en-US" sz="1200" b="0" i="0" u="none" strike="noStrike" kern="1200" cap="none" spc="0" normalizeH="0" baseline="0" noProof="0">
              <a:ln>
                <a:noFill/>
              </a:ln>
              <a:solidFill>
                <a:srgbClr val="3A4A5A"/>
              </a:solidFill>
              <a:effectLst/>
              <a:uLnTx/>
              <a:uFillTx/>
              <a:latin typeface="Poppins"/>
              <a:ea typeface="Calibri"/>
              <a:cs typeface="Poppins"/>
            </a:endParaRPr>
          </a:p>
        </p:txBody>
      </p:sp>
      <p:sp>
        <p:nvSpPr>
          <p:cNvPr id="10" name="Title 1">
            <a:extLst>
              <a:ext uri="{FF2B5EF4-FFF2-40B4-BE49-F238E27FC236}">
                <a16:creationId xmlns:a16="http://schemas.microsoft.com/office/drawing/2014/main" id="{C340EFBE-875D-D9CC-61E7-C14AEAD38B98}"/>
              </a:ext>
            </a:extLst>
          </p:cNvPr>
          <p:cNvSpPr txBox="1">
            <a:spLocks/>
          </p:cNvSpPr>
          <p:nvPr/>
        </p:nvSpPr>
        <p:spPr>
          <a:xfrm>
            <a:off x="520873" y="657463"/>
            <a:ext cx="11150252" cy="1227999"/>
          </a:xfrm>
          <a:prstGeom prst="rect">
            <a:avLst/>
          </a:prstGeom>
        </p:spPr>
        <p:txBody>
          <a:bodyPr vert="horz" lIns="91440" tIns="45720" rIns="91440" bIns="45720" rtlCol="0" anchor="t">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lvl="0" algn="ctr" defTabSz="914369">
              <a:lnSpc>
                <a:spcPct val="95000"/>
              </a:lnSpc>
              <a:defRPr/>
            </a:pPr>
            <a:r>
              <a:rPr lang="en-GB" sz="2800" b="1">
                <a:solidFill>
                  <a:schemeClr val="accent2"/>
                </a:solidFill>
                <a:latin typeface="+mj-lt"/>
              </a:rPr>
              <a:t>Proof Must Earn Trust Before The Ask — Outcomes, Cost, And Flexibility Drive Enrollment</a:t>
            </a:r>
            <a:endParaRPr lang="en-US" sz="2800" b="1">
              <a:solidFill>
                <a:schemeClr val="accent2"/>
              </a:solidFill>
              <a:latin typeface="+mj-lt"/>
            </a:endParaRPr>
          </a:p>
        </p:txBody>
      </p:sp>
      <p:pic>
        <p:nvPicPr>
          <p:cNvPr id="17" name="Graphic 16" descr="Money envelope with solid fill">
            <a:extLst>
              <a:ext uri="{FF2B5EF4-FFF2-40B4-BE49-F238E27FC236}">
                <a16:creationId xmlns:a16="http://schemas.microsoft.com/office/drawing/2014/main" id="{D721AF97-5413-9BB0-FFDA-D1D727DF0C35}"/>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483600" y="2150945"/>
            <a:ext cx="578210" cy="578210"/>
          </a:xfrm>
          <a:prstGeom prst="rect">
            <a:avLst/>
          </a:prstGeom>
        </p:spPr>
      </p:pic>
      <p:sp>
        <p:nvSpPr>
          <p:cNvPr id="2" name="Rectangle: Rounded Corners 1">
            <a:extLst>
              <a:ext uri="{FF2B5EF4-FFF2-40B4-BE49-F238E27FC236}">
                <a16:creationId xmlns:a16="http://schemas.microsoft.com/office/drawing/2014/main" id="{83B2C30D-6CBB-5EC4-0A5D-746FF4578C0E}"/>
              </a:ext>
            </a:extLst>
          </p:cNvPr>
          <p:cNvSpPr/>
          <p:nvPr/>
        </p:nvSpPr>
        <p:spPr>
          <a:xfrm>
            <a:off x="-97573" y="178940"/>
            <a:ext cx="2364523" cy="305926"/>
          </a:xfrm>
          <a:prstGeom prst="roundRect">
            <a:avLst>
              <a:gd name="adj" fmla="val 50000"/>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wrap="none" lIns="91440" tIns="45720" rIns="91440" bIns="45720"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0" fontAlgn="base" latinLnBrk="0" hangingPunct="0">
              <a:lnSpc>
                <a:spcPct val="100000"/>
              </a:lnSpc>
              <a:spcBef>
                <a:spcPts val="0"/>
              </a:spcBef>
              <a:spcAft>
                <a:spcPts val="0"/>
              </a:spcAft>
              <a:buClrTx/>
              <a:buSzTx/>
              <a:buFontTx/>
              <a:buNone/>
              <a:tabLst/>
              <a:defRPr/>
            </a:pPr>
            <a:r>
              <a:rPr kumimoji="0" lang="en-US" sz="1000" i="0" strike="noStrike" kern="1200" cap="none" spc="0" normalizeH="0" baseline="0" noProof="0">
                <a:ln>
                  <a:noFill/>
                </a:ln>
                <a:solidFill>
                  <a:schemeClr val="tx1"/>
                </a:solidFill>
                <a:effectLst/>
                <a:uLnTx/>
                <a:uFillTx/>
                <a:latin typeface="Poppins SemiBold"/>
                <a:ea typeface="+mn-ea"/>
                <a:cs typeface="Poppins SemiBold"/>
              </a:rPr>
              <a:t>Value Propositions</a:t>
            </a:r>
            <a:r>
              <a:rPr kumimoji="0" lang="en-US" sz="1000" b="0" i="0" strike="noStrike" kern="1200" cap="none" spc="0" normalizeH="0" baseline="0" noProof="0">
                <a:ln>
                  <a:noFill/>
                </a:ln>
                <a:solidFill>
                  <a:schemeClr val="tx1"/>
                </a:solidFill>
                <a:effectLst/>
                <a:uLnTx/>
                <a:uFillTx/>
                <a:latin typeface="Poppins SemiBold"/>
                <a:ea typeface="+mn-ea"/>
                <a:cs typeface="Poppins SemiBold"/>
              </a:rPr>
              <a:t> &amp; Credibility</a:t>
            </a:r>
            <a:endParaRPr kumimoji="0" lang="en-US" sz="1800" b="0" i="0" strike="noStrike" kern="1200" cap="none" spc="0" normalizeH="0" baseline="0" noProof="0">
              <a:ln>
                <a:noFill/>
              </a:ln>
              <a:solidFill>
                <a:schemeClr val="tx1"/>
              </a:solidFill>
              <a:effectLst/>
              <a:uLnTx/>
              <a:uFillTx/>
              <a:latin typeface="Poppins"/>
              <a:ea typeface="+mn-ea"/>
              <a:cs typeface="+mn-cs"/>
            </a:endParaRPr>
          </a:p>
        </p:txBody>
      </p:sp>
      <p:pic>
        <p:nvPicPr>
          <p:cNvPr id="3" name="Graphic 2" descr="Office worker male with solid fill">
            <a:extLst>
              <a:ext uri="{FF2B5EF4-FFF2-40B4-BE49-F238E27FC236}">
                <a16:creationId xmlns:a16="http://schemas.microsoft.com/office/drawing/2014/main" id="{883A18CC-E1AC-9E2D-34EF-35A57C8436E9}"/>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858279" y="2201980"/>
            <a:ext cx="497196" cy="497196"/>
          </a:xfrm>
          <a:prstGeom prst="rect">
            <a:avLst/>
          </a:prstGeom>
        </p:spPr>
      </p:pic>
      <p:sp>
        <p:nvSpPr>
          <p:cNvPr id="14" name="Rectangle: Rounded Corners 13">
            <a:extLst>
              <a:ext uri="{FF2B5EF4-FFF2-40B4-BE49-F238E27FC236}">
                <a16:creationId xmlns:a16="http://schemas.microsoft.com/office/drawing/2014/main" id="{1166D411-3595-9B57-C9FC-53952B5D4529}"/>
              </a:ext>
            </a:extLst>
          </p:cNvPr>
          <p:cNvSpPr/>
          <p:nvPr/>
        </p:nvSpPr>
        <p:spPr>
          <a:xfrm>
            <a:off x="1213540" y="4331442"/>
            <a:ext cx="2438759" cy="936602"/>
          </a:xfrm>
          <a:prstGeom prst="roundRect">
            <a:avLst/>
          </a:prstGeom>
          <a:solidFill>
            <a:schemeClr val="accent5"/>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lvl="0" algn="ctr">
              <a:defRPr/>
            </a:pPr>
            <a:r>
              <a:rPr lang="en-US" b="1">
                <a:solidFill>
                  <a:schemeClr val="accent1"/>
                </a:solidFill>
              </a:rPr>
              <a:t>*94%</a:t>
            </a:r>
            <a:endParaRPr lang="en-US">
              <a:solidFill>
                <a:schemeClr val="accent1"/>
              </a:solidFill>
              <a:cs typeface="Arial"/>
            </a:endParaRPr>
          </a:p>
          <a:p>
            <a:pPr lvl="0" algn="ctr">
              <a:defRPr/>
            </a:pPr>
            <a:r>
              <a:rPr lang="en-US" sz="1100">
                <a:solidFill>
                  <a:schemeClr val="tx1"/>
                </a:solidFill>
                <a:cs typeface="Arial"/>
              </a:rPr>
              <a:t>of online learners enroll for </a:t>
            </a:r>
            <a:r>
              <a:rPr lang="en-US" sz="1100">
                <a:solidFill>
                  <a:schemeClr val="tx1"/>
                </a:solidFill>
                <a:ea typeface="Calibri"/>
                <a:cs typeface="Arial"/>
              </a:rPr>
              <a:t>career outcomes</a:t>
            </a:r>
            <a:endParaRPr kumimoji="0" lang="en-US" sz="1100" b="0" i="0" u="none" strike="noStrike" kern="1200" cap="none" spc="0" normalizeH="0" baseline="0" noProof="0">
              <a:ln>
                <a:noFill/>
              </a:ln>
              <a:solidFill>
                <a:schemeClr val="tx1"/>
              </a:solidFill>
              <a:effectLst/>
              <a:uLnTx/>
              <a:uFillTx/>
              <a:latin typeface="Poppins"/>
              <a:ea typeface="+mn-ea"/>
              <a:cs typeface="Poppins"/>
            </a:endParaRPr>
          </a:p>
        </p:txBody>
      </p:sp>
      <p:graphicFrame>
        <p:nvGraphicFramePr>
          <p:cNvPr id="15" name="Chart 0">
            <a:extLst>
              <a:ext uri="{FF2B5EF4-FFF2-40B4-BE49-F238E27FC236}">
                <a16:creationId xmlns:a16="http://schemas.microsoft.com/office/drawing/2014/main" id="{C116A176-2188-26A8-A79F-21505A6FFBCC}"/>
              </a:ext>
            </a:extLst>
          </p:cNvPr>
          <p:cNvGraphicFramePr/>
          <p:nvPr>
            <p:extLst>
              <p:ext uri="{D42A27DB-BD31-4B8C-83A1-F6EECF244321}">
                <p14:modId xmlns:p14="http://schemas.microsoft.com/office/powerpoint/2010/main" val="1747618303"/>
              </p:ext>
            </p:extLst>
          </p:nvPr>
        </p:nvGraphicFramePr>
        <p:xfrm>
          <a:off x="4674393" y="4195668"/>
          <a:ext cx="2843213" cy="2074886"/>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8" name="Chart 17">
            <a:extLst>
              <a:ext uri="{FF2B5EF4-FFF2-40B4-BE49-F238E27FC236}">
                <a16:creationId xmlns:a16="http://schemas.microsoft.com/office/drawing/2014/main" id="{2E676464-2C92-082D-9782-2894D1E01496}"/>
              </a:ext>
            </a:extLst>
          </p:cNvPr>
          <p:cNvGraphicFramePr>
            <a:graphicFrameLocks/>
          </p:cNvGraphicFramePr>
          <p:nvPr>
            <p:extLst>
              <p:ext uri="{D42A27DB-BD31-4B8C-83A1-F6EECF244321}">
                <p14:modId xmlns:p14="http://schemas.microsoft.com/office/powerpoint/2010/main" val="1454429908"/>
              </p:ext>
            </p:extLst>
          </p:nvPr>
        </p:nvGraphicFramePr>
        <p:xfrm>
          <a:off x="8303894" y="4143280"/>
          <a:ext cx="2918226" cy="2102381"/>
        </p:xfrm>
        <a:graphic>
          <a:graphicData uri="http://schemas.openxmlformats.org/drawingml/2006/chart">
            <c:chart xmlns:c="http://schemas.openxmlformats.org/drawingml/2006/chart" xmlns:r="http://schemas.openxmlformats.org/officeDocument/2006/relationships" r:id="rId7"/>
          </a:graphicData>
        </a:graphic>
      </p:graphicFrame>
      <p:pic>
        <p:nvPicPr>
          <p:cNvPr id="28" name="Graphic 27" descr="Stacked Rocks with solid fill">
            <a:extLst>
              <a:ext uri="{FF2B5EF4-FFF2-40B4-BE49-F238E27FC236}">
                <a16:creationId xmlns:a16="http://schemas.microsoft.com/office/drawing/2014/main" id="{60345ACF-EDB4-9952-67B7-1A938B34562C}"/>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8152488" y="2161455"/>
            <a:ext cx="578210" cy="578210"/>
          </a:xfrm>
          <a:prstGeom prst="rect">
            <a:avLst/>
          </a:prstGeom>
        </p:spPr>
      </p:pic>
      <p:sp>
        <p:nvSpPr>
          <p:cNvPr id="36" name="Rectangle: Rounded Corners 35">
            <a:extLst>
              <a:ext uri="{FF2B5EF4-FFF2-40B4-BE49-F238E27FC236}">
                <a16:creationId xmlns:a16="http://schemas.microsoft.com/office/drawing/2014/main" id="{CA9D0FF2-1C7E-3628-2655-B81FA13955BF}"/>
              </a:ext>
            </a:extLst>
          </p:cNvPr>
          <p:cNvSpPr/>
          <p:nvPr/>
        </p:nvSpPr>
        <p:spPr>
          <a:xfrm>
            <a:off x="1213539" y="5377659"/>
            <a:ext cx="2438759" cy="870022"/>
          </a:xfrm>
          <a:prstGeom prst="roundRect">
            <a:avLst/>
          </a:prstGeom>
          <a:solidFill>
            <a:schemeClr val="accent5"/>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lvl="0" algn="ctr">
              <a:defRPr/>
            </a:pPr>
            <a:r>
              <a:rPr lang="en-US" b="1">
                <a:solidFill>
                  <a:schemeClr val="accent1"/>
                </a:solidFill>
              </a:rPr>
              <a:t>17%</a:t>
            </a:r>
            <a:endParaRPr lang="en-US">
              <a:solidFill>
                <a:schemeClr val="accent1"/>
              </a:solidFill>
              <a:cs typeface="Arial"/>
            </a:endParaRPr>
          </a:p>
          <a:p>
            <a:pPr lvl="0" algn="ctr">
              <a:defRPr/>
            </a:pPr>
            <a:r>
              <a:rPr lang="en-US" sz="1100">
                <a:solidFill>
                  <a:schemeClr val="tx1"/>
                </a:solidFill>
                <a:cs typeface="Arial"/>
              </a:rPr>
              <a:t>of DeVry Reddit posts discuss</a:t>
            </a:r>
            <a:r>
              <a:rPr lang="en-US" sz="1100">
                <a:solidFill>
                  <a:schemeClr val="tx1"/>
                </a:solidFill>
                <a:latin typeface="Poppins" pitchFamily="2" charset="77"/>
                <a:ea typeface="Calibri" pitchFamily="34" charset="-122"/>
                <a:cs typeface="Poppins" pitchFamily="2" charset="77"/>
              </a:rPr>
              <a:t> outcomes justifying cost</a:t>
            </a:r>
            <a:endParaRPr kumimoji="0" lang="en-US" sz="1100" b="0" i="0" u="none" strike="noStrike" kern="1200" cap="none" spc="0" normalizeH="0" baseline="0" noProof="0">
              <a:ln>
                <a:noFill/>
              </a:ln>
              <a:solidFill>
                <a:schemeClr val="tx1"/>
              </a:solidFill>
              <a:effectLst/>
              <a:uLnTx/>
              <a:uFillTx/>
              <a:latin typeface="Poppins" pitchFamily="2" charset="77"/>
              <a:ea typeface="Calibri" pitchFamily="34" charset="-122"/>
              <a:cs typeface="Poppins" pitchFamily="2" charset="77"/>
            </a:endParaRPr>
          </a:p>
        </p:txBody>
      </p:sp>
      <p:sp>
        <p:nvSpPr>
          <p:cNvPr id="38" name="TextBox 37">
            <a:extLst>
              <a:ext uri="{FF2B5EF4-FFF2-40B4-BE49-F238E27FC236}">
                <a16:creationId xmlns:a16="http://schemas.microsoft.com/office/drawing/2014/main" id="{786BE28E-5E4D-3385-E042-3499E667C206}"/>
              </a:ext>
            </a:extLst>
          </p:cNvPr>
          <p:cNvSpPr txBox="1"/>
          <p:nvPr/>
        </p:nvSpPr>
        <p:spPr>
          <a:xfrm>
            <a:off x="204587" y="6489366"/>
            <a:ext cx="6149340" cy="222625"/>
          </a:xfrm>
          <a:prstGeom prst="rect">
            <a:avLst/>
          </a:prstGeom>
          <a:noFill/>
        </p:spPr>
        <p:txBody>
          <a:bodyPr wrap="square">
            <a:spAutoFit/>
          </a:bodyPr>
          <a:lstStyle/>
          <a:p>
            <a:pPr defTabSz="914377">
              <a:lnSpc>
                <a:spcPct val="110000"/>
              </a:lnSpc>
              <a:spcAft>
                <a:spcPts val="1000"/>
              </a:spcAft>
              <a:defRPr/>
            </a:pPr>
            <a:r>
              <a:rPr kumimoji="0" lang="en-US" sz="800" b="0" i="0" u="none" strike="noStrike" kern="1200" cap="none" spc="0" normalizeH="0" baseline="0" noProof="0">
                <a:ln>
                  <a:noFill/>
                </a:ln>
                <a:solidFill>
                  <a:schemeClr val="tx1">
                    <a:lumMod val="50000"/>
                    <a:lumOff val="50000"/>
                  </a:schemeClr>
                </a:solidFill>
                <a:effectLst/>
                <a:uLnTx/>
                <a:uFillTx/>
                <a:latin typeface="+mn-lt"/>
                <a:ea typeface="+mn-ea"/>
                <a:cs typeface="+mn-cs"/>
                <a:hlinkClick r:id="rId9">
                  <a:extLst>
                    <a:ext uri="{A12FA001-AC4F-418D-AE19-62706E023703}">
                      <ahyp:hlinkClr xmlns:ahyp="http://schemas.microsoft.com/office/drawing/2018/hyperlinkcolor" val="tx"/>
                    </a:ext>
                  </a:extLst>
                </a:hlinkClick>
              </a:rPr>
              <a:t>*Source</a:t>
            </a:r>
            <a:r>
              <a:rPr kumimoji="0" lang="en-US" sz="800" b="0" i="0" u="none" strike="noStrike" kern="1200" cap="none" spc="0" normalizeH="0" baseline="0" noProof="0">
                <a:ln>
                  <a:noFill/>
                </a:ln>
                <a:solidFill>
                  <a:schemeClr val="tx1">
                    <a:lumMod val="50000"/>
                    <a:lumOff val="50000"/>
                  </a:schemeClr>
                </a:solidFill>
                <a:effectLst/>
                <a:uLnTx/>
                <a:uFillTx/>
                <a:latin typeface="+mn-lt"/>
                <a:ea typeface="+mn-ea"/>
                <a:cs typeface="+mn-cs"/>
              </a:rPr>
              <a:t>  </a:t>
            </a:r>
            <a:r>
              <a:rPr lang="en-US" sz="800">
                <a:solidFill>
                  <a:schemeClr val="tx1">
                    <a:lumMod val="50000"/>
                    <a:lumOff val="50000"/>
                  </a:schemeClr>
                </a:solidFill>
                <a:latin typeface="+mn-lt"/>
                <a:hlinkClick r:id="rId10">
                  <a:extLst>
                    <a:ext uri="{A12FA001-AC4F-418D-AE19-62706E023703}">
                      <ahyp:hlinkClr xmlns:ahyp="http://schemas.microsoft.com/office/drawing/2018/hyperlinkcolor" val="tx"/>
                    </a:ext>
                  </a:extLst>
                </a:hlinkClick>
              </a:rPr>
              <a:t>**Source</a:t>
            </a:r>
            <a:endParaRPr lang="en-US" sz="800">
              <a:latin typeface="+mn-lt"/>
            </a:endParaRPr>
          </a:p>
        </p:txBody>
      </p:sp>
      <p:sp>
        <p:nvSpPr>
          <p:cNvPr id="4" name="Oval 3">
            <a:extLst>
              <a:ext uri="{FF2B5EF4-FFF2-40B4-BE49-F238E27FC236}">
                <a16:creationId xmlns:a16="http://schemas.microsoft.com/office/drawing/2014/main" id="{A02124D9-4379-B154-91D7-24272313647B}"/>
              </a:ext>
            </a:extLst>
          </p:cNvPr>
          <p:cNvSpPr/>
          <p:nvPr/>
        </p:nvSpPr>
        <p:spPr>
          <a:xfrm>
            <a:off x="7210068" y="5591398"/>
            <a:ext cx="1212293" cy="1194215"/>
          </a:xfrm>
          <a:prstGeom prst="ellipse">
            <a:avLst/>
          </a:prstGeom>
          <a:solidFill>
            <a:schemeClr val="accent2"/>
          </a:solidFill>
          <a:ln w="38100">
            <a:solidFill>
              <a:schemeClr val="bg1"/>
            </a:solidFill>
          </a:ln>
          <a:effectLst>
            <a:outerShdw blurRad="63500" sx="102000" sy="102000" algn="ctr"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spcBef>
                <a:spcPts val="0"/>
              </a:spcBef>
              <a:defRPr/>
            </a:pPr>
            <a:r>
              <a:rPr lang="en-US" sz="800">
                <a:solidFill>
                  <a:schemeClr val="bg1"/>
                </a:solidFill>
                <a:cs typeface="Poppins"/>
              </a:rPr>
              <a:t>Affordability Page</a:t>
            </a:r>
          </a:p>
          <a:p>
            <a:pPr marL="0" marR="0" lvl="0" indent="0" algn="ctr" defTabSz="914400" rtl="0" eaLnBrk="0" fontAlgn="base" latinLnBrk="0" hangingPunct="0">
              <a:lnSpc>
                <a:spcPct val="80000"/>
              </a:lnSpc>
              <a:spcBef>
                <a:spcPts val="400"/>
              </a:spcBef>
              <a:spcAft>
                <a:spcPct val="0"/>
              </a:spcAft>
              <a:buClrTx/>
              <a:buSzTx/>
              <a:buFontTx/>
              <a:buNone/>
              <a:tabLst/>
              <a:defRPr/>
            </a:pPr>
            <a:r>
              <a:rPr lang="en-US" sz="1600" b="1">
                <a:solidFill>
                  <a:srgbClr val="FAE201"/>
                </a:solidFill>
                <a:latin typeface="Poppins"/>
              </a:rPr>
              <a:t>+44% CVR</a:t>
            </a:r>
          </a:p>
        </p:txBody>
      </p:sp>
    </p:spTree>
    <p:extLst>
      <p:ext uri="{BB962C8B-B14F-4D97-AF65-F5344CB8AC3E}">
        <p14:creationId xmlns:p14="http://schemas.microsoft.com/office/powerpoint/2010/main" val="1340562258"/>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4B900-E864-405A-9763-131E095A0420}"/>
            </a:ext>
          </a:extLst>
        </p:cNvPr>
        <p:cNvGrpSpPr/>
        <p:nvPr/>
      </p:nvGrpSpPr>
      <p:grpSpPr>
        <a:xfrm>
          <a:off x="0" y="0"/>
          <a:ext cx="0" cy="0"/>
          <a:chOff x="0" y="0"/>
          <a:chExt cx="0" cy="0"/>
        </a:xfrm>
      </p:grpSpPr>
      <p:sp>
        <p:nvSpPr>
          <p:cNvPr id="18" name="Title 1">
            <a:extLst>
              <a:ext uri="{FF2B5EF4-FFF2-40B4-BE49-F238E27FC236}">
                <a16:creationId xmlns:a16="http://schemas.microsoft.com/office/drawing/2014/main" id="{4364C38A-1B2C-FA4A-3C33-C9810F1B7DF2}"/>
              </a:ext>
            </a:extLst>
          </p:cNvPr>
          <p:cNvSpPr txBox="1">
            <a:spLocks/>
          </p:cNvSpPr>
          <p:nvPr/>
        </p:nvSpPr>
        <p:spPr>
          <a:xfrm>
            <a:off x="342901" y="628753"/>
            <a:ext cx="11629118" cy="1227999"/>
          </a:xfrm>
          <a:prstGeom prst="rect">
            <a:avLst/>
          </a:prstGeom>
        </p:spPr>
        <p:txBody>
          <a:bodyPr vert="horz" lIns="91440" tIns="45720" rIns="91440" bIns="45720" rtlCol="0" anchor="t">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lvl="0" algn="ctr" defTabSz="914369">
              <a:lnSpc>
                <a:spcPct val="95000"/>
              </a:lnSpc>
              <a:defRPr/>
            </a:pPr>
            <a:r>
              <a:rPr lang="en-US" sz="2800">
                <a:solidFill>
                  <a:schemeClr val="accent2"/>
                </a:solidFill>
                <a:latin typeface="+mj-lt"/>
              </a:rPr>
              <a:t>Optimization Opportunities: </a:t>
            </a:r>
          </a:p>
          <a:p>
            <a:pPr lvl="0" algn="ctr" defTabSz="914369">
              <a:lnSpc>
                <a:spcPct val="95000"/>
              </a:lnSpc>
              <a:defRPr/>
            </a:pPr>
            <a:r>
              <a:rPr lang="en-US" sz="2800">
                <a:solidFill>
                  <a:schemeClr val="accent2"/>
                </a:solidFill>
                <a:latin typeface="+mj-lt"/>
              </a:rPr>
              <a:t>New Modules Address User Concerns For High-Friction Decision</a:t>
            </a:r>
          </a:p>
        </p:txBody>
      </p:sp>
      <p:sp>
        <p:nvSpPr>
          <p:cNvPr id="3" name="Rectangle: Rounded Corners 2">
            <a:extLst>
              <a:ext uri="{FF2B5EF4-FFF2-40B4-BE49-F238E27FC236}">
                <a16:creationId xmlns:a16="http://schemas.microsoft.com/office/drawing/2014/main" id="{A1A79447-469D-CBDF-4A37-D72BCF5A4B9B}"/>
              </a:ext>
            </a:extLst>
          </p:cNvPr>
          <p:cNvSpPr/>
          <p:nvPr/>
        </p:nvSpPr>
        <p:spPr>
          <a:xfrm>
            <a:off x="-97573" y="178940"/>
            <a:ext cx="2364523" cy="305926"/>
          </a:xfrm>
          <a:prstGeom prst="roundRect">
            <a:avLst>
              <a:gd name="adj" fmla="val 50000"/>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wrap="none" lIns="91440" tIns="45720" rIns="91440" bIns="45720"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0" fontAlgn="base" latinLnBrk="0" hangingPunct="0">
              <a:lnSpc>
                <a:spcPct val="100000"/>
              </a:lnSpc>
              <a:spcBef>
                <a:spcPts val="0"/>
              </a:spcBef>
              <a:spcAft>
                <a:spcPts val="0"/>
              </a:spcAft>
              <a:buClrTx/>
              <a:buSzTx/>
              <a:buFontTx/>
              <a:buNone/>
              <a:tabLst/>
              <a:defRPr/>
            </a:pPr>
            <a:r>
              <a:rPr kumimoji="0" lang="en-US" sz="1000" i="0" strike="noStrike" kern="1200" cap="none" spc="0" normalizeH="0" baseline="0" noProof="0">
                <a:ln>
                  <a:noFill/>
                </a:ln>
                <a:solidFill>
                  <a:schemeClr val="tx1"/>
                </a:solidFill>
                <a:effectLst/>
                <a:uLnTx/>
                <a:uFillTx/>
                <a:latin typeface="Poppins SemiBold"/>
                <a:ea typeface="+mn-ea"/>
                <a:cs typeface="Poppins SemiBold"/>
              </a:rPr>
              <a:t>Value Propositions</a:t>
            </a:r>
            <a:r>
              <a:rPr kumimoji="0" lang="en-US" sz="1000" b="0" i="0" strike="noStrike" kern="1200" cap="none" spc="0" normalizeH="0" baseline="0" noProof="0">
                <a:ln>
                  <a:noFill/>
                </a:ln>
                <a:solidFill>
                  <a:schemeClr val="tx1"/>
                </a:solidFill>
                <a:effectLst/>
                <a:uLnTx/>
                <a:uFillTx/>
                <a:latin typeface="Poppins SemiBold"/>
                <a:ea typeface="+mn-ea"/>
                <a:cs typeface="Poppins SemiBold"/>
              </a:rPr>
              <a:t> &amp; Credibility</a:t>
            </a:r>
            <a:endParaRPr kumimoji="0" lang="en-US" sz="1800" b="0" i="0" strike="noStrike" kern="1200" cap="none" spc="0" normalizeH="0" baseline="0" noProof="0">
              <a:ln>
                <a:noFill/>
              </a:ln>
              <a:solidFill>
                <a:schemeClr val="tx1"/>
              </a:solidFill>
              <a:effectLst/>
              <a:uLnTx/>
              <a:uFillTx/>
              <a:latin typeface="Poppins"/>
              <a:ea typeface="+mn-ea"/>
              <a:cs typeface="+mn-cs"/>
            </a:endParaRPr>
          </a:p>
        </p:txBody>
      </p:sp>
      <p:sp>
        <p:nvSpPr>
          <p:cNvPr id="19" name="Rectangle: Rounded Corners 18">
            <a:extLst>
              <a:ext uri="{FF2B5EF4-FFF2-40B4-BE49-F238E27FC236}">
                <a16:creationId xmlns:a16="http://schemas.microsoft.com/office/drawing/2014/main" id="{9A0DD5B4-9E3D-1565-8D94-782640F176FD}"/>
              </a:ext>
            </a:extLst>
          </p:cNvPr>
          <p:cNvSpPr>
            <a:spLocks/>
          </p:cNvSpPr>
          <p:nvPr/>
        </p:nvSpPr>
        <p:spPr>
          <a:xfrm flipV="1">
            <a:off x="3436453" y="4340816"/>
            <a:ext cx="2560320" cy="2285220"/>
          </a:xfrm>
          <a:prstGeom prst="roundRect">
            <a:avLst>
              <a:gd name="adj" fmla="val 7970"/>
            </a:avLst>
          </a:prstGeom>
          <a:solidFill>
            <a:schemeClr val="accent4"/>
          </a:solidFill>
          <a:ln w="22225">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Rounded Corners 19">
            <a:extLst>
              <a:ext uri="{FF2B5EF4-FFF2-40B4-BE49-F238E27FC236}">
                <a16:creationId xmlns:a16="http://schemas.microsoft.com/office/drawing/2014/main" id="{736ECBE2-DB35-BDB6-FB5B-DAC8972A0F2C}"/>
              </a:ext>
            </a:extLst>
          </p:cNvPr>
          <p:cNvSpPr/>
          <p:nvPr/>
        </p:nvSpPr>
        <p:spPr>
          <a:xfrm flipV="1">
            <a:off x="6181082" y="4252912"/>
            <a:ext cx="2560320" cy="2373124"/>
          </a:xfrm>
          <a:prstGeom prst="roundRect">
            <a:avLst>
              <a:gd name="adj" fmla="val 7970"/>
            </a:avLst>
          </a:prstGeom>
          <a:solidFill>
            <a:schemeClr val="accent4"/>
          </a:solidFill>
          <a:ln w="22225">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Rounded Corners 20">
            <a:extLst>
              <a:ext uri="{FF2B5EF4-FFF2-40B4-BE49-F238E27FC236}">
                <a16:creationId xmlns:a16="http://schemas.microsoft.com/office/drawing/2014/main" id="{8581E511-8815-81CE-6BF2-BA48D7564FAA}"/>
              </a:ext>
            </a:extLst>
          </p:cNvPr>
          <p:cNvSpPr/>
          <p:nvPr/>
        </p:nvSpPr>
        <p:spPr>
          <a:xfrm flipV="1">
            <a:off x="8925710" y="4340815"/>
            <a:ext cx="2560320" cy="2285221"/>
          </a:xfrm>
          <a:prstGeom prst="roundRect">
            <a:avLst>
              <a:gd name="adj" fmla="val 7970"/>
            </a:avLst>
          </a:prstGeom>
          <a:solidFill>
            <a:schemeClr val="accent4"/>
          </a:solidFill>
          <a:ln w="22225">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6228A972-CBDC-0134-2B32-9FE2449CA964}"/>
              </a:ext>
            </a:extLst>
          </p:cNvPr>
          <p:cNvSpPr/>
          <p:nvPr/>
        </p:nvSpPr>
        <p:spPr>
          <a:xfrm>
            <a:off x="8961042" y="4496928"/>
            <a:ext cx="2478024" cy="1887824"/>
          </a:xfrm>
          <a:prstGeom prst="rect">
            <a:avLst/>
          </a:prstGeom>
        </p:spPr>
        <p:txBody>
          <a:bodyPr wrap="square" lIns="91440" tIns="45720" rIns="91440" bIns="45720" anchor="t">
            <a:spAutoFit/>
          </a:bodyPr>
          <a:lstStyle/>
          <a:p>
            <a:pPr marL="0" marR="0" lvl="0" indent="0" algn="ctr" defTabSz="914400" rtl="0" eaLnBrk="0" fontAlgn="base" latinLnBrk="0" hangingPunct="0">
              <a:lnSpc>
                <a:spcPct val="112000"/>
              </a:lnSpc>
              <a:spcBef>
                <a:spcPct val="0"/>
              </a:spcBef>
              <a:spcAft>
                <a:spcPts val="900"/>
              </a:spcAft>
              <a:buClrTx/>
              <a:buSzTx/>
              <a:buFontTx/>
              <a:buNone/>
              <a:tabLst/>
              <a:defRPr/>
            </a:pPr>
            <a:r>
              <a:rPr kumimoji="0" lang="en-US" sz="1400" b="0" i="0" u="none" strike="noStrike" kern="1200" cap="none" spc="0" normalizeH="0" baseline="0" noProof="0">
                <a:ln>
                  <a:noFill/>
                </a:ln>
                <a:solidFill>
                  <a:schemeClr val="accent1"/>
                </a:solidFill>
                <a:effectLst/>
                <a:uLnTx/>
                <a:uFillTx/>
                <a:latin typeface="Poppins SemiBold" panose="00000700000000000000" pitchFamily="2" charset="0"/>
                <a:ea typeface="Calibri"/>
                <a:cs typeface="Poppins SemiBold" panose="00000700000000000000" pitchFamily="2" charset="0"/>
              </a:rPr>
              <a:t>ONLINE RE-ASSURANCE</a:t>
            </a:r>
          </a:p>
          <a:p>
            <a:pPr marL="0" marR="0" lvl="0" indent="0" algn="ctr" defTabSz="914400" rtl="0" eaLnBrk="0" fontAlgn="base" latinLnBrk="0" hangingPunct="0">
              <a:lnSpc>
                <a:spcPct val="112000"/>
              </a:lnSpc>
              <a:spcBef>
                <a:spcPct val="0"/>
              </a:spcBef>
              <a:spcAft>
                <a:spcPts val="900"/>
              </a:spcAft>
              <a:buClrTx/>
              <a:buSzTx/>
              <a:buFontTx/>
              <a:buNone/>
              <a:tabLst/>
              <a:defRPr/>
            </a:pPr>
            <a:r>
              <a:rPr kumimoji="0" lang="en-GB" sz="1200" b="0" i="0" u="none" strike="noStrike" kern="1200" cap="none" spc="0" normalizeH="0" baseline="0" noProof="0">
                <a:ln>
                  <a:noFill/>
                </a:ln>
                <a:effectLst/>
                <a:uLnTx/>
                <a:uFillTx/>
                <a:latin typeface="Poppins"/>
                <a:ea typeface="Calibri"/>
                <a:cs typeface="Poppins"/>
              </a:rPr>
              <a:t>Busy students prioritize flexibility in how, where, and when they learn, making online delivery an important value proposition to reinforce—even if it doesn’t drive modality selection</a:t>
            </a:r>
            <a:endParaRPr kumimoji="0" lang="en-US" sz="1800" b="0" i="0" u="none" strike="noStrike" kern="1200" cap="none" spc="0" normalizeH="0" baseline="0" noProof="0">
              <a:ln>
                <a:noFill/>
              </a:ln>
              <a:effectLst/>
              <a:uLnTx/>
              <a:uFillTx/>
              <a:latin typeface="Calibri" panose="020F0502020204030204" pitchFamily="34" charset="0"/>
              <a:ea typeface="+mn-ea"/>
              <a:cs typeface="+mn-cs"/>
            </a:endParaRPr>
          </a:p>
        </p:txBody>
      </p:sp>
      <p:sp>
        <p:nvSpPr>
          <p:cNvPr id="23" name="Rectangle 22">
            <a:extLst>
              <a:ext uri="{FF2B5EF4-FFF2-40B4-BE49-F238E27FC236}">
                <a16:creationId xmlns:a16="http://schemas.microsoft.com/office/drawing/2014/main" id="{71F9DADA-E403-7850-A9E5-165F32411D6D}"/>
              </a:ext>
            </a:extLst>
          </p:cNvPr>
          <p:cNvSpPr/>
          <p:nvPr/>
        </p:nvSpPr>
        <p:spPr>
          <a:xfrm>
            <a:off x="3477601" y="4496928"/>
            <a:ext cx="2478024" cy="1888402"/>
          </a:xfrm>
          <a:prstGeom prst="rect">
            <a:avLst/>
          </a:prstGeom>
        </p:spPr>
        <p:txBody>
          <a:bodyPr wrap="square" lIns="91440" tIns="45720" rIns="91440" bIns="45720" anchor="t">
            <a:spAutoFit/>
          </a:bodyPr>
          <a:lstStyle/>
          <a:p>
            <a:pPr marL="0" marR="0" lvl="0" indent="0" algn="ctr" defTabSz="914400" rtl="0" eaLnBrk="0" fontAlgn="base" latinLnBrk="0" hangingPunct="0">
              <a:lnSpc>
                <a:spcPct val="112000"/>
              </a:lnSpc>
              <a:spcBef>
                <a:spcPct val="0"/>
              </a:spcBef>
              <a:spcAft>
                <a:spcPts val="900"/>
              </a:spcAft>
              <a:buClrTx/>
              <a:buSzTx/>
              <a:buFontTx/>
              <a:buNone/>
              <a:tabLst/>
              <a:defRPr/>
            </a:pPr>
            <a:r>
              <a:rPr kumimoji="0" lang="en-US" sz="1400" b="0" i="0" u="none" strike="noStrike" kern="1200" cap="none" spc="0" normalizeH="0" baseline="0" noProof="0">
                <a:ln>
                  <a:noFill/>
                </a:ln>
                <a:solidFill>
                  <a:schemeClr val="accent1"/>
                </a:solidFill>
                <a:effectLst/>
                <a:uLnTx/>
                <a:uFillTx/>
                <a:latin typeface="Poppins SemiBold"/>
                <a:ea typeface="Calibri"/>
                <a:cs typeface="Poppins SemiBold"/>
              </a:rPr>
              <a:t>COST + AID CLARITY</a:t>
            </a:r>
            <a:endParaRPr kumimoji="0" lang="en-US" sz="1800" b="0" i="0" u="none" strike="noStrike" kern="1200" cap="none" spc="0" normalizeH="0" baseline="0" noProof="0">
              <a:ln>
                <a:noFill/>
              </a:ln>
              <a:solidFill>
                <a:schemeClr val="accent1"/>
              </a:solidFill>
              <a:effectLst/>
              <a:uLnTx/>
              <a:uFillTx/>
              <a:latin typeface="Calibri" panose="020F0502020204030204" pitchFamily="34" charset="0"/>
              <a:ea typeface="+mn-ea"/>
              <a:cs typeface="+mn-cs"/>
            </a:endParaRPr>
          </a:p>
          <a:p>
            <a:pPr marL="0" marR="0" lvl="0" indent="0" algn="ctr" defTabSz="914400" rtl="0" eaLnBrk="0" fontAlgn="base" latinLnBrk="0" hangingPunct="0">
              <a:lnSpc>
                <a:spcPct val="112000"/>
              </a:lnSpc>
              <a:spcBef>
                <a:spcPct val="0"/>
              </a:spcBef>
              <a:spcAft>
                <a:spcPct val="0"/>
              </a:spcAft>
              <a:buClrTx/>
              <a:buSzTx/>
              <a:buFontTx/>
              <a:buNone/>
              <a:tabLst/>
              <a:defRPr/>
            </a:pPr>
            <a:r>
              <a:rPr kumimoji="0" lang="en-GB" sz="1200" b="0" i="0" u="none" strike="noStrike" kern="1200" cap="none" spc="0" normalizeH="0" baseline="0" noProof="0">
                <a:ln>
                  <a:noFill/>
                </a:ln>
                <a:effectLst/>
                <a:uLnTx/>
                <a:uFillTx/>
                <a:latin typeface="Poppins"/>
                <a:ea typeface="Calibri"/>
                <a:cs typeface="Poppins"/>
              </a:rPr>
              <a:t>Pricing clarity builds confidence in decision‑making; higher education is inherently expensive, and hiding costs doesn’t change what users already know</a:t>
            </a:r>
            <a:endParaRPr kumimoji="0" lang="en-US" sz="1200" b="0" i="0" u="none" strike="noStrike" kern="1200" cap="none" spc="0" normalizeH="0" baseline="0" noProof="0">
              <a:ln>
                <a:noFill/>
              </a:ln>
              <a:solidFill>
                <a:srgbClr val="FFFFFF"/>
              </a:solidFill>
              <a:effectLst/>
              <a:uLnTx/>
              <a:uFillTx/>
              <a:latin typeface="Poppins"/>
              <a:ea typeface="Calibri"/>
              <a:cs typeface="Poppins"/>
            </a:endParaRPr>
          </a:p>
        </p:txBody>
      </p:sp>
      <p:sp>
        <p:nvSpPr>
          <p:cNvPr id="24" name="Rectangle 23">
            <a:extLst>
              <a:ext uri="{FF2B5EF4-FFF2-40B4-BE49-F238E27FC236}">
                <a16:creationId xmlns:a16="http://schemas.microsoft.com/office/drawing/2014/main" id="{9FDC4F20-6A35-4045-050D-11DFA18B9D33}"/>
              </a:ext>
            </a:extLst>
          </p:cNvPr>
          <p:cNvSpPr/>
          <p:nvPr/>
        </p:nvSpPr>
        <p:spPr>
          <a:xfrm>
            <a:off x="6219006" y="4496928"/>
            <a:ext cx="2484472" cy="1267270"/>
          </a:xfrm>
          <a:prstGeom prst="rect">
            <a:avLst/>
          </a:prstGeom>
        </p:spPr>
        <p:txBody>
          <a:bodyPr wrap="square" lIns="91440" tIns="45720" rIns="91440" bIns="45720" anchor="t">
            <a:spAutoFit/>
          </a:bodyPr>
          <a:lstStyle/>
          <a:p>
            <a:pPr marL="0" marR="0" lvl="0" indent="0" algn="ctr" defTabSz="914400" rtl="0" eaLnBrk="0" fontAlgn="base" latinLnBrk="0" hangingPunct="0">
              <a:lnSpc>
                <a:spcPct val="112000"/>
              </a:lnSpc>
              <a:spcBef>
                <a:spcPct val="0"/>
              </a:spcBef>
              <a:spcAft>
                <a:spcPts val="900"/>
              </a:spcAft>
              <a:buClrTx/>
              <a:buSzTx/>
              <a:buFontTx/>
              <a:buNone/>
              <a:tabLst/>
              <a:defRPr/>
            </a:pPr>
            <a:r>
              <a:rPr kumimoji="0" lang="en-US" sz="1400" b="0" i="0" u="none" strike="noStrike" kern="1200" cap="none" spc="0" normalizeH="0" baseline="0" noProof="0">
                <a:ln>
                  <a:noFill/>
                </a:ln>
                <a:solidFill>
                  <a:schemeClr val="accent1"/>
                </a:solidFill>
                <a:effectLst/>
                <a:uLnTx/>
                <a:uFillTx/>
                <a:latin typeface="Poppins SemiBold" panose="00000700000000000000" pitchFamily="2" charset="0"/>
                <a:ea typeface="Calibri"/>
                <a:cs typeface="Poppins SemiBold" panose="00000700000000000000" pitchFamily="2" charset="0"/>
              </a:rPr>
              <a:t>STACKABLE PATHWAYS</a:t>
            </a:r>
          </a:p>
          <a:p>
            <a:pPr marL="0" marR="0" lvl="0" indent="0" algn="ctr" defTabSz="914400" rtl="0" eaLnBrk="0" fontAlgn="base" latinLnBrk="0" hangingPunct="0">
              <a:lnSpc>
                <a:spcPct val="112000"/>
              </a:lnSpc>
              <a:spcBef>
                <a:spcPct val="0"/>
              </a:spcBef>
              <a:spcAft>
                <a:spcPts val="900"/>
              </a:spcAft>
              <a:buClrTx/>
              <a:buSzTx/>
              <a:buFontTx/>
              <a:buNone/>
              <a:tabLst/>
              <a:defRPr/>
            </a:pPr>
            <a:r>
              <a:rPr kumimoji="0" lang="en-US" sz="1200" b="0" i="0" u="none" strike="noStrike" kern="1200" cap="none" spc="0" normalizeH="0" baseline="0" noProof="0">
                <a:ln>
                  <a:noFill/>
                </a:ln>
                <a:effectLst/>
                <a:uLnTx/>
                <a:uFillTx/>
                <a:latin typeface="Poppins"/>
                <a:ea typeface="Calibri"/>
                <a:cs typeface="Poppins"/>
              </a:rPr>
              <a:t>Stackable pathways mitigate commitment &amp; completion concerns and re-assure value as credits complete</a:t>
            </a:r>
            <a:endParaRPr kumimoji="0" lang="en-US" sz="1800" b="0" i="0" u="none" strike="noStrike" kern="1200" cap="none" spc="0" normalizeH="0" baseline="0" noProof="0">
              <a:ln>
                <a:noFill/>
              </a:ln>
              <a:effectLst/>
              <a:uLnTx/>
              <a:uFillTx/>
              <a:latin typeface="Calibri" panose="020F0502020204030204" pitchFamily="34" charset="0"/>
              <a:ea typeface="+mn-ea"/>
              <a:cs typeface="+mn-cs"/>
            </a:endParaRPr>
          </a:p>
        </p:txBody>
      </p:sp>
      <p:sp>
        <p:nvSpPr>
          <p:cNvPr id="25" name="Rectangle: Rounded Corners 24">
            <a:extLst>
              <a:ext uri="{FF2B5EF4-FFF2-40B4-BE49-F238E27FC236}">
                <a16:creationId xmlns:a16="http://schemas.microsoft.com/office/drawing/2014/main" id="{D126B96B-A788-2AC0-EEC4-69AEA4145A7D}"/>
              </a:ext>
            </a:extLst>
          </p:cNvPr>
          <p:cNvSpPr/>
          <p:nvPr/>
        </p:nvSpPr>
        <p:spPr>
          <a:xfrm flipV="1">
            <a:off x="691824" y="4340814"/>
            <a:ext cx="2560320" cy="2285220"/>
          </a:xfrm>
          <a:prstGeom prst="roundRect">
            <a:avLst>
              <a:gd name="adj" fmla="val 7970"/>
            </a:avLst>
          </a:prstGeom>
          <a:solidFill>
            <a:schemeClr val="accent4"/>
          </a:solidFill>
          <a:ln w="22225">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86BA26B1-D890-B3DB-76FF-417858E986BA}"/>
              </a:ext>
            </a:extLst>
          </p:cNvPr>
          <p:cNvSpPr/>
          <p:nvPr/>
        </p:nvSpPr>
        <p:spPr>
          <a:xfrm>
            <a:off x="729748" y="4496928"/>
            <a:ext cx="2484472" cy="1922257"/>
          </a:xfrm>
          <a:prstGeom prst="rect">
            <a:avLst/>
          </a:prstGeom>
        </p:spPr>
        <p:txBody>
          <a:bodyPr wrap="square" lIns="91440" tIns="45720" rIns="91440" bIns="45720" anchor="t">
            <a:spAutoFit/>
          </a:bodyPr>
          <a:lstStyle/>
          <a:p>
            <a:pPr marL="0" marR="0" lvl="0" indent="0" algn="ctr" defTabSz="914400" rtl="0" eaLnBrk="0" fontAlgn="base" latinLnBrk="0" hangingPunct="0">
              <a:lnSpc>
                <a:spcPct val="112000"/>
              </a:lnSpc>
              <a:spcBef>
                <a:spcPct val="0"/>
              </a:spcBef>
              <a:spcAft>
                <a:spcPts val="900"/>
              </a:spcAft>
              <a:buClrTx/>
              <a:buSzTx/>
              <a:buFontTx/>
              <a:buNone/>
              <a:tabLst/>
              <a:defRPr/>
            </a:pPr>
            <a:r>
              <a:rPr kumimoji="0" lang="en-US" sz="1400" b="0" i="0" u="none" strike="noStrike" kern="1200" cap="none" spc="0" normalizeH="0" baseline="0" noProof="0">
                <a:ln>
                  <a:noFill/>
                </a:ln>
                <a:solidFill>
                  <a:schemeClr val="accent1"/>
                </a:solidFill>
                <a:effectLst/>
                <a:uLnTx/>
                <a:uFillTx/>
                <a:latin typeface="Poppins SemiBold"/>
                <a:ea typeface="Calibri"/>
                <a:cs typeface="Poppins SemiBold"/>
              </a:rPr>
              <a:t>CAREER OUTCOMES SNAPSHOT</a:t>
            </a:r>
            <a:endParaRPr kumimoji="0" lang="en-US" sz="1800" b="0" i="0" u="none" strike="noStrike" kern="1200" cap="none" spc="0" normalizeH="0" baseline="0" noProof="0">
              <a:ln>
                <a:noFill/>
              </a:ln>
              <a:solidFill>
                <a:schemeClr val="accent1"/>
              </a:solidFill>
              <a:effectLst/>
              <a:uLnTx/>
              <a:uFillTx/>
              <a:latin typeface="Calibri" panose="020F0502020204030204" pitchFamily="34" charset="0"/>
              <a:ea typeface="+mn-ea"/>
              <a:cs typeface="+mn-cs"/>
            </a:endParaRPr>
          </a:p>
          <a:p>
            <a:pPr marL="0" marR="0" lvl="0" indent="0" algn="ctr" defTabSz="914400" rtl="0" eaLnBrk="0" fontAlgn="base" latinLnBrk="0" hangingPunct="0">
              <a:lnSpc>
                <a:spcPct val="112000"/>
              </a:lnSpc>
              <a:spcBef>
                <a:spcPct val="0"/>
              </a:spcBef>
              <a:spcAft>
                <a:spcPts val="900"/>
              </a:spcAft>
              <a:buClrTx/>
              <a:buSzTx/>
              <a:buFontTx/>
              <a:buNone/>
              <a:tabLst/>
              <a:defRPr/>
            </a:pPr>
            <a:r>
              <a:rPr kumimoji="0" lang="en-GB" sz="1200" b="0" i="0" u="none" strike="noStrike" kern="1200" cap="none" spc="0" normalizeH="0" baseline="0" noProof="0">
                <a:ln>
                  <a:noFill/>
                </a:ln>
                <a:effectLst/>
                <a:uLnTx/>
                <a:uFillTx/>
                <a:latin typeface="Poppins"/>
                <a:ea typeface="Calibri"/>
                <a:cs typeface="Poppins"/>
              </a:rPr>
              <a:t>Career outcomes signal meaningful value aligned to user goals, making specific DeVry skills and outcomes more compelling than institutional attributes alone</a:t>
            </a:r>
            <a:endParaRPr kumimoji="0" lang="en-US" sz="1800" b="0" i="0" u="none" strike="noStrike" kern="1200" cap="none" spc="0" normalizeH="0" baseline="0" noProof="0">
              <a:ln>
                <a:noFill/>
              </a:ln>
              <a:effectLst/>
              <a:uLnTx/>
              <a:uFillTx/>
              <a:latin typeface="Calibri" panose="020F0502020204030204" pitchFamily="34" charset="0"/>
              <a:ea typeface="+mn-ea"/>
              <a:cs typeface="+mn-cs"/>
            </a:endParaRPr>
          </a:p>
        </p:txBody>
      </p:sp>
      <p:pic>
        <p:nvPicPr>
          <p:cNvPr id="27" name="Picture 26">
            <a:extLst>
              <a:ext uri="{FF2B5EF4-FFF2-40B4-BE49-F238E27FC236}">
                <a16:creationId xmlns:a16="http://schemas.microsoft.com/office/drawing/2014/main" id="{20130650-DA84-10C2-41FA-70F4BACE76DC}"/>
              </a:ext>
            </a:extLst>
          </p:cNvPr>
          <p:cNvPicPr>
            <a:picLocks/>
          </p:cNvPicPr>
          <p:nvPr/>
        </p:nvPicPr>
        <p:blipFill>
          <a:blip r:embed="rId3"/>
          <a:srcRect t="292" b="292"/>
          <a:stretch/>
        </p:blipFill>
        <p:spPr>
          <a:xfrm>
            <a:off x="691824" y="1791686"/>
            <a:ext cx="2562925" cy="2647605"/>
          </a:xfrm>
          <a:prstGeom prst="round2SameRect">
            <a:avLst>
              <a:gd name="adj1" fmla="val 8679"/>
              <a:gd name="adj2" fmla="val 0"/>
            </a:avLst>
          </a:prstGeom>
          <a:ln w="12700">
            <a:solidFill>
              <a:schemeClr val="accent4"/>
            </a:solidFill>
          </a:ln>
        </p:spPr>
      </p:pic>
      <p:pic>
        <p:nvPicPr>
          <p:cNvPr id="28" name="Picture 27">
            <a:extLst>
              <a:ext uri="{FF2B5EF4-FFF2-40B4-BE49-F238E27FC236}">
                <a16:creationId xmlns:a16="http://schemas.microsoft.com/office/drawing/2014/main" id="{97B2FF90-91B7-2194-8611-85DE2DD3DCDD}"/>
              </a:ext>
            </a:extLst>
          </p:cNvPr>
          <p:cNvPicPr>
            <a:picLocks/>
          </p:cNvPicPr>
          <p:nvPr/>
        </p:nvPicPr>
        <p:blipFill>
          <a:blip r:embed="rId4"/>
          <a:srcRect l="7465" r="7465" b="2279"/>
          <a:stretch>
            <a:fillRect/>
          </a:stretch>
        </p:blipFill>
        <p:spPr>
          <a:xfrm>
            <a:off x="6188155" y="1791686"/>
            <a:ext cx="2560320" cy="2647605"/>
          </a:xfrm>
          <a:prstGeom prst="round2SameRect">
            <a:avLst>
              <a:gd name="adj1" fmla="val 8679"/>
              <a:gd name="adj2" fmla="val 0"/>
            </a:avLst>
          </a:prstGeom>
          <a:ln w="12700">
            <a:solidFill>
              <a:schemeClr val="accent4"/>
            </a:solidFill>
          </a:ln>
        </p:spPr>
      </p:pic>
      <p:pic>
        <p:nvPicPr>
          <p:cNvPr id="29" name="Picture 28">
            <a:extLst>
              <a:ext uri="{FF2B5EF4-FFF2-40B4-BE49-F238E27FC236}">
                <a16:creationId xmlns:a16="http://schemas.microsoft.com/office/drawing/2014/main" id="{70364E27-FA8A-A72A-A032-3BFFEAAFC27E}"/>
              </a:ext>
            </a:extLst>
          </p:cNvPr>
          <p:cNvPicPr>
            <a:picLocks/>
          </p:cNvPicPr>
          <p:nvPr/>
        </p:nvPicPr>
        <p:blipFill>
          <a:blip r:embed="rId5"/>
          <a:srcRect t="1455" b="1455"/>
          <a:stretch/>
        </p:blipFill>
        <p:spPr>
          <a:xfrm>
            <a:off x="8932783" y="1791686"/>
            <a:ext cx="2567394" cy="2644722"/>
          </a:xfrm>
          <a:prstGeom prst="round2SameRect">
            <a:avLst>
              <a:gd name="adj1" fmla="val 8679"/>
              <a:gd name="adj2" fmla="val 0"/>
            </a:avLst>
          </a:prstGeom>
          <a:ln w="12700">
            <a:solidFill>
              <a:schemeClr val="accent4"/>
            </a:solidFill>
          </a:ln>
        </p:spPr>
      </p:pic>
      <p:pic>
        <p:nvPicPr>
          <p:cNvPr id="30" name="Picture 29">
            <a:extLst>
              <a:ext uri="{FF2B5EF4-FFF2-40B4-BE49-F238E27FC236}">
                <a16:creationId xmlns:a16="http://schemas.microsoft.com/office/drawing/2014/main" id="{508AC8D0-A6DF-1A7D-1778-FB26C02E4CA9}"/>
              </a:ext>
            </a:extLst>
          </p:cNvPr>
          <p:cNvPicPr>
            <a:picLocks/>
          </p:cNvPicPr>
          <p:nvPr/>
        </p:nvPicPr>
        <p:blipFill>
          <a:blip r:embed="rId6"/>
          <a:srcRect l="2751" r="2751"/>
          <a:stretch/>
        </p:blipFill>
        <p:spPr>
          <a:xfrm>
            <a:off x="3436453" y="1791686"/>
            <a:ext cx="2567394" cy="2647605"/>
          </a:xfrm>
          <a:prstGeom prst="round2SameRect">
            <a:avLst>
              <a:gd name="adj1" fmla="val 8679"/>
              <a:gd name="adj2" fmla="val 0"/>
            </a:avLst>
          </a:prstGeom>
          <a:ln w="12700">
            <a:solidFill>
              <a:schemeClr val="accent4"/>
            </a:solidFill>
          </a:ln>
        </p:spPr>
      </p:pic>
      <p:pic>
        <p:nvPicPr>
          <p:cNvPr id="5" name="Picture 4">
            <a:extLst>
              <a:ext uri="{FF2B5EF4-FFF2-40B4-BE49-F238E27FC236}">
                <a16:creationId xmlns:a16="http://schemas.microsoft.com/office/drawing/2014/main" id="{FABB616A-5DF2-CDFB-8711-E3217B7EC8CA}"/>
              </a:ext>
            </a:extLst>
          </p:cNvPr>
          <p:cNvPicPr>
            <a:picLocks noChangeAspect="1"/>
          </p:cNvPicPr>
          <p:nvPr/>
        </p:nvPicPr>
        <p:blipFill>
          <a:blip r:embed="rId7"/>
          <a:stretch>
            <a:fillRect/>
          </a:stretch>
        </p:blipFill>
        <p:spPr>
          <a:xfrm>
            <a:off x="3512371" y="2718590"/>
            <a:ext cx="1318483" cy="122799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453041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489CA-E191-87E5-3CA8-6BBF6977B1C3}"/>
            </a:ext>
          </a:extLst>
        </p:cNvPr>
        <p:cNvGrpSpPr/>
        <p:nvPr/>
      </p:nvGrpSpPr>
      <p:grpSpPr>
        <a:xfrm>
          <a:off x="0" y="0"/>
          <a:ext cx="0" cy="0"/>
          <a:chOff x="0" y="0"/>
          <a:chExt cx="0" cy="0"/>
        </a:xfrm>
      </p:grpSpPr>
      <p:sp>
        <p:nvSpPr>
          <p:cNvPr id="7" name="Shape 2">
            <a:extLst>
              <a:ext uri="{FF2B5EF4-FFF2-40B4-BE49-F238E27FC236}">
                <a16:creationId xmlns:a16="http://schemas.microsoft.com/office/drawing/2014/main" id="{4D764551-77FC-759A-B593-3C586A9F8234}"/>
              </a:ext>
            </a:extLst>
          </p:cNvPr>
          <p:cNvSpPr/>
          <p:nvPr/>
        </p:nvSpPr>
        <p:spPr>
          <a:xfrm>
            <a:off x="4402455" y="2007108"/>
            <a:ext cx="3413760" cy="4389120"/>
          </a:xfrm>
          <a:prstGeom prst="roundRect">
            <a:avLst/>
          </a:prstGeom>
          <a:solidFill>
            <a:srgbClr val="FFFFFF"/>
          </a:solidFill>
          <a:ln>
            <a:solidFill>
              <a:srgbClr val="002855"/>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Poppins"/>
              <a:ea typeface="+mn-ea"/>
              <a:cs typeface="+mn-cs"/>
            </a:endParaRPr>
          </a:p>
        </p:txBody>
      </p:sp>
      <p:sp>
        <p:nvSpPr>
          <p:cNvPr id="11" name="Shape 3">
            <a:extLst>
              <a:ext uri="{FF2B5EF4-FFF2-40B4-BE49-F238E27FC236}">
                <a16:creationId xmlns:a16="http://schemas.microsoft.com/office/drawing/2014/main" id="{A400F7FE-E91D-B29D-BDD7-9EFB189A9E7B}"/>
              </a:ext>
            </a:extLst>
          </p:cNvPr>
          <p:cNvSpPr/>
          <p:nvPr/>
        </p:nvSpPr>
        <p:spPr>
          <a:xfrm>
            <a:off x="4402455" y="2007108"/>
            <a:ext cx="3413760" cy="936602"/>
          </a:xfrm>
          <a:prstGeom prst="roundRect">
            <a:avLst/>
          </a:prstGeom>
          <a:solidFill>
            <a:schemeClr val="accent2"/>
          </a:solidFill>
          <a:ln w="38100">
            <a:solidFill>
              <a:schemeClr val="bg1"/>
            </a:solidFill>
          </a:ln>
          <a:effectLst>
            <a:outerShdw blurRad="63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endParaRPr>
          </a:p>
        </p:txBody>
      </p:sp>
      <p:sp>
        <p:nvSpPr>
          <p:cNvPr id="16" name="Text 5">
            <a:extLst>
              <a:ext uri="{FF2B5EF4-FFF2-40B4-BE49-F238E27FC236}">
                <a16:creationId xmlns:a16="http://schemas.microsoft.com/office/drawing/2014/main" id="{D9A82CBA-3F30-B17D-A8A8-1EE78BCC99EC}"/>
              </a:ext>
            </a:extLst>
          </p:cNvPr>
          <p:cNvSpPr/>
          <p:nvPr/>
        </p:nvSpPr>
        <p:spPr>
          <a:xfrm>
            <a:off x="5135480" y="2210548"/>
            <a:ext cx="2436895" cy="548640"/>
          </a:xfrm>
          <a:prstGeom prst="rect">
            <a:avLst/>
          </a:prstGeom>
          <a:noFill/>
          <a:ln/>
        </p:spPr>
        <p:txBody>
          <a:bodyPr wrap="square" lIns="0" tIns="0" rIns="0" bIns="0" rtlCol="0" anchor="ctr"/>
          <a:lstStyle/>
          <a:p>
            <a:pPr lvl="0" eaLnBrk="1" fontAlgn="auto" hangingPunct="1">
              <a:spcBef>
                <a:spcPts val="0"/>
              </a:spcBef>
              <a:spcAft>
                <a:spcPts val="0"/>
              </a:spcAft>
              <a:defRPr/>
            </a:pPr>
            <a:r>
              <a:rPr lang="en-US" sz="1600" b="1" kern="0">
                <a:solidFill>
                  <a:schemeClr val="bg1"/>
                </a:solidFill>
                <a:latin typeface="Poppins SemiBold"/>
                <a:cs typeface="Poppins"/>
              </a:rPr>
              <a:t>Unknown Enrollment Dates</a:t>
            </a:r>
            <a:endParaRPr kumimoji="0" lang="en-US" sz="1600" b="0" i="0" u="none" strike="noStrike" kern="1200" cap="none" spc="0" normalizeH="0" baseline="0" noProof="0">
              <a:ln>
                <a:noFill/>
              </a:ln>
              <a:solidFill>
                <a:schemeClr val="bg1"/>
              </a:solidFill>
              <a:effectLst/>
              <a:uLnTx/>
              <a:uFillTx/>
              <a:latin typeface="Poppins SemiBold"/>
              <a:ea typeface="+mn-ea"/>
              <a:cs typeface="Poppins SemiBold"/>
            </a:endParaRPr>
          </a:p>
        </p:txBody>
      </p:sp>
      <p:sp>
        <p:nvSpPr>
          <p:cNvPr id="22" name="Text 7">
            <a:extLst>
              <a:ext uri="{FF2B5EF4-FFF2-40B4-BE49-F238E27FC236}">
                <a16:creationId xmlns:a16="http://schemas.microsoft.com/office/drawing/2014/main" id="{0D8D65FE-AAAC-7742-B56D-ABE089CE947B}"/>
              </a:ext>
            </a:extLst>
          </p:cNvPr>
          <p:cNvSpPr/>
          <p:nvPr/>
        </p:nvSpPr>
        <p:spPr>
          <a:xfrm>
            <a:off x="4632960" y="2900039"/>
            <a:ext cx="2926080" cy="1194215"/>
          </a:xfrm>
          <a:prstGeom prst="rect">
            <a:avLst/>
          </a:prstGeom>
          <a:noFill/>
          <a:ln/>
        </p:spPr>
        <p:txBody>
          <a:bodyPr wrap="square" lIns="0" tIns="0" rIns="0" bIns="0" rtlCol="0" anchor="ctr"/>
          <a:lstStyle/>
          <a:p>
            <a:pPr lvl="0" algn="ctr" eaLnBrk="1" fontAlgn="auto" hangingPunct="1">
              <a:spcBef>
                <a:spcPts val="0"/>
              </a:spcBef>
              <a:spcAft>
                <a:spcPts val="0"/>
              </a:spcAft>
              <a:defRPr/>
            </a:pPr>
            <a:r>
              <a:rPr lang="en-US" sz="1200" kern="0">
                <a:solidFill>
                  <a:srgbClr val="000000"/>
                </a:solidFill>
                <a:latin typeface="Poppins"/>
                <a:cs typeface="Poppins"/>
              </a:rPr>
              <a:t>“Every 8 weeks” allows delay while enrollment dates create urgency with deadlines</a:t>
            </a:r>
            <a:endParaRPr kumimoji="0" lang="en-US" sz="1200" b="0" i="0" u="none" strike="noStrike" kern="1200" cap="none" spc="0" normalizeH="0" baseline="0" noProof="0">
              <a:ln>
                <a:noFill/>
              </a:ln>
              <a:solidFill>
                <a:srgbClr val="000000"/>
              </a:solidFill>
              <a:effectLst/>
              <a:uLnTx/>
              <a:uFillTx/>
              <a:latin typeface="+mn-lt"/>
              <a:ea typeface="Calibri"/>
              <a:cs typeface="Poppins"/>
            </a:endParaRPr>
          </a:p>
        </p:txBody>
      </p:sp>
      <p:sp>
        <p:nvSpPr>
          <p:cNvPr id="23" name="Shape 8">
            <a:extLst>
              <a:ext uri="{FF2B5EF4-FFF2-40B4-BE49-F238E27FC236}">
                <a16:creationId xmlns:a16="http://schemas.microsoft.com/office/drawing/2014/main" id="{2941FFC9-C8D1-8C68-2F6A-DBCC67F1034F}"/>
              </a:ext>
            </a:extLst>
          </p:cNvPr>
          <p:cNvSpPr>
            <a:spLocks noGrp="1" noRot="1" noMove="1" noResize="1" noEditPoints="1" noAdjustHandles="1" noChangeArrowheads="1" noChangeShapeType="1"/>
          </p:cNvSpPr>
          <p:nvPr/>
        </p:nvSpPr>
        <p:spPr>
          <a:xfrm>
            <a:off x="8060055" y="2007108"/>
            <a:ext cx="3413760" cy="4389120"/>
          </a:xfrm>
          <a:prstGeom prst="roundRect">
            <a:avLst/>
          </a:prstGeom>
          <a:solidFill>
            <a:srgbClr val="FFFFFF"/>
          </a:solidFill>
          <a:ln>
            <a:solidFill>
              <a:srgbClr val="1A7CBA"/>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Poppins"/>
              <a:ea typeface="+mn-ea"/>
              <a:cs typeface="+mn-cs"/>
            </a:endParaRPr>
          </a:p>
        </p:txBody>
      </p:sp>
      <p:sp>
        <p:nvSpPr>
          <p:cNvPr id="25" name="Shape 9">
            <a:extLst>
              <a:ext uri="{FF2B5EF4-FFF2-40B4-BE49-F238E27FC236}">
                <a16:creationId xmlns:a16="http://schemas.microsoft.com/office/drawing/2014/main" id="{CAA018E3-9866-ECDB-628F-BAD2758C1638}"/>
              </a:ext>
            </a:extLst>
          </p:cNvPr>
          <p:cNvSpPr/>
          <p:nvPr/>
        </p:nvSpPr>
        <p:spPr>
          <a:xfrm>
            <a:off x="8060055" y="2007108"/>
            <a:ext cx="3413760" cy="936602"/>
          </a:xfrm>
          <a:prstGeom prst="roundRect">
            <a:avLst/>
          </a:prstGeom>
          <a:solidFill>
            <a:schemeClr val="accent2"/>
          </a:solidFill>
          <a:ln w="38100">
            <a:solidFill>
              <a:schemeClr val="bg1"/>
            </a:solidFill>
          </a:ln>
          <a:effectLst>
            <a:outerShdw blurRad="63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endParaRPr>
          </a:p>
        </p:txBody>
      </p:sp>
      <p:sp>
        <p:nvSpPr>
          <p:cNvPr id="27" name="Text 11">
            <a:extLst>
              <a:ext uri="{FF2B5EF4-FFF2-40B4-BE49-F238E27FC236}">
                <a16:creationId xmlns:a16="http://schemas.microsoft.com/office/drawing/2014/main" id="{F32E99CA-036E-F22A-5829-C8DCCBAF0D46}"/>
              </a:ext>
            </a:extLst>
          </p:cNvPr>
          <p:cNvSpPr/>
          <p:nvPr/>
        </p:nvSpPr>
        <p:spPr>
          <a:xfrm>
            <a:off x="8783248" y="2197278"/>
            <a:ext cx="2592675" cy="548640"/>
          </a:xfrm>
          <a:prstGeom prst="rect">
            <a:avLst/>
          </a:prstGeom>
          <a:noFill/>
          <a:ln/>
        </p:spPr>
        <p:txBody>
          <a:bodyPr wrap="square" lIns="0" tIns="0" rIns="0" bIns="0" rtlCol="0" anchor="ctr"/>
          <a:lstStyle/>
          <a:p>
            <a:pPr lvl="0" eaLnBrk="1" fontAlgn="auto" hangingPunct="1">
              <a:spcBef>
                <a:spcPts val="0"/>
              </a:spcBef>
              <a:spcAft>
                <a:spcPts val="0"/>
              </a:spcAft>
              <a:defRPr/>
            </a:pPr>
            <a:r>
              <a:rPr lang="en-US" sz="1600" b="1" kern="0">
                <a:solidFill>
                  <a:schemeClr val="bg1"/>
                </a:solidFill>
                <a:latin typeface="Poppins SemiBold"/>
                <a:cs typeface="Poppins"/>
              </a:rPr>
              <a:t>Difficult Form UX</a:t>
            </a:r>
            <a:endParaRPr kumimoji="0" lang="en-US" sz="1600" b="1" i="0" u="none" strike="noStrike" kern="1200" cap="none" spc="0" normalizeH="0" baseline="0" noProof="0">
              <a:ln>
                <a:noFill/>
              </a:ln>
              <a:solidFill>
                <a:schemeClr val="bg1"/>
              </a:solidFill>
              <a:effectLst/>
              <a:uLnTx/>
              <a:uFillTx/>
              <a:latin typeface="Poppins SemiBold"/>
              <a:ea typeface="+mn-ea"/>
              <a:cs typeface="Poppins SemiBold"/>
            </a:endParaRPr>
          </a:p>
        </p:txBody>
      </p:sp>
      <p:sp>
        <p:nvSpPr>
          <p:cNvPr id="29" name="Text 13">
            <a:extLst>
              <a:ext uri="{FF2B5EF4-FFF2-40B4-BE49-F238E27FC236}">
                <a16:creationId xmlns:a16="http://schemas.microsoft.com/office/drawing/2014/main" id="{A2DA9D2A-3769-73CA-DD08-F504A8E97490}"/>
              </a:ext>
            </a:extLst>
          </p:cNvPr>
          <p:cNvSpPr/>
          <p:nvPr/>
        </p:nvSpPr>
        <p:spPr>
          <a:xfrm>
            <a:off x="8303895" y="2944151"/>
            <a:ext cx="2926080" cy="1105991"/>
          </a:xfrm>
          <a:prstGeom prst="rect">
            <a:avLst/>
          </a:prstGeom>
          <a:noFill/>
          <a:ln/>
        </p:spPr>
        <p:txBody>
          <a:bodyPr wrap="square" lIns="0" tIns="0" rIns="0" bIns="0" rtlCol="0" anchor="ctr"/>
          <a:lstStyle/>
          <a:p>
            <a:pPr lvl="0" algn="ctr" eaLnBrk="1" fontAlgn="auto" hangingPunct="1">
              <a:spcBef>
                <a:spcPts val="0"/>
              </a:spcBef>
              <a:spcAft>
                <a:spcPts val="0"/>
              </a:spcAft>
              <a:defRPr/>
            </a:pPr>
            <a:r>
              <a:rPr lang="en-GB" sz="1200" kern="0">
                <a:latin typeface="Poppins"/>
                <a:cs typeface="Poppins"/>
              </a:rPr>
              <a:t>Competitors streamline selection with pre‑filtered, searchable dropdowns and focus on users’ desired degrees rather than past education</a:t>
            </a:r>
            <a:endParaRPr kumimoji="0" lang="en-US" sz="1200" b="0" i="0" u="none" strike="noStrike" kern="1200" cap="none" spc="0" normalizeH="0" baseline="0" noProof="0">
              <a:ln>
                <a:noFill/>
              </a:ln>
              <a:solidFill>
                <a:srgbClr val="3A4A5A"/>
              </a:solidFill>
              <a:effectLst/>
              <a:uLnTx/>
              <a:uFillTx/>
              <a:latin typeface="+mn-lt"/>
              <a:ea typeface="Calibri"/>
              <a:cs typeface="Poppins"/>
            </a:endParaRPr>
          </a:p>
        </p:txBody>
      </p:sp>
      <p:sp>
        <p:nvSpPr>
          <p:cNvPr id="30" name="Shape 14">
            <a:extLst>
              <a:ext uri="{FF2B5EF4-FFF2-40B4-BE49-F238E27FC236}">
                <a16:creationId xmlns:a16="http://schemas.microsoft.com/office/drawing/2014/main" id="{3148497F-781A-2B16-12BE-E5821B548F0F}"/>
              </a:ext>
            </a:extLst>
          </p:cNvPr>
          <p:cNvSpPr>
            <a:spLocks noGrp="1" noRot="1" noMove="1" noResize="1" noEditPoints="1" noAdjustHandles="1" noChangeArrowheads="1" noChangeShapeType="1"/>
          </p:cNvSpPr>
          <p:nvPr/>
        </p:nvSpPr>
        <p:spPr>
          <a:xfrm>
            <a:off x="726040" y="2007108"/>
            <a:ext cx="3413760" cy="4389120"/>
          </a:xfrm>
          <a:prstGeom prst="roundRect">
            <a:avLst/>
          </a:prstGeom>
          <a:solidFill>
            <a:srgbClr val="FFFFFF"/>
          </a:solidFill>
          <a:ln>
            <a:solidFill>
              <a:schemeClr val="accent2"/>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Poppins"/>
              <a:ea typeface="+mn-ea"/>
              <a:cs typeface="+mn-cs"/>
            </a:endParaRPr>
          </a:p>
        </p:txBody>
      </p:sp>
      <p:sp>
        <p:nvSpPr>
          <p:cNvPr id="31" name="Shape 15">
            <a:extLst>
              <a:ext uri="{FF2B5EF4-FFF2-40B4-BE49-F238E27FC236}">
                <a16:creationId xmlns:a16="http://schemas.microsoft.com/office/drawing/2014/main" id="{5617BE1E-8FF2-1CBB-AF39-D3255F26F66A}"/>
              </a:ext>
            </a:extLst>
          </p:cNvPr>
          <p:cNvSpPr/>
          <p:nvPr/>
        </p:nvSpPr>
        <p:spPr>
          <a:xfrm>
            <a:off x="726040" y="2007108"/>
            <a:ext cx="3413760" cy="936602"/>
          </a:xfrm>
          <a:prstGeom prst="roundRect">
            <a:avLst/>
          </a:prstGeom>
          <a:solidFill>
            <a:schemeClr val="accent2"/>
          </a:solidFill>
          <a:ln w="38100">
            <a:solidFill>
              <a:schemeClr val="bg1"/>
            </a:solidFill>
          </a:ln>
          <a:effectLst>
            <a:outerShdw blurRad="63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endParaRPr>
          </a:p>
        </p:txBody>
      </p:sp>
      <p:sp>
        <p:nvSpPr>
          <p:cNvPr id="33" name="Text 17">
            <a:extLst>
              <a:ext uri="{FF2B5EF4-FFF2-40B4-BE49-F238E27FC236}">
                <a16:creationId xmlns:a16="http://schemas.microsoft.com/office/drawing/2014/main" id="{3C9AE79A-3A2E-410F-30FF-E198FC65498F}"/>
              </a:ext>
            </a:extLst>
          </p:cNvPr>
          <p:cNvSpPr/>
          <p:nvPr/>
        </p:nvSpPr>
        <p:spPr>
          <a:xfrm>
            <a:off x="1468473" y="2205754"/>
            <a:ext cx="2446302" cy="548640"/>
          </a:xfrm>
          <a:prstGeom prst="rect">
            <a:avLst/>
          </a:prstGeom>
          <a:noFill/>
          <a:ln/>
        </p:spPr>
        <p:txBody>
          <a:bodyPr wrap="square" lIns="0" tIns="0" rIns="0" bIns="0" rtlCol="0" anchor="ctr"/>
          <a:lstStyle/>
          <a:p>
            <a:pPr lvl="0" eaLnBrk="1" fontAlgn="auto" hangingPunct="1">
              <a:spcBef>
                <a:spcPts val="0"/>
              </a:spcBef>
              <a:spcAft>
                <a:spcPts val="0"/>
              </a:spcAft>
              <a:defRPr/>
            </a:pPr>
            <a:r>
              <a:rPr lang="en-US" sz="1600" b="1" kern="0">
                <a:solidFill>
                  <a:schemeClr val="bg1"/>
                </a:solidFill>
                <a:latin typeface="Poppins SemiBold"/>
                <a:cs typeface="Poppins"/>
              </a:rPr>
              <a:t>Massive Mobile Form</a:t>
            </a:r>
            <a:endParaRPr kumimoji="0" lang="en-US" sz="1600" b="1" i="0" u="none" strike="noStrike" kern="1200" cap="none" spc="0" normalizeH="0" baseline="0" noProof="0">
              <a:ln>
                <a:noFill/>
              </a:ln>
              <a:solidFill>
                <a:schemeClr val="bg1"/>
              </a:solidFill>
              <a:effectLst/>
              <a:uLnTx/>
              <a:uFillTx/>
              <a:latin typeface="Poppins SemiBold"/>
              <a:ea typeface="+mn-ea"/>
              <a:cs typeface="Poppins SemiBold"/>
            </a:endParaRPr>
          </a:p>
        </p:txBody>
      </p:sp>
      <p:sp>
        <p:nvSpPr>
          <p:cNvPr id="35" name="Text 19">
            <a:extLst>
              <a:ext uri="{FF2B5EF4-FFF2-40B4-BE49-F238E27FC236}">
                <a16:creationId xmlns:a16="http://schemas.microsoft.com/office/drawing/2014/main" id="{133FF4C0-EBFF-9E41-3FE8-5DB4DF6804B8}"/>
              </a:ext>
            </a:extLst>
          </p:cNvPr>
          <p:cNvSpPr/>
          <p:nvPr/>
        </p:nvSpPr>
        <p:spPr>
          <a:xfrm>
            <a:off x="988695" y="2922975"/>
            <a:ext cx="2926080" cy="1148343"/>
          </a:xfrm>
          <a:prstGeom prst="rect">
            <a:avLst/>
          </a:prstGeom>
          <a:noFill/>
          <a:ln/>
        </p:spPr>
        <p:txBody>
          <a:bodyPr wrap="square" lIns="0" tIns="0" rIns="0" bIns="0" rtlCol="0" anchor="ctr"/>
          <a:lstStyle/>
          <a:p>
            <a:pPr lvl="0" algn="ctr" eaLnBrk="1" fontAlgn="auto" hangingPunct="1">
              <a:spcBef>
                <a:spcPts val="0"/>
              </a:spcBef>
              <a:spcAft>
                <a:spcPts val="0"/>
              </a:spcAft>
              <a:defRPr/>
            </a:pPr>
            <a:r>
              <a:rPr lang="en-US" sz="1200" kern="0">
                <a:solidFill>
                  <a:srgbClr val="000000"/>
                </a:solidFill>
                <a:latin typeface="Poppins"/>
                <a:cs typeface="Poppins"/>
              </a:rPr>
              <a:t>A single step mobile form occupies substantial real estate and prevents users from engaging with content that takes them from awareness (query + click) to intent (inquiry)</a:t>
            </a:r>
            <a:endParaRPr kumimoji="0" lang="en-US" sz="1200" b="0" i="0" u="none" strike="noStrike" kern="1200" cap="none" spc="0" normalizeH="0" baseline="0" noProof="0">
              <a:ln>
                <a:noFill/>
              </a:ln>
              <a:solidFill>
                <a:srgbClr val="3A4A5A"/>
              </a:solidFill>
              <a:effectLst/>
              <a:uLnTx/>
              <a:uFillTx/>
              <a:latin typeface="Poppins"/>
              <a:ea typeface="Calibri"/>
              <a:cs typeface="Poppins"/>
            </a:endParaRPr>
          </a:p>
        </p:txBody>
      </p:sp>
      <p:sp>
        <p:nvSpPr>
          <p:cNvPr id="10" name="Title 1">
            <a:extLst>
              <a:ext uri="{FF2B5EF4-FFF2-40B4-BE49-F238E27FC236}">
                <a16:creationId xmlns:a16="http://schemas.microsoft.com/office/drawing/2014/main" id="{4FAC6A24-0521-3E34-0C7C-46C25A4FE545}"/>
              </a:ext>
            </a:extLst>
          </p:cNvPr>
          <p:cNvSpPr txBox="1">
            <a:spLocks/>
          </p:cNvSpPr>
          <p:nvPr/>
        </p:nvSpPr>
        <p:spPr>
          <a:xfrm>
            <a:off x="520875" y="669494"/>
            <a:ext cx="11150252" cy="1227999"/>
          </a:xfrm>
          <a:prstGeom prst="rect">
            <a:avLst/>
          </a:prstGeom>
        </p:spPr>
        <p:txBody>
          <a:bodyPr vert="horz" lIns="91440" tIns="45720" rIns="91440" bIns="45720" rtlCol="0" anchor="t">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lvl="0" algn="ctr" defTabSz="914369">
              <a:lnSpc>
                <a:spcPct val="95000"/>
              </a:lnSpc>
              <a:defRPr/>
            </a:pPr>
            <a:r>
              <a:rPr lang="en-GB" sz="2800">
                <a:solidFill>
                  <a:schemeClr val="accent2"/>
                </a:solidFill>
                <a:latin typeface="+mj-lt"/>
              </a:rPr>
              <a:t>A Condensed Form Places Urgency In View While Pathing Users Toward Desired Enrollment</a:t>
            </a:r>
            <a:endParaRPr lang="en-US" sz="2800" b="1">
              <a:solidFill>
                <a:schemeClr val="accent2"/>
              </a:solidFill>
              <a:latin typeface="+mj-lt"/>
            </a:endParaRPr>
          </a:p>
        </p:txBody>
      </p:sp>
      <p:pic>
        <p:nvPicPr>
          <p:cNvPr id="17" name="Graphic 16" descr="Flip calendar with solid fill">
            <a:extLst>
              <a:ext uri="{FF2B5EF4-FFF2-40B4-BE49-F238E27FC236}">
                <a16:creationId xmlns:a16="http://schemas.microsoft.com/office/drawing/2014/main" id="{8B421823-53F4-CDCA-7FEB-4342269D0F3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483600" y="2150945"/>
            <a:ext cx="578210" cy="578210"/>
          </a:xfrm>
          <a:prstGeom prst="rect">
            <a:avLst/>
          </a:prstGeom>
        </p:spPr>
      </p:pic>
      <p:pic>
        <p:nvPicPr>
          <p:cNvPr id="3" name="Graphic 2" descr="Elephant with solid fill">
            <a:extLst>
              <a:ext uri="{FF2B5EF4-FFF2-40B4-BE49-F238E27FC236}">
                <a16:creationId xmlns:a16="http://schemas.microsoft.com/office/drawing/2014/main" id="{41C834A5-5027-97A3-E1D4-6E007FFE2418}"/>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858279" y="2201980"/>
            <a:ext cx="497196" cy="497196"/>
          </a:xfrm>
          <a:prstGeom prst="rect">
            <a:avLst/>
          </a:prstGeom>
        </p:spPr>
      </p:pic>
      <p:pic>
        <p:nvPicPr>
          <p:cNvPr id="28" name="Graphic 27" descr="Document with solid fill">
            <a:extLst>
              <a:ext uri="{FF2B5EF4-FFF2-40B4-BE49-F238E27FC236}">
                <a16:creationId xmlns:a16="http://schemas.microsoft.com/office/drawing/2014/main" id="{78DAC43D-7443-1D98-FB71-1C234E3D0F3B}"/>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8152488" y="2161455"/>
            <a:ext cx="578210" cy="578210"/>
          </a:xfrm>
          <a:prstGeom prst="rect">
            <a:avLst/>
          </a:prstGeom>
        </p:spPr>
      </p:pic>
      <p:sp>
        <p:nvSpPr>
          <p:cNvPr id="4" name="Rectangle: Rounded Corners 3">
            <a:extLst>
              <a:ext uri="{FF2B5EF4-FFF2-40B4-BE49-F238E27FC236}">
                <a16:creationId xmlns:a16="http://schemas.microsoft.com/office/drawing/2014/main" id="{8F559F7E-2DEB-B75F-4D77-BF5410166966}"/>
              </a:ext>
            </a:extLst>
          </p:cNvPr>
          <p:cNvSpPr/>
          <p:nvPr/>
        </p:nvSpPr>
        <p:spPr>
          <a:xfrm>
            <a:off x="-211873" y="178940"/>
            <a:ext cx="2364523" cy="305926"/>
          </a:xfrm>
          <a:prstGeom prst="roundRect">
            <a:avLst>
              <a:gd name="adj" fmla="val 50000"/>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wrap="none" lIns="91440" tIns="45720" rIns="91440" bIns="45720"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0" fontAlgn="base"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Poppins SemiBold"/>
                <a:ea typeface="+mn-ea"/>
                <a:cs typeface="Poppins SemiBold"/>
              </a:rPr>
              <a:t>Lead Capture</a:t>
            </a:r>
            <a:endParaRPr kumimoji="0" lang="en-US" sz="1800" b="0" i="0" u="sng" strike="noStrike" kern="1200" cap="none" spc="0" normalizeH="0" baseline="0" noProof="0">
              <a:ln>
                <a:noFill/>
              </a:ln>
              <a:solidFill>
                <a:schemeClr val="tx1"/>
              </a:solidFill>
              <a:effectLst/>
              <a:uLnTx/>
              <a:uFillTx/>
              <a:latin typeface="Poppins"/>
              <a:ea typeface="+mn-ea"/>
              <a:cs typeface="+mn-cs"/>
            </a:endParaRPr>
          </a:p>
        </p:txBody>
      </p:sp>
      <p:graphicFrame>
        <p:nvGraphicFramePr>
          <p:cNvPr id="5" name="Chart 0">
            <a:extLst>
              <a:ext uri="{FF2B5EF4-FFF2-40B4-BE49-F238E27FC236}">
                <a16:creationId xmlns:a16="http://schemas.microsoft.com/office/drawing/2014/main" id="{FF220F56-D663-0187-82DB-79B5848A7DB1}"/>
              </a:ext>
            </a:extLst>
          </p:cNvPr>
          <p:cNvGraphicFramePr/>
          <p:nvPr>
            <p:extLst>
              <p:ext uri="{D42A27DB-BD31-4B8C-83A1-F6EECF244321}">
                <p14:modId xmlns:p14="http://schemas.microsoft.com/office/powerpoint/2010/main" val="95291422"/>
              </p:ext>
            </p:extLst>
          </p:nvPr>
        </p:nvGraphicFramePr>
        <p:xfrm>
          <a:off x="870106" y="4157025"/>
          <a:ext cx="3121449" cy="2080915"/>
        </p:xfrm>
        <a:graphic>
          <a:graphicData uri="http://schemas.openxmlformats.org/drawingml/2006/chart">
            <c:chart xmlns:c="http://schemas.openxmlformats.org/drawingml/2006/chart" xmlns:r="http://schemas.openxmlformats.org/officeDocument/2006/relationships" r:id="rId6"/>
          </a:graphicData>
        </a:graphic>
      </p:graphicFrame>
      <p:pic>
        <p:nvPicPr>
          <p:cNvPr id="8" name="Picture 7">
            <a:extLst>
              <a:ext uri="{FF2B5EF4-FFF2-40B4-BE49-F238E27FC236}">
                <a16:creationId xmlns:a16="http://schemas.microsoft.com/office/drawing/2014/main" id="{F7363ABE-8316-68D1-6008-82345D9399C0}"/>
              </a:ext>
            </a:extLst>
          </p:cNvPr>
          <p:cNvPicPr>
            <a:picLocks noChangeAspect="1"/>
          </p:cNvPicPr>
          <p:nvPr/>
        </p:nvPicPr>
        <p:blipFill>
          <a:blip r:embed="rId7"/>
          <a:srcRect b="57597"/>
          <a:stretch>
            <a:fillRect/>
          </a:stretch>
        </p:blipFill>
        <p:spPr>
          <a:xfrm>
            <a:off x="5152217" y="4071318"/>
            <a:ext cx="1887565" cy="173174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2" name="Picture 11">
            <a:extLst>
              <a:ext uri="{FF2B5EF4-FFF2-40B4-BE49-F238E27FC236}">
                <a16:creationId xmlns:a16="http://schemas.microsoft.com/office/drawing/2014/main" id="{8038510E-97A3-FBD2-43CB-429E1DE11EC6}"/>
              </a:ext>
            </a:extLst>
          </p:cNvPr>
          <p:cNvPicPr>
            <a:picLocks noChangeAspect="1"/>
          </p:cNvPicPr>
          <p:nvPr/>
        </p:nvPicPr>
        <p:blipFill>
          <a:blip r:embed="rId8"/>
          <a:stretch>
            <a:fillRect/>
          </a:stretch>
        </p:blipFill>
        <p:spPr>
          <a:xfrm>
            <a:off x="8812600" y="4094254"/>
            <a:ext cx="1908670" cy="173174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 name="Oval 1">
            <a:extLst>
              <a:ext uri="{FF2B5EF4-FFF2-40B4-BE49-F238E27FC236}">
                <a16:creationId xmlns:a16="http://schemas.microsoft.com/office/drawing/2014/main" id="{89295F4A-D532-0F28-5E99-5AE147325944}"/>
              </a:ext>
            </a:extLst>
          </p:cNvPr>
          <p:cNvSpPr/>
          <p:nvPr/>
        </p:nvSpPr>
        <p:spPr>
          <a:xfrm>
            <a:off x="3657104" y="5480272"/>
            <a:ext cx="1273532" cy="1254541"/>
          </a:xfrm>
          <a:prstGeom prst="ellipse">
            <a:avLst/>
          </a:prstGeom>
          <a:solidFill>
            <a:schemeClr val="accent2"/>
          </a:solidFill>
          <a:ln w="38100">
            <a:solidFill>
              <a:schemeClr val="bg1"/>
            </a:solidFill>
          </a:ln>
          <a:effectLst>
            <a:outerShdw blurRad="63500" sx="102000" sy="102000" algn="ctr" rotWithShape="0">
              <a:srgbClr val="00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spcBef>
                <a:spcPts val="0"/>
              </a:spcBef>
              <a:defRPr/>
            </a:pPr>
            <a:r>
              <a:rPr lang="en-US" sz="900">
                <a:solidFill>
                  <a:schemeClr val="bg1"/>
                </a:solidFill>
                <a:cs typeface="Poppins"/>
              </a:rPr>
              <a:t>Mobile Inquiry Rate</a:t>
            </a:r>
            <a:br>
              <a:rPr lang="en-US" sz="900">
                <a:solidFill>
                  <a:schemeClr val="bg1"/>
                </a:solidFill>
                <a:cs typeface="Poppins"/>
              </a:rPr>
            </a:br>
            <a:r>
              <a:rPr lang="en-US" sz="900">
                <a:solidFill>
                  <a:schemeClr val="bg1"/>
                </a:solidFill>
                <a:cs typeface="Poppins"/>
              </a:rPr>
              <a:t>(vs desktop</a:t>
            </a:r>
            <a:r>
              <a:rPr lang="en-US" sz="800">
                <a:solidFill>
                  <a:schemeClr val="bg1"/>
                </a:solidFill>
                <a:cs typeface="Poppins"/>
              </a:rPr>
              <a:t>)</a:t>
            </a:r>
          </a:p>
          <a:p>
            <a:pPr marL="0" marR="0" lvl="0" indent="0" algn="ctr" defTabSz="914400" rtl="0" eaLnBrk="0" fontAlgn="base" latinLnBrk="0" hangingPunct="0">
              <a:lnSpc>
                <a:spcPct val="80000"/>
              </a:lnSpc>
              <a:spcBef>
                <a:spcPts val="400"/>
              </a:spcBef>
              <a:spcAft>
                <a:spcPct val="0"/>
              </a:spcAft>
              <a:buClrTx/>
              <a:buSzTx/>
              <a:buFontTx/>
              <a:buNone/>
              <a:tabLst/>
              <a:defRPr/>
            </a:pPr>
            <a:r>
              <a:rPr lang="en-US" sz="1600" b="1">
                <a:solidFill>
                  <a:srgbClr val="FAE201"/>
                </a:solidFill>
                <a:latin typeface="Poppins"/>
              </a:rPr>
              <a:t>-40% </a:t>
            </a:r>
          </a:p>
        </p:txBody>
      </p:sp>
    </p:spTree>
    <p:extLst>
      <p:ext uri="{BB962C8B-B14F-4D97-AF65-F5344CB8AC3E}">
        <p14:creationId xmlns:p14="http://schemas.microsoft.com/office/powerpoint/2010/main" val="13838557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51852-9CDF-287D-1666-5AEEDA0C4411}"/>
            </a:ext>
          </a:extLst>
        </p:cNvPr>
        <p:cNvGrpSpPr/>
        <p:nvPr/>
      </p:nvGrpSpPr>
      <p:grpSpPr>
        <a:xfrm>
          <a:off x="0" y="0"/>
          <a:ext cx="0" cy="0"/>
          <a:chOff x="0" y="0"/>
          <a:chExt cx="0" cy="0"/>
        </a:xfrm>
      </p:grpSpPr>
      <p:sp>
        <p:nvSpPr>
          <p:cNvPr id="18" name="Title 1">
            <a:extLst>
              <a:ext uri="{FF2B5EF4-FFF2-40B4-BE49-F238E27FC236}">
                <a16:creationId xmlns:a16="http://schemas.microsoft.com/office/drawing/2014/main" id="{17E2B42C-CC0A-94C5-770E-9A3C5B2C6D9A}"/>
              </a:ext>
            </a:extLst>
          </p:cNvPr>
          <p:cNvSpPr txBox="1">
            <a:spLocks/>
          </p:cNvSpPr>
          <p:nvPr/>
        </p:nvSpPr>
        <p:spPr>
          <a:xfrm>
            <a:off x="520874" y="610424"/>
            <a:ext cx="11150252" cy="1227999"/>
          </a:xfrm>
          <a:prstGeom prst="rect">
            <a:avLst/>
          </a:prstGeom>
        </p:spPr>
        <p:txBody>
          <a:bodyPr vert="horz" lIns="91440" tIns="45720" rIns="91440" bIns="45720" rtlCol="0" anchor="t">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lvl="0" algn="ctr" defTabSz="914369">
              <a:lnSpc>
                <a:spcPct val="95000"/>
              </a:lnSpc>
              <a:defRPr/>
            </a:pPr>
            <a:r>
              <a:rPr lang="en-GB" sz="2800">
                <a:solidFill>
                  <a:schemeClr val="accent2"/>
                </a:solidFill>
                <a:latin typeface="+mj-lt"/>
              </a:rPr>
              <a:t>Optimization Opportunities: </a:t>
            </a:r>
          </a:p>
          <a:p>
            <a:pPr lvl="0" algn="ctr" defTabSz="914369">
              <a:lnSpc>
                <a:spcPct val="95000"/>
              </a:lnSpc>
              <a:defRPr/>
            </a:pPr>
            <a:r>
              <a:rPr lang="en-GB" sz="2800">
                <a:solidFill>
                  <a:schemeClr val="accent2"/>
                </a:solidFill>
                <a:latin typeface="+mj-lt"/>
              </a:rPr>
              <a:t>Testing Mobile Experiences to Reduce Friction at the Moment of Intent</a:t>
            </a:r>
            <a:endParaRPr lang="en-US" sz="2800">
              <a:solidFill>
                <a:schemeClr val="accent2"/>
              </a:solidFill>
              <a:latin typeface="+mj-lt"/>
            </a:endParaRPr>
          </a:p>
        </p:txBody>
      </p:sp>
      <p:grpSp>
        <p:nvGrpSpPr>
          <p:cNvPr id="6" name="Group 5">
            <a:extLst>
              <a:ext uri="{FF2B5EF4-FFF2-40B4-BE49-F238E27FC236}">
                <a16:creationId xmlns:a16="http://schemas.microsoft.com/office/drawing/2014/main" id="{3D80A6A8-D4FB-CAEB-F81D-A59AE32CEA65}"/>
              </a:ext>
            </a:extLst>
          </p:cNvPr>
          <p:cNvGrpSpPr/>
          <p:nvPr/>
        </p:nvGrpSpPr>
        <p:grpSpPr>
          <a:xfrm>
            <a:off x="698897" y="2026292"/>
            <a:ext cx="10794206" cy="4700897"/>
            <a:chOff x="698897" y="1759592"/>
            <a:chExt cx="10794206" cy="4700897"/>
          </a:xfrm>
        </p:grpSpPr>
        <p:sp>
          <p:nvSpPr>
            <p:cNvPr id="19" name="Rectangle: Rounded Corners 18">
              <a:extLst>
                <a:ext uri="{FF2B5EF4-FFF2-40B4-BE49-F238E27FC236}">
                  <a16:creationId xmlns:a16="http://schemas.microsoft.com/office/drawing/2014/main" id="{4EB4F1E7-7947-4FC8-0A5D-9199E5E3D63F}"/>
                </a:ext>
              </a:extLst>
            </p:cNvPr>
            <p:cNvSpPr/>
            <p:nvPr/>
          </p:nvSpPr>
          <p:spPr>
            <a:xfrm flipV="1">
              <a:off x="3443526" y="4340816"/>
              <a:ext cx="2560320" cy="2103120"/>
            </a:xfrm>
            <a:prstGeom prst="roundRect">
              <a:avLst>
                <a:gd name="adj" fmla="val 7970"/>
              </a:avLst>
            </a:prstGeom>
            <a:solidFill>
              <a:schemeClr val="accent4"/>
            </a:solidFill>
            <a:ln w="22225">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Rounded Corners 19">
              <a:extLst>
                <a:ext uri="{FF2B5EF4-FFF2-40B4-BE49-F238E27FC236}">
                  <a16:creationId xmlns:a16="http://schemas.microsoft.com/office/drawing/2014/main" id="{541D4158-9E3F-0272-0AA1-F555908B7CEB}"/>
                </a:ext>
              </a:extLst>
            </p:cNvPr>
            <p:cNvSpPr/>
            <p:nvPr/>
          </p:nvSpPr>
          <p:spPr>
            <a:xfrm flipV="1">
              <a:off x="6188155" y="4252913"/>
              <a:ext cx="2560320" cy="2191023"/>
            </a:xfrm>
            <a:prstGeom prst="roundRect">
              <a:avLst>
                <a:gd name="adj" fmla="val 7970"/>
              </a:avLst>
            </a:prstGeom>
            <a:solidFill>
              <a:schemeClr val="accent4"/>
            </a:solidFill>
            <a:ln w="22225">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Rounded Corners 20">
              <a:extLst>
                <a:ext uri="{FF2B5EF4-FFF2-40B4-BE49-F238E27FC236}">
                  <a16:creationId xmlns:a16="http://schemas.microsoft.com/office/drawing/2014/main" id="{3DC1B58C-8C7E-ED31-8D8A-01F22069159F}"/>
                </a:ext>
              </a:extLst>
            </p:cNvPr>
            <p:cNvSpPr/>
            <p:nvPr/>
          </p:nvSpPr>
          <p:spPr>
            <a:xfrm flipV="1">
              <a:off x="8932783" y="4340816"/>
              <a:ext cx="2560320" cy="2103120"/>
            </a:xfrm>
            <a:prstGeom prst="roundRect">
              <a:avLst>
                <a:gd name="adj" fmla="val 7970"/>
              </a:avLst>
            </a:prstGeom>
            <a:solidFill>
              <a:schemeClr val="accent4"/>
            </a:solidFill>
            <a:ln w="22225">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D7657EA8-7116-2FBC-359A-E105B329D6C6}"/>
                </a:ext>
              </a:extLst>
            </p:cNvPr>
            <p:cNvSpPr/>
            <p:nvPr/>
          </p:nvSpPr>
          <p:spPr>
            <a:xfrm>
              <a:off x="8968115" y="4584095"/>
              <a:ext cx="2478024" cy="1474121"/>
            </a:xfrm>
            <a:prstGeom prst="rect">
              <a:avLst/>
            </a:prstGeom>
          </p:spPr>
          <p:txBody>
            <a:bodyPr wrap="square" lIns="91440" tIns="45720" rIns="91440" bIns="45720" anchor="t">
              <a:spAutoFit/>
            </a:bodyPr>
            <a:lstStyle/>
            <a:p>
              <a:pPr marL="0" marR="0" lvl="0" indent="0" algn="ctr" defTabSz="914400" rtl="0" eaLnBrk="0" fontAlgn="base" latinLnBrk="0" hangingPunct="0">
                <a:lnSpc>
                  <a:spcPct val="112000"/>
                </a:lnSpc>
                <a:spcBef>
                  <a:spcPct val="0"/>
                </a:spcBef>
                <a:spcAft>
                  <a:spcPts val="900"/>
                </a:spcAft>
                <a:buClrTx/>
                <a:buSzTx/>
                <a:buFontTx/>
                <a:buNone/>
                <a:tabLst/>
                <a:defRPr/>
              </a:pPr>
              <a:r>
                <a:rPr lang="en-US" sz="1400">
                  <a:solidFill>
                    <a:schemeClr val="accent1"/>
                  </a:solidFill>
                  <a:latin typeface="Poppins SemiBold" panose="00000700000000000000" pitchFamily="2" charset="0"/>
                  <a:ea typeface="Calibri"/>
                  <a:cs typeface="Poppins SemiBold" panose="00000700000000000000" pitchFamily="2" charset="0"/>
                </a:rPr>
                <a:t>ALTERNATIVE FORMS</a:t>
              </a:r>
              <a:endParaRPr kumimoji="0" lang="en-US" sz="1400" b="0" i="0" u="none" strike="noStrike" kern="1200" cap="none" spc="0" normalizeH="0" baseline="0" noProof="0">
                <a:ln>
                  <a:noFill/>
                </a:ln>
                <a:solidFill>
                  <a:schemeClr val="accent1"/>
                </a:solidFill>
                <a:effectLst/>
                <a:uLnTx/>
                <a:uFillTx/>
                <a:latin typeface="Poppins SemiBold" panose="00000700000000000000" pitchFamily="2" charset="0"/>
                <a:ea typeface="Calibri"/>
                <a:cs typeface="Poppins SemiBold" panose="00000700000000000000" pitchFamily="2" charset="0"/>
              </a:endParaRPr>
            </a:p>
            <a:p>
              <a:pPr marL="0" marR="0" lvl="0" indent="0" algn="ctr" defTabSz="914400" rtl="0" eaLnBrk="0" fontAlgn="base" latinLnBrk="0" hangingPunct="0">
                <a:lnSpc>
                  <a:spcPct val="112000"/>
                </a:lnSpc>
                <a:spcBef>
                  <a:spcPct val="0"/>
                </a:spcBef>
                <a:spcAft>
                  <a:spcPts val="900"/>
                </a:spcAft>
                <a:buClrTx/>
                <a:buSzTx/>
                <a:buFontTx/>
                <a:buNone/>
                <a:tabLst/>
                <a:defRPr/>
              </a:pPr>
              <a:r>
                <a:rPr kumimoji="0" lang="en-US" sz="1200" b="0" i="0" u="none" strike="noStrike" kern="1200" cap="none" spc="0" normalizeH="0" baseline="0" noProof="0">
                  <a:ln>
                    <a:noFill/>
                  </a:ln>
                  <a:effectLst/>
                  <a:uLnTx/>
                  <a:uFillTx/>
                  <a:latin typeface="Poppins"/>
                  <a:ea typeface="Calibri"/>
                  <a:cs typeface="Poppins"/>
                </a:rPr>
                <a:t>Forms that path users to appropriate programs via value exchange can capture leads for nurture ahead of inquiry</a:t>
              </a:r>
              <a:endParaRPr kumimoji="0" lang="en-US" sz="1800" b="0" i="0" u="none" strike="noStrike" kern="1200" cap="none" spc="0" normalizeH="0" baseline="0" noProof="0">
                <a:ln>
                  <a:noFill/>
                </a:ln>
                <a:effectLst/>
                <a:uLnTx/>
                <a:uFillTx/>
                <a:latin typeface="Calibri" panose="020F0502020204030204" pitchFamily="34" charset="0"/>
                <a:ea typeface="+mn-ea"/>
                <a:cs typeface="+mn-cs"/>
              </a:endParaRPr>
            </a:p>
          </p:txBody>
        </p:sp>
        <p:sp>
          <p:nvSpPr>
            <p:cNvPr id="23" name="Rectangle 22">
              <a:extLst>
                <a:ext uri="{FF2B5EF4-FFF2-40B4-BE49-F238E27FC236}">
                  <a16:creationId xmlns:a16="http://schemas.microsoft.com/office/drawing/2014/main" id="{AB3F0B8D-20E7-F7FD-D42D-7FBD8933E679}"/>
                </a:ext>
              </a:extLst>
            </p:cNvPr>
            <p:cNvSpPr/>
            <p:nvPr/>
          </p:nvSpPr>
          <p:spPr>
            <a:xfrm>
              <a:off x="3475767" y="4595525"/>
              <a:ext cx="2478024" cy="1267848"/>
            </a:xfrm>
            <a:prstGeom prst="rect">
              <a:avLst/>
            </a:prstGeom>
          </p:spPr>
          <p:txBody>
            <a:bodyPr wrap="square" lIns="91440" tIns="45720" rIns="91440" bIns="45720" anchor="t">
              <a:spAutoFit/>
            </a:bodyPr>
            <a:lstStyle/>
            <a:p>
              <a:pPr marL="0" marR="0" lvl="0" indent="0" algn="ctr" defTabSz="914400" rtl="0" eaLnBrk="0" fontAlgn="base" latinLnBrk="0" hangingPunct="0">
                <a:lnSpc>
                  <a:spcPct val="112000"/>
                </a:lnSpc>
                <a:spcBef>
                  <a:spcPct val="0"/>
                </a:spcBef>
                <a:spcAft>
                  <a:spcPts val="900"/>
                </a:spcAft>
                <a:buClrTx/>
                <a:buSzTx/>
                <a:buFontTx/>
                <a:buNone/>
                <a:tabLst/>
                <a:defRPr/>
              </a:pPr>
              <a:r>
                <a:rPr kumimoji="0" lang="en-US" sz="1400" b="0" i="0" u="none" strike="noStrike" kern="1200" cap="none" spc="0" normalizeH="0" baseline="0" noProof="0">
                  <a:ln>
                    <a:noFill/>
                  </a:ln>
                  <a:solidFill>
                    <a:schemeClr val="accent1"/>
                  </a:solidFill>
                  <a:effectLst/>
                  <a:uLnTx/>
                  <a:uFillTx/>
                  <a:latin typeface="Poppins SemiBold"/>
                  <a:ea typeface="Calibri"/>
                  <a:cs typeface="Poppins SemiBold"/>
                </a:rPr>
                <a:t>ENROLLMENT DEADLINES</a:t>
              </a:r>
              <a:endParaRPr kumimoji="0" lang="en-US" sz="1800" b="0" i="0" u="none" strike="noStrike" kern="1200" cap="none" spc="0" normalizeH="0" baseline="0" noProof="0">
                <a:ln>
                  <a:noFill/>
                </a:ln>
                <a:solidFill>
                  <a:schemeClr val="accent1"/>
                </a:solidFill>
                <a:effectLst/>
                <a:uLnTx/>
                <a:uFillTx/>
                <a:latin typeface="Calibri" panose="020F0502020204030204" pitchFamily="34" charset="0"/>
                <a:ea typeface="+mn-ea"/>
                <a:cs typeface="+mn-cs"/>
              </a:endParaRPr>
            </a:p>
            <a:p>
              <a:pPr marL="0" marR="0" lvl="0" indent="0" algn="ctr" defTabSz="914400" rtl="0" eaLnBrk="0" fontAlgn="base" latinLnBrk="0" hangingPunct="0">
                <a:lnSpc>
                  <a:spcPct val="112000"/>
                </a:lnSpc>
                <a:spcBef>
                  <a:spcPct val="0"/>
                </a:spcBef>
                <a:spcAft>
                  <a:spcPct val="0"/>
                </a:spcAft>
                <a:buClrTx/>
                <a:buSzTx/>
                <a:buFontTx/>
                <a:buNone/>
                <a:tabLst/>
                <a:defRPr/>
              </a:pPr>
              <a:r>
                <a:rPr kumimoji="0" lang="en-US" sz="1200" b="0" i="0" u="none" strike="noStrike" kern="1200" cap="none" spc="0" normalizeH="0" baseline="0" noProof="0">
                  <a:ln>
                    <a:noFill/>
                  </a:ln>
                  <a:effectLst/>
                  <a:uLnTx/>
                  <a:uFillTx/>
                  <a:latin typeface="Poppins"/>
                  <a:ea typeface="Calibri"/>
                  <a:cs typeface="Poppins"/>
                </a:rPr>
                <a:t>Enrollment deadlines create urgency</a:t>
              </a:r>
              <a:r>
                <a:rPr lang="en-US" sz="1200">
                  <a:latin typeface="Poppins"/>
                  <a:ea typeface="Calibri"/>
                  <a:cs typeface="Poppins"/>
                </a:rPr>
                <a:t> and encourage immediate action from high intent search users</a:t>
              </a:r>
              <a:endParaRPr kumimoji="0" lang="en-US" sz="1200" b="0" i="0" u="none" strike="noStrike" kern="1200" cap="none" spc="0" normalizeH="0" baseline="0" noProof="0">
                <a:ln>
                  <a:noFill/>
                </a:ln>
                <a:effectLst/>
                <a:uLnTx/>
                <a:uFillTx/>
                <a:latin typeface="Poppins"/>
                <a:ea typeface="Calibri"/>
                <a:cs typeface="Poppins"/>
              </a:endParaRPr>
            </a:p>
          </p:txBody>
        </p:sp>
        <p:sp>
          <p:nvSpPr>
            <p:cNvPr id="24" name="Rectangle 23">
              <a:extLst>
                <a:ext uri="{FF2B5EF4-FFF2-40B4-BE49-F238E27FC236}">
                  <a16:creationId xmlns:a16="http://schemas.microsoft.com/office/drawing/2014/main" id="{935ADD19-AE85-9381-A846-EF8B0B1371B2}"/>
                </a:ext>
              </a:extLst>
            </p:cNvPr>
            <p:cNvSpPr/>
            <p:nvPr/>
          </p:nvSpPr>
          <p:spPr>
            <a:xfrm>
              <a:off x="6213876" y="4572665"/>
              <a:ext cx="2484472" cy="1887824"/>
            </a:xfrm>
            <a:prstGeom prst="rect">
              <a:avLst/>
            </a:prstGeom>
          </p:spPr>
          <p:txBody>
            <a:bodyPr wrap="square" lIns="91440" tIns="45720" rIns="91440" bIns="45720" anchor="t">
              <a:spAutoFit/>
            </a:bodyPr>
            <a:lstStyle/>
            <a:p>
              <a:pPr marL="0" marR="0" lvl="0" indent="0" algn="ctr" defTabSz="914400" rtl="0" eaLnBrk="0" fontAlgn="base" latinLnBrk="0" hangingPunct="0">
                <a:lnSpc>
                  <a:spcPct val="112000"/>
                </a:lnSpc>
                <a:spcBef>
                  <a:spcPct val="0"/>
                </a:spcBef>
                <a:spcAft>
                  <a:spcPts val="900"/>
                </a:spcAft>
                <a:buClrTx/>
                <a:buSzTx/>
                <a:buFontTx/>
                <a:buNone/>
                <a:tabLst/>
                <a:defRPr/>
              </a:pPr>
              <a:r>
                <a:rPr kumimoji="0" lang="en-US" sz="1400" b="0" i="0" u="none" strike="noStrike" kern="1200" cap="none" spc="0" normalizeH="0" baseline="0" noProof="0">
                  <a:ln>
                    <a:noFill/>
                  </a:ln>
                  <a:solidFill>
                    <a:schemeClr val="accent1"/>
                  </a:solidFill>
                  <a:effectLst/>
                  <a:uLnTx/>
                  <a:uFillTx/>
                  <a:latin typeface="Poppins SemiBold" panose="00000700000000000000" pitchFamily="2" charset="0"/>
                  <a:ea typeface="Calibri"/>
                  <a:cs typeface="Poppins SemiBold" panose="00000700000000000000" pitchFamily="2" charset="0"/>
                </a:rPr>
                <a:t>SMOOTH SELECTION</a:t>
              </a:r>
            </a:p>
            <a:p>
              <a:pPr marL="0" marR="0" lvl="0" indent="0" algn="ctr" defTabSz="914400" rtl="0" eaLnBrk="0" fontAlgn="base" latinLnBrk="0" hangingPunct="0">
                <a:lnSpc>
                  <a:spcPct val="112000"/>
                </a:lnSpc>
                <a:spcBef>
                  <a:spcPct val="0"/>
                </a:spcBef>
                <a:spcAft>
                  <a:spcPts val="900"/>
                </a:spcAft>
                <a:buClrTx/>
                <a:buSzTx/>
                <a:buFontTx/>
                <a:buNone/>
                <a:tabLst/>
                <a:defRPr/>
              </a:pPr>
              <a:r>
                <a:rPr kumimoji="0" lang="en-GB" sz="1200" b="0" i="0" u="none" strike="noStrike" kern="1200" cap="none" spc="0" normalizeH="0" baseline="0" noProof="0">
                  <a:ln>
                    <a:noFill/>
                  </a:ln>
                  <a:effectLst/>
                  <a:uLnTx/>
                  <a:uFillTx/>
                  <a:latin typeface="Poppins"/>
                  <a:ea typeface="Calibri"/>
                  <a:cs typeface="Poppins"/>
                </a:rPr>
                <a:t>Program selection should focus on user intent—reducing effort with pre‑fill and search, and minimizing confusion through 1:1 field mapping and filtered, relevant programs</a:t>
              </a:r>
              <a:endParaRPr kumimoji="0" lang="en-US" sz="1800" b="0" i="0" u="none" strike="noStrike" kern="1200" cap="none" spc="0" normalizeH="0" baseline="0" noProof="0">
                <a:ln>
                  <a:noFill/>
                </a:ln>
                <a:effectLst/>
                <a:uLnTx/>
                <a:uFillTx/>
                <a:latin typeface="Calibri" panose="020F0502020204030204" pitchFamily="34" charset="0"/>
                <a:ea typeface="+mn-ea"/>
                <a:cs typeface="+mn-cs"/>
              </a:endParaRPr>
            </a:p>
          </p:txBody>
        </p:sp>
        <p:sp>
          <p:nvSpPr>
            <p:cNvPr id="25" name="Rectangle: Rounded Corners 24">
              <a:extLst>
                <a:ext uri="{FF2B5EF4-FFF2-40B4-BE49-F238E27FC236}">
                  <a16:creationId xmlns:a16="http://schemas.microsoft.com/office/drawing/2014/main" id="{C0195914-FB87-28F3-6C31-3D34F4F863FA}"/>
                </a:ext>
              </a:extLst>
            </p:cNvPr>
            <p:cNvSpPr/>
            <p:nvPr/>
          </p:nvSpPr>
          <p:spPr>
            <a:xfrm flipV="1">
              <a:off x="698897" y="4340816"/>
              <a:ext cx="2560320" cy="2103120"/>
            </a:xfrm>
            <a:prstGeom prst="roundRect">
              <a:avLst>
                <a:gd name="adj" fmla="val 7970"/>
              </a:avLst>
            </a:prstGeom>
            <a:solidFill>
              <a:schemeClr val="accent4"/>
            </a:solidFill>
            <a:ln w="22225">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47D95162-F665-6AC6-8667-DC77EEEF055D}"/>
                </a:ext>
              </a:extLst>
            </p:cNvPr>
            <p:cNvSpPr/>
            <p:nvPr/>
          </p:nvSpPr>
          <p:spPr>
            <a:xfrm>
              <a:off x="737908" y="4606955"/>
              <a:ext cx="2484472" cy="1267270"/>
            </a:xfrm>
            <a:prstGeom prst="rect">
              <a:avLst/>
            </a:prstGeom>
          </p:spPr>
          <p:txBody>
            <a:bodyPr wrap="square" lIns="91440" tIns="45720" rIns="91440" bIns="45720" anchor="t">
              <a:spAutoFit/>
            </a:bodyPr>
            <a:lstStyle/>
            <a:p>
              <a:pPr marL="0" marR="0" lvl="0" indent="0" algn="ctr" defTabSz="914400" rtl="0" eaLnBrk="0" fontAlgn="base" latinLnBrk="0" hangingPunct="0">
                <a:lnSpc>
                  <a:spcPct val="112000"/>
                </a:lnSpc>
                <a:spcBef>
                  <a:spcPct val="0"/>
                </a:spcBef>
                <a:spcAft>
                  <a:spcPts val="900"/>
                </a:spcAft>
                <a:buClrTx/>
                <a:buSzTx/>
                <a:buFontTx/>
                <a:buNone/>
                <a:tabLst/>
                <a:defRPr/>
              </a:pPr>
              <a:r>
                <a:rPr kumimoji="0" lang="en-US" sz="1400" b="0" i="0" u="none" strike="noStrike" kern="1200" cap="none" spc="0" normalizeH="0" baseline="0" noProof="0">
                  <a:ln>
                    <a:noFill/>
                  </a:ln>
                  <a:solidFill>
                    <a:schemeClr val="accent1"/>
                  </a:solidFill>
                  <a:effectLst/>
                  <a:uLnTx/>
                  <a:uFillTx/>
                  <a:latin typeface="Poppins SemiBold"/>
                  <a:ea typeface="Calibri"/>
                  <a:cs typeface="Poppins SemiBold"/>
                </a:rPr>
                <a:t>MULTI-STEP MOBILE FORM</a:t>
              </a:r>
              <a:endParaRPr kumimoji="0" lang="en-US" sz="1800" b="0" i="0" u="none" strike="noStrike" kern="1200" cap="none" spc="0" normalizeH="0" baseline="0" noProof="0">
                <a:ln>
                  <a:noFill/>
                </a:ln>
                <a:solidFill>
                  <a:schemeClr val="accent1"/>
                </a:solidFill>
                <a:effectLst/>
                <a:uLnTx/>
                <a:uFillTx/>
                <a:latin typeface="Calibri" panose="020F0502020204030204" pitchFamily="34" charset="0"/>
                <a:ea typeface="+mn-ea"/>
                <a:cs typeface="+mn-cs"/>
              </a:endParaRPr>
            </a:p>
            <a:p>
              <a:pPr marL="0" marR="0" lvl="0" indent="0" algn="ctr" defTabSz="914400" rtl="0" eaLnBrk="0" fontAlgn="base" latinLnBrk="0" hangingPunct="0">
                <a:lnSpc>
                  <a:spcPct val="112000"/>
                </a:lnSpc>
                <a:spcBef>
                  <a:spcPct val="0"/>
                </a:spcBef>
                <a:spcAft>
                  <a:spcPts val="900"/>
                </a:spcAft>
                <a:buClrTx/>
                <a:buSzTx/>
                <a:buFontTx/>
                <a:buNone/>
                <a:tabLst/>
                <a:defRPr/>
              </a:pPr>
              <a:r>
                <a:rPr kumimoji="0" lang="en-US" sz="1200" b="0" i="0" u="none" strike="noStrike" kern="1200" cap="none" spc="0" normalizeH="0" baseline="0" noProof="0">
                  <a:ln>
                    <a:noFill/>
                  </a:ln>
                  <a:effectLst/>
                  <a:uLnTx/>
                  <a:uFillTx/>
                  <a:latin typeface="Poppins"/>
                  <a:ea typeface="Calibri"/>
                  <a:cs typeface="Poppins"/>
                </a:rPr>
                <a:t>Multiple steps reduce overload and encourage scrolling for content engagement</a:t>
              </a:r>
              <a:endParaRPr kumimoji="0" lang="en-US" sz="1800" b="0" i="0" u="none" strike="noStrike" kern="1200" cap="none" spc="0" normalizeH="0" baseline="0" noProof="0">
                <a:ln>
                  <a:noFill/>
                </a:ln>
                <a:effectLst/>
                <a:uLnTx/>
                <a:uFillTx/>
                <a:latin typeface="Calibri" panose="020F0502020204030204" pitchFamily="34" charset="0"/>
                <a:ea typeface="+mn-ea"/>
                <a:cs typeface="+mn-cs"/>
              </a:endParaRPr>
            </a:p>
          </p:txBody>
        </p:sp>
        <p:pic>
          <p:nvPicPr>
            <p:cNvPr id="27" name="Picture 26">
              <a:extLst>
                <a:ext uri="{FF2B5EF4-FFF2-40B4-BE49-F238E27FC236}">
                  <a16:creationId xmlns:a16="http://schemas.microsoft.com/office/drawing/2014/main" id="{87B57FEF-C0EA-D909-C600-ED7EA4866905}"/>
                </a:ext>
              </a:extLst>
            </p:cNvPr>
            <p:cNvPicPr>
              <a:picLocks/>
            </p:cNvPicPr>
            <p:nvPr/>
          </p:nvPicPr>
          <p:blipFill>
            <a:blip r:embed="rId3"/>
            <a:srcRect l="6332" r="6332"/>
            <a:stretch/>
          </p:blipFill>
          <p:spPr>
            <a:xfrm>
              <a:off x="698897" y="1759592"/>
              <a:ext cx="2562925" cy="2743199"/>
            </a:xfrm>
            <a:prstGeom prst="round2SameRect">
              <a:avLst>
                <a:gd name="adj1" fmla="val 8679"/>
                <a:gd name="adj2" fmla="val 0"/>
              </a:avLst>
            </a:prstGeom>
            <a:ln w="12700">
              <a:solidFill>
                <a:schemeClr val="accent4"/>
              </a:solidFill>
            </a:ln>
          </p:spPr>
        </p:pic>
        <p:pic>
          <p:nvPicPr>
            <p:cNvPr id="28" name="Picture 27">
              <a:extLst>
                <a:ext uri="{FF2B5EF4-FFF2-40B4-BE49-F238E27FC236}">
                  <a16:creationId xmlns:a16="http://schemas.microsoft.com/office/drawing/2014/main" id="{F8409633-BE61-9485-BB50-D4602C483CA1}"/>
                </a:ext>
              </a:extLst>
            </p:cNvPr>
            <p:cNvPicPr>
              <a:picLocks/>
            </p:cNvPicPr>
            <p:nvPr/>
          </p:nvPicPr>
          <p:blipFill>
            <a:blip r:embed="rId4"/>
            <a:srcRect t="3959" b="3959"/>
            <a:stretch/>
          </p:blipFill>
          <p:spPr>
            <a:xfrm>
              <a:off x="6188155" y="1759592"/>
              <a:ext cx="2560320" cy="2743199"/>
            </a:xfrm>
            <a:prstGeom prst="round2SameRect">
              <a:avLst>
                <a:gd name="adj1" fmla="val 8679"/>
                <a:gd name="adj2" fmla="val 0"/>
              </a:avLst>
            </a:prstGeom>
            <a:ln w="12700">
              <a:solidFill>
                <a:schemeClr val="accent4"/>
              </a:solidFill>
            </a:ln>
          </p:spPr>
        </p:pic>
        <p:pic>
          <p:nvPicPr>
            <p:cNvPr id="29" name="Picture 28">
              <a:extLst>
                <a:ext uri="{FF2B5EF4-FFF2-40B4-BE49-F238E27FC236}">
                  <a16:creationId xmlns:a16="http://schemas.microsoft.com/office/drawing/2014/main" id="{27741A3B-C79B-A3EF-BB4F-A29DF737A367}"/>
                </a:ext>
              </a:extLst>
            </p:cNvPr>
            <p:cNvPicPr>
              <a:picLocks/>
            </p:cNvPicPr>
            <p:nvPr/>
          </p:nvPicPr>
          <p:blipFill>
            <a:blip r:embed="rId5"/>
            <a:srcRect l="772" r="772"/>
            <a:stretch/>
          </p:blipFill>
          <p:spPr>
            <a:xfrm>
              <a:off x="8918672" y="1759592"/>
              <a:ext cx="2567394" cy="2743199"/>
            </a:xfrm>
            <a:prstGeom prst="round2SameRect">
              <a:avLst>
                <a:gd name="adj1" fmla="val 8679"/>
                <a:gd name="adj2" fmla="val 0"/>
              </a:avLst>
            </a:prstGeom>
            <a:ln w="12700">
              <a:solidFill>
                <a:schemeClr val="accent4"/>
              </a:solidFill>
            </a:ln>
          </p:spPr>
        </p:pic>
        <p:pic>
          <p:nvPicPr>
            <p:cNvPr id="30" name="Picture 29">
              <a:extLst>
                <a:ext uri="{FF2B5EF4-FFF2-40B4-BE49-F238E27FC236}">
                  <a16:creationId xmlns:a16="http://schemas.microsoft.com/office/drawing/2014/main" id="{2B32AD02-9DC9-F119-2E58-43ED8B0C2375}"/>
                </a:ext>
              </a:extLst>
            </p:cNvPr>
            <p:cNvPicPr>
              <a:picLocks/>
            </p:cNvPicPr>
            <p:nvPr/>
          </p:nvPicPr>
          <p:blipFill>
            <a:blip r:embed="rId6"/>
            <a:srcRect t="2314" b="2314"/>
            <a:stretch/>
          </p:blipFill>
          <p:spPr>
            <a:xfrm>
              <a:off x="3443526" y="1759592"/>
              <a:ext cx="2567394" cy="2743199"/>
            </a:xfrm>
            <a:prstGeom prst="round2SameRect">
              <a:avLst>
                <a:gd name="adj1" fmla="val 8679"/>
                <a:gd name="adj2" fmla="val 0"/>
              </a:avLst>
            </a:prstGeom>
            <a:ln w="12700">
              <a:solidFill>
                <a:schemeClr val="accent4"/>
              </a:solidFill>
            </a:ln>
          </p:spPr>
        </p:pic>
      </p:grpSp>
      <p:sp>
        <p:nvSpPr>
          <p:cNvPr id="3" name="Rectangle: Rounded Corners 2">
            <a:extLst>
              <a:ext uri="{FF2B5EF4-FFF2-40B4-BE49-F238E27FC236}">
                <a16:creationId xmlns:a16="http://schemas.microsoft.com/office/drawing/2014/main" id="{9A507358-E42B-DDE1-1F2B-BC2EA3CEF8C2}"/>
              </a:ext>
            </a:extLst>
          </p:cNvPr>
          <p:cNvSpPr/>
          <p:nvPr/>
        </p:nvSpPr>
        <p:spPr>
          <a:xfrm>
            <a:off x="-224573" y="168253"/>
            <a:ext cx="2364523" cy="305926"/>
          </a:xfrm>
          <a:prstGeom prst="roundRect">
            <a:avLst>
              <a:gd name="adj" fmla="val 50000"/>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wrap="none" lIns="91440" tIns="45720" rIns="91440" bIns="45720"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0" fontAlgn="base"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Poppins SemiBold"/>
                <a:ea typeface="+mn-ea"/>
                <a:cs typeface="Poppins SemiBold"/>
              </a:rPr>
              <a:t>Lead Capture</a:t>
            </a:r>
            <a:endParaRPr kumimoji="0" lang="en-US" sz="1800" b="0" i="0" u="sng" strike="noStrike" kern="1200" cap="none" spc="0" normalizeH="0" baseline="0" noProof="0">
              <a:ln>
                <a:noFill/>
              </a:ln>
              <a:solidFill>
                <a:schemeClr val="tx1"/>
              </a:solidFill>
              <a:effectLst/>
              <a:uLnTx/>
              <a:uFillTx/>
              <a:latin typeface="Poppins"/>
              <a:ea typeface="+mn-ea"/>
              <a:cs typeface="+mn-cs"/>
            </a:endParaRPr>
          </a:p>
        </p:txBody>
      </p:sp>
    </p:spTree>
    <p:extLst>
      <p:ext uri="{BB962C8B-B14F-4D97-AF65-F5344CB8AC3E}">
        <p14:creationId xmlns:p14="http://schemas.microsoft.com/office/powerpoint/2010/main" val="10891705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FEF9C-7032-E591-DBA8-8024DD9DDFB8}"/>
            </a:ext>
          </a:extLst>
        </p:cNvPr>
        <p:cNvGrpSpPr/>
        <p:nvPr/>
      </p:nvGrpSpPr>
      <p:grpSpPr>
        <a:xfrm>
          <a:off x="0" y="0"/>
          <a:ext cx="0" cy="0"/>
          <a:chOff x="0" y="0"/>
          <a:chExt cx="0" cy="0"/>
        </a:xfrm>
      </p:grpSpPr>
      <p:sp>
        <p:nvSpPr>
          <p:cNvPr id="7" name="Shape 2">
            <a:extLst>
              <a:ext uri="{FF2B5EF4-FFF2-40B4-BE49-F238E27FC236}">
                <a16:creationId xmlns:a16="http://schemas.microsoft.com/office/drawing/2014/main" id="{52B2F44F-541A-F349-2EDD-808769359C08}"/>
              </a:ext>
            </a:extLst>
          </p:cNvPr>
          <p:cNvSpPr/>
          <p:nvPr/>
        </p:nvSpPr>
        <p:spPr>
          <a:xfrm>
            <a:off x="4402455" y="2007108"/>
            <a:ext cx="3413760" cy="4389120"/>
          </a:xfrm>
          <a:prstGeom prst="roundRect">
            <a:avLst/>
          </a:prstGeom>
          <a:solidFill>
            <a:srgbClr val="FFFFFF"/>
          </a:solidFill>
          <a:ln>
            <a:solidFill>
              <a:srgbClr val="002855"/>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Poppins"/>
              <a:ea typeface="+mn-ea"/>
              <a:cs typeface="+mn-cs"/>
            </a:endParaRPr>
          </a:p>
        </p:txBody>
      </p:sp>
      <p:sp>
        <p:nvSpPr>
          <p:cNvPr id="11" name="Shape 3">
            <a:extLst>
              <a:ext uri="{FF2B5EF4-FFF2-40B4-BE49-F238E27FC236}">
                <a16:creationId xmlns:a16="http://schemas.microsoft.com/office/drawing/2014/main" id="{A14A4395-BB1B-19D9-2DAE-9751B36F9E45}"/>
              </a:ext>
            </a:extLst>
          </p:cNvPr>
          <p:cNvSpPr/>
          <p:nvPr/>
        </p:nvSpPr>
        <p:spPr>
          <a:xfrm>
            <a:off x="4402455" y="2007108"/>
            <a:ext cx="3413760" cy="936602"/>
          </a:xfrm>
          <a:prstGeom prst="roundRect">
            <a:avLst/>
          </a:prstGeom>
          <a:solidFill>
            <a:schemeClr val="accent2"/>
          </a:solidFill>
          <a:ln w="381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endParaRPr>
          </a:p>
        </p:txBody>
      </p:sp>
      <p:sp>
        <p:nvSpPr>
          <p:cNvPr id="16" name="Text 5">
            <a:extLst>
              <a:ext uri="{FF2B5EF4-FFF2-40B4-BE49-F238E27FC236}">
                <a16:creationId xmlns:a16="http://schemas.microsoft.com/office/drawing/2014/main" id="{94C4C7B0-8D7B-9D83-123C-0A80F05BA7C3}"/>
              </a:ext>
            </a:extLst>
          </p:cNvPr>
          <p:cNvSpPr/>
          <p:nvPr/>
        </p:nvSpPr>
        <p:spPr>
          <a:xfrm>
            <a:off x="5135480" y="2210548"/>
            <a:ext cx="2436895" cy="548640"/>
          </a:xfrm>
          <a:prstGeom prst="rect">
            <a:avLst/>
          </a:prstGeom>
          <a:noFill/>
          <a:ln/>
        </p:spPr>
        <p:txBody>
          <a:bodyPr wrap="square" lIns="0" tIns="0" rIns="0" bIns="0" rtlCol="0" anchor="ctr"/>
          <a:lstStyle/>
          <a:p>
            <a:pPr lvl="0" eaLnBrk="1" fontAlgn="auto" hangingPunct="1">
              <a:spcBef>
                <a:spcPts val="0"/>
              </a:spcBef>
              <a:spcAft>
                <a:spcPts val="0"/>
              </a:spcAft>
              <a:defRPr/>
            </a:pPr>
            <a:r>
              <a:rPr lang="en-US" sz="1600" b="1" kern="0">
                <a:solidFill>
                  <a:schemeClr val="bg1"/>
                </a:solidFill>
                <a:latin typeface="Poppins SemiBold"/>
                <a:cs typeface="Poppins"/>
              </a:rPr>
              <a:t>Unclear Next Steps</a:t>
            </a:r>
            <a:endParaRPr kumimoji="0" lang="en-US" sz="1600" b="0" i="0" u="none" strike="noStrike" kern="1200" cap="none" spc="0" normalizeH="0" baseline="0" noProof="0">
              <a:ln>
                <a:noFill/>
              </a:ln>
              <a:solidFill>
                <a:schemeClr val="bg1"/>
              </a:solidFill>
              <a:effectLst/>
              <a:uLnTx/>
              <a:uFillTx/>
              <a:latin typeface="Poppins SemiBold"/>
              <a:ea typeface="+mn-ea"/>
              <a:cs typeface="Poppins SemiBold"/>
            </a:endParaRPr>
          </a:p>
        </p:txBody>
      </p:sp>
      <p:sp>
        <p:nvSpPr>
          <p:cNvPr id="22" name="Text 7">
            <a:extLst>
              <a:ext uri="{FF2B5EF4-FFF2-40B4-BE49-F238E27FC236}">
                <a16:creationId xmlns:a16="http://schemas.microsoft.com/office/drawing/2014/main" id="{2DA0F0E2-2EBD-72FF-5FC5-94F593D89A41}"/>
              </a:ext>
            </a:extLst>
          </p:cNvPr>
          <p:cNvSpPr/>
          <p:nvPr/>
        </p:nvSpPr>
        <p:spPr>
          <a:xfrm>
            <a:off x="4632959" y="2918625"/>
            <a:ext cx="2926080" cy="1194215"/>
          </a:xfrm>
          <a:prstGeom prst="rect">
            <a:avLst/>
          </a:prstGeom>
          <a:noFill/>
          <a:ln/>
        </p:spPr>
        <p:txBody>
          <a:bodyPr wrap="square" lIns="0" tIns="0" rIns="0" bIns="0" rtlCol="0" anchor="ctr"/>
          <a:lstStyle/>
          <a:p>
            <a:pPr lvl="0" algn="ctr" eaLnBrk="1" fontAlgn="auto" hangingPunct="1">
              <a:spcBef>
                <a:spcPts val="0"/>
              </a:spcBef>
              <a:spcAft>
                <a:spcPts val="0"/>
              </a:spcAft>
              <a:defRPr/>
            </a:pPr>
            <a:r>
              <a:rPr lang="en-GB" sz="1200" kern="0">
                <a:solidFill>
                  <a:srgbClr val="000000"/>
                </a:solidFill>
                <a:latin typeface="Poppins"/>
                <a:cs typeface="Poppins"/>
              </a:rPr>
              <a:t>DeVry’s success page lacks clear enrollment steps, missing an opportunity to motivate students and set clear expectations for what comes next</a:t>
            </a:r>
            <a:endParaRPr kumimoji="0" lang="en-US" sz="1200" b="0" i="0" u="none" strike="noStrike" kern="1200" cap="none" spc="0" normalizeH="0" baseline="0" noProof="0">
              <a:ln>
                <a:noFill/>
              </a:ln>
              <a:solidFill>
                <a:srgbClr val="000000"/>
              </a:solidFill>
              <a:effectLst/>
              <a:uLnTx/>
              <a:uFillTx/>
              <a:latin typeface="+mn-lt"/>
              <a:ea typeface="Calibri"/>
              <a:cs typeface="Poppins"/>
            </a:endParaRPr>
          </a:p>
        </p:txBody>
      </p:sp>
      <p:sp>
        <p:nvSpPr>
          <p:cNvPr id="23" name="Shape 8">
            <a:extLst>
              <a:ext uri="{FF2B5EF4-FFF2-40B4-BE49-F238E27FC236}">
                <a16:creationId xmlns:a16="http://schemas.microsoft.com/office/drawing/2014/main" id="{61BDF20C-9872-2809-1E8F-B5B7AC070F43}"/>
              </a:ext>
            </a:extLst>
          </p:cNvPr>
          <p:cNvSpPr>
            <a:spLocks noGrp="1" noRot="1" noMove="1" noResize="1" noEditPoints="1" noAdjustHandles="1" noChangeArrowheads="1" noChangeShapeType="1"/>
          </p:cNvSpPr>
          <p:nvPr/>
        </p:nvSpPr>
        <p:spPr>
          <a:xfrm>
            <a:off x="8060055" y="2007108"/>
            <a:ext cx="3413760" cy="4389120"/>
          </a:xfrm>
          <a:prstGeom prst="roundRect">
            <a:avLst/>
          </a:prstGeom>
          <a:solidFill>
            <a:srgbClr val="FFFFFF"/>
          </a:solidFill>
          <a:ln>
            <a:solidFill>
              <a:srgbClr val="1A7CBA"/>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Poppins"/>
              <a:ea typeface="+mn-ea"/>
              <a:cs typeface="+mn-cs"/>
            </a:endParaRPr>
          </a:p>
        </p:txBody>
      </p:sp>
      <p:sp>
        <p:nvSpPr>
          <p:cNvPr id="25" name="Shape 9">
            <a:extLst>
              <a:ext uri="{FF2B5EF4-FFF2-40B4-BE49-F238E27FC236}">
                <a16:creationId xmlns:a16="http://schemas.microsoft.com/office/drawing/2014/main" id="{DDA9F0CF-461A-BB90-ED37-0239859C95C2}"/>
              </a:ext>
            </a:extLst>
          </p:cNvPr>
          <p:cNvSpPr/>
          <p:nvPr/>
        </p:nvSpPr>
        <p:spPr>
          <a:xfrm>
            <a:off x="8060055" y="2007108"/>
            <a:ext cx="3413760" cy="936602"/>
          </a:xfrm>
          <a:prstGeom prst="roundRect">
            <a:avLst/>
          </a:prstGeom>
          <a:solidFill>
            <a:schemeClr val="accent2"/>
          </a:solidFill>
          <a:ln w="381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endParaRPr>
          </a:p>
        </p:txBody>
      </p:sp>
      <p:sp>
        <p:nvSpPr>
          <p:cNvPr id="27" name="Text 11">
            <a:extLst>
              <a:ext uri="{FF2B5EF4-FFF2-40B4-BE49-F238E27FC236}">
                <a16:creationId xmlns:a16="http://schemas.microsoft.com/office/drawing/2014/main" id="{A098057A-283F-CABF-1C32-7D75A66863B8}"/>
              </a:ext>
            </a:extLst>
          </p:cNvPr>
          <p:cNvSpPr/>
          <p:nvPr/>
        </p:nvSpPr>
        <p:spPr>
          <a:xfrm>
            <a:off x="8783248" y="2197278"/>
            <a:ext cx="2592675" cy="548640"/>
          </a:xfrm>
          <a:prstGeom prst="rect">
            <a:avLst/>
          </a:prstGeom>
          <a:noFill/>
          <a:ln/>
        </p:spPr>
        <p:txBody>
          <a:bodyPr wrap="square" lIns="0" tIns="0" rIns="0" bIns="0" rtlCol="0" anchor="ctr"/>
          <a:lstStyle/>
          <a:p>
            <a:pPr lvl="0" eaLnBrk="1" fontAlgn="auto" hangingPunct="1">
              <a:spcBef>
                <a:spcPts val="0"/>
              </a:spcBef>
              <a:spcAft>
                <a:spcPts val="0"/>
              </a:spcAft>
              <a:defRPr/>
            </a:pPr>
            <a:r>
              <a:rPr lang="en-MY" sz="1600" b="1" kern="0">
                <a:solidFill>
                  <a:schemeClr val="bg1"/>
                </a:solidFill>
                <a:latin typeface="Poppins SemiBold"/>
                <a:cs typeface="Poppins"/>
              </a:rPr>
              <a:t>Undesirable Phone Call</a:t>
            </a:r>
            <a:endParaRPr kumimoji="0" lang="en-US" sz="1600" b="1" i="0" u="none" strike="noStrike" kern="1200" cap="none" spc="0" normalizeH="0" baseline="0" noProof="0">
              <a:ln>
                <a:noFill/>
              </a:ln>
              <a:solidFill>
                <a:schemeClr val="bg1"/>
              </a:solidFill>
              <a:effectLst/>
              <a:uLnTx/>
              <a:uFillTx/>
              <a:latin typeface="Poppins SemiBold"/>
              <a:ea typeface="+mn-ea"/>
              <a:cs typeface="Poppins SemiBold"/>
            </a:endParaRPr>
          </a:p>
        </p:txBody>
      </p:sp>
      <p:sp>
        <p:nvSpPr>
          <p:cNvPr id="29" name="Text 13">
            <a:extLst>
              <a:ext uri="{FF2B5EF4-FFF2-40B4-BE49-F238E27FC236}">
                <a16:creationId xmlns:a16="http://schemas.microsoft.com/office/drawing/2014/main" id="{2860B384-A36D-94F0-7791-CF7E2E1A21DC}"/>
              </a:ext>
            </a:extLst>
          </p:cNvPr>
          <p:cNvSpPr/>
          <p:nvPr/>
        </p:nvSpPr>
        <p:spPr>
          <a:xfrm>
            <a:off x="8303895" y="3038083"/>
            <a:ext cx="2926080" cy="1105991"/>
          </a:xfrm>
          <a:prstGeom prst="rect">
            <a:avLst/>
          </a:prstGeom>
          <a:noFill/>
          <a:ln/>
        </p:spPr>
        <p:txBody>
          <a:bodyPr wrap="square" lIns="0" tIns="0" rIns="0" bIns="0" rtlCol="0" anchor="ctr"/>
          <a:lstStyle/>
          <a:p>
            <a:pPr lvl="0" algn="ctr" eaLnBrk="1" fontAlgn="auto" hangingPunct="1">
              <a:spcBef>
                <a:spcPts val="0"/>
              </a:spcBef>
              <a:spcAft>
                <a:spcPts val="0"/>
              </a:spcAft>
              <a:defRPr/>
            </a:pPr>
            <a:r>
              <a:rPr lang="en-GB" sz="1200" kern="0">
                <a:latin typeface="Poppins"/>
                <a:cs typeface="Poppins"/>
              </a:rPr>
              <a:t>Competitors streamline selection with pre‑filtered, searchable dropdowns and focus on users’ desired degrees rather than past education</a:t>
            </a:r>
            <a:endParaRPr kumimoji="0" lang="en-US" sz="1200" b="0" i="0" u="none" strike="noStrike" kern="1200" cap="none" spc="0" normalizeH="0" baseline="0" noProof="0">
              <a:ln>
                <a:noFill/>
              </a:ln>
              <a:solidFill>
                <a:srgbClr val="3A4A5A"/>
              </a:solidFill>
              <a:effectLst/>
              <a:uLnTx/>
              <a:uFillTx/>
              <a:latin typeface="+mn-lt"/>
              <a:ea typeface="Calibri"/>
              <a:cs typeface="Poppins"/>
            </a:endParaRPr>
          </a:p>
        </p:txBody>
      </p:sp>
      <p:sp>
        <p:nvSpPr>
          <p:cNvPr id="30" name="Shape 14">
            <a:extLst>
              <a:ext uri="{FF2B5EF4-FFF2-40B4-BE49-F238E27FC236}">
                <a16:creationId xmlns:a16="http://schemas.microsoft.com/office/drawing/2014/main" id="{9830AFE2-8D60-06F9-17C7-C8B097A35C70}"/>
              </a:ext>
            </a:extLst>
          </p:cNvPr>
          <p:cNvSpPr>
            <a:spLocks noGrp="1" noRot="1" noMove="1" noResize="1" noEditPoints="1" noAdjustHandles="1" noChangeArrowheads="1" noChangeShapeType="1"/>
          </p:cNvSpPr>
          <p:nvPr/>
        </p:nvSpPr>
        <p:spPr>
          <a:xfrm>
            <a:off x="726040" y="2007108"/>
            <a:ext cx="3413760" cy="4389120"/>
          </a:xfrm>
          <a:prstGeom prst="roundRect">
            <a:avLst/>
          </a:prstGeom>
          <a:solidFill>
            <a:srgbClr val="FFFFFF"/>
          </a:solidFill>
          <a:ln>
            <a:solidFill>
              <a:schemeClr val="accent2"/>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Poppins"/>
              <a:ea typeface="+mn-ea"/>
              <a:cs typeface="+mn-cs"/>
            </a:endParaRPr>
          </a:p>
        </p:txBody>
      </p:sp>
      <p:sp>
        <p:nvSpPr>
          <p:cNvPr id="31" name="Shape 15">
            <a:extLst>
              <a:ext uri="{FF2B5EF4-FFF2-40B4-BE49-F238E27FC236}">
                <a16:creationId xmlns:a16="http://schemas.microsoft.com/office/drawing/2014/main" id="{D86C2F68-12CD-722E-0BA8-57E8E3F77124}"/>
              </a:ext>
            </a:extLst>
          </p:cNvPr>
          <p:cNvSpPr/>
          <p:nvPr/>
        </p:nvSpPr>
        <p:spPr>
          <a:xfrm>
            <a:off x="726040" y="2007108"/>
            <a:ext cx="3413760" cy="936602"/>
          </a:xfrm>
          <a:prstGeom prst="roundRect">
            <a:avLst/>
          </a:prstGeom>
          <a:solidFill>
            <a:schemeClr val="accent2"/>
          </a:solidFill>
          <a:ln w="38100">
            <a:solidFill>
              <a:schemeClr val="bg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Poppins SemiBold" panose="00000700000000000000" pitchFamily="2" charset="0"/>
              <a:ea typeface="+mn-ea"/>
              <a:cs typeface="Poppins SemiBold" panose="00000700000000000000" pitchFamily="2" charset="0"/>
            </a:endParaRPr>
          </a:p>
        </p:txBody>
      </p:sp>
      <p:sp>
        <p:nvSpPr>
          <p:cNvPr id="33" name="Text 17">
            <a:extLst>
              <a:ext uri="{FF2B5EF4-FFF2-40B4-BE49-F238E27FC236}">
                <a16:creationId xmlns:a16="http://schemas.microsoft.com/office/drawing/2014/main" id="{41563A3B-D4ED-03A4-68C3-8298CA86C69C}"/>
              </a:ext>
            </a:extLst>
          </p:cNvPr>
          <p:cNvSpPr/>
          <p:nvPr/>
        </p:nvSpPr>
        <p:spPr>
          <a:xfrm>
            <a:off x="1468473" y="2205754"/>
            <a:ext cx="2446302" cy="548640"/>
          </a:xfrm>
          <a:prstGeom prst="rect">
            <a:avLst/>
          </a:prstGeom>
          <a:noFill/>
          <a:ln/>
        </p:spPr>
        <p:txBody>
          <a:bodyPr wrap="square" lIns="0" tIns="0" rIns="0" bIns="0" rtlCol="0" anchor="ctr"/>
          <a:lstStyle/>
          <a:p>
            <a:pPr lvl="0" eaLnBrk="1" fontAlgn="auto" hangingPunct="1">
              <a:spcBef>
                <a:spcPts val="0"/>
              </a:spcBef>
              <a:spcAft>
                <a:spcPts val="0"/>
              </a:spcAft>
              <a:defRPr/>
            </a:pPr>
            <a:r>
              <a:rPr lang="en-US" sz="1600" b="1" kern="0">
                <a:solidFill>
                  <a:schemeClr val="bg1"/>
                </a:solidFill>
                <a:latin typeface="Poppins SemiBold"/>
                <a:cs typeface="Poppins"/>
              </a:rPr>
              <a:t>Immediate Action Limited To Outreach</a:t>
            </a:r>
            <a:endParaRPr kumimoji="0" lang="en-US" sz="1600" b="1" i="0" u="none" strike="noStrike" kern="1200" cap="none" spc="0" normalizeH="0" baseline="0" noProof="0">
              <a:ln>
                <a:noFill/>
              </a:ln>
              <a:solidFill>
                <a:schemeClr val="bg1"/>
              </a:solidFill>
              <a:effectLst/>
              <a:uLnTx/>
              <a:uFillTx/>
              <a:latin typeface="Poppins SemiBold"/>
              <a:ea typeface="+mn-ea"/>
              <a:cs typeface="Poppins SemiBold"/>
            </a:endParaRPr>
          </a:p>
        </p:txBody>
      </p:sp>
      <p:sp>
        <p:nvSpPr>
          <p:cNvPr id="35" name="Text 19">
            <a:extLst>
              <a:ext uri="{FF2B5EF4-FFF2-40B4-BE49-F238E27FC236}">
                <a16:creationId xmlns:a16="http://schemas.microsoft.com/office/drawing/2014/main" id="{F26D0CEE-D83E-FE61-E0ED-1DAE37DA6BDE}"/>
              </a:ext>
            </a:extLst>
          </p:cNvPr>
          <p:cNvSpPr/>
          <p:nvPr/>
        </p:nvSpPr>
        <p:spPr>
          <a:xfrm>
            <a:off x="908920" y="3063404"/>
            <a:ext cx="3048000" cy="1148343"/>
          </a:xfrm>
          <a:prstGeom prst="rect">
            <a:avLst/>
          </a:prstGeom>
          <a:noFill/>
          <a:ln/>
        </p:spPr>
        <p:txBody>
          <a:bodyPr wrap="square" lIns="0" tIns="0" rIns="0" bIns="0" rtlCol="0" anchor="ctr"/>
          <a:lstStyle/>
          <a:p>
            <a:pPr lvl="0" algn="ctr" eaLnBrk="1" fontAlgn="auto" hangingPunct="1">
              <a:spcBef>
                <a:spcPts val="0"/>
              </a:spcBef>
              <a:spcAft>
                <a:spcPts val="0"/>
              </a:spcAft>
              <a:defRPr/>
            </a:pPr>
            <a:r>
              <a:rPr lang="en-GB" sz="1200" kern="0">
                <a:solidFill>
                  <a:srgbClr val="000000"/>
                </a:solidFill>
                <a:latin typeface="Poppins"/>
                <a:cs typeface="Poppins"/>
              </a:rPr>
              <a:t>Competitors immediately enable multiple next steps after lead capture (call, chat, apply online, or explore programs), while DeVry primarily pushes calls or chats without tailored content or an online apply path</a:t>
            </a:r>
            <a:endParaRPr kumimoji="0" lang="en-US" sz="1200" b="0" i="0" u="none" strike="noStrike" kern="1200" cap="none" spc="0" normalizeH="0" baseline="0" noProof="0">
              <a:ln>
                <a:noFill/>
              </a:ln>
              <a:solidFill>
                <a:srgbClr val="3A4A5A"/>
              </a:solidFill>
              <a:effectLst/>
              <a:uLnTx/>
              <a:uFillTx/>
              <a:latin typeface="Poppins"/>
              <a:ea typeface="Calibri"/>
              <a:cs typeface="Poppins"/>
            </a:endParaRPr>
          </a:p>
        </p:txBody>
      </p:sp>
      <p:sp>
        <p:nvSpPr>
          <p:cNvPr id="10" name="Title 1">
            <a:extLst>
              <a:ext uri="{FF2B5EF4-FFF2-40B4-BE49-F238E27FC236}">
                <a16:creationId xmlns:a16="http://schemas.microsoft.com/office/drawing/2014/main" id="{3B26C290-7737-385F-09FA-785BF198E9C7}"/>
              </a:ext>
            </a:extLst>
          </p:cNvPr>
          <p:cNvSpPr txBox="1">
            <a:spLocks/>
          </p:cNvSpPr>
          <p:nvPr/>
        </p:nvSpPr>
        <p:spPr>
          <a:xfrm>
            <a:off x="520875" y="669494"/>
            <a:ext cx="11150252" cy="1227999"/>
          </a:xfrm>
          <a:prstGeom prst="rect">
            <a:avLst/>
          </a:prstGeom>
        </p:spPr>
        <p:txBody>
          <a:bodyPr vert="horz" lIns="91440" tIns="45720" rIns="91440" bIns="45720" rtlCol="0" anchor="t">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lvl="0" algn="ctr" defTabSz="914369">
              <a:lnSpc>
                <a:spcPct val="95000"/>
              </a:lnSpc>
              <a:defRPr/>
            </a:pPr>
            <a:r>
              <a:rPr lang="en-GB" sz="2800" b="1">
                <a:solidFill>
                  <a:schemeClr val="accent2"/>
                </a:solidFill>
                <a:latin typeface="+mj-lt"/>
              </a:rPr>
              <a:t>Enabling Continued Action Post Inquiry With Clear Next Steps Maintains Momentum</a:t>
            </a:r>
            <a:endParaRPr lang="en-US" sz="2800" b="1">
              <a:solidFill>
                <a:schemeClr val="accent2"/>
              </a:solidFill>
              <a:latin typeface="+mj-lt"/>
            </a:endParaRPr>
          </a:p>
        </p:txBody>
      </p:sp>
      <p:pic>
        <p:nvPicPr>
          <p:cNvPr id="17" name="Graphic 16" descr="Shoe footprints with solid fill">
            <a:extLst>
              <a:ext uri="{FF2B5EF4-FFF2-40B4-BE49-F238E27FC236}">
                <a16:creationId xmlns:a16="http://schemas.microsoft.com/office/drawing/2014/main" id="{565A896A-85FC-7051-1CB6-591452419ED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483600" y="2150945"/>
            <a:ext cx="578210" cy="578210"/>
          </a:xfrm>
          <a:prstGeom prst="rect">
            <a:avLst/>
          </a:prstGeom>
        </p:spPr>
      </p:pic>
      <p:pic>
        <p:nvPicPr>
          <p:cNvPr id="3" name="Graphic 2" descr="Speaker phone with solid fill">
            <a:extLst>
              <a:ext uri="{FF2B5EF4-FFF2-40B4-BE49-F238E27FC236}">
                <a16:creationId xmlns:a16="http://schemas.microsoft.com/office/drawing/2014/main" id="{C1493878-4A96-62EB-F1DE-A3A36A2073B0}"/>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858279" y="2201980"/>
            <a:ext cx="497196" cy="497196"/>
          </a:xfrm>
          <a:prstGeom prst="rect">
            <a:avLst/>
          </a:prstGeom>
        </p:spPr>
      </p:pic>
      <p:pic>
        <p:nvPicPr>
          <p:cNvPr id="28" name="Graphic 27" descr="No Phones with solid fill">
            <a:extLst>
              <a:ext uri="{FF2B5EF4-FFF2-40B4-BE49-F238E27FC236}">
                <a16:creationId xmlns:a16="http://schemas.microsoft.com/office/drawing/2014/main" id="{FB5BBF69-C6C4-F518-FE8E-A69CF695DA47}"/>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8152488" y="2161455"/>
            <a:ext cx="578210" cy="578210"/>
          </a:xfrm>
          <a:prstGeom prst="rect">
            <a:avLst/>
          </a:prstGeom>
        </p:spPr>
      </p:pic>
      <p:sp>
        <p:nvSpPr>
          <p:cNvPr id="2" name="Rectangle: Rounded Corners 1">
            <a:extLst>
              <a:ext uri="{FF2B5EF4-FFF2-40B4-BE49-F238E27FC236}">
                <a16:creationId xmlns:a16="http://schemas.microsoft.com/office/drawing/2014/main" id="{A5E629F9-9995-7488-FF40-89EC301FA646}"/>
              </a:ext>
            </a:extLst>
          </p:cNvPr>
          <p:cNvSpPr/>
          <p:nvPr/>
        </p:nvSpPr>
        <p:spPr>
          <a:xfrm>
            <a:off x="-211873" y="178940"/>
            <a:ext cx="2364523" cy="305926"/>
          </a:xfrm>
          <a:prstGeom prst="roundRect">
            <a:avLst>
              <a:gd name="adj" fmla="val 50000"/>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none" lIns="91440" tIns="45720" rIns="91440" bIns="45720"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0" fontAlgn="base"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Poppins SemiBold"/>
                <a:ea typeface="+mn-ea"/>
                <a:cs typeface="Poppins SemiBold"/>
              </a:rPr>
              <a:t>Lead Nurture</a:t>
            </a:r>
            <a:endParaRPr kumimoji="0" lang="en-US" sz="1800" b="0" i="0" u="sng" strike="noStrike" kern="1200" cap="none" spc="0" normalizeH="0" baseline="0" noProof="0">
              <a:ln>
                <a:noFill/>
              </a:ln>
              <a:solidFill>
                <a:schemeClr val="bg1"/>
              </a:solidFill>
              <a:effectLst/>
              <a:uLnTx/>
              <a:uFillTx/>
              <a:latin typeface="Poppins"/>
              <a:ea typeface="+mn-ea"/>
              <a:cs typeface="+mn-cs"/>
            </a:endParaRPr>
          </a:p>
        </p:txBody>
      </p:sp>
      <p:sp>
        <p:nvSpPr>
          <p:cNvPr id="14" name="Rectangle: Rounded Corners 13">
            <a:extLst>
              <a:ext uri="{FF2B5EF4-FFF2-40B4-BE49-F238E27FC236}">
                <a16:creationId xmlns:a16="http://schemas.microsoft.com/office/drawing/2014/main" id="{C07B02AF-0CA9-4793-0C4C-74A14E61B562}"/>
              </a:ext>
            </a:extLst>
          </p:cNvPr>
          <p:cNvSpPr/>
          <p:nvPr/>
        </p:nvSpPr>
        <p:spPr>
          <a:xfrm>
            <a:off x="1205686" y="4331442"/>
            <a:ext cx="2438759" cy="936602"/>
          </a:xfrm>
          <a:prstGeom prst="roundRect">
            <a:avLst/>
          </a:prstGeom>
          <a:solidFill>
            <a:schemeClr val="accent5"/>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lvl="0" algn="ctr">
              <a:defRPr/>
            </a:pPr>
            <a:r>
              <a:rPr lang="en-US" b="1">
                <a:solidFill>
                  <a:schemeClr val="accent1"/>
                </a:solidFill>
              </a:rPr>
              <a:t>0.3%</a:t>
            </a:r>
            <a:endParaRPr lang="en-US">
              <a:solidFill>
                <a:schemeClr val="accent1"/>
              </a:solidFill>
              <a:cs typeface="Arial"/>
            </a:endParaRPr>
          </a:p>
          <a:p>
            <a:pPr lvl="0" algn="ctr">
              <a:defRPr/>
            </a:pPr>
            <a:r>
              <a:rPr lang="en-US" sz="1100">
                <a:solidFill>
                  <a:schemeClr val="tx1"/>
                </a:solidFill>
              </a:rPr>
              <a:t>inbound calls or chat rate on get-started/thank you</a:t>
            </a:r>
            <a:endParaRPr kumimoji="0" lang="en-US" sz="1100" b="0" i="0" u="none" strike="noStrike" kern="1200" cap="none" spc="0" normalizeH="0" baseline="0" noProof="0">
              <a:ln>
                <a:noFill/>
              </a:ln>
              <a:solidFill>
                <a:schemeClr val="tx1"/>
              </a:solidFill>
              <a:effectLst/>
              <a:uLnTx/>
              <a:uFillTx/>
              <a:latin typeface="Poppins"/>
              <a:ea typeface="+mn-ea"/>
              <a:cs typeface="Poppins"/>
            </a:endParaRPr>
          </a:p>
        </p:txBody>
      </p:sp>
      <p:sp>
        <p:nvSpPr>
          <p:cNvPr id="15" name="Rectangle: Rounded Corners 14">
            <a:extLst>
              <a:ext uri="{FF2B5EF4-FFF2-40B4-BE49-F238E27FC236}">
                <a16:creationId xmlns:a16="http://schemas.microsoft.com/office/drawing/2014/main" id="{D6BEF96A-4B90-92C0-066C-A696FF9920D0}"/>
              </a:ext>
            </a:extLst>
          </p:cNvPr>
          <p:cNvSpPr/>
          <p:nvPr/>
        </p:nvSpPr>
        <p:spPr>
          <a:xfrm>
            <a:off x="1205686" y="5377659"/>
            <a:ext cx="2438759" cy="870022"/>
          </a:xfrm>
          <a:prstGeom prst="roundRect">
            <a:avLst/>
          </a:prstGeom>
          <a:solidFill>
            <a:schemeClr val="accent5"/>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lvl="0" algn="ctr">
              <a:defRPr/>
            </a:pPr>
            <a:r>
              <a:rPr lang="en-US" b="1">
                <a:solidFill>
                  <a:schemeClr val="accent1"/>
                </a:solidFill>
              </a:rPr>
              <a:t>23.2%</a:t>
            </a:r>
            <a:endParaRPr lang="en-US">
              <a:solidFill>
                <a:schemeClr val="accent1"/>
              </a:solidFill>
              <a:cs typeface="Arial"/>
            </a:endParaRPr>
          </a:p>
          <a:p>
            <a:pPr lvl="0" algn="ctr">
              <a:defRPr/>
            </a:pPr>
            <a:r>
              <a:rPr lang="en-US" sz="1100">
                <a:solidFill>
                  <a:schemeClr val="tx1"/>
                </a:solidFill>
              </a:rPr>
              <a:t>main site 2</a:t>
            </a:r>
            <a:r>
              <a:rPr lang="en-US" sz="1100" baseline="30000">
                <a:solidFill>
                  <a:schemeClr val="tx1"/>
                </a:solidFill>
              </a:rPr>
              <a:t>nd</a:t>
            </a:r>
            <a:r>
              <a:rPr lang="en-US" sz="1100">
                <a:solidFill>
                  <a:schemeClr val="tx1"/>
                </a:solidFill>
              </a:rPr>
              <a:t> Inquiry Rate</a:t>
            </a:r>
            <a:endParaRPr kumimoji="0" lang="en-US" sz="1100" b="0" i="0" u="none" strike="noStrike" kern="1200" cap="none" spc="0" normalizeH="0" baseline="0" noProof="0">
              <a:ln>
                <a:noFill/>
              </a:ln>
              <a:solidFill>
                <a:schemeClr val="tx1"/>
              </a:solidFill>
              <a:effectLst/>
              <a:uLnTx/>
              <a:uFillTx/>
              <a:latin typeface="Poppins" pitchFamily="2" charset="77"/>
              <a:ea typeface="Calibri" pitchFamily="34" charset="-122"/>
              <a:cs typeface="Poppins" pitchFamily="2" charset="77"/>
            </a:endParaRPr>
          </a:p>
        </p:txBody>
      </p:sp>
      <p:grpSp>
        <p:nvGrpSpPr>
          <p:cNvPr id="4" name="Group 3">
            <a:extLst>
              <a:ext uri="{FF2B5EF4-FFF2-40B4-BE49-F238E27FC236}">
                <a16:creationId xmlns:a16="http://schemas.microsoft.com/office/drawing/2014/main" id="{1E50D4ED-5B9B-2714-66D9-B83497C3883E}"/>
              </a:ext>
            </a:extLst>
          </p:cNvPr>
          <p:cNvGrpSpPr/>
          <p:nvPr/>
        </p:nvGrpSpPr>
        <p:grpSpPr>
          <a:xfrm>
            <a:off x="4684318" y="4031661"/>
            <a:ext cx="2823362" cy="2274168"/>
            <a:chOff x="4684318" y="3934362"/>
            <a:chExt cx="2823362" cy="2274168"/>
          </a:xfrm>
        </p:grpSpPr>
        <p:pic>
          <p:nvPicPr>
            <p:cNvPr id="26" name="Picture 25">
              <a:extLst>
                <a:ext uri="{FF2B5EF4-FFF2-40B4-BE49-F238E27FC236}">
                  <a16:creationId xmlns:a16="http://schemas.microsoft.com/office/drawing/2014/main" id="{6D1CA463-8FB9-ED8C-5089-C9F57B19D631}"/>
                </a:ext>
              </a:extLst>
            </p:cNvPr>
            <p:cNvPicPr>
              <a:picLocks noChangeAspect="1"/>
            </p:cNvPicPr>
            <p:nvPr/>
          </p:nvPicPr>
          <p:blipFill>
            <a:blip r:embed="rId7"/>
            <a:stretch>
              <a:fillRect/>
            </a:stretch>
          </p:blipFill>
          <p:spPr>
            <a:xfrm>
              <a:off x="4684318" y="4844102"/>
              <a:ext cx="2823362" cy="1364428"/>
            </a:xfrm>
            <a:prstGeom prst="roundRect">
              <a:avLst>
                <a:gd name="adj" fmla="val 16667"/>
              </a:avLst>
            </a:prstGeom>
            <a:ln w="6350">
              <a:solidFill>
                <a:schemeClr val="bg1">
                  <a:lumMod val="85000"/>
                </a:schemeClr>
              </a:solidFill>
            </a:ln>
            <a:effectLst/>
            <a:scene3d>
              <a:camera prst="orthographicFront"/>
              <a:lightRig rig="contrasting" dir="t">
                <a:rot lat="0" lon="0" rev="4200000"/>
              </a:lightRig>
            </a:scene3d>
            <a:sp3d prstMaterial="plastic">
              <a:bevelT w="381000" h="114300" prst="relaxedInset"/>
              <a:contourClr>
                <a:srgbClr val="969696"/>
              </a:contourClr>
            </a:sp3d>
          </p:spPr>
        </p:pic>
        <p:pic>
          <p:nvPicPr>
            <p:cNvPr id="32" name="Picture 31">
              <a:extLst>
                <a:ext uri="{FF2B5EF4-FFF2-40B4-BE49-F238E27FC236}">
                  <a16:creationId xmlns:a16="http://schemas.microsoft.com/office/drawing/2014/main" id="{CA5F1CAD-D21F-6194-BF85-C76EB626BD56}"/>
                </a:ext>
              </a:extLst>
            </p:cNvPr>
            <p:cNvPicPr>
              <a:picLocks noChangeAspect="1"/>
            </p:cNvPicPr>
            <p:nvPr/>
          </p:nvPicPr>
          <p:blipFill>
            <a:blip r:embed="rId8"/>
            <a:srcRect b="35559"/>
            <a:stretch>
              <a:fillRect/>
            </a:stretch>
          </p:blipFill>
          <p:spPr>
            <a:xfrm>
              <a:off x="4684319" y="3934362"/>
              <a:ext cx="2823361" cy="879260"/>
            </a:xfrm>
            <a:prstGeom prst="roundRect">
              <a:avLst>
                <a:gd name="adj" fmla="val 16667"/>
              </a:avLst>
            </a:prstGeom>
            <a:ln w="6350">
              <a:solidFill>
                <a:schemeClr val="bg1">
                  <a:lumMod val="85000"/>
                </a:schemeClr>
              </a:solidFill>
            </a:ln>
            <a:effectLst/>
            <a:scene3d>
              <a:camera prst="orthographicFront"/>
              <a:lightRig rig="contrasting" dir="t">
                <a:rot lat="0" lon="0" rev="4200000"/>
              </a:lightRig>
            </a:scene3d>
            <a:sp3d prstMaterial="plastic">
              <a:bevelT w="381000" h="114300" prst="relaxedInset"/>
              <a:contourClr>
                <a:srgbClr val="969696"/>
              </a:contourClr>
            </a:sp3d>
          </p:spPr>
        </p:pic>
      </p:grpSp>
      <p:pic>
        <p:nvPicPr>
          <p:cNvPr id="20" name="Picture 19">
            <a:extLst>
              <a:ext uri="{FF2B5EF4-FFF2-40B4-BE49-F238E27FC236}">
                <a16:creationId xmlns:a16="http://schemas.microsoft.com/office/drawing/2014/main" id="{E266EBA6-4428-6964-E0BD-2E02D0DE6020}"/>
              </a:ext>
            </a:extLst>
          </p:cNvPr>
          <p:cNvPicPr>
            <a:picLocks noChangeAspect="1"/>
          </p:cNvPicPr>
          <p:nvPr/>
        </p:nvPicPr>
        <p:blipFill>
          <a:blip r:embed="rId9"/>
          <a:stretch>
            <a:fillRect/>
          </a:stretch>
        </p:blipFill>
        <p:spPr>
          <a:xfrm>
            <a:off x="4955472" y="5183985"/>
            <a:ext cx="989207" cy="912918"/>
          </a:xfrm>
          <a:prstGeom prst="rect">
            <a:avLst/>
          </a:prstGeom>
        </p:spPr>
      </p:pic>
      <p:pic>
        <p:nvPicPr>
          <p:cNvPr id="36" name="Picture 35">
            <a:extLst>
              <a:ext uri="{FF2B5EF4-FFF2-40B4-BE49-F238E27FC236}">
                <a16:creationId xmlns:a16="http://schemas.microsoft.com/office/drawing/2014/main" id="{9639CF40-19AD-EBBE-FD0E-599D4F39A658}"/>
              </a:ext>
            </a:extLst>
          </p:cNvPr>
          <p:cNvPicPr>
            <a:picLocks noChangeAspect="1"/>
          </p:cNvPicPr>
          <p:nvPr/>
        </p:nvPicPr>
        <p:blipFill>
          <a:blip r:embed="rId10"/>
          <a:stretch>
            <a:fillRect/>
          </a:stretch>
        </p:blipFill>
        <p:spPr>
          <a:xfrm>
            <a:off x="8341995" y="4380855"/>
            <a:ext cx="2926080" cy="926494"/>
          </a:xfrm>
          <a:prstGeom prst="roundRect">
            <a:avLst>
              <a:gd name="adj" fmla="val 16667"/>
            </a:avLst>
          </a:prstGeom>
          <a:ln w="6350">
            <a:solidFill>
              <a:schemeClr val="bg1">
                <a:lumMod val="85000"/>
              </a:schemeClr>
            </a:solidFill>
          </a:ln>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591905924"/>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691C1-0F0F-9230-9917-69B362A16C77}"/>
            </a:ext>
          </a:extLst>
        </p:cNvPr>
        <p:cNvGrpSpPr/>
        <p:nvPr/>
      </p:nvGrpSpPr>
      <p:grpSpPr>
        <a:xfrm>
          <a:off x="0" y="0"/>
          <a:ext cx="0" cy="0"/>
          <a:chOff x="0" y="0"/>
          <a:chExt cx="0" cy="0"/>
        </a:xfrm>
      </p:grpSpPr>
      <p:sp>
        <p:nvSpPr>
          <p:cNvPr id="18" name="Title 1">
            <a:extLst>
              <a:ext uri="{FF2B5EF4-FFF2-40B4-BE49-F238E27FC236}">
                <a16:creationId xmlns:a16="http://schemas.microsoft.com/office/drawing/2014/main" id="{E7CE8B81-F83D-295F-01C5-889E24123285}"/>
              </a:ext>
            </a:extLst>
          </p:cNvPr>
          <p:cNvSpPr txBox="1">
            <a:spLocks/>
          </p:cNvSpPr>
          <p:nvPr/>
        </p:nvSpPr>
        <p:spPr>
          <a:xfrm>
            <a:off x="520874" y="644426"/>
            <a:ext cx="11150252" cy="1227999"/>
          </a:xfrm>
          <a:prstGeom prst="rect">
            <a:avLst/>
          </a:prstGeom>
        </p:spPr>
        <p:txBody>
          <a:bodyPr vert="horz" lIns="91440" tIns="45720" rIns="91440" bIns="45720" rtlCol="0" anchor="t">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lvl="0" algn="ctr" defTabSz="914369">
              <a:lnSpc>
                <a:spcPct val="95000"/>
              </a:lnSpc>
              <a:defRPr/>
            </a:pPr>
            <a:r>
              <a:rPr lang="en-GB" sz="2800">
                <a:solidFill>
                  <a:schemeClr val="accent2"/>
                </a:solidFill>
                <a:latin typeface="+mj-lt"/>
              </a:rPr>
              <a:t>Optimization Opportunities: </a:t>
            </a:r>
          </a:p>
          <a:p>
            <a:pPr lvl="0" algn="ctr" defTabSz="914369">
              <a:lnSpc>
                <a:spcPct val="95000"/>
              </a:lnSpc>
              <a:defRPr/>
            </a:pPr>
            <a:r>
              <a:rPr lang="en-GB" sz="2800">
                <a:solidFill>
                  <a:schemeClr val="accent2"/>
                </a:solidFill>
                <a:latin typeface="+mj-lt"/>
              </a:rPr>
              <a:t>Keep Leads Engaged &amp; Clarify the Path Forward</a:t>
            </a:r>
            <a:endParaRPr lang="en-US" sz="2800">
              <a:solidFill>
                <a:schemeClr val="accent2"/>
              </a:solidFill>
              <a:latin typeface="+mj-lt"/>
            </a:endParaRPr>
          </a:p>
        </p:txBody>
      </p:sp>
      <p:sp>
        <p:nvSpPr>
          <p:cNvPr id="19" name="Rectangle: Rounded Corners 18">
            <a:extLst>
              <a:ext uri="{FF2B5EF4-FFF2-40B4-BE49-F238E27FC236}">
                <a16:creationId xmlns:a16="http://schemas.microsoft.com/office/drawing/2014/main" id="{55E48CCF-AAA7-60E5-707C-F9999CCE7216}"/>
              </a:ext>
            </a:extLst>
          </p:cNvPr>
          <p:cNvSpPr/>
          <p:nvPr/>
        </p:nvSpPr>
        <p:spPr>
          <a:xfrm flipV="1">
            <a:off x="3443526" y="4340816"/>
            <a:ext cx="2560320" cy="2103120"/>
          </a:xfrm>
          <a:prstGeom prst="roundRect">
            <a:avLst>
              <a:gd name="adj" fmla="val 7970"/>
            </a:avLst>
          </a:prstGeom>
          <a:solidFill>
            <a:schemeClr val="accent4"/>
          </a:solidFill>
          <a:ln w="22225">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Rounded Corners 19">
            <a:extLst>
              <a:ext uri="{FF2B5EF4-FFF2-40B4-BE49-F238E27FC236}">
                <a16:creationId xmlns:a16="http://schemas.microsoft.com/office/drawing/2014/main" id="{EA367C4C-B90A-8427-81D7-B9D0D777FE3B}"/>
              </a:ext>
            </a:extLst>
          </p:cNvPr>
          <p:cNvSpPr/>
          <p:nvPr/>
        </p:nvSpPr>
        <p:spPr>
          <a:xfrm flipV="1">
            <a:off x="6188155" y="4252913"/>
            <a:ext cx="2560320" cy="2191023"/>
          </a:xfrm>
          <a:prstGeom prst="roundRect">
            <a:avLst>
              <a:gd name="adj" fmla="val 7970"/>
            </a:avLst>
          </a:prstGeom>
          <a:solidFill>
            <a:schemeClr val="accent4"/>
          </a:solidFill>
          <a:ln w="22225">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Rounded Corners 20">
            <a:extLst>
              <a:ext uri="{FF2B5EF4-FFF2-40B4-BE49-F238E27FC236}">
                <a16:creationId xmlns:a16="http://schemas.microsoft.com/office/drawing/2014/main" id="{18E2760C-2AB6-1162-EEF8-63C3119387B6}"/>
              </a:ext>
            </a:extLst>
          </p:cNvPr>
          <p:cNvSpPr/>
          <p:nvPr/>
        </p:nvSpPr>
        <p:spPr>
          <a:xfrm flipV="1">
            <a:off x="8932783" y="4340816"/>
            <a:ext cx="2560320" cy="2103120"/>
          </a:xfrm>
          <a:prstGeom prst="roundRect">
            <a:avLst>
              <a:gd name="adj" fmla="val 7970"/>
            </a:avLst>
          </a:prstGeom>
          <a:solidFill>
            <a:schemeClr val="accent4"/>
          </a:solidFill>
          <a:ln w="22225">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CFB161EE-FF57-07D6-076F-70FD02F6C480}"/>
              </a:ext>
            </a:extLst>
          </p:cNvPr>
          <p:cNvSpPr/>
          <p:nvPr/>
        </p:nvSpPr>
        <p:spPr>
          <a:xfrm>
            <a:off x="8968115" y="4618385"/>
            <a:ext cx="2478024" cy="1680973"/>
          </a:xfrm>
          <a:prstGeom prst="rect">
            <a:avLst/>
          </a:prstGeom>
        </p:spPr>
        <p:txBody>
          <a:bodyPr wrap="square" lIns="91440" tIns="45720" rIns="91440" bIns="45720" anchor="t">
            <a:spAutoFit/>
          </a:bodyPr>
          <a:lstStyle/>
          <a:p>
            <a:pPr marL="0" marR="0" lvl="0" indent="0" algn="ctr" defTabSz="914400" rtl="0" eaLnBrk="0" fontAlgn="base" latinLnBrk="0" hangingPunct="0">
              <a:lnSpc>
                <a:spcPct val="112000"/>
              </a:lnSpc>
              <a:spcBef>
                <a:spcPct val="0"/>
              </a:spcBef>
              <a:spcAft>
                <a:spcPts val="900"/>
              </a:spcAft>
              <a:buClrTx/>
              <a:buSzTx/>
              <a:buFontTx/>
              <a:buNone/>
              <a:tabLst/>
              <a:defRPr/>
            </a:pPr>
            <a:r>
              <a:rPr kumimoji="0" lang="en-US" sz="1400" b="0" i="0" u="none" strike="noStrike" kern="1200" cap="none" spc="0" normalizeH="0" baseline="0" noProof="0">
                <a:ln>
                  <a:noFill/>
                </a:ln>
                <a:solidFill>
                  <a:schemeClr val="accent1"/>
                </a:solidFill>
                <a:effectLst/>
                <a:uLnTx/>
                <a:uFillTx/>
                <a:latin typeface="Poppins SemiBold" panose="00000700000000000000" pitchFamily="2" charset="0"/>
                <a:ea typeface="Calibri"/>
                <a:cs typeface="Poppins SemiBold" panose="00000700000000000000" pitchFamily="2" charset="0"/>
              </a:rPr>
              <a:t>RE-FRAME THE CALL</a:t>
            </a:r>
          </a:p>
          <a:p>
            <a:pPr marL="0" marR="0" lvl="0" indent="0" algn="ctr" defTabSz="914400" rtl="0" eaLnBrk="0" fontAlgn="base" latinLnBrk="0" hangingPunct="0">
              <a:lnSpc>
                <a:spcPct val="112000"/>
              </a:lnSpc>
              <a:spcBef>
                <a:spcPct val="0"/>
              </a:spcBef>
              <a:spcAft>
                <a:spcPts val="900"/>
              </a:spcAft>
              <a:buClrTx/>
              <a:buSzTx/>
              <a:buFontTx/>
              <a:buNone/>
              <a:tabLst/>
              <a:defRPr/>
            </a:pPr>
            <a:r>
              <a:rPr kumimoji="0" lang="en-GB" sz="1200" b="0" i="0" u="none" strike="noStrike" kern="1200" cap="none" spc="0" normalizeH="0" baseline="0" noProof="0">
                <a:ln>
                  <a:noFill/>
                </a:ln>
                <a:effectLst/>
                <a:uLnTx/>
                <a:uFillTx/>
                <a:latin typeface="Poppins"/>
                <a:ea typeface="Calibri"/>
                <a:cs typeface="Poppins"/>
              </a:rPr>
              <a:t>DeVry should clearly communicate the benefits of its enrollment concierge and position it as a value‑added support service—not just a process step</a:t>
            </a:r>
            <a:endParaRPr kumimoji="0" lang="en-US" sz="1800" b="0" i="0" u="none" strike="noStrike" kern="1200" cap="none" spc="0" normalizeH="0" baseline="0" noProof="0">
              <a:ln>
                <a:noFill/>
              </a:ln>
              <a:effectLst/>
              <a:uLnTx/>
              <a:uFillTx/>
              <a:latin typeface="Calibri" panose="020F0502020204030204" pitchFamily="34" charset="0"/>
              <a:ea typeface="+mn-ea"/>
              <a:cs typeface="+mn-cs"/>
            </a:endParaRPr>
          </a:p>
        </p:txBody>
      </p:sp>
      <p:sp>
        <p:nvSpPr>
          <p:cNvPr id="23" name="Rectangle 22">
            <a:extLst>
              <a:ext uri="{FF2B5EF4-FFF2-40B4-BE49-F238E27FC236}">
                <a16:creationId xmlns:a16="http://schemas.microsoft.com/office/drawing/2014/main" id="{F17AB73D-F245-70AE-CA96-1E8AB1EFD479}"/>
              </a:ext>
            </a:extLst>
          </p:cNvPr>
          <p:cNvSpPr/>
          <p:nvPr/>
        </p:nvSpPr>
        <p:spPr>
          <a:xfrm>
            <a:off x="3441477" y="4618385"/>
            <a:ext cx="2478024" cy="1267848"/>
          </a:xfrm>
          <a:prstGeom prst="rect">
            <a:avLst/>
          </a:prstGeom>
        </p:spPr>
        <p:txBody>
          <a:bodyPr wrap="square" lIns="91440" tIns="45720" rIns="91440" bIns="45720" anchor="t">
            <a:spAutoFit/>
          </a:bodyPr>
          <a:lstStyle/>
          <a:p>
            <a:pPr marL="0" marR="0" lvl="0" indent="0" algn="ctr" defTabSz="914400" rtl="0" eaLnBrk="0" fontAlgn="base" latinLnBrk="0" hangingPunct="0">
              <a:lnSpc>
                <a:spcPct val="112000"/>
              </a:lnSpc>
              <a:spcBef>
                <a:spcPct val="0"/>
              </a:spcBef>
              <a:spcAft>
                <a:spcPts val="900"/>
              </a:spcAft>
              <a:buClrTx/>
              <a:buSzTx/>
              <a:buFontTx/>
              <a:buNone/>
              <a:tabLst/>
              <a:defRPr/>
            </a:pPr>
            <a:r>
              <a:rPr kumimoji="0" lang="en-US" sz="1400" b="0" i="0" u="none" strike="noStrike" kern="1200" cap="none" spc="0" normalizeH="0" baseline="0" noProof="0">
                <a:ln>
                  <a:noFill/>
                </a:ln>
                <a:solidFill>
                  <a:schemeClr val="accent1"/>
                </a:solidFill>
                <a:effectLst/>
                <a:uLnTx/>
                <a:uFillTx/>
                <a:latin typeface="Poppins SemiBold"/>
                <a:ea typeface="Calibri"/>
                <a:cs typeface="Poppins SemiBold"/>
              </a:rPr>
              <a:t>OUTLINE PROCESS</a:t>
            </a:r>
            <a:endParaRPr kumimoji="0" lang="en-US" sz="1800" b="0" i="0" u="none" strike="noStrike" kern="1200" cap="none" spc="0" normalizeH="0" baseline="0" noProof="0">
              <a:ln>
                <a:noFill/>
              </a:ln>
              <a:solidFill>
                <a:schemeClr val="accent1"/>
              </a:solidFill>
              <a:effectLst/>
              <a:uLnTx/>
              <a:uFillTx/>
              <a:latin typeface="Calibri" panose="020F0502020204030204" pitchFamily="34" charset="0"/>
              <a:ea typeface="+mn-ea"/>
              <a:cs typeface="+mn-cs"/>
            </a:endParaRPr>
          </a:p>
          <a:p>
            <a:pPr marL="0" marR="0" lvl="0" indent="0" algn="ctr" defTabSz="914400" rtl="0" eaLnBrk="0" fontAlgn="base" latinLnBrk="0" hangingPunct="0">
              <a:lnSpc>
                <a:spcPct val="112000"/>
              </a:lnSpc>
              <a:spcBef>
                <a:spcPct val="0"/>
              </a:spcBef>
              <a:spcAft>
                <a:spcPct val="0"/>
              </a:spcAft>
              <a:buClrTx/>
              <a:buSzTx/>
              <a:buFontTx/>
              <a:buNone/>
              <a:tabLst/>
              <a:defRPr/>
            </a:pPr>
            <a:r>
              <a:rPr kumimoji="0" lang="en-US" sz="1200" b="0" i="0" u="none" strike="noStrike" kern="1200" cap="none" spc="0" normalizeH="0" baseline="0" noProof="0">
                <a:ln>
                  <a:noFill/>
                </a:ln>
                <a:effectLst/>
                <a:uLnTx/>
                <a:uFillTx/>
                <a:latin typeface="Poppins"/>
                <a:ea typeface="Calibri"/>
                <a:cs typeface="Poppins"/>
              </a:rPr>
              <a:t>Outline enrollment process steps and make them feel manageable</a:t>
            </a:r>
          </a:p>
          <a:p>
            <a:pPr marL="0" marR="0" lvl="0" indent="0" algn="ctr" defTabSz="914400" rtl="0" eaLnBrk="0" fontAlgn="base" latinLnBrk="0" hangingPunct="0">
              <a:lnSpc>
                <a:spcPct val="112000"/>
              </a:lnSpc>
              <a:spcBef>
                <a:spcPct val="0"/>
              </a:spcBef>
              <a:spcAft>
                <a:spcPts val="90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Poppins"/>
              <a:ea typeface="Calibri"/>
              <a:cs typeface="Poppins"/>
            </a:endParaRPr>
          </a:p>
        </p:txBody>
      </p:sp>
      <p:sp>
        <p:nvSpPr>
          <p:cNvPr id="24" name="Rectangle 23">
            <a:extLst>
              <a:ext uri="{FF2B5EF4-FFF2-40B4-BE49-F238E27FC236}">
                <a16:creationId xmlns:a16="http://schemas.microsoft.com/office/drawing/2014/main" id="{16677C7E-0107-7971-A70A-9786FAFD9B58}"/>
              </a:ext>
            </a:extLst>
          </p:cNvPr>
          <p:cNvSpPr/>
          <p:nvPr/>
        </p:nvSpPr>
        <p:spPr>
          <a:xfrm>
            <a:off x="6231540" y="4618385"/>
            <a:ext cx="2484472" cy="1474121"/>
          </a:xfrm>
          <a:prstGeom prst="rect">
            <a:avLst/>
          </a:prstGeom>
        </p:spPr>
        <p:txBody>
          <a:bodyPr wrap="square" lIns="91440" tIns="45720" rIns="91440" bIns="45720" anchor="t">
            <a:spAutoFit/>
          </a:bodyPr>
          <a:lstStyle/>
          <a:p>
            <a:pPr marL="0" marR="0" lvl="0" indent="0" algn="ctr" defTabSz="914400" rtl="0" eaLnBrk="0" fontAlgn="base" latinLnBrk="0" hangingPunct="0">
              <a:lnSpc>
                <a:spcPct val="112000"/>
              </a:lnSpc>
              <a:spcBef>
                <a:spcPct val="0"/>
              </a:spcBef>
              <a:spcAft>
                <a:spcPts val="900"/>
              </a:spcAft>
              <a:buClrTx/>
              <a:buSzTx/>
              <a:buFontTx/>
              <a:buNone/>
              <a:tabLst/>
              <a:defRPr/>
            </a:pPr>
            <a:r>
              <a:rPr kumimoji="0" lang="en-US" sz="1400" b="0" i="0" u="none" strike="noStrike" kern="1200" cap="none" spc="0" normalizeH="0" baseline="0" noProof="0">
                <a:ln>
                  <a:noFill/>
                </a:ln>
                <a:solidFill>
                  <a:schemeClr val="accent1"/>
                </a:solidFill>
                <a:effectLst/>
                <a:uLnTx/>
                <a:uFillTx/>
                <a:latin typeface="Poppins SemiBold" panose="00000700000000000000" pitchFamily="2" charset="0"/>
                <a:ea typeface="Calibri"/>
                <a:cs typeface="Poppins SemiBold" panose="00000700000000000000" pitchFamily="2" charset="0"/>
              </a:rPr>
              <a:t>PRIORITIZE WITH DATA</a:t>
            </a:r>
          </a:p>
          <a:p>
            <a:pPr marL="0" marR="0" lvl="0" indent="0" algn="ctr" defTabSz="914400" rtl="0" eaLnBrk="0" fontAlgn="base" latinLnBrk="0" hangingPunct="0">
              <a:lnSpc>
                <a:spcPct val="112000"/>
              </a:lnSpc>
              <a:spcBef>
                <a:spcPct val="0"/>
              </a:spcBef>
              <a:spcAft>
                <a:spcPts val="900"/>
              </a:spcAft>
              <a:buClrTx/>
              <a:buSzTx/>
              <a:buFontTx/>
              <a:buNone/>
              <a:tabLst/>
              <a:defRPr/>
            </a:pPr>
            <a:r>
              <a:rPr kumimoji="0" lang="en-GB" sz="1200" b="0" i="0" u="none" strike="noStrike" kern="1200" cap="none" spc="0" normalizeH="0" baseline="0" noProof="0">
                <a:ln>
                  <a:noFill/>
                </a:ln>
                <a:effectLst/>
                <a:uLnTx/>
                <a:uFillTx/>
                <a:latin typeface="Poppins"/>
                <a:ea typeface="Calibri"/>
                <a:cs typeface="Poppins"/>
              </a:rPr>
              <a:t>Use readiness data to signal where leads likely are in their journey, validate journey stage, and prioritize outbound dialers accordingly</a:t>
            </a:r>
            <a:endParaRPr kumimoji="0" lang="en-US" sz="1800" b="0" i="0" u="none" strike="noStrike" kern="1200" cap="none" spc="0" normalizeH="0" baseline="0" noProof="0">
              <a:ln>
                <a:noFill/>
              </a:ln>
              <a:effectLst/>
              <a:uLnTx/>
              <a:uFillTx/>
              <a:latin typeface="Calibri" panose="020F0502020204030204" pitchFamily="34" charset="0"/>
              <a:ea typeface="+mn-ea"/>
              <a:cs typeface="+mn-cs"/>
            </a:endParaRPr>
          </a:p>
        </p:txBody>
      </p:sp>
      <p:sp>
        <p:nvSpPr>
          <p:cNvPr id="25" name="Rectangle: Rounded Corners 24">
            <a:extLst>
              <a:ext uri="{FF2B5EF4-FFF2-40B4-BE49-F238E27FC236}">
                <a16:creationId xmlns:a16="http://schemas.microsoft.com/office/drawing/2014/main" id="{4C773EA5-3AF3-C8E5-DD5F-C6009EFC19F8}"/>
              </a:ext>
            </a:extLst>
          </p:cNvPr>
          <p:cNvSpPr/>
          <p:nvPr/>
        </p:nvSpPr>
        <p:spPr>
          <a:xfrm flipV="1">
            <a:off x="698897" y="4340816"/>
            <a:ext cx="2560320" cy="2103120"/>
          </a:xfrm>
          <a:prstGeom prst="roundRect">
            <a:avLst>
              <a:gd name="adj" fmla="val 7970"/>
            </a:avLst>
          </a:prstGeom>
          <a:solidFill>
            <a:schemeClr val="accent4"/>
          </a:solidFill>
          <a:ln w="22225">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3214E3E8-693D-6270-E89F-DF87B6D2E8C9}"/>
              </a:ext>
            </a:extLst>
          </p:cNvPr>
          <p:cNvSpPr/>
          <p:nvPr/>
        </p:nvSpPr>
        <p:spPr>
          <a:xfrm>
            <a:off x="737908" y="4618385"/>
            <a:ext cx="2484472" cy="1508555"/>
          </a:xfrm>
          <a:prstGeom prst="rect">
            <a:avLst/>
          </a:prstGeom>
        </p:spPr>
        <p:txBody>
          <a:bodyPr wrap="square" lIns="91440" tIns="45720" rIns="91440" bIns="45720" anchor="t">
            <a:spAutoFit/>
          </a:bodyPr>
          <a:lstStyle/>
          <a:p>
            <a:pPr marL="0" marR="0" lvl="0" indent="0" algn="ctr" defTabSz="914400" rtl="0" eaLnBrk="0" fontAlgn="base" latinLnBrk="0" hangingPunct="0">
              <a:lnSpc>
                <a:spcPct val="112000"/>
              </a:lnSpc>
              <a:spcBef>
                <a:spcPct val="0"/>
              </a:spcBef>
              <a:spcAft>
                <a:spcPts val="900"/>
              </a:spcAft>
              <a:buClrTx/>
              <a:buSzTx/>
              <a:buFontTx/>
              <a:buNone/>
              <a:tabLst/>
              <a:defRPr/>
            </a:pPr>
            <a:r>
              <a:rPr kumimoji="0" lang="en-US" sz="1400" b="0" i="0" u="none" strike="noStrike" kern="1200" cap="none" spc="0" normalizeH="0" baseline="0" noProof="0">
                <a:ln>
                  <a:noFill/>
                </a:ln>
                <a:solidFill>
                  <a:schemeClr val="accent1"/>
                </a:solidFill>
                <a:effectLst/>
                <a:uLnTx/>
                <a:uFillTx/>
                <a:latin typeface="Poppins SemiBold"/>
                <a:ea typeface="Calibri"/>
                <a:cs typeface="Poppins SemiBold"/>
              </a:rPr>
              <a:t>ENCOURAGE EXPLORATION</a:t>
            </a:r>
            <a:endParaRPr kumimoji="0" lang="en-US" sz="1800" b="0" i="0" u="none" strike="noStrike" kern="1200" cap="none" spc="0" normalizeH="0" baseline="0" noProof="0">
              <a:ln>
                <a:noFill/>
              </a:ln>
              <a:solidFill>
                <a:schemeClr val="accent1"/>
              </a:solidFill>
              <a:effectLst/>
              <a:uLnTx/>
              <a:uFillTx/>
              <a:latin typeface="Calibri" panose="020F0502020204030204" pitchFamily="34" charset="0"/>
              <a:ea typeface="+mn-ea"/>
              <a:cs typeface="+mn-cs"/>
            </a:endParaRPr>
          </a:p>
          <a:p>
            <a:pPr marL="0" marR="0" lvl="0" indent="0" algn="ctr" defTabSz="914400" rtl="0" eaLnBrk="0" fontAlgn="base" latinLnBrk="0" hangingPunct="0">
              <a:lnSpc>
                <a:spcPct val="112000"/>
              </a:lnSpc>
              <a:spcBef>
                <a:spcPct val="0"/>
              </a:spcBef>
              <a:spcAft>
                <a:spcPts val="900"/>
              </a:spcAft>
              <a:buClrTx/>
              <a:buSzTx/>
              <a:buFontTx/>
              <a:buNone/>
              <a:tabLst/>
              <a:defRPr/>
            </a:pPr>
            <a:r>
              <a:rPr kumimoji="0" lang="en-US" sz="1200" b="0" i="0" u="none" strike="noStrike" kern="1200" cap="none" spc="0" normalizeH="0" baseline="0" noProof="0">
                <a:ln>
                  <a:noFill/>
                </a:ln>
                <a:effectLst/>
                <a:uLnTx/>
                <a:uFillTx/>
                <a:latin typeface="Poppins"/>
                <a:ea typeface="Calibri"/>
                <a:cs typeface="Poppins"/>
              </a:rPr>
              <a:t>Enrollment and tailored program exploration CTAs keep users engaged while they wait for a call</a:t>
            </a:r>
            <a:endParaRPr kumimoji="0" lang="en-US" sz="1800" b="0" i="0" u="none" strike="noStrike" kern="1200" cap="none" spc="0" normalizeH="0" baseline="0" noProof="0">
              <a:ln>
                <a:noFill/>
              </a:ln>
              <a:effectLst/>
              <a:uLnTx/>
              <a:uFillTx/>
              <a:latin typeface="Calibri" panose="020F0502020204030204" pitchFamily="34" charset="0"/>
              <a:ea typeface="+mn-ea"/>
              <a:cs typeface="+mn-cs"/>
            </a:endParaRPr>
          </a:p>
        </p:txBody>
      </p:sp>
      <p:pic>
        <p:nvPicPr>
          <p:cNvPr id="27" name="Picture 26">
            <a:extLst>
              <a:ext uri="{FF2B5EF4-FFF2-40B4-BE49-F238E27FC236}">
                <a16:creationId xmlns:a16="http://schemas.microsoft.com/office/drawing/2014/main" id="{1B39226C-65A7-FFE4-0C19-6C5AC57DE90E}"/>
              </a:ext>
            </a:extLst>
          </p:cNvPr>
          <p:cNvPicPr>
            <a:picLocks/>
          </p:cNvPicPr>
          <p:nvPr/>
        </p:nvPicPr>
        <p:blipFill>
          <a:blip r:embed="rId4"/>
          <a:srcRect t="1920" b="1920"/>
          <a:stretch/>
        </p:blipFill>
        <p:spPr>
          <a:xfrm>
            <a:off x="698897" y="1759592"/>
            <a:ext cx="2562925" cy="2743199"/>
          </a:xfrm>
          <a:prstGeom prst="round2SameRect">
            <a:avLst>
              <a:gd name="adj1" fmla="val 8679"/>
              <a:gd name="adj2" fmla="val 0"/>
            </a:avLst>
          </a:prstGeom>
          <a:ln w="12700">
            <a:solidFill>
              <a:schemeClr val="accent4"/>
            </a:solidFill>
          </a:ln>
        </p:spPr>
      </p:pic>
      <p:pic>
        <p:nvPicPr>
          <p:cNvPr id="28" name="Picture 27">
            <a:extLst>
              <a:ext uri="{FF2B5EF4-FFF2-40B4-BE49-F238E27FC236}">
                <a16:creationId xmlns:a16="http://schemas.microsoft.com/office/drawing/2014/main" id="{7908403A-2A80-91DA-49FF-B2560EFFF4CA}"/>
              </a:ext>
            </a:extLst>
          </p:cNvPr>
          <p:cNvPicPr>
            <a:picLocks/>
          </p:cNvPicPr>
          <p:nvPr/>
        </p:nvPicPr>
        <p:blipFill>
          <a:blip r:embed="rId5"/>
          <a:srcRect l="7210" r="7210"/>
          <a:stretch/>
        </p:blipFill>
        <p:spPr>
          <a:xfrm>
            <a:off x="6188155" y="1695606"/>
            <a:ext cx="2560320" cy="2807185"/>
          </a:xfrm>
          <a:prstGeom prst="round2SameRect">
            <a:avLst>
              <a:gd name="adj1" fmla="val 8679"/>
              <a:gd name="adj2" fmla="val 0"/>
            </a:avLst>
          </a:prstGeom>
          <a:ln w="12700">
            <a:solidFill>
              <a:schemeClr val="accent4"/>
            </a:solidFill>
          </a:ln>
        </p:spPr>
      </p:pic>
      <p:pic>
        <p:nvPicPr>
          <p:cNvPr id="29" name="Picture 28">
            <a:extLst>
              <a:ext uri="{FF2B5EF4-FFF2-40B4-BE49-F238E27FC236}">
                <a16:creationId xmlns:a16="http://schemas.microsoft.com/office/drawing/2014/main" id="{1788A666-0B27-67FA-95F5-376976B75E98}"/>
              </a:ext>
            </a:extLst>
          </p:cNvPr>
          <p:cNvPicPr>
            <a:picLocks/>
          </p:cNvPicPr>
          <p:nvPr/>
        </p:nvPicPr>
        <p:blipFill>
          <a:blip r:embed="rId6"/>
          <a:srcRect l="3483" r="3483"/>
          <a:stretch/>
        </p:blipFill>
        <p:spPr>
          <a:xfrm>
            <a:off x="8928198" y="1696092"/>
            <a:ext cx="2567394" cy="2806699"/>
          </a:xfrm>
          <a:prstGeom prst="round2SameRect">
            <a:avLst>
              <a:gd name="adj1" fmla="val 8679"/>
              <a:gd name="adj2" fmla="val 0"/>
            </a:avLst>
          </a:prstGeom>
          <a:ln w="12700">
            <a:solidFill>
              <a:schemeClr val="accent4"/>
            </a:solidFill>
          </a:ln>
        </p:spPr>
      </p:pic>
      <p:pic>
        <p:nvPicPr>
          <p:cNvPr id="30" name="Picture 29">
            <a:extLst>
              <a:ext uri="{FF2B5EF4-FFF2-40B4-BE49-F238E27FC236}">
                <a16:creationId xmlns:a16="http://schemas.microsoft.com/office/drawing/2014/main" id="{99DA5029-9356-9047-304D-759D36E35095}"/>
              </a:ext>
            </a:extLst>
          </p:cNvPr>
          <p:cNvPicPr>
            <a:picLocks/>
          </p:cNvPicPr>
          <p:nvPr/>
        </p:nvPicPr>
        <p:blipFill>
          <a:blip r:embed="rId7"/>
          <a:srcRect t="1107" b="1107"/>
          <a:stretch/>
        </p:blipFill>
        <p:spPr>
          <a:xfrm>
            <a:off x="3443526" y="1759592"/>
            <a:ext cx="2567394" cy="2743199"/>
          </a:xfrm>
          <a:prstGeom prst="round2SameRect">
            <a:avLst>
              <a:gd name="adj1" fmla="val 8679"/>
              <a:gd name="adj2" fmla="val 0"/>
            </a:avLst>
          </a:prstGeom>
          <a:ln w="12700">
            <a:solidFill>
              <a:schemeClr val="accent4"/>
            </a:solidFill>
          </a:ln>
        </p:spPr>
      </p:pic>
      <p:sp>
        <p:nvSpPr>
          <p:cNvPr id="5" name="Rectangle: Rounded Corners 4">
            <a:extLst>
              <a:ext uri="{FF2B5EF4-FFF2-40B4-BE49-F238E27FC236}">
                <a16:creationId xmlns:a16="http://schemas.microsoft.com/office/drawing/2014/main" id="{B7DF1038-ADF9-3397-E382-AD611DF2CA56}"/>
              </a:ext>
            </a:extLst>
          </p:cNvPr>
          <p:cNvSpPr/>
          <p:nvPr/>
        </p:nvSpPr>
        <p:spPr>
          <a:xfrm>
            <a:off x="-211873" y="178940"/>
            <a:ext cx="2364523" cy="305926"/>
          </a:xfrm>
          <a:prstGeom prst="roundRect">
            <a:avLst>
              <a:gd name="adj" fmla="val 50000"/>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none" lIns="91440" tIns="45720" rIns="91440" bIns="45720"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0" fontAlgn="base"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Poppins SemiBold"/>
                <a:ea typeface="+mn-ea"/>
                <a:cs typeface="Poppins SemiBold"/>
              </a:rPr>
              <a:t>Lead Nurture</a:t>
            </a:r>
            <a:endParaRPr kumimoji="0" lang="en-US" sz="1800" b="0" i="0" u="sng" strike="noStrike" kern="1200" cap="none" spc="0" normalizeH="0" baseline="0" noProof="0">
              <a:ln>
                <a:noFill/>
              </a:ln>
              <a:solidFill>
                <a:schemeClr val="bg1"/>
              </a:solidFill>
              <a:effectLst/>
              <a:uLnTx/>
              <a:uFillTx/>
              <a:latin typeface="Poppins"/>
              <a:ea typeface="+mn-ea"/>
              <a:cs typeface="+mn-cs"/>
            </a:endParaRPr>
          </a:p>
        </p:txBody>
      </p:sp>
    </p:spTree>
    <p:extLst>
      <p:ext uri="{BB962C8B-B14F-4D97-AF65-F5344CB8AC3E}">
        <p14:creationId xmlns:p14="http://schemas.microsoft.com/office/powerpoint/2010/main" val="1450846778"/>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a:extLst>
            <a:ext uri="{FF2B5EF4-FFF2-40B4-BE49-F238E27FC236}">
              <a16:creationId xmlns:a16="http://schemas.microsoft.com/office/drawing/2014/main" id="{288B284E-B538-19E1-7E97-581A754DE914}"/>
            </a:ext>
          </a:extLst>
        </p:cNvPr>
        <p:cNvGrpSpPr/>
        <p:nvPr/>
      </p:nvGrpSpPr>
      <p:grpSpPr>
        <a:xfrm>
          <a:off x="0" y="0"/>
          <a:ext cx="0" cy="0"/>
          <a:chOff x="0" y="0"/>
          <a:chExt cx="0" cy="0"/>
        </a:xfrm>
      </p:grpSpPr>
      <p:pic>
        <p:nvPicPr>
          <p:cNvPr id="3" name="Picture 2" descr="A blue triangle on a blue background&#10;&#10;AI-generated content may be incorrect.">
            <a:extLst>
              <a:ext uri="{FF2B5EF4-FFF2-40B4-BE49-F238E27FC236}">
                <a16:creationId xmlns:a16="http://schemas.microsoft.com/office/drawing/2014/main" id="{740E1189-74DC-6ECE-07E1-90047D0740B9}"/>
              </a:ext>
            </a:extLst>
          </p:cNvPr>
          <p:cNvPicPr>
            <a:picLocks noChangeAspect="1"/>
          </p:cNvPicPr>
          <p:nvPr/>
        </p:nvPicPr>
        <p:blipFill>
          <a:blip r:embed="rId3"/>
          <a:srcRect l="492" t="9871"/>
          <a:stretch>
            <a:fillRect/>
          </a:stretch>
        </p:blipFill>
        <p:spPr>
          <a:xfrm rot="10800000">
            <a:off x="0" y="3773977"/>
            <a:ext cx="7378848" cy="3084023"/>
          </a:xfrm>
          <a:prstGeom prst="rect">
            <a:avLst/>
          </a:prstGeom>
        </p:spPr>
      </p:pic>
      <p:pic>
        <p:nvPicPr>
          <p:cNvPr id="14" name="Picture 13" descr="A blue triangle on a blue background&#10;&#10;AI-generated content may be incorrect.">
            <a:extLst>
              <a:ext uri="{FF2B5EF4-FFF2-40B4-BE49-F238E27FC236}">
                <a16:creationId xmlns:a16="http://schemas.microsoft.com/office/drawing/2014/main" id="{D31875CA-4E48-24F6-F345-F17A4855621F}"/>
              </a:ext>
            </a:extLst>
          </p:cNvPr>
          <p:cNvPicPr>
            <a:picLocks noChangeAspect="1"/>
          </p:cNvPicPr>
          <p:nvPr/>
        </p:nvPicPr>
        <p:blipFill>
          <a:blip r:embed="rId3"/>
          <a:srcRect l="492" t="9871"/>
          <a:stretch>
            <a:fillRect/>
          </a:stretch>
        </p:blipFill>
        <p:spPr>
          <a:xfrm>
            <a:off x="9027622" y="0"/>
            <a:ext cx="3164378" cy="1322566"/>
          </a:xfrm>
          <a:prstGeom prst="rect">
            <a:avLst/>
          </a:prstGeom>
        </p:spPr>
      </p:pic>
      <p:sp>
        <p:nvSpPr>
          <p:cNvPr id="4" name="Title 7">
            <a:extLst>
              <a:ext uri="{FF2B5EF4-FFF2-40B4-BE49-F238E27FC236}">
                <a16:creationId xmlns:a16="http://schemas.microsoft.com/office/drawing/2014/main" id="{1990682B-EDA6-D030-1A63-D0EC114FAEAA}"/>
              </a:ext>
            </a:extLst>
          </p:cNvPr>
          <p:cNvSpPr txBox="1">
            <a:spLocks/>
          </p:cNvSpPr>
          <p:nvPr/>
        </p:nvSpPr>
        <p:spPr>
          <a:xfrm>
            <a:off x="1081004" y="2531319"/>
            <a:ext cx="10029993" cy="1795363"/>
          </a:xfrm>
          <a:prstGeom prst="rect">
            <a:avLst/>
          </a:prstGeom>
        </p:spPr>
        <p:txBody>
          <a:bodyPr wrap="square" anchor="ctr" anchorCtr="0">
            <a:spAutoFit/>
          </a:bodyPr>
          <a:lstStyle>
            <a:lvl1pPr marL="0" algn="ctr" defTabSz="914400" rtl="0" eaLnBrk="1" latinLnBrk="0" hangingPunct="1">
              <a:lnSpc>
                <a:spcPct val="90000"/>
              </a:lnSpc>
              <a:spcBef>
                <a:spcPct val="0"/>
              </a:spcBef>
              <a:buNone/>
              <a:defRPr lang="en-US" sz="2800" b="0" kern="1200" dirty="0">
                <a:solidFill>
                  <a:schemeClr val="accent4"/>
                </a:solidFill>
                <a:latin typeface="Poppins SemiBold" panose="00000700000000000000" pitchFamily="2" charset="0"/>
                <a:ea typeface="+mj-ea"/>
                <a:cs typeface="Poppins SemiBold" panose="00000700000000000000" pitchFamily="2" charset="0"/>
              </a:defRPr>
            </a:lvl1pPr>
          </a:lstStyle>
          <a:p>
            <a:pPr marL="0" marR="0" lvl="0" indent="0" algn="ctr" defTabSz="914400" rtl="0" eaLnBrk="1" fontAlgn="auto" latinLnBrk="0" hangingPunct="1">
              <a:lnSpc>
                <a:spcPct val="80000"/>
              </a:lnSpc>
              <a:spcBef>
                <a:spcPct val="0"/>
              </a:spcBef>
              <a:spcAft>
                <a:spcPts val="1200"/>
              </a:spcAft>
              <a:buClrTx/>
              <a:buSzTx/>
              <a:buFontTx/>
              <a:buNone/>
              <a:tabLst/>
              <a:defRPr/>
            </a:pPr>
            <a:r>
              <a:rPr kumimoji="0" lang="en-US" sz="8000" b="0" i="0" u="none" strike="noStrike" kern="1200" cap="none" spc="0" normalizeH="0" baseline="0" noProof="0" dirty="0">
                <a:ln>
                  <a:noFill/>
                </a:ln>
                <a:solidFill>
                  <a:srgbClr val="FFE200"/>
                </a:solidFill>
                <a:effectLst/>
                <a:uLnTx/>
                <a:uFillTx/>
                <a:latin typeface="Poppins ExtraBold" panose="00000900000000000000" pitchFamily="2" charset="0"/>
                <a:ea typeface="+mj-ea"/>
                <a:cs typeface="Poppins ExtraBold" panose="00000900000000000000" pitchFamily="2" charset="0"/>
              </a:rPr>
              <a:t>Next Steps: </a:t>
            </a:r>
            <a:endParaRPr kumimoji="0" lang="en-US" sz="6600" b="0" i="0" u="none" strike="noStrike" kern="1200" cap="none" spc="0" normalizeH="0" baseline="0" noProof="0" dirty="0">
              <a:ln>
                <a:noFill/>
              </a:ln>
              <a:solidFill>
                <a:srgbClr val="FFE200"/>
              </a:solidFill>
              <a:effectLst/>
              <a:uLnTx/>
              <a:uFillTx/>
              <a:latin typeface="Poppins Medium" panose="00000600000000000000" pitchFamily="2" charset="0"/>
              <a:cs typeface="Poppins Medium" panose="00000600000000000000" pitchFamily="2" charset="0"/>
            </a:endParaRPr>
          </a:p>
          <a:p>
            <a:pPr marL="0" marR="0" lvl="0" indent="0" algn="ctr" defTabSz="914400" rtl="0" eaLnBrk="1" fontAlgn="auto" latinLnBrk="0" hangingPunct="1">
              <a:lnSpc>
                <a:spcPct val="80000"/>
              </a:lnSpc>
              <a:spcBef>
                <a:spcPct val="0"/>
              </a:spcBef>
              <a:spcAft>
                <a:spcPts val="0"/>
              </a:spcAft>
              <a:buClrTx/>
              <a:buSzTx/>
              <a:buFontTx/>
              <a:buNone/>
              <a:tabLst/>
              <a:defRPr/>
            </a:pPr>
            <a:r>
              <a:rPr kumimoji="0" lang="en-US" sz="4400" b="0" i="0" u="none" strike="noStrike" kern="1200" cap="none" spc="0" normalizeH="0" baseline="0" noProof="0" dirty="0">
                <a:ln>
                  <a:noFill/>
                </a:ln>
                <a:solidFill>
                  <a:schemeClr val="bg1"/>
                </a:solidFill>
                <a:effectLst/>
                <a:uLnTx/>
                <a:uFillTx/>
                <a:latin typeface="Poppins ExtraLight" panose="00000300000000000000" pitchFamily="2" charset="0"/>
                <a:cs typeface="Poppins ExtraLight" panose="00000300000000000000" pitchFamily="2" charset="0"/>
              </a:rPr>
              <a:t>Modules &amp; Quick Hit Tests</a:t>
            </a:r>
          </a:p>
        </p:txBody>
      </p:sp>
    </p:spTree>
    <p:extLst>
      <p:ext uri="{BB962C8B-B14F-4D97-AF65-F5344CB8AC3E}">
        <p14:creationId xmlns:p14="http://schemas.microsoft.com/office/powerpoint/2010/main" val="42481119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8686D-B059-B919-BC64-BCFB330BDFB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E91E5F5-CFF8-C571-AE44-62B317916D03}"/>
              </a:ext>
            </a:extLst>
          </p:cNvPr>
          <p:cNvSpPr txBox="1"/>
          <p:nvPr/>
        </p:nvSpPr>
        <p:spPr>
          <a:xfrm>
            <a:off x="922308" y="646371"/>
            <a:ext cx="10347384" cy="430887"/>
          </a:xfrm>
          <a:prstGeom prst="rect">
            <a:avLst/>
          </a:prstGeom>
          <a:noFill/>
        </p:spPr>
        <p:txBody>
          <a:bodyPr wrap="square" lIns="0" tIns="0" rIns="0" bIns="0">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800" b="1" i="0" u="none" strike="noStrike" kern="1200" cap="none" spc="0" normalizeH="0" baseline="0" noProof="0">
                <a:ln>
                  <a:noFill/>
                </a:ln>
                <a:solidFill>
                  <a:srgbClr val="01229A"/>
                </a:solidFill>
                <a:effectLst/>
                <a:uLnTx/>
                <a:uFillTx/>
                <a:latin typeface="+mj-lt"/>
                <a:ea typeface="+mn-ea"/>
                <a:cs typeface="+mn-cs"/>
              </a:rPr>
              <a:t>Reusable Content </a:t>
            </a:r>
            <a:r>
              <a:rPr lang="en-US" sz="2800" b="1">
                <a:solidFill>
                  <a:srgbClr val="01229A"/>
                </a:solidFill>
                <a:latin typeface="+mj-lt"/>
              </a:rPr>
              <a:t>M</a:t>
            </a:r>
            <a:r>
              <a:rPr kumimoji="0" lang="en-US" sz="2800" b="1" i="0" u="none" strike="noStrike" kern="1200" cap="none" spc="0" normalizeH="0" baseline="0" noProof="0">
                <a:ln>
                  <a:noFill/>
                </a:ln>
                <a:solidFill>
                  <a:srgbClr val="01229A"/>
                </a:solidFill>
                <a:effectLst/>
                <a:uLnTx/>
                <a:uFillTx/>
                <a:latin typeface="+mj-lt"/>
                <a:ea typeface="+mn-ea"/>
                <a:cs typeface="+mn-cs"/>
              </a:rPr>
              <a:t>odules Map to 4 Experience Themes &amp; Unlock Conversion </a:t>
            </a:r>
            <a:r>
              <a:rPr lang="en-US" sz="2800" b="1">
                <a:solidFill>
                  <a:srgbClr val="01229A"/>
                </a:solidFill>
                <a:latin typeface="+mj-lt"/>
              </a:rPr>
              <a:t>L</a:t>
            </a:r>
            <a:r>
              <a:rPr kumimoji="0" lang="en-US" sz="2800" b="1" i="0" u="none" strike="noStrike" kern="1200" cap="none" spc="0" normalizeH="0" baseline="0" noProof="0">
                <a:ln>
                  <a:noFill/>
                </a:ln>
                <a:solidFill>
                  <a:srgbClr val="01229A"/>
                </a:solidFill>
                <a:effectLst/>
                <a:uLnTx/>
                <a:uFillTx/>
                <a:latin typeface="+mj-lt"/>
                <a:ea typeface="+mn-ea"/>
                <a:cs typeface="+mn-cs"/>
              </a:rPr>
              <a:t>ift</a:t>
            </a:r>
          </a:p>
        </p:txBody>
      </p:sp>
      <p:sp>
        <p:nvSpPr>
          <p:cNvPr id="4" name="Rounded Rectangle 3">
            <a:extLst>
              <a:ext uri="{FF2B5EF4-FFF2-40B4-BE49-F238E27FC236}">
                <a16:creationId xmlns:a16="http://schemas.microsoft.com/office/drawing/2014/main" id="{93914F4F-38D9-B4CA-AAFE-7AA1937499AD}"/>
              </a:ext>
            </a:extLst>
          </p:cNvPr>
          <p:cNvSpPr/>
          <p:nvPr/>
        </p:nvSpPr>
        <p:spPr>
          <a:xfrm>
            <a:off x="2138123" y="2204221"/>
            <a:ext cx="2148840" cy="475488"/>
          </a:xfrm>
          <a:prstGeom prst="roundRect">
            <a:avLst/>
          </a:prstGeom>
          <a:solidFill>
            <a:srgbClr val="E5EEFF"/>
          </a:solidFill>
          <a:ln w="12700">
            <a:solidFill>
              <a:srgbClr val="0059FF"/>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
        <p:nvSpPr>
          <p:cNvPr id="5" name="Rectangle 4">
            <a:extLst>
              <a:ext uri="{FF2B5EF4-FFF2-40B4-BE49-F238E27FC236}">
                <a16:creationId xmlns:a16="http://schemas.microsoft.com/office/drawing/2014/main" id="{73126A97-7179-BF15-AA7A-E559888BF0B9}"/>
              </a:ext>
            </a:extLst>
          </p:cNvPr>
          <p:cNvSpPr/>
          <p:nvPr/>
        </p:nvSpPr>
        <p:spPr>
          <a:xfrm>
            <a:off x="2256996" y="2294518"/>
            <a:ext cx="201168" cy="27432"/>
          </a:xfrm>
          <a:prstGeom prst="rect">
            <a:avLst/>
          </a:prstGeom>
          <a:solidFill>
            <a:srgbClr val="005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
        <p:nvSpPr>
          <p:cNvPr id="6" name="Rectangle 5">
            <a:extLst>
              <a:ext uri="{FF2B5EF4-FFF2-40B4-BE49-F238E27FC236}">
                <a16:creationId xmlns:a16="http://schemas.microsoft.com/office/drawing/2014/main" id="{FF5DAB6B-639E-E06C-D6C5-F240FF329D19}"/>
              </a:ext>
            </a:extLst>
          </p:cNvPr>
          <p:cNvSpPr/>
          <p:nvPr/>
        </p:nvSpPr>
        <p:spPr>
          <a:xfrm>
            <a:off x="2256995" y="2566552"/>
            <a:ext cx="164592" cy="27432"/>
          </a:xfrm>
          <a:prstGeom prst="rect">
            <a:avLst/>
          </a:prstGeom>
          <a:solidFill>
            <a:srgbClr val="005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
        <p:nvSpPr>
          <p:cNvPr id="7" name="Rectangle 6">
            <a:extLst>
              <a:ext uri="{FF2B5EF4-FFF2-40B4-BE49-F238E27FC236}">
                <a16:creationId xmlns:a16="http://schemas.microsoft.com/office/drawing/2014/main" id="{781D6ACE-AA64-93E5-8F72-19D03CF97829}"/>
              </a:ext>
            </a:extLst>
          </p:cNvPr>
          <p:cNvSpPr/>
          <p:nvPr/>
        </p:nvSpPr>
        <p:spPr>
          <a:xfrm>
            <a:off x="2256996" y="2422533"/>
            <a:ext cx="128016" cy="27432"/>
          </a:xfrm>
          <a:prstGeom prst="rect">
            <a:avLst/>
          </a:prstGeom>
          <a:solidFill>
            <a:srgbClr val="005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
        <p:nvSpPr>
          <p:cNvPr id="8" name="TextBox 7">
            <a:extLst>
              <a:ext uri="{FF2B5EF4-FFF2-40B4-BE49-F238E27FC236}">
                <a16:creationId xmlns:a16="http://schemas.microsoft.com/office/drawing/2014/main" id="{2E28BE8D-C015-AABC-CE39-8FABEE2D7D4F}"/>
              </a:ext>
            </a:extLst>
          </p:cNvPr>
          <p:cNvSpPr txBox="1"/>
          <p:nvPr/>
        </p:nvSpPr>
        <p:spPr>
          <a:xfrm>
            <a:off x="2531315" y="2305660"/>
            <a:ext cx="1819656" cy="308802"/>
          </a:xfrm>
          <a:prstGeom prst="rect">
            <a:avLst/>
          </a:prstGeom>
          <a:noFill/>
        </p:spPr>
        <p:txBody>
          <a:bodyPr wrap="square" lIns="0" tIns="0" rIns="0" bIns="0">
            <a:spAutoFit/>
          </a:bodyPr>
          <a:lstStyle/>
          <a:p>
            <a:pPr marL="0" marR="0" lvl="0" indent="0" algn="l" defTabSz="914400" rtl="0" eaLnBrk="0" fontAlgn="base" latinLnBrk="0" hangingPunct="0">
              <a:lnSpc>
                <a:spcPts val="1200"/>
              </a:lnSpc>
              <a:spcBef>
                <a:spcPct val="0"/>
              </a:spcBef>
              <a:spcAft>
                <a:spcPct val="0"/>
              </a:spcAft>
              <a:buClrTx/>
              <a:buSzTx/>
              <a:buFontTx/>
              <a:buNone/>
              <a:tabLst/>
              <a:defRPr/>
            </a:pPr>
            <a:r>
              <a:rPr kumimoji="0" sz="1100" b="1" i="0" u="none" strike="noStrike" kern="1200" cap="none" spc="0" normalizeH="0" baseline="0" noProof="0">
                <a:ln>
                  <a:noFill/>
                </a:ln>
                <a:solidFill>
                  <a:srgbClr val="000000"/>
                </a:solidFill>
                <a:effectLst/>
                <a:uLnTx/>
                <a:uFillTx/>
                <a:latin typeface="Poppins"/>
                <a:ea typeface="+mn-ea"/>
                <a:cs typeface="+mn-cs"/>
              </a:rPr>
              <a:t>Information hierarchy </a:t>
            </a:r>
            <a:r>
              <a:rPr kumimoji="0" lang="en-US" sz="1100" b="1" i="0" u="none" strike="noStrike" kern="1200" cap="none" spc="0" normalizeH="0" baseline="0" noProof="0">
                <a:ln>
                  <a:noFill/>
                </a:ln>
                <a:solidFill>
                  <a:srgbClr val="000000"/>
                </a:solidFill>
                <a:effectLst/>
                <a:uLnTx/>
                <a:uFillTx/>
                <a:latin typeface="Poppins"/>
                <a:ea typeface="+mn-ea"/>
                <a:cs typeface="+mn-cs"/>
              </a:rPr>
              <a:t>&amp;</a:t>
            </a:r>
            <a:r>
              <a:rPr kumimoji="0" sz="1100" b="1" i="0" u="none" strike="noStrike" kern="1200" cap="none" spc="0" normalizeH="0" baseline="0" noProof="0">
                <a:ln>
                  <a:noFill/>
                </a:ln>
                <a:solidFill>
                  <a:srgbClr val="000000"/>
                </a:solidFill>
                <a:effectLst/>
                <a:uLnTx/>
                <a:uFillTx/>
                <a:latin typeface="Poppins"/>
                <a:ea typeface="+mn-ea"/>
                <a:cs typeface="+mn-cs"/>
              </a:rPr>
              <a:t> progressive specificity</a:t>
            </a:r>
          </a:p>
        </p:txBody>
      </p:sp>
      <p:sp>
        <p:nvSpPr>
          <p:cNvPr id="9" name="Rounded Rectangle 8">
            <a:extLst>
              <a:ext uri="{FF2B5EF4-FFF2-40B4-BE49-F238E27FC236}">
                <a16:creationId xmlns:a16="http://schemas.microsoft.com/office/drawing/2014/main" id="{0A2E69AC-5BFD-9E28-C18F-07F93172F9C0}"/>
              </a:ext>
            </a:extLst>
          </p:cNvPr>
          <p:cNvSpPr/>
          <p:nvPr/>
        </p:nvSpPr>
        <p:spPr>
          <a:xfrm>
            <a:off x="4515563" y="2185933"/>
            <a:ext cx="2795930" cy="877824"/>
          </a:xfrm>
          <a:prstGeom prst="roundRect">
            <a:avLst/>
          </a:prstGeom>
          <a:solidFill>
            <a:schemeClr val="accent3">
              <a:lumMod val="20000"/>
              <a:lumOff val="80000"/>
            </a:schemeClr>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
        <p:nvSpPr>
          <p:cNvPr id="10" name="Rectangle 9">
            <a:extLst>
              <a:ext uri="{FF2B5EF4-FFF2-40B4-BE49-F238E27FC236}">
                <a16:creationId xmlns:a16="http://schemas.microsoft.com/office/drawing/2014/main" id="{A2299735-3F9A-4FD0-E91A-4F8FE15CC5FC}"/>
              </a:ext>
            </a:extLst>
          </p:cNvPr>
          <p:cNvSpPr/>
          <p:nvPr/>
        </p:nvSpPr>
        <p:spPr>
          <a:xfrm>
            <a:off x="4515563" y="2185933"/>
            <a:ext cx="2795930" cy="54864"/>
          </a:xfrm>
          <a:prstGeom prst="rect">
            <a:avLst/>
          </a:prstGeom>
          <a:solidFill>
            <a:srgbClr val="005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
        <p:nvSpPr>
          <p:cNvPr id="11" name="TextBox 10">
            <a:extLst>
              <a:ext uri="{FF2B5EF4-FFF2-40B4-BE49-F238E27FC236}">
                <a16:creationId xmlns:a16="http://schemas.microsoft.com/office/drawing/2014/main" id="{F9FBC91A-F189-788B-F9F3-34CDCC2A442F}"/>
              </a:ext>
            </a:extLst>
          </p:cNvPr>
          <p:cNvSpPr txBox="1"/>
          <p:nvPr/>
        </p:nvSpPr>
        <p:spPr>
          <a:xfrm>
            <a:off x="4625291" y="2277373"/>
            <a:ext cx="2069477" cy="184666"/>
          </a:xfrm>
          <a:prstGeom prst="rect">
            <a:avLst/>
          </a:prstGeom>
          <a:noFill/>
        </p:spPr>
        <p:txBody>
          <a:bodyPr wrap="none" lIns="0" tIns="0" rIns="0" bIns="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sz="1200" b="1" i="0" u="none" strike="noStrike" kern="1200" cap="none" spc="0" normalizeH="0" baseline="0" noProof="0">
                <a:ln>
                  <a:noFill/>
                </a:ln>
                <a:solidFill>
                  <a:srgbClr val="1E293B"/>
                </a:solidFill>
                <a:effectLst/>
                <a:uLnTx/>
                <a:uFillTx/>
                <a:latin typeface="Poppins"/>
                <a:ea typeface="+mn-ea"/>
                <a:cs typeface="+mn-cs"/>
              </a:rPr>
              <a:t>Guided Program </a:t>
            </a:r>
            <a:r>
              <a:rPr kumimoji="0" lang="en-US" sz="1200" b="1" i="0" u="none" strike="noStrike" kern="1200" cap="none" spc="0" normalizeH="0" baseline="0" noProof="0">
                <a:ln>
                  <a:noFill/>
                </a:ln>
                <a:solidFill>
                  <a:srgbClr val="1E293B"/>
                </a:solidFill>
                <a:effectLst/>
                <a:uLnTx/>
                <a:uFillTx/>
                <a:latin typeface="Poppins"/>
                <a:ea typeface="+mn-ea"/>
                <a:cs typeface="+mn-cs"/>
              </a:rPr>
              <a:t>Journeys</a:t>
            </a:r>
            <a:endParaRPr kumimoji="0" sz="1200" b="1" i="0" u="none" strike="noStrike" kern="1200" cap="none" spc="0" normalizeH="0" baseline="0" noProof="0">
              <a:ln>
                <a:noFill/>
              </a:ln>
              <a:solidFill>
                <a:srgbClr val="1E293B"/>
              </a:solidFill>
              <a:effectLst/>
              <a:uLnTx/>
              <a:uFillTx/>
              <a:latin typeface="Poppins"/>
              <a:ea typeface="+mn-ea"/>
              <a:cs typeface="+mn-cs"/>
            </a:endParaRPr>
          </a:p>
        </p:txBody>
      </p:sp>
      <p:sp>
        <p:nvSpPr>
          <p:cNvPr id="13" name="TextBox 12">
            <a:extLst>
              <a:ext uri="{FF2B5EF4-FFF2-40B4-BE49-F238E27FC236}">
                <a16:creationId xmlns:a16="http://schemas.microsoft.com/office/drawing/2014/main" id="{5198A2E6-DA0A-5262-B41E-517ABE9C87A9}"/>
              </a:ext>
            </a:extLst>
          </p:cNvPr>
          <p:cNvSpPr txBox="1"/>
          <p:nvPr/>
        </p:nvSpPr>
        <p:spPr>
          <a:xfrm>
            <a:off x="4625291" y="2496829"/>
            <a:ext cx="2576475" cy="307777"/>
          </a:xfrm>
          <a:prstGeom prst="rect">
            <a:avLst/>
          </a:prstGeom>
          <a:noFill/>
        </p:spPr>
        <p:txBody>
          <a:bodyPr wrap="square" lIns="0" tIns="0" rIns="0" bIns="0">
            <a:spAutoFit/>
          </a:bodyPr>
          <a:lstStyle/>
          <a:p>
            <a:pPr marL="0" marR="0" lvl="0" indent="0" algn="l" defTabSz="914400" rtl="0" eaLnBrk="0" fontAlgn="base" latinLnBrk="0" hangingPunct="0">
              <a:lnSpc>
                <a:spcPts val="1200"/>
              </a:lnSpc>
              <a:spcBef>
                <a:spcPct val="0"/>
              </a:spcBef>
              <a:spcAft>
                <a:spcPct val="0"/>
              </a:spcAft>
              <a:buClrTx/>
              <a:buSzTx/>
              <a:buFontTx/>
              <a:buNone/>
              <a:tabLst/>
              <a:defRPr/>
            </a:pPr>
            <a:r>
              <a:rPr lang="en-US" sz="1000" b="1">
                <a:latin typeface="Poppins"/>
              </a:rPr>
              <a:t>How</a:t>
            </a:r>
            <a:r>
              <a:rPr lang="en-US" sz="1000">
                <a:latin typeface="Poppins"/>
              </a:rPr>
              <a:t>: Guide users to specific topics via quiz or self-selected list click</a:t>
            </a:r>
            <a:endParaRPr kumimoji="0" sz="1000" b="0" i="0" u="none" strike="noStrike" kern="1200" cap="none" spc="0" normalizeH="0" baseline="0" noProof="0">
              <a:ln>
                <a:noFill/>
              </a:ln>
              <a:effectLst/>
              <a:uLnTx/>
              <a:uFillTx/>
              <a:latin typeface="Poppins"/>
              <a:ea typeface="+mn-ea"/>
              <a:cs typeface="+mn-cs"/>
            </a:endParaRPr>
          </a:p>
        </p:txBody>
      </p:sp>
      <p:sp>
        <p:nvSpPr>
          <p:cNvPr id="15" name="Rounded Rectangle 14">
            <a:extLst>
              <a:ext uri="{FF2B5EF4-FFF2-40B4-BE49-F238E27FC236}">
                <a16:creationId xmlns:a16="http://schemas.microsoft.com/office/drawing/2014/main" id="{F45DDF5A-F712-6BF6-AA2C-DF447FB61211}"/>
              </a:ext>
            </a:extLst>
          </p:cNvPr>
          <p:cNvSpPr/>
          <p:nvPr/>
        </p:nvSpPr>
        <p:spPr>
          <a:xfrm>
            <a:off x="7421221" y="2185933"/>
            <a:ext cx="2795930" cy="877824"/>
          </a:xfrm>
          <a:prstGeom prst="roundRect">
            <a:avLst/>
          </a:prstGeom>
          <a:solidFill>
            <a:schemeClr val="accent3">
              <a:lumMod val="20000"/>
              <a:lumOff val="80000"/>
            </a:schemeClr>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
        <p:nvSpPr>
          <p:cNvPr id="16" name="Rectangle 15">
            <a:extLst>
              <a:ext uri="{FF2B5EF4-FFF2-40B4-BE49-F238E27FC236}">
                <a16:creationId xmlns:a16="http://schemas.microsoft.com/office/drawing/2014/main" id="{09EFE923-6123-81A9-24B7-70F815F47790}"/>
              </a:ext>
            </a:extLst>
          </p:cNvPr>
          <p:cNvSpPr/>
          <p:nvPr/>
        </p:nvSpPr>
        <p:spPr>
          <a:xfrm>
            <a:off x="7421221" y="2185933"/>
            <a:ext cx="2795930" cy="54864"/>
          </a:xfrm>
          <a:prstGeom prst="rect">
            <a:avLst/>
          </a:prstGeom>
          <a:solidFill>
            <a:srgbClr val="005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
        <p:nvSpPr>
          <p:cNvPr id="17" name="TextBox 16">
            <a:extLst>
              <a:ext uri="{FF2B5EF4-FFF2-40B4-BE49-F238E27FC236}">
                <a16:creationId xmlns:a16="http://schemas.microsoft.com/office/drawing/2014/main" id="{3765F26A-3F77-2591-E1E5-92C732680F77}"/>
              </a:ext>
            </a:extLst>
          </p:cNvPr>
          <p:cNvSpPr txBox="1"/>
          <p:nvPr/>
        </p:nvSpPr>
        <p:spPr>
          <a:xfrm>
            <a:off x="7530949" y="2277373"/>
            <a:ext cx="1681551" cy="184666"/>
          </a:xfrm>
          <a:prstGeom prst="rect">
            <a:avLst/>
          </a:prstGeom>
          <a:noFill/>
        </p:spPr>
        <p:txBody>
          <a:bodyPr wrap="none" lIns="0" tIns="0" rIns="0" bIns="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1E293B"/>
                </a:solidFill>
                <a:effectLst/>
                <a:uLnTx/>
                <a:uFillTx/>
                <a:latin typeface="Poppins"/>
                <a:ea typeface="+mn-ea"/>
                <a:cs typeface="+mn-cs"/>
              </a:rPr>
              <a:t>Role-Based Selection</a:t>
            </a:r>
            <a:endParaRPr kumimoji="0" sz="1200" b="1" i="0" u="none" strike="noStrike" kern="1200" cap="none" spc="0" normalizeH="0" baseline="0" noProof="0">
              <a:ln>
                <a:noFill/>
              </a:ln>
              <a:solidFill>
                <a:srgbClr val="1E293B"/>
              </a:solidFill>
              <a:effectLst/>
              <a:uLnTx/>
              <a:uFillTx/>
              <a:latin typeface="Poppins"/>
              <a:ea typeface="+mn-ea"/>
              <a:cs typeface="+mn-cs"/>
            </a:endParaRPr>
          </a:p>
        </p:txBody>
      </p:sp>
      <p:sp>
        <p:nvSpPr>
          <p:cNvPr id="19" name="TextBox 18">
            <a:extLst>
              <a:ext uri="{FF2B5EF4-FFF2-40B4-BE49-F238E27FC236}">
                <a16:creationId xmlns:a16="http://schemas.microsoft.com/office/drawing/2014/main" id="{44C91561-0ACC-5ECE-45EC-43D9810CA049}"/>
              </a:ext>
            </a:extLst>
          </p:cNvPr>
          <p:cNvSpPr txBox="1"/>
          <p:nvPr/>
        </p:nvSpPr>
        <p:spPr>
          <a:xfrm>
            <a:off x="7530949" y="2496829"/>
            <a:ext cx="2576475" cy="307777"/>
          </a:xfrm>
          <a:prstGeom prst="rect">
            <a:avLst/>
          </a:prstGeom>
          <a:noFill/>
        </p:spPr>
        <p:txBody>
          <a:bodyPr wrap="square" lIns="0" tIns="0" rIns="0" bIns="0">
            <a:spAutoFit/>
          </a:bodyPr>
          <a:lstStyle/>
          <a:p>
            <a:pPr marL="0" marR="0" lvl="0" indent="0" algn="l" defTabSz="914400" rtl="0" eaLnBrk="0" fontAlgn="base" latinLnBrk="0" hangingPunct="0">
              <a:lnSpc>
                <a:spcPts val="1200"/>
              </a:lnSpc>
              <a:spcBef>
                <a:spcPct val="0"/>
              </a:spcBef>
              <a:spcAft>
                <a:spcPct val="0"/>
              </a:spcAft>
              <a:buClrTx/>
              <a:buSzTx/>
              <a:buFontTx/>
              <a:buNone/>
              <a:tabLst/>
              <a:defRPr/>
            </a:pPr>
            <a:r>
              <a:rPr lang="en-US" sz="1000" b="1">
                <a:latin typeface="Poppins"/>
              </a:rPr>
              <a:t>How</a:t>
            </a:r>
            <a:r>
              <a:rPr lang="en-US" sz="1000">
                <a:latin typeface="Poppins"/>
              </a:rPr>
              <a:t>: Assign programs to potential role outcomes and display accordingly</a:t>
            </a:r>
            <a:endParaRPr kumimoji="0" lang="en-US" sz="1000" b="0" i="0" u="none" strike="noStrike" kern="1200" cap="none" spc="0" normalizeH="0" baseline="0" noProof="0">
              <a:ln>
                <a:noFill/>
              </a:ln>
              <a:effectLst/>
              <a:uLnTx/>
              <a:uFillTx/>
              <a:latin typeface="Poppins"/>
              <a:ea typeface="+mn-ea"/>
              <a:cs typeface="+mn-cs"/>
            </a:endParaRPr>
          </a:p>
        </p:txBody>
      </p:sp>
      <p:sp>
        <p:nvSpPr>
          <p:cNvPr id="27" name="Rectangle 26">
            <a:extLst>
              <a:ext uri="{FF2B5EF4-FFF2-40B4-BE49-F238E27FC236}">
                <a16:creationId xmlns:a16="http://schemas.microsoft.com/office/drawing/2014/main" id="{6083D6C0-132C-DBD6-A813-80267F889094}"/>
              </a:ext>
            </a:extLst>
          </p:cNvPr>
          <p:cNvSpPr/>
          <p:nvPr/>
        </p:nvSpPr>
        <p:spPr>
          <a:xfrm flipV="1">
            <a:off x="2138124" y="3120622"/>
            <a:ext cx="8079026" cy="4571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
        <p:nvSpPr>
          <p:cNvPr id="28" name="Rounded Rectangle 27">
            <a:extLst>
              <a:ext uri="{FF2B5EF4-FFF2-40B4-BE49-F238E27FC236}">
                <a16:creationId xmlns:a16="http://schemas.microsoft.com/office/drawing/2014/main" id="{5F662514-B360-D7FF-7F97-E47B14ACA7DD}"/>
              </a:ext>
            </a:extLst>
          </p:cNvPr>
          <p:cNvSpPr/>
          <p:nvPr/>
        </p:nvSpPr>
        <p:spPr>
          <a:xfrm>
            <a:off x="2138124" y="3239779"/>
            <a:ext cx="2148840" cy="475488"/>
          </a:xfrm>
          <a:prstGeom prst="roundRect">
            <a:avLst/>
          </a:prstGeom>
          <a:solidFill>
            <a:schemeClr val="accent2"/>
          </a:solidFill>
          <a:ln w="12700">
            <a:solidFill>
              <a:schemeClr val="tx1">
                <a:lumMod val="85000"/>
                <a:lumOff val="1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Poppins"/>
              <a:ea typeface="+mn-ea"/>
              <a:cs typeface="+mn-cs"/>
            </a:endParaRPr>
          </a:p>
        </p:txBody>
      </p:sp>
      <p:sp>
        <p:nvSpPr>
          <p:cNvPr id="29" name="5-Point Star 28">
            <a:extLst>
              <a:ext uri="{FF2B5EF4-FFF2-40B4-BE49-F238E27FC236}">
                <a16:creationId xmlns:a16="http://schemas.microsoft.com/office/drawing/2014/main" id="{01C4DD7E-E9A7-FB6B-E310-54FC64EC212C}"/>
              </a:ext>
            </a:extLst>
          </p:cNvPr>
          <p:cNvSpPr/>
          <p:nvPr/>
        </p:nvSpPr>
        <p:spPr>
          <a:xfrm>
            <a:off x="2229564" y="3312931"/>
            <a:ext cx="292608" cy="292608"/>
          </a:xfrm>
          <a:prstGeom prst="star5">
            <a:avLst/>
          </a:prstGeom>
          <a:noFill/>
          <a:ln w="190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
        <p:nvSpPr>
          <p:cNvPr id="30" name="TextBox 29">
            <a:extLst>
              <a:ext uri="{FF2B5EF4-FFF2-40B4-BE49-F238E27FC236}">
                <a16:creationId xmlns:a16="http://schemas.microsoft.com/office/drawing/2014/main" id="{663C3EDF-605C-F160-3342-2CCBA647EF2E}"/>
              </a:ext>
            </a:extLst>
          </p:cNvPr>
          <p:cNvSpPr txBox="1"/>
          <p:nvPr/>
        </p:nvSpPr>
        <p:spPr>
          <a:xfrm>
            <a:off x="2577036" y="3323122"/>
            <a:ext cx="1618488" cy="308802"/>
          </a:xfrm>
          <a:prstGeom prst="rect">
            <a:avLst/>
          </a:prstGeom>
          <a:noFill/>
        </p:spPr>
        <p:txBody>
          <a:bodyPr wrap="square" lIns="0" tIns="0" rIns="0" bIns="0">
            <a:spAutoFit/>
          </a:bodyPr>
          <a:lstStyle/>
          <a:p>
            <a:pPr marL="0" marR="0" lvl="0" indent="0" algn="l" defTabSz="914400" rtl="0" eaLnBrk="0" fontAlgn="base" latinLnBrk="0" hangingPunct="0">
              <a:lnSpc>
                <a:spcPts val="1200"/>
              </a:lnSpc>
              <a:spcBef>
                <a:spcPct val="0"/>
              </a:spcBef>
              <a:spcAft>
                <a:spcPct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Poppins"/>
                <a:ea typeface="+mn-ea"/>
                <a:cs typeface="+mn-cs"/>
              </a:rPr>
              <a:t>Value propositions and credibility</a:t>
            </a:r>
          </a:p>
        </p:txBody>
      </p:sp>
      <p:sp>
        <p:nvSpPr>
          <p:cNvPr id="31" name="Rounded Rectangle 30">
            <a:extLst>
              <a:ext uri="{FF2B5EF4-FFF2-40B4-BE49-F238E27FC236}">
                <a16:creationId xmlns:a16="http://schemas.microsoft.com/office/drawing/2014/main" id="{462FAA04-D4D4-69C5-23AD-741E1C57B029}"/>
              </a:ext>
            </a:extLst>
          </p:cNvPr>
          <p:cNvSpPr/>
          <p:nvPr/>
        </p:nvSpPr>
        <p:spPr>
          <a:xfrm>
            <a:off x="4515563" y="3221491"/>
            <a:ext cx="2795929" cy="877824"/>
          </a:xfrm>
          <a:prstGeom prst="roundRect">
            <a:avLst/>
          </a:prstGeom>
          <a:solidFill>
            <a:schemeClr val="accent3">
              <a:lumMod val="20000"/>
              <a:lumOff val="80000"/>
            </a:schemeClr>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a:solidFill>
                <a:srgbClr val="FFFFFF"/>
              </a:solidFill>
              <a:latin typeface="Poppins"/>
            </a:endParaRPr>
          </a:p>
        </p:txBody>
      </p:sp>
      <p:sp>
        <p:nvSpPr>
          <p:cNvPr id="33" name="TextBox 32">
            <a:extLst>
              <a:ext uri="{FF2B5EF4-FFF2-40B4-BE49-F238E27FC236}">
                <a16:creationId xmlns:a16="http://schemas.microsoft.com/office/drawing/2014/main" id="{061D8036-FA16-5FE0-14C5-A5FE31C36833}"/>
              </a:ext>
            </a:extLst>
          </p:cNvPr>
          <p:cNvSpPr txBox="1"/>
          <p:nvPr/>
        </p:nvSpPr>
        <p:spPr>
          <a:xfrm>
            <a:off x="4625291" y="3312931"/>
            <a:ext cx="2275811" cy="184666"/>
          </a:xfrm>
          <a:prstGeom prst="rect">
            <a:avLst/>
          </a:prstGeom>
          <a:noFill/>
        </p:spPr>
        <p:txBody>
          <a:bodyPr wrap="square" lIns="0" tIns="0" rIns="0" bIns="0">
            <a:spAutoFit/>
          </a:bodyPr>
          <a:lstStyle/>
          <a:p>
            <a:pPr lvl="0">
              <a:defRPr/>
            </a:pPr>
            <a:r>
              <a:rPr lang="en-US" sz="1200" b="1">
                <a:solidFill>
                  <a:srgbClr val="1E293B"/>
                </a:solidFill>
                <a:latin typeface="Poppins"/>
              </a:rPr>
              <a:t>Career Outcomes Snapshot</a:t>
            </a:r>
            <a:endParaRPr kumimoji="0" sz="1200" b="1" i="0" u="none" strike="noStrike" kern="1200" cap="none" spc="0" normalizeH="0" baseline="0" noProof="0">
              <a:ln>
                <a:noFill/>
              </a:ln>
              <a:solidFill>
                <a:srgbClr val="1E293B"/>
              </a:solidFill>
              <a:effectLst/>
              <a:uLnTx/>
              <a:uFillTx/>
              <a:latin typeface="Poppins"/>
              <a:ea typeface="+mn-ea"/>
              <a:cs typeface="+mn-cs"/>
            </a:endParaRPr>
          </a:p>
        </p:txBody>
      </p:sp>
      <p:sp>
        <p:nvSpPr>
          <p:cNvPr id="35" name="TextBox 34">
            <a:extLst>
              <a:ext uri="{FF2B5EF4-FFF2-40B4-BE49-F238E27FC236}">
                <a16:creationId xmlns:a16="http://schemas.microsoft.com/office/drawing/2014/main" id="{7BF7662C-D325-0635-8C1A-20B40FB7F981}"/>
              </a:ext>
            </a:extLst>
          </p:cNvPr>
          <p:cNvSpPr txBox="1"/>
          <p:nvPr/>
        </p:nvSpPr>
        <p:spPr>
          <a:xfrm>
            <a:off x="4625292" y="3532387"/>
            <a:ext cx="2590192" cy="307777"/>
          </a:xfrm>
          <a:prstGeom prst="rect">
            <a:avLst/>
          </a:prstGeom>
          <a:noFill/>
        </p:spPr>
        <p:txBody>
          <a:bodyPr wrap="square" lIns="0" tIns="0" rIns="0" bIns="0">
            <a:spAutoFit/>
          </a:bodyPr>
          <a:lstStyle/>
          <a:p>
            <a:pPr lvl="0">
              <a:lnSpc>
                <a:spcPts val="1200"/>
              </a:lnSpc>
              <a:defRPr/>
            </a:pPr>
            <a:r>
              <a:rPr lang="en-US" sz="1000" b="1">
                <a:latin typeface="Poppins"/>
              </a:rPr>
              <a:t>How: </a:t>
            </a:r>
            <a:r>
              <a:rPr lang="en-US" sz="1000">
                <a:latin typeface="Poppins"/>
              </a:rPr>
              <a:t>Skill &amp; program lists with use of known brands as available</a:t>
            </a:r>
          </a:p>
        </p:txBody>
      </p:sp>
      <p:sp>
        <p:nvSpPr>
          <p:cNvPr id="37" name="Rounded Rectangle 36">
            <a:extLst>
              <a:ext uri="{FF2B5EF4-FFF2-40B4-BE49-F238E27FC236}">
                <a16:creationId xmlns:a16="http://schemas.microsoft.com/office/drawing/2014/main" id="{2B2B57E3-F4D1-52D1-53BD-E1C024C81409}"/>
              </a:ext>
            </a:extLst>
          </p:cNvPr>
          <p:cNvSpPr/>
          <p:nvPr/>
        </p:nvSpPr>
        <p:spPr>
          <a:xfrm>
            <a:off x="7421220" y="3221491"/>
            <a:ext cx="2808909" cy="877824"/>
          </a:xfrm>
          <a:prstGeom prst="roundRect">
            <a:avLst/>
          </a:prstGeom>
          <a:solidFill>
            <a:schemeClr val="accent3">
              <a:lumMod val="20000"/>
              <a:lumOff val="80000"/>
            </a:schemeClr>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
        <p:nvSpPr>
          <p:cNvPr id="38" name="Rectangle 37">
            <a:extLst>
              <a:ext uri="{FF2B5EF4-FFF2-40B4-BE49-F238E27FC236}">
                <a16:creationId xmlns:a16="http://schemas.microsoft.com/office/drawing/2014/main" id="{0B333D5F-9028-9903-7E33-90AD38C6BACB}"/>
              </a:ext>
            </a:extLst>
          </p:cNvPr>
          <p:cNvSpPr/>
          <p:nvPr/>
        </p:nvSpPr>
        <p:spPr>
          <a:xfrm>
            <a:off x="7421220" y="3221491"/>
            <a:ext cx="2808908" cy="54863"/>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
        <p:nvSpPr>
          <p:cNvPr id="39" name="TextBox 38">
            <a:extLst>
              <a:ext uri="{FF2B5EF4-FFF2-40B4-BE49-F238E27FC236}">
                <a16:creationId xmlns:a16="http://schemas.microsoft.com/office/drawing/2014/main" id="{08CEE925-6728-9321-2FA7-21953635E568}"/>
              </a:ext>
            </a:extLst>
          </p:cNvPr>
          <p:cNvSpPr txBox="1"/>
          <p:nvPr/>
        </p:nvSpPr>
        <p:spPr>
          <a:xfrm>
            <a:off x="7521424" y="3312931"/>
            <a:ext cx="1793761" cy="184666"/>
          </a:xfrm>
          <a:prstGeom prst="rect">
            <a:avLst/>
          </a:prstGeom>
          <a:noFill/>
        </p:spPr>
        <p:txBody>
          <a:bodyPr wrap="none" lIns="0" tIns="0" rIns="0" bIns="0">
            <a:spAutoFit/>
          </a:bodyPr>
          <a:lstStyle/>
          <a:p>
            <a:pPr lvl="0">
              <a:defRPr/>
            </a:pPr>
            <a:r>
              <a:rPr lang="en-GB" sz="1200" b="1">
                <a:solidFill>
                  <a:srgbClr val="1E293B"/>
                </a:solidFill>
                <a:latin typeface="Poppins"/>
              </a:rPr>
              <a:t>Cost and Aid Snapshot</a:t>
            </a:r>
            <a:endParaRPr kumimoji="0" lang="en-GB" sz="1200" b="1" i="0" u="none" strike="noStrike" kern="1200" cap="none" spc="0" normalizeH="0" baseline="0" noProof="0">
              <a:ln>
                <a:noFill/>
              </a:ln>
              <a:solidFill>
                <a:srgbClr val="1E293B"/>
              </a:solidFill>
              <a:effectLst/>
              <a:uLnTx/>
              <a:uFillTx/>
              <a:latin typeface="Poppins"/>
              <a:ea typeface="+mn-ea"/>
              <a:cs typeface="+mn-cs"/>
            </a:endParaRPr>
          </a:p>
        </p:txBody>
      </p:sp>
      <p:sp>
        <p:nvSpPr>
          <p:cNvPr id="41" name="TextBox 40">
            <a:extLst>
              <a:ext uri="{FF2B5EF4-FFF2-40B4-BE49-F238E27FC236}">
                <a16:creationId xmlns:a16="http://schemas.microsoft.com/office/drawing/2014/main" id="{04D36958-B835-04DC-F661-4932264169C0}"/>
              </a:ext>
            </a:extLst>
          </p:cNvPr>
          <p:cNvSpPr txBox="1"/>
          <p:nvPr/>
        </p:nvSpPr>
        <p:spPr>
          <a:xfrm>
            <a:off x="7521424" y="3532644"/>
            <a:ext cx="2960521" cy="307777"/>
          </a:xfrm>
          <a:prstGeom prst="rect">
            <a:avLst/>
          </a:prstGeom>
          <a:noFill/>
        </p:spPr>
        <p:txBody>
          <a:bodyPr wrap="square" lIns="0" tIns="0" rIns="0" bIns="0">
            <a:spAutoFit/>
          </a:bodyPr>
          <a:lstStyle/>
          <a:p>
            <a:pPr lvl="0">
              <a:lnSpc>
                <a:spcPts val="1200"/>
              </a:lnSpc>
              <a:defRPr/>
            </a:pPr>
            <a:r>
              <a:rPr lang="en-US" sz="1000" b="1">
                <a:latin typeface="Poppins"/>
              </a:rPr>
              <a:t>How: </a:t>
            </a:r>
            <a:r>
              <a:rPr lang="en-US" sz="1000">
                <a:latin typeface="Poppins"/>
              </a:rPr>
              <a:t>Up-front pricing with available affordability assistance</a:t>
            </a:r>
            <a:endParaRPr kumimoji="0" lang="en-US" sz="1000" b="0" i="0" u="none" strike="noStrike" kern="1200" cap="none" spc="0" normalizeH="0" baseline="0" noProof="0">
              <a:ln>
                <a:noFill/>
              </a:ln>
              <a:effectLst/>
              <a:uLnTx/>
              <a:uFillTx/>
              <a:latin typeface="Poppins"/>
              <a:ea typeface="+mn-ea"/>
              <a:cs typeface="+mn-cs"/>
            </a:endParaRPr>
          </a:p>
        </p:txBody>
      </p:sp>
      <p:sp>
        <p:nvSpPr>
          <p:cNvPr id="61" name="Rectangle 60">
            <a:extLst>
              <a:ext uri="{FF2B5EF4-FFF2-40B4-BE49-F238E27FC236}">
                <a16:creationId xmlns:a16="http://schemas.microsoft.com/office/drawing/2014/main" id="{BBC76603-78E0-E2B1-C9AD-C05610E55152}"/>
              </a:ext>
            </a:extLst>
          </p:cNvPr>
          <p:cNvSpPr/>
          <p:nvPr/>
        </p:nvSpPr>
        <p:spPr>
          <a:xfrm flipV="1">
            <a:off x="2138124" y="4162832"/>
            <a:ext cx="8079026" cy="4571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
        <p:nvSpPr>
          <p:cNvPr id="62" name="Rounded Rectangle 61">
            <a:extLst>
              <a:ext uri="{FF2B5EF4-FFF2-40B4-BE49-F238E27FC236}">
                <a16:creationId xmlns:a16="http://schemas.microsoft.com/office/drawing/2014/main" id="{0AF306C9-2786-3FA2-D945-CAA090CC1913}"/>
              </a:ext>
            </a:extLst>
          </p:cNvPr>
          <p:cNvSpPr/>
          <p:nvPr/>
        </p:nvSpPr>
        <p:spPr>
          <a:xfrm>
            <a:off x="2138124" y="4264037"/>
            <a:ext cx="2148840" cy="475488"/>
          </a:xfrm>
          <a:prstGeom prst="roundRect">
            <a:avLst/>
          </a:prstGeom>
          <a:solidFill>
            <a:schemeClr val="accent3"/>
          </a:solidFill>
          <a:ln w="12700">
            <a:solidFill>
              <a:schemeClr val="tx1">
                <a:lumMod val="85000"/>
                <a:lumOff val="1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000000"/>
              </a:solidFill>
              <a:effectLst/>
              <a:uLnTx/>
              <a:uFillTx/>
              <a:latin typeface="Poppins"/>
              <a:ea typeface="+mn-ea"/>
              <a:cs typeface="+mn-cs"/>
            </a:endParaRPr>
          </a:p>
        </p:txBody>
      </p:sp>
      <p:sp>
        <p:nvSpPr>
          <p:cNvPr id="63" name="Rectangle 62">
            <a:extLst>
              <a:ext uri="{FF2B5EF4-FFF2-40B4-BE49-F238E27FC236}">
                <a16:creationId xmlns:a16="http://schemas.microsoft.com/office/drawing/2014/main" id="{0B679BBC-2AF6-957A-6613-EF6E685E47DA}"/>
              </a:ext>
            </a:extLst>
          </p:cNvPr>
          <p:cNvSpPr/>
          <p:nvPr/>
        </p:nvSpPr>
        <p:spPr>
          <a:xfrm>
            <a:off x="2247851" y="4335188"/>
            <a:ext cx="292608" cy="347472"/>
          </a:xfrm>
          <a:prstGeom prst="rect">
            <a:avLst/>
          </a:prstGeom>
          <a:noFill/>
          <a:ln w="19050">
            <a:solidFill>
              <a:schemeClr val="tx1">
                <a:lumMod val="85000"/>
                <a:lumOff val="1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
        <p:nvSpPr>
          <p:cNvPr id="64" name="Rectangle 63">
            <a:extLst>
              <a:ext uri="{FF2B5EF4-FFF2-40B4-BE49-F238E27FC236}">
                <a16:creationId xmlns:a16="http://schemas.microsoft.com/office/drawing/2014/main" id="{2718A4FD-9391-DD61-71B7-152807A82C15}"/>
              </a:ext>
            </a:extLst>
          </p:cNvPr>
          <p:cNvSpPr/>
          <p:nvPr/>
        </p:nvSpPr>
        <p:spPr>
          <a:xfrm>
            <a:off x="2275283" y="4382432"/>
            <a:ext cx="237744" cy="18288"/>
          </a:xfrm>
          <a:prstGeom prst="rect">
            <a:avLst/>
          </a:prstGeom>
          <a:solidFill>
            <a:schemeClr val="tx1"/>
          </a:solidFill>
          <a:ln>
            <a:solidFill>
              <a:schemeClr val="tx1">
                <a:lumMod val="85000"/>
                <a:lumOff val="1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
        <p:nvSpPr>
          <p:cNvPr id="65" name="Rectangle 64">
            <a:extLst>
              <a:ext uri="{FF2B5EF4-FFF2-40B4-BE49-F238E27FC236}">
                <a16:creationId xmlns:a16="http://schemas.microsoft.com/office/drawing/2014/main" id="{6FD76235-34CD-873A-6A8C-D77BEED44368}"/>
              </a:ext>
            </a:extLst>
          </p:cNvPr>
          <p:cNvSpPr/>
          <p:nvPr/>
        </p:nvSpPr>
        <p:spPr>
          <a:xfrm>
            <a:off x="2275283" y="4455584"/>
            <a:ext cx="237744" cy="18288"/>
          </a:xfrm>
          <a:prstGeom prst="rect">
            <a:avLst/>
          </a:prstGeom>
          <a:solidFill>
            <a:schemeClr val="tx1"/>
          </a:solidFill>
          <a:ln>
            <a:solidFill>
              <a:schemeClr val="tx1">
                <a:lumMod val="85000"/>
                <a:lumOff val="1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
        <p:nvSpPr>
          <p:cNvPr id="66" name="TextBox 65">
            <a:extLst>
              <a:ext uri="{FF2B5EF4-FFF2-40B4-BE49-F238E27FC236}">
                <a16:creationId xmlns:a16="http://schemas.microsoft.com/office/drawing/2014/main" id="{A84B0000-A4B5-528E-D4F1-857161E880AC}"/>
              </a:ext>
            </a:extLst>
          </p:cNvPr>
          <p:cNvSpPr txBox="1"/>
          <p:nvPr/>
        </p:nvSpPr>
        <p:spPr>
          <a:xfrm>
            <a:off x="2577035" y="4345856"/>
            <a:ext cx="1618488" cy="308802"/>
          </a:xfrm>
          <a:prstGeom prst="rect">
            <a:avLst/>
          </a:prstGeom>
          <a:noFill/>
        </p:spPr>
        <p:txBody>
          <a:bodyPr wrap="square" lIns="0" tIns="0" rIns="0" bIns="0">
            <a:spAutoFit/>
          </a:bodyPr>
          <a:lstStyle/>
          <a:p>
            <a:pPr marL="0" marR="0" lvl="0" indent="0" algn="l" defTabSz="914400" rtl="0" eaLnBrk="0" fontAlgn="base" latinLnBrk="0" hangingPunct="0">
              <a:lnSpc>
                <a:spcPts val="1200"/>
              </a:lnSpc>
              <a:spcBef>
                <a:spcPct val="0"/>
              </a:spcBef>
              <a:spcAft>
                <a:spcPct val="0"/>
              </a:spcAft>
              <a:buClrTx/>
              <a:buSzTx/>
              <a:buFontTx/>
              <a:buNone/>
              <a:tabLst/>
              <a:defRPr/>
            </a:pPr>
            <a:r>
              <a:rPr kumimoji="0" sz="1100" b="1" i="0" u="none" strike="noStrike" kern="1200" cap="none" spc="0" normalizeH="0" baseline="0" noProof="0">
                <a:ln>
                  <a:noFill/>
                </a:ln>
                <a:solidFill>
                  <a:srgbClr val="000000"/>
                </a:solidFill>
                <a:effectLst/>
                <a:uLnTx/>
                <a:uFillTx/>
                <a:latin typeface="Poppins"/>
                <a:ea typeface="+mn-ea"/>
                <a:cs typeface="+mn-cs"/>
              </a:rPr>
              <a:t>Streamlined lead capture</a:t>
            </a:r>
          </a:p>
        </p:txBody>
      </p:sp>
      <p:sp>
        <p:nvSpPr>
          <p:cNvPr id="67" name="Rounded Rectangle 66">
            <a:extLst>
              <a:ext uri="{FF2B5EF4-FFF2-40B4-BE49-F238E27FC236}">
                <a16:creationId xmlns:a16="http://schemas.microsoft.com/office/drawing/2014/main" id="{6960221B-B70F-AD92-B748-93813BC65998}"/>
              </a:ext>
            </a:extLst>
          </p:cNvPr>
          <p:cNvSpPr/>
          <p:nvPr/>
        </p:nvSpPr>
        <p:spPr>
          <a:xfrm>
            <a:off x="4515564" y="4265561"/>
            <a:ext cx="2795927" cy="877824"/>
          </a:xfrm>
          <a:prstGeom prst="roundRect">
            <a:avLst/>
          </a:prstGeom>
          <a:solidFill>
            <a:schemeClr val="accent3">
              <a:lumMod val="20000"/>
              <a:lumOff val="80000"/>
            </a:schemeClr>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
        <p:nvSpPr>
          <p:cNvPr id="68" name="Rectangle 67">
            <a:extLst>
              <a:ext uri="{FF2B5EF4-FFF2-40B4-BE49-F238E27FC236}">
                <a16:creationId xmlns:a16="http://schemas.microsoft.com/office/drawing/2014/main" id="{3F5ACF16-4261-6DEA-AD26-C14AD284C8B2}"/>
              </a:ext>
            </a:extLst>
          </p:cNvPr>
          <p:cNvSpPr/>
          <p:nvPr/>
        </p:nvSpPr>
        <p:spPr>
          <a:xfrm>
            <a:off x="4515565" y="4265561"/>
            <a:ext cx="2795926" cy="54864"/>
          </a:xfrm>
          <a:prstGeom prst="rect">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
        <p:nvSpPr>
          <p:cNvPr id="69" name="TextBox 68">
            <a:extLst>
              <a:ext uri="{FF2B5EF4-FFF2-40B4-BE49-F238E27FC236}">
                <a16:creationId xmlns:a16="http://schemas.microsoft.com/office/drawing/2014/main" id="{0A193309-FFE7-F806-4072-94493FF24F24}"/>
              </a:ext>
            </a:extLst>
          </p:cNvPr>
          <p:cNvSpPr txBox="1"/>
          <p:nvPr/>
        </p:nvSpPr>
        <p:spPr>
          <a:xfrm>
            <a:off x="4625293" y="4357001"/>
            <a:ext cx="2734273" cy="184666"/>
          </a:xfrm>
          <a:prstGeom prst="rect">
            <a:avLst/>
          </a:prstGeom>
          <a:noFill/>
        </p:spPr>
        <p:txBody>
          <a:bodyPr wrap="square" lIns="0" tIns="0" rIns="0" bIns="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1E293B"/>
                </a:solidFill>
                <a:effectLst/>
                <a:uLnTx/>
                <a:uFillTx/>
                <a:latin typeface="Poppins"/>
                <a:ea typeface="+mn-ea"/>
                <a:cs typeface="+mn-cs"/>
              </a:rPr>
              <a:t>Form Usability (Mobile Emphasis)</a:t>
            </a:r>
            <a:endParaRPr kumimoji="0" sz="1200" b="1" i="0" u="none" strike="noStrike" kern="1200" cap="none" spc="0" normalizeH="0" baseline="0" noProof="0">
              <a:ln>
                <a:noFill/>
              </a:ln>
              <a:solidFill>
                <a:srgbClr val="1E293B"/>
              </a:solidFill>
              <a:effectLst/>
              <a:uLnTx/>
              <a:uFillTx/>
              <a:latin typeface="Poppins"/>
              <a:ea typeface="+mn-ea"/>
              <a:cs typeface="+mn-cs"/>
            </a:endParaRPr>
          </a:p>
        </p:txBody>
      </p:sp>
      <p:sp>
        <p:nvSpPr>
          <p:cNvPr id="71" name="TextBox 70">
            <a:extLst>
              <a:ext uri="{FF2B5EF4-FFF2-40B4-BE49-F238E27FC236}">
                <a16:creationId xmlns:a16="http://schemas.microsoft.com/office/drawing/2014/main" id="{C5A7CD1F-078A-8AEC-5CE2-DFDD00C4AFEA}"/>
              </a:ext>
            </a:extLst>
          </p:cNvPr>
          <p:cNvSpPr txBox="1"/>
          <p:nvPr/>
        </p:nvSpPr>
        <p:spPr>
          <a:xfrm>
            <a:off x="4625294" y="4576457"/>
            <a:ext cx="2624544" cy="307777"/>
          </a:xfrm>
          <a:prstGeom prst="rect">
            <a:avLst/>
          </a:prstGeom>
          <a:noFill/>
        </p:spPr>
        <p:txBody>
          <a:bodyPr wrap="square" lIns="0" tIns="0" rIns="0" bIns="0">
            <a:spAutoFit/>
          </a:bodyPr>
          <a:lstStyle/>
          <a:p>
            <a:pPr marL="0" marR="0" lvl="0" indent="0" algn="l" defTabSz="914400" rtl="0" eaLnBrk="0" fontAlgn="base" latinLnBrk="0" hangingPunct="0">
              <a:lnSpc>
                <a:spcPts val="1200"/>
              </a:lnSpc>
              <a:spcBef>
                <a:spcPct val="0"/>
              </a:spcBef>
              <a:spcAft>
                <a:spcPct val="0"/>
              </a:spcAft>
              <a:buClrTx/>
              <a:buSzTx/>
              <a:buFontTx/>
              <a:buNone/>
              <a:tabLst/>
              <a:defRPr/>
            </a:pPr>
            <a:r>
              <a:rPr kumimoji="0" lang="en-US" sz="1000" b="1" i="0" u="none" strike="noStrike" kern="1200" cap="none" spc="0" normalizeH="0" baseline="0" noProof="0">
                <a:ln>
                  <a:noFill/>
                </a:ln>
                <a:effectLst/>
                <a:uLnTx/>
                <a:uFillTx/>
                <a:latin typeface="Poppins"/>
                <a:ea typeface="+mn-ea"/>
                <a:cs typeface="+mn-cs"/>
              </a:rPr>
              <a:t>How</a:t>
            </a:r>
            <a:r>
              <a:rPr kumimoji="0" sz="1000" b="1" i="0" u="none" strike="noStrike" kern="1200" cap="none" spc="0" normalizeH="0" baseline="0" noProof="0">
                <a:ln>
                  <a:noFill/>
                </a:ln>
                <a:effectLst/>
                <a:uLnTx/>
                <a:uFillTx/>
                <a:latin typeface="Poppins"/>
                <a:ea typeface="+mn-ea"/>
                <a:cs typeface="+mn-cs"/>
              </a:rPr>
              <a:t>: </a:t>
            </a:r>
            <a:r>
              <a:rPr kumimoji="0" lang="en-US" sz="1000" b="0" i="0" u="none" strike="noStrike" kern="1200" cap="none" spc="0" normalizeH="0" baseline="0" noProof="0">
                <a:ln>
                  <a:noFill/>
                </a:ln>
                <a:effectLst/>
                <a:uLnTx/>
                <a:uFillTx/>
                <a:latin typeface="Poppins"/>
                <a:ea typeface="+mn-ea"/>
                <a:cs typeface="+mn-cs"/>
              </a:rPr>
              <a:t>Guided program selection and focus on education needs</a:t>
            </a:r>
            <a:endParaRPr kumimoji="0" sz="1000" b="0" i="0" u="none" strike="noStrike" kern="1200" cap="none" spc="0" normalizeH="0" baseline="0" noProof="0">
              <a:ln>
                <a:noFill/>
              </a:ln>
              <a:effectLst/>
              <a:uLnTx/>
              <a:uFillTx/>
              <a:latin typeface="Poppins"/>
              <a:ea typeface="+mn-ea"/>
              <a:cs typeface="+mn-cs"/>
            </a:endParaRPr>
          </a:p>
        </p:txBody>
      </p:sp>
      <p:sp>
        <p:nvSpPr>
          <p:cNvPr id="73" name="Rectangle 72">
            <a:extLst>
              <a:ext uri="{FF2B5EF4-FFF2-40B4-BE49-F238E27FC236}">
                <a16:creationId xmlns:a16="http://schemas.microsoft.com/office/drawing/2014/main" id="{221F002A-F015-4CED-FB04-CAFA1BBC5FF9}"/>
              </a:ext>
            </a:extLst>
          </p:cNvPr>
          <p:cNvSpPr/>
          <p:nvPr/>
        </p:nvSpPr>
        <p:spPr>
          <a:xfrm flipV="1">
            <a:off x="2138124" y="5232131"/>
            <a:ext cx="8079026" cy="45719"/>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
        <p:nvSpPr>
          <p:cNvPr id="74" name="Rounded Rectangle 73">
            <a:extLst>
              <a:ext uri="{FF2B5EF4-FFF2-40B4-BE49-F238E27FC236}">
                <a16:creationId xmlns:a16="http://schemas.microsoft.com/office/drawing/2014/main" id="{6BB40463-AFAC-88AF-F347-9613273CC968}"/>
              </a:ext>
            </a:extLst>
          </p:cNvPr>
          <p:cNvSpPr/>
          <p:nvPr/>
        </p:nvSpPr>
        <p:spPr>
          <a:xfrm>
            <a:off x="2138124" y="5388788"/>
            <a:ext cx="2148840" cy="475488"/>
          </a:xfrm>
          <a:prstGeom prst="roundRect">
            <a:avLst/>
          </a:prstGeom>
          <a:solidFill>
            <a:schemeClr val="tx2"/>
          </a:solidFill>
          <a:ln w="1270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
        <p:nvSpPr>
          <p:cNvPr id="75" name="Circular Arrow 74">
            <a:extLst>
              <a:ext uri="{FF2B5EF4-FFF2-40B4-BE49-F238E27FC236}">
                <a16:creationId xmlns:a16="http://schemas.microsoft.com/office/drawing/2014/main" id="{7A0FB3F4-8698-0C7E-ACF2-3878A2CA2F77}"/>
              </a:ext>
            </a:extLst>
          </p:cNvPr>
          <p:cNvSpPr/>
          <p:nvPr/>
        </p:nvSpPr>
        <p:spPr>
          <a:xfrm>
            <a:off x="2220419" y="5493945"/>
            <a:ext cx="310896" cy="310896"/>
          </a:xfrm>
          <a:prstGeom prst="circularArrow">
            <a:avLst/>
          </a:prstGeom>
          <a:solidFill>
            <a:schemeClr val="bg1"/>
          </a:solidFill>
          <a:ln w="19050">
            <a:solidFill>
              <a:schemeClr val="bg1"/>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
        <p:nvSpPr>
          <p:cNvPr id="76" name="TextBox 75">
            <a:extLst>
              <a:ext uri="{FF2B5EF4-FFF2-40B4-BE49-F238E27FC236}">
                <a16:creationId xmlns:a16="http://schemas.microsoft.com/office/drawing/2014/main" id="{487CC8D0-694F-74CF-3590-EC58E6DDA306}"/>
              </a:ext>
            </a:extLst>
          </p:cNvPr>
          <p:cNvSpPr txBox="1"/>
          <p:nvPr/>
        </p:nvSpPr>
        <p:spPr>
          <a:xfrm>
            <a:off x="2577035" y="5466512"/>
            <a:ext cx="1618488" cy="308802"/>
          </a:xfrm>
          <a:prstGeom prst="rect">
            <a:avLst/>
          </a:prstGeom>
          <a:noFill/>
        </p:spPr>
        <p:txBody>
          <a:bodyPr wrap="square" lIns="0" tIns="0" rIns="0" bIns="0">
            <a:spAutoFit/>
          </a:bodyPr>
          <a:lstStyle/>
          <a:p>
            <a:pPr marL="0" marR="0" lvl="0" indent="0" algn="l" defTabSz="914400" rtl="0" eaLnBrk="0" fontAlgn="base" latinLnBrk="0" hangingPunct="0">
              <a:lnSpc>
                <a:spcPts val="1200"/>
              </a:lnSpc>
              <a:spcBef>
                <a:spcPct val="0"/>
              </a:spcBef>
              <a:spcAft>
                <a:spcPct val="0"/>
              </a:spcAft>
              <a:buClrTx/>
              <a:buSzTx/>
              <a:buFontTx/>
              <a:buNone/>
              <a:tabLst/>
              <a:defRPr/>
            </a:pPr>
            <a:r>
              <a:rPr kumimoji="0" sz="1100" b="1" i="0" u="none" strike="noStrike" kern="1200" cap="none" spc="0" normalizeH="0" baseline="0" noProof="0">
                <a:ln>
                  <a:noFill/>
                </a:ln>
                <a:solidFill>
                  <a:srgbClr val="FFFFFF"/>
                </a:solidFill>
                <a:effectLst/>
                <a:uLnTx/>
                <a:uFillTx/>
                <a:latin typeface="Poppins"/>
                <a:ea typeface="+mn-ea"/>
                <a:cs typeface="+mn-cs"/>
              </a:rPr>
              <a:t>Lead nurture and post-inquiry action</a:t>
            </a:r>
          </a:p>
        </p:txBody>
      </p:sp>
      <p:sp>
        <p:nvSpPr>
          <p:cNvPr id="77" name="Rounded Rectangle 76">
            <a:extLst>
              <a:ext uri="{FF2B5EF4-FFF2-40B4-BE49-F238E27FC236}">
                <a16:creationId xmlns:a16="http://schemas.microsoft.com/office/drawing/2014/main" id="{C7106AAC-93ED-7484-9638-E46ED931F6F4}"/>
              </a:ext>
            </a:extLst>
          </p:cNvPr>
          <p:cNvSpPr/>
          <p:nvPr/>
        </p:nvSpPr>
        <p:spPr>
          <a:xfrm>
            <a:off x="4515564" y="5370499"/>
            <a:ext cx="2795927" cy="877824"/>
          </a:xfrm>
          <a:prstGeom prst="roundRect">
            <a:avLst/>
          </a:prstGeom>
          <a:solidFill>
            <a:schemeClr val="accent3">
              <a:lumMod val="20000"/>
              <a:lumOff val="80000"/>
            </a:schemeClr>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
        <p:nvSpPr>
          <p:cNvPr id="78" name="Rectangle 77">
            <a:extLst>
              <a:ext uri="{FF2B5EF4-FFF2-40B4-BE49-F238E27FC236}">
                <a16:creationId xmlns:a16="http://schemas.microsoft.com/office/drawing/2014/main" id="{C9545585-D427-4588-B553-5DB8D7894098}"/>
              </a:ext>
            </a:extLst>
          </p:cNvPr>
          <p:cNvSpPr/>
          <p:nvPr/>
        </p:nvSpPr>
        <p:spPr>
          <a:xfrm>
            <a:off x="4515564" y="5370499"/>
            <a:ext cx="2795927" cy="65380"/>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
        <p:nvSpPr>
          <p:cNvPr id="79" name="TextBox 78">
            <a:extLst>
              <a:ext uri="{FF2B5EF4-FFF2-40B4-BE49-F238E27FC236}">
                <a16:creationId xmlns:a16="http://schemas.microsoft.com/office/drawing/2014/main" id="{2B22C87C-9135-06B3-5CCA-8D60F8503F36}"/>
              </a:ext>
            </a:extLst>
          </p:cNvPr>
          <p:cNvSpPr txBox="1"/>
          <p:nvPr/>
        </p:nvSpPr>
        <p:spPr>
          <a:xfrm>
            <a:off x="4625292" y="5461939"/>
            <a:ext cx="2734273" cy="184666"/>
          </a:xfrm>
          <a:prstGeom prst="rect">
            <a:avLst/>
          </a:prstGeom>
          <a:noFill/>
        </p:spPr>
        <p:txBody>
          <a:bodyPr wrap="square" lIns="0" tIns="0" rIns="0" bIns="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sz="1200" b="1" i="0" u="none" strike="noStrike" kern="1200" cap="none" spc="0" normalizeH="0" baseline="0" noProof="0">
                <a:ln>
                  <a:noFill/>
                </a:ln>
                <a:solidFill>
                  <a:srgbClr val="1E293B"/>
                </a:solidFill>
                <a:effectLst/>
                <a:uLnTx/>
                <a:uFillTx/>
                <a:latin typeface="Poppins"/>
                <a:ea typeface="+mn-ea"/>
                <a:cs typeface="+mn-cs"/>
              </a:rPr>
              <a:t>Thank You Action Hub Next </a:t>
            </a:r>
            <a:r>
              <a:rPr kumimoji="0" lang="en-US" sz="1200" b="1" i="0" u="none" strike="noStrike" kern="1200" cap="none" spc="0" normalizeH="0" baseline="0" noProof="0">
                <a:ln>
                  <a:noFill/>
                </a:ln>
                <a:solidFill>
                  <a:srgbClr val="1E293B"/>
                </a:solidFill>
                <a:effectLst/>
                <a:uLnTx/>
                <a:uFillTx/>
                <a:latin typeface="Poppins"/>
                <a:ea typeface="+mn-ea"/>
                <a:cs typeface="+mn-cs"/>
              </a:rPr>
              <a:t>A</a:t>
            </a:r>
            <a:r>
              <a:rPr kumimoji="0" sz="1200" b="1" i="0" u="none" strike="noStrike" kern="1200" cap="none" spc="0" normalizeH="0" baseline="0" noProof="0">
                <a:ln>
                  <a:noFill/>
                </a:ln>
                <a:solidFill>
                  <a:srgbClr val="1E293B"/>
                </a:solidFill>
                <a:effectLst/>
                <a:uLnTx/>
                <a:uFillTx/>
                <a:latin typeface="Poppins"/>
                <a:ea typeface="+mn-ea"/>
                <a:cs typeface="+mn-cs"/>
              </a:rPr>
              <a:t>ction</a:t>
            </a:r>
          </a:p>
        </p:txBody>
      </p:sp>
      <p:sp>
        <p:nvSpPr>
          <p:cNvPr id="81" name="TextBox 80">
            <a:extLst>
              <a:ext uri="{FF2B5EF4-FFF2-40B4-BE49-F238E27FC236}">
                <a16:creationId xmlns:a16="http://schemas.microsoft.com/office/drawing/2014/main" id="{0F408B7B-F2BC-E9B7-530B-4BC326EAE50D}"/>
              </a:ext>
            </a:extLst>
          </p:cNvPr>
          <p:cNvSpPr txBox="1"/>
          <p:nvPr/>
        </p:nvSpPr>
        <p:spPr>
          <a:xfrm>
            <a:off x="4625293" y="5681395"/>
            <a:ext cx="2618404" cy="307777"/>
          </a:xfrm>
          <a:prstGeom prst="rect">
            <a:avLst/>
          </a:prstGeom>
          <a:noFill/>
        </p:spPr>
        <p:txBody>
          <a:bodyPr wrap="square" lIns="0" tIns="0" rIns="0" bIns="0">
            <a:spAutoFit/>
          </a:bodyPr>
          <a:lstStyle/>
          <a:p>
            <a:pPr marL="0" marR="0" lvl="0" indent="0" algn="l" defTabSz="914400" rtl="0" eaLnBrk="0" fontAlgn="base" latinLnBrk="0" hangingPunct="0">
              <a:lnSpc>
                <a:spcPts val="1200"/>
              </a:lnSpc>
              <a:spcBef>
                <a:spcPct val="0"/>
              </a:spcBef>
              <a:spcAft>
                <a:spcPct val="0"/>
              </a:spcAft>
              <a:buClrTx/>
              <a:buSzTx/>
              <a:buFontTx/>
              <a:buNone/>
              <a:tabLst/>
              <a:defRPr/>
            </a:pPr>
            <a:r>
              <a:rPr kumimoji="0" lang="en-US" sz="1000" b="1" i="0" u="none" strike="noStrike" kern="1200" cap="none" spc="0" normalizeH="0" baseline="0" noProof="0">
                <a:ln>
                  <a:noFill/>
                </a:ln>
                <a:effectLst/>
                <a:uLnTx/>
                <a:uFillTx/>
                <a:latin typeface="Poppins"/>
                <a:ea typeface="+mn-ea"/>
                <a:cs typeface="+mn-cs"/>
              </a:rPr>
              <a:t>How</a:t>
            </a:r>
            <a:r>
              <a:rPr kumimoji="0" sz="1000" b="1" i="0" u="none" strike="noStrike" kern="1200" cap="none" spc="0" normalizeH="0" baseline="0" noProof="0">
                <a:ln>
                  <a:noFill/>
                </a:ln>
                <a:effectLst/>
                <a:uLnTx/>
                <a:uFillTx/>
                <a:latin typeface="Poppins"/>
                <a:ea typeface="+mn-ea"/>
                <a:cs typeface="+mn-cs"/>
              </a:rPr>
              <a:t>: </a:t>
            </a:r>
            <a:r>
              <a:rPr kumimoji="0" lang="en-US" sz="1000" b="0" i="0" u="none" strike="noStrike" kern="1200" cap="none" spc="0" normalizeH="0" baseline="0" noProof="0">
                <a:ln>
                  <a:noFill/>
                </a:ln>
                <a:effectLst/>
                <a:uLnTx/>
                <a:uFillTx/>
                <a:latin typeface="Poppins"/>
                <a:ea typeface="+mn-ea"/>
                <a:cs typeface="+mn-cs"/>
              </a:rPr>
              <a:t>Inbound conversion paths and recommended program exploration</a:t>
            </a:r>
            <a:endParaRPr kumimoji="0" sz="1000" b="0" i="0" u="none" strike="noStrike" kern="1200" cap="none" spc="0" normalizeH="0" baseline="0" noProof="0">
              <a:ln>
                <a:noFill/>
              </a:ln>
              <a:effectLst/>
              <a:uLnTx/>
              <a:uFillTx/>
              <a:latin typeface="Poppins"/>
              <a:ea typeface="+mn-ea"/>
              <a:cs typeface="+mn-cs"/>
            </a:endParaRPr>
          </a:p>
        </p:txBody>
      </p:sp>
      <p:sp>
        <p:nvSpPr>
          <p:cNvPr id="83" name="TextBox 82">
            <a:extLst>
              <a:ext uri="{FF2B5EF4-FFF2-40B4-BE49-F238E27FC236}">
                <a16:creationId xmlns:a16="http://schemas.microsoft.com/office/drawing/2014/main" id="{B936C4FE-B0BA-99DD-05A4-CB8B4A0EA091}"/>
              </a:ext>
            </a:extLst>
          </p:cNvPr>
          <p:cNvSpPr txBox="1"/>
          <p:nvPr/>
        </p:nvSpPr>
        <p:spPr>
          <a:xfrm>
            <a:off x="548640" y="6601968"/>
            <a:ext cx="11094415" cy="153888"/>
          </a:xfrm>
          <a:prstGeom prst="rect">
            <a:avLst/>
          </a:prstGeom>
          <a:noFill/>
        </p:spPr>
        <p:txBody>
          <a:bodyPr wrap="square" lIns="0" tIns="0" rIns="0" bIns="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sz="1000" b="0" i="0" u="none" strike="noStrike" kern="1200" cap="none" spc="0" normalizeH="0" baseline="0" noProof="0">
                <a:ln>
                  <a:noFill/>
                </a:ln>
                <a:solidFill>
                  <a:srgbClr val="64748B"/>
                </a:solidFill>
                <a:effectLst/>
                <a:uLnTx/>
                <a:uFillTx/>
                <a:latin typeface="Poppins"/>
                <a:ea typeface="+mn-ea"/>
                <a:cs typeface="+mn-cs"/>
              </a:rPr>
              <a:t>Each module is testable </a:t>
            </a:r>
            <a:r>
              <a:rPr kumimoji="0" lang="en-US" sz="1000" b="0" i="0" u="none" strike="noStrike" kern="1200" cap="none" spc="0" normalizeH="0" baseline="0" noProof="0">
                <a:ln>
                  <a:noFill/>
                </a:ln>
                <a:solidFill>
                  <a:srgbClr val="64748B"/>
                </a:solidFill>
                <a:effectLst/>
                <a:uLnTx/>
                <a:uFillTx/>
                <a:latin typeface="Poppins"/>
                <a:ea typeface="+mn-ea"/>
                <a:cs typeface="+mn-cs"/>
              </a:rPr>
              <a:t>in multiple templates/placements </a:t>
            </a:r>
            <a:r>
              <a:rPr kumimoji="0" sz="1000" b="0" i="0" u="none" strike="noStrike" kern="1200" cap="none" spc="0" normalizeH="0" baseline="0" noProof="0">
                <a:ln>
                  <a:noFill/>
                </a:ln>
                <a:solidFill>
                  <a:srgbClr val="64748B"/>
                </a:solidFill>
                <a:effectLst/>
                <a:uLnTx/>
                <a:uFillTx/>
                <a:latin typeface="Poppins"/>
                <a:ea typeface="+mn-ea"/>
                <a:cs typeface="+mn-cs"/>
              </a:rPr>
              <a:t>and </a:t>
            </a:r>
            <a:r>
              <a:rPr lang="en-US" sz="1000">
                <a:solidFill>
                  <a:srgbClr val="64748B"/>
                </a:solidFill>
                <a:latin typeface="Poppins"/>
              </a:rPr>
              <a:t>can</a:t>
            </a:r>
            <a:r>
              <a:rPr kumimoji="0" sz="1000" b="0" i="0" u="none" strike="noStrike" kern="1200" cap="none" spc="0" normalizeH="0" baseline="0" noProof="0">
                <a:ln>
                  <a:noFill/>
                </a:ln>
                <a:solidFill>
                  <a:srgbClr val="64748B"/>
                </a:solidFill>
                <a:effectLst/>
                <a:uLnTx/>
                <a:uFillTx/>
                <a:latin typeface="Poppins"/>
                <a:ea typeface="+mn-ea"/>
                <a:cs typeface="+mn-cs"/>
              </a:rPr>
              <a:t> be prioritized by impact and effort.</a:t>
            </a:r>
          </a:p>
        </p:txBody>
      </p:sp>
      <p:sp>
        <p:nvSpPr>
          <p:cNvPr id="90" name="Rounded Rectangle 66">
            <a:extLst>
              <a:ext uri="{FF2B5EF4-FFF2-40B4-BE49-F238E27FC236}">
                <a16:creationId xmlns:a16="http://schemas.microsoft.com/office/drawing/2014/main" id="{BD9EE886-C9CF-9ED7-F1CC-F7423A084458}"/>
              </a:ext>
            </a:extLst>
          </p:cNvPr>
          <p:cNvSpPr/>
          <p:nvPr/>
        </p:nvSpPr>
        <p:spPr>
          <a:xfrm>
            <a:off x="7421219" y="4270559"/>
            <a:ext cx="2808909" cy="877824"/>
          </a:xfrm>
          <a:prstGeom prst="roundRect">
            <a:avLst/>
          </a:prstGeom>
          <a:solidFill>
            <a:schemeClr val="accent3">
              <a:lumMod val="20000"/>
              <a:lumOff val="80000"/>
            </a:schemeClr>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
        <p:nvSpPr>
          <p:cNvPr id="91" name="Rectangle 90">
            <a:extLst>
              <a:ext uri="{FF2B5EF4-FFF2-40B4-BE49-F238E27FC236}">
                <a16:creationId xmlns:a16="http://schemas.microsoft.com/office/drawing/2014/main" id="{FDFBC2B9-E566-0ED8-7DF4-96856EFFD2B2}"/>
              </a:ext>
            </a:extLst>
          </p:cNvPr>
          <p:cNvSpPr/>
          <p:nvPr/>
        </p:nvSpPr>
        <p:spPr>
          <a:xfrm>
            <a:off x="7421220" y="4270559"/>
            <a:ext cx="2808908" cy="54864"/>
          </a:xfrm>
          <a:prstGeom prst="rect">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
        <p:nvSpPr>
          <p:cNvPr id="92" name="TextBox 91">
            <a:extLst>
              <a:ext uri="{FF2B5EF4-FFF2-40B4-BE49-F238E27FC236}">
                <a16:creationId xmlns:a16="http://schemas.microsoft.com/office/drawing/2014/main" id="{B863EE5A-5226-4E09-38E6-A8E9A4F3D5CB}"/>
              </a:ext>
            </a:extLst>
          </p:cNvPr>
          <p:cNvSpPr txBox="1"/>
          <p:nvPr/>
        </p:nvSpPr>
        <p:spPr>
          <a:xfrm>
            <a:off x="7530947" y="4361999"/>
            <a:ext cx="2686203" cy="184666"/>
          </a:xfrm>
          <a:prstGeom prst="rect">
            <a:avLst/>
          </a:prstGeom>
          <a:noFill/>
        </p:spPr>
        <p:txBody>
          <a:bodyPr wrap="square" lIns="0" tIns="0" rIns="0" bIns="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1E293B"/>
                </a:solidFill>
                <a:effectLst/>
                <a:uLnTx/>
                <a:uFillTx/>
                <a:latin typeface="Poppins"/>
                <a:ea typeface="+mn-ea"/>
                <a:cs typeface="+mn-cs"/>
              </a:rPr>
              <a:t>Upcoming Enrollment Dates</a:t>
            </a:r>
            <a:endParaRPr kumimoji="0" sz="1200" b="1" i="0" u="none" strike="noStrike" kern="1200" cap="none" spc="0" normalizeH="0" baseline="0" noProof="0">
              <a:ln>
                <a:noFill/>
              </a:ln>
              <a:solidFill>
                <a:srgbClr val="1E293B"/>
              </a:solidFill>
              <a:effectLst/>
              <a:uLnTx/>
              <a:uFillTx/>
              <a:latin typeface="Poppins"/>
              <a:ea typeface="+mn-ea"/>
              <a:cs typeface="+mn-cs"/>
            </a:endParaRPr>
          </a:p>
        </p:txBody>
      </p:sp>
      <p:sp>
        <p:nvSpPr>
          <p:cNvPr id="94" name="TextBox 93">
            <a:extLst>
              <a:ext uri="{FF2B5EF4-FFF2-40B4-BE49-F238E27FC236}">
                <a16:creationId xmlns:a16="http://schemas.microsoft.com/office/drawing/2014/main" id="{D5F50B99-1DB7-695E-5EE3-A47F819172A3}"/>
              </a:ext>
            </a:extLst>
          </p:cNvPr>
          <p:cNvSpPr txBox="1"/>
          <p:nvPr/>
        </p:nvSpPr>
        <p:spPr>
          <a:xfrm>
            <a:off x="7530949" y="4581455"/>
            <a:ext cx="2695014" cy="307777"/>
          </a:xfrm>
          <a:prstGeom prst="rect">
            <a:avLst/>
          </a:prstGeom>
          <a:noFill/>
        </p:spPr>
        <p:txBody>
          <a:bodyPr wrap="square" lIns="0" tIns="0" rIns="0" bIns="0">
            <a:spAutoFit/>
          </a:bodyPr>
          <a:lstStyle/>
          <a:p>
            <a:pPr marL="0" marR="0" lvl="0" indent="0" algn="l" defTabSz="914400" rtl="0" eaLnBrk="0" fontAlgn="base" latinLnBrk="0" hangingPunct="0">
              <a:lnSpc>
                <a:spcPts val="1200"/>
              </a:lnSpc>
              <a:spcBef>
                <a:spcPct val="0"/>
              </a:spcBef>
              <a:spcAft>
                <a:spcPct val="0"/>
              </a:spcAft>
              <a:buClrTx/>
              <a:buSzTx/>
              <a:buFontTx/>
              <a:buNone/>
              <a:tabLst/>
              <a:defRPr/>
            </a:pPr>
            <a:r>
              <a:rPr kumimoji="0" lang="en-US" sz="1000" b="1" i="0" u="none" strike="noStrike" kern="1200" cap="none" spc="0" normalizeH="0" baseline="0" noProof="0">
                <a:ln>
                  <a:noFill/>
                </a:ln>
                <a:effectLst/>
                <a:uLnTx/>
                <a:uFillTx/>
                <a:latin typeface="Poppins"/>
                <a:ea typeface="+mn-ea"/>
                <a:cs typeface="+mn-cs"/>
              </a:rPr>
              <a:t>How</a:t>
            </a:r>
            <a:r>
              <a:rPr kumimoji="0" sz="1000" b="1" i="0" u="none" strike="noStrike" kern="1200" cap="none" spc="0" normalizeH="0" baseline="0" noProof="0">
                <a:ln>
                  <a:noFill/>
                </a:ln>
                <a:effectLst/>
                <a:uLnTx/>
                <a:uFillTx/>
                <a:latin typeface="Poppins"/>
                <a:ea typeface="+mn-ea"/>
                <a:cs typeface="+mn-cs"/>
              </a:rPr>
              <a:t>: </a:t>
            </a:r>
            <a:r>
              <a:rPr kumimoji="0" lang="en-US" sz="1000" b="0" i="0" u="none" strike="noStrike" kern="1200" cap="none" spc="0" normalizeH="0" baseline="0" noProof="0">
                <a:ln>
                  <a:noFill/>
                </a:ln>
                <a:effectLst/>
                <a:uLnTx/>
                <a:uFillTx/>
                <a:latin typeface="Poppins"/>
                <a:ea typeface="+mn-ea"/>
                <a:cs typeface="+mn-cs"/>
              </a:rPr>
              <a:t>Upcoming enrollment dates with urgency messaging</a:t>
            </a:r>
            <a:endParaRPr kumimoji="0" sz="1000" b="0" i="0" u="none" strike="noStrike" kern="1200" cap="none" spc="0" normalizeH="0" baseline="0" noProof="0">
              <a:ln>
                <a:noFill/>
              </a:ln>
              <a:effectLst/>
              <a:uLnTx/>
              <a:uFillTx/>
              <a:latin typeface="Poppins"/>
              <a:ea typeface="+mn-ea"/>
              <a:cs typeface="+mn-cs"/>
            </a:endParaRPr>
          </a:p>
        </p:txBody>
      </p:sp>
      <p:sp>
        <p:nvSpPr>
          <p:cNvPr id="95" name="Rounded Rectangle 76">
            <a:extLst>
              <a:ext uri="{FF2B5EF4-FFF2-40B4-BE49-F238E27FC236}">
                <a16:creationId xmlns:a16="http://schemas.microsoft.com/office/drawing/2014/main" id="{2802CF04-E8C9-4631-30DF-FEB5FFE86F3B}"/>
              </a:ext>
            </a:extLst>
          </p:cNvPr>
          <p:cNvSpPr/>
          <p:nvPr/>
        </p:nvSpPr>
        <p:spPr>
          <a:xfrm>
            <a:off x="7421220" y="5365929"/>
            <a:ext cx="2804743" cy="877824"/>
          </a:xfrm>
          <a:prstGeom prst="roundRect">
            <a:avLst/>
          </a:prstGeom>
          <a:solidFill>
            <a:schemeClr val="accent3">
              <a:lumMod val="20000"/>
              <a:lumOff val="80000"/>
            </a:schemeClr>
          </a:solidFill>
          <a:ln w="12700">
            <a:solidFill>
              <a:srgbClr val="D9D9D9"/>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
        <p:nvSpPr>
          <p:cNvPr id="97" name="TextBox 96">
            <a:extLst>
              <a:ext uri="{FF2B5EF4-FFF2-40B4-BE49-F238E27FC236}">
                <a16:creationId xmlns:a16="http://schemas.microsoft.com/office/drawing/2014/main" id="{038446A4-196F-6AA7-694F-2066577DB9F0}"/>
              </a:ext>
            </a:extLst>
          </p:cNvPr>
          <p:cNvSpPr txBox="1"/>
          <p:nvPr/>
        </p:nvSpPr>
        <p:spPr>
          <a:xfrm>
            <a:off x="7530948" y="5457369"/>
            <a:ext cx="2099934" cy="184666"/>
          </a:xfrm>
          <a:prstGeom prst="rect">
            <a:avLst/>
          </a:prstGeom>
          <a:noFill/>
        </p:spPr>
        <p:txBody>
          <a:bodyPr wrap="none" lIns="0" tIns="0" rIns="0" bIns="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1E293B"/>
                </a:solidFill>
                <a:effectLst/>
                <a:uLnTx/>
                <a:uFillTx/>
                <a:latin typeface="Poppins"/>
                <a:ea typeface="+mn-ea"/>
                <a:cs typeface="+mn-cs"/>
              </a:rPr>
              <a:t>Enrollment Process Details</a:t>
            </a:r>
            <a:endParaRPr kumimoji="0" sz="1200" b="1" i="0" u="none" strike="noStrike" kern="1200" cap="none" spc="0" normalizeH="0" baseline="0" noProof="0">
              <a:ln>
                <a:noFill/>
              </a:ln>
              <a:solidFill>
                <a:srgbClr val="1E293B"/>
              </a:solidFill>
              <a:effectLst/>
              <a:uLnTx/>
              <a:uFillTx/>
              <a:latin typeface="Poppins"/>
              <a:ea typeface="+mn-ea"/>
              <a:cs typeface="+mn-cs"/>
            </a:endParaRPr>
          </a:p>
        </p:txBody>
      </p:sp>
      <p:sp>
        <p:nvSpPr>
          <p:cNvPr id="99" name="TextBox 98">
            <a:extLst>
              <a:ext uri="{FF2B5EF4-FFF2-40B4-BE49-F238E27FC236}">
                <a16:creationId xmlns:a16="http://schemas.microsoft.com/office/drawing/2014/main" id="{115A90B3-A442-FFDA-D160-974719ED605B}"/>
              </a:ext>
            </a:extLst>
          </p:cNvPr>
          <p:cNvSpPr txBox="1"/>
          <p:nvPr/>
        </p:nvSpPr>
        <p:spPr>
          <a:xfrm>
            <a:off x="7530948" y="5676825"/>
            <a:ext cx="2772547" cy="307777"/>
          </a:xfrm>
          <a:prstGeom prst="rect">
            <a:avLst/>
          </a:prstGeom>
          <a:noFill/>
        </p:spPr>
        <p:txBody>
          <a:bodyPr wrap="square" lIns="0" tIns="0" rIns="0" bIns="0">
            <a:spAutoFit/>
          </a:bodyPr>
          <a:lstStyle/>
          <a:p>
            <a:pPr marL="0" marR="0" lvl="0" indent="0" algn="l" defTabSz="914400" rtl="0" eaLnBrk="0" fontAlgn="base" latinLnBrk="0" hangingPunct="0">
              <a:lnSpc>
                <a:spcPts val="1200"/>
              </a:lnSpc>
              <a:spcBef>
                <a:spcPct val="0"/>
              </a:spcBef>
              <a:spcAft>
                <a:spcPct val="0"/>
              </a:spcAft>
              <a:buClrTx/>
              <a:buSzTx/>
              <a:buFontTx/>
              <a:buNone/>
              <a:tabLst/>
              <a:defRPr/>
            </a:pPr>
            <a:r>
              <a:rPr kumimoji="0" lang="en-US" sz="1000" b="1" i="0" u="none" strike="noStrike" kern="1200" cap="none" spc="0" normalizeH="0" baseline="0" noProof="0">
                <a:ln>
                  <a:noFill/>
                </a:ln>
                <a:effectLst/>
                <a:uLnTx/>
                <a:uFillTx/>
                <a:latin typeface="Poppins"/>
                <a:ea typeface="+mn-ea"/>
                <a:cs typeface="+mn-cs"/>
              </a:rPr>
              <a:t>How</a:t>
            </a:r>
            <a:r>
              <a:rPr kumimoji="0" sz="1000" b="1" i="0" u="none" strike="noStrike" kern="1200" cap="none" spc="0" normalizeH="0" baseline="0" noProof="0">
                <a:ln>
                  <a:noFill/>
                </a:ln>
                <a:effectLst/>
                <a:uLnTx/>
                <a:uFillTx/>
                <a:latin typeface="Poppins"/>
                <a:ea typeface="+mn-ea"/>
                <a:cs typeface="+mn-cs"/>
              </a:rPr>
              <a:t>: </a:t>
            </a:r>
            <a:r>
              <a:rPr kumimoji="0" lang="en-US" sz="1000" b="0" i="0" u="none" strike="noStrike" kern="1200" cap="none" spc="0" normalizeH="0" baseline="0" noProof="0">
                <a:ln>
                  <a:noFill/>
                </a:ln>
                <a:effectLst/>
                <a:uLnTx/>
                <a:uFillTx/>
                <a:latin typeface="Poppins"/>
                <a:ea typeface="+mn-ea"/>
                <a:cs typeface="+mn-cs"/>
              </a:rPr>
              <a:t>Simple explanation of enrollment steps including phone consultation</a:t>
            </a:r>
            <a:endParaRPr kumimoji="0" sz="1000" b="0" i="0" u="none" strike="noStrike" kern="1200" cap="none" spc="0" normalizeH="0" baseline="0" noProof="0">
              <a:ln>
                <a:noFill/>
              </a:ln>
              <a:effectLst/>
              <a:uLnTx/>
              <a:uFillTx/>
              <a:latin typeface="Poppins"/>
              <a:ea typeface="+mn-ea"/>
              <a:cs typeface="+mn-cs"/>
            </a:endParaRPr>
          </a:p>
        </p:txBody>
      </p:sp>
      <p:sp>
        <p:nvSpPr>
          <p:cNvPr id="12" name="Rectangle 11">
            <a:extLst>
              <a:ext uri="{FF2B5EF4-FFF2-40B4-BE49-F238E27FC236}">
                <a16:creationId xmlns:a16="http://schemas.microsoft.com/office/drawing/2014/main" id="{ABCF1911-9F5F-CB92-9589-7654BFC986F9}"/>
              </a:ext>
            </a:extLst>
          </p:cNvPr>
          <p:cNvSpPr/>
          <p:nvPr/>
        </p:nvSpPr>
        <p:spPr>
          <a:xfrm>
            <a:off x="7421219" y="5365929"/>
            <a:ext cx="2804743" cy="65380"/>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
        <p:nvSpPr>
          <p:cNvPr id="14" name="Rectangle 13">
            <a:extLst>
              <a:ext uri="{FF2B5EF4-FFF2-40B4-BE49-F238E27FC236}">
                <a16:creationId xmlns:a16="http://schemas.microsoft.com/office/drawing/2014/main" id="{3B6BE010-AA78-904B-F6EE-46748DDEECFE}"/>
              </a:ext>
            </a:extLst>
          </p:cNvPr>
          <p:cNvSpPr/>
          <p:nvPr/>
        </p:nvSpPr>
        <p:spPr>
          <a:xfrm>
            <a:off x="4515562" y="3217835"/>
            <a:ext cx="2795929" cy="58519"/>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srgbClr val="FFFFFF"/>
              </a:solidFill>
              <a:effectLst/>
              <a:uLnTx/>
              <a:uFillTx/>
              <a:latin typeface="Poppins"/>
              <a:ea typeface="+mn-ea"/>
              <a:cs typeface="+mn-cs"/>
            </a:endParaRPr>
          </a:p>
        </p:txBody>
      </p:sp>
    </p:spTree>
    <p:extLst>
      <p:ext uri="{BB962C8B-B14F-4D97-AF65-F5344CB8AC3E}">
        <p14:creationId xmlns:p14="http://schemas.microsoft.com/office/powerpoint/2010/main" val="1398003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9C3C8-CEAC-A354-8F63-C111A6CA8570}"/>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53664455-0B7C-4B8E-CCAA-37D370EC5C0A}"/>
              </a:ext>
            </a:extLst>
          </p:cNvPr>
          <p:cNvPicPr>
            <a:picLocks noChangeAspect="1"/>
          </p:cNvPicPr>
          <p:nvPr/>
        </p:nvPicPr>
        <p:blipFill>
          <a:blip r:embed="rId4"/>
          <a:srcRect b="11533"/>
          <a:stretch>
            <a:fillRect/>
          </a:stretch>
        </p:blipFill>
        <p:spPr>
          <a:xfrm>
            <a:off x="4320207" y="2516231"/>
            <a:ext cx="3419725" cy="1419870"/>
          </a:xfrm>
          <a:prstGeom prst="rect">
            <a:avLst/>
          </a:prstGeom>
          <a:ln>
            <a:solidFill>
              <a:schemeClr val="tx1">
                <a:lumMod val="50000"/>
                <a:lumOff val="50000"/>
              </a:schemeClr>
            </a:solidFill>
          </a:ln>
        </p:spPr>
      </p:pic>
      <p:pic>
        <p:nvPicPr>
          <p:cNvPr id="6" name="Picture 5">
            <a:extLst>
              <a:ext uri="{FF2B5EF4-FFF2-40B4-BE49-F238E27FC236}">
                <a16:creationId xmlns:a16="http://schemas.microsoft.com/office/drawing/2014/main" id="{26CBE976-9A7D-727F-8C92-B60309884017}"/>
              </a:ext>
            </a:extLst>
          </p:cNvPr>
          <p:cNvPicPr>
            <a:picLocks noChangeAspect="1"/>
          </p:cNvPicPr>
          <p:nvPr/>
        </p:nvPicPr>
        <p:blipFill>
          <a:blip r:embed="rId5"/>
          <a:srcRect b="20864"/>
          <a:stretch>
            <a:fillRect/>
          </a:stretch>
        </p:blipFill>
        <p:spPr>
          <a:xfrm>
            <a:off x="0" y="0"/>
            <a:ext cx="12192000" cy="935385"/>
          </a:xfrm>
          <a:prstGeom prst="rect">
            <a:avLst/>
          </a:prstGeom>
        </p:spPr>
      </p:pic>
      <p:sp>
        <p:nvSpPr>
          <p:cNvPr id="7" name="Title 9">
            <a:extLst>
              <a:ext uri="{FF2B5EF4-FFF2-40B4-BE49-F238E27FC236}">
                <a16:creationId xmlns:a16="http://schemas.microsoft.com/office/drawing/2014/main" id="{D3D30BE3-C861-A910-8E55-2690C4294304}"/>
              </a:ext>
            </a:extLst>
          </p:cNvPr>
          <p:cNvSpPr txBox="1">
            <a:spLocks/>
          </p:cNvSpPr>
          <p:nvPr/>
        </p:nvSpPr>
        <p:spPr>
          <a:xfrm>
            <a:off x="474620" y="226142"/>
            <a:ext cx="11242760" cy="576055"/>
          </a:xfrm>
          <a:prstGeom prst="rect">
            <a:avLst/>
          </a:prstGeom>
        </p:spPr>
        <p:txBody>
          <a:bodyPr wrap="square" tIns="91440" bIns="91440">
            <a:spAutoFit/>
          </a:bodyPr>
          <a:lstStyle>
            <a:lvl1pPr marL="0" algn="ctr" defTabSz="914400" rtl="0" eaLnBrk="1" latinLnBrk="0" hangingPunct="1">
              <a:lnSpc>
                <a:spcPct val="90000"/>
              </a:lnSpc>
              <a:spcBef>
                <a:spcPct val="0"/>
              </a:spcBef>
              <a:buNone/>
              <a:defRPr lang="en-US" sz="2800" b="1" i="0" kern="1200">
                <a:solidFill>
                  <a:schemeClr val="accent2"/>
                </a:solidFill>
                <a:latin typeface="Poppins SemiBold" pitchFamily="2" charset="77"/>
                <a:ea typeface="+mj-ea"/>
                <a:cs typeface="Poppins SemiBold" pitchFamily="2" charset="77"/>
              </a:defRPr>
            </a:lvl1pPr>
          </a:lstStyle>
          <a:p>
            <a:pPr lvl="0" algn="l">
              <a:spcAft>
                <a:spcPts val="600"/>
              </a:spcAft>
              <a:defRPr/>
            </a:pPr>
            <a:r>
              <a:rPr lang="en-US">
                <a:solidFill>
                  <a:srgbClr val="FFFFFF"/>
                </a:solidFill>
                <a:latin typeface="Poppins"/>
                <a:cs typeface="Poppins" panose="00000500000000000000" pitchFamily="2" charset="0"/>
              </a:rPr>
              <a:t>Filtered LP Dropdowns</a:t>
            </a:r>
          </a:p>
        </p:txBody>
      </p:sp>
      <p:sp>
        <p:nvSpPr>
          <p:cNvPr id="15" name="Title 1">
            <a:extLst>
              <a:ext uri="{FF2B5EF4-FFF2-40B4-BE49-F238E27FC236}">
                <a16:creationId xmlns:a16="http://schemas.microsoft.com/office/drawing/2014/main" id="{0E04A257-B47A-967B-F0E6-477EBC25A66A}"/>
              </a:ext>
            </a:extLst>
          </p:cNvPr>
          <p:cNvSpPr txBox="1">
            <a:spLocks/>
          </p:cNvSpPr>
          <p:nvPr/>
        </p:nvSpPr>
        <p:spPr>
          <a:xfrm>
            <a:off x="1026565" y="1930939"/>
            <a:ext cx="2941322" cy="427809"/>
          </a:xfrm>
          <a:prstGeom prst="rect">
            <a:avLst/>
          </a:prstGeom>
        </p:spPr>
        <p:txBody>
          <a:bodyPr vert="horz" wrap="square" lIns="91440" tIns="45720" rIns="91440" bIns="45720" rtlCol="0" anchor="t">
            <a:spAutoFit/>
          </a:bodyPr>
          <a:lstStyle>
            <a:lvl1pPr algn="l" defTabSz="914377" rtl="0" eaLnBrk="1" latinLnBrk="0" hangingPunct="1">
              <a:lnSpc>
                <a:spcPct val="90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r>
              <a:rPr lang="en-US" sz="2400">
                <a:solidFill>
                  <a:schemeClr val="bg1"/>
                </a:solidFill>
              </a:rPr>
              <a:t>Week 0-2 </a:t>
            </a:r>
          </a:p>
        </p:txBody>
      </p:sp>
      <p:sp>
        <p:nvSpPr>
          <p:cNvPr id="10" name="Freeform: Shape 9">
            <a:extLst>
              <a:ext uri="{FF2B5EF4-FFF2-40B4-BE49-F238E27FC236}">
                <a16:creationId xmlns:a16="http://schemas.microsoft.com/office/drawing/2014/main" id="{1DAF3977-37AE-3B5A-D5D9-8A7F5CC007E3}"/>
              </a:ext>
            </a:extLst>
          </p:cNvPr>
          <p:cNvSpPr/>
          <p:nvPr/>
        </p:nvSpPr>
        <p:spPr>
          <a:xfrm rot="16200000">
            <a:off x="-125902" y="2434902"/>
            <a:ext cx="4150219" cy="3358070"/>
          </a:xfrm>
          <a:custGeom>
            <a:avLst/>
            <a:gdLst>
              <a:gd name="connsiteX0" fmla="*/ 0 w 2590496"/>
              <a:gd name="connsiteY0" fmla="*/ 129525 h 4256475"/>
              <a:gd name="connsiteX1" fmla="*/ 129525 w 2590496"/>
              <a:gd name="connsiteY1" fmla="*/ 0 h 4256475"/>
              <a:gd name="connsiteX2" fmla="*/ 2460971 w 2590496"/>
              <a:gd name="connsiteY2" fmla="*/ 0 h 4256475"/>
              <a:gd name="connsiteX3" fmla="*/ 2590496 w 2590496"/>
              <a:gd name="connsiteY3" fmla="*/ 129525 h 4256475"/>
              <a:gd name="connsiteX4" fmla="*/ 2590496 w 2590496"/>
              <a:gd name="connsiteY4" fmla="*/ 4126950 h 4256475"/>
              <a:gd name="connsiteX5" fmla="*/ 2460971 w 2590496"/>
              <a:gd name="connsiteY5" fmla="*/ 4256475 h 4256475"/>
              <a:gd name="connsiteX6" fmla="*/ 129525 w 2590496"/>
              <a:gd name="connsiteY6" fmla="*/ 4256475 h 4256475"/>
              <a:gd name="connsiteX7" fmla="*/ 0 w 2590496"/>
              <a:gd name="connsiteY7" fmla="*/ 4126950 h 4256475"/>
              <a:gd name="connsiteX8" fmla="*/ 0 w 2590496"/>
              <a:gd name="connsiteY8" fmla="*/ 129525 h 4256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496" h="4256475">
                <a:moveTo>
                  <a:pt x="2511667" y="1"/>
                </a:moveTo>
                <a:cubicBezTo>
                  <a:pt x="2555203" y="1"/>
                  <a:pt x="2590496" y="95285"/>
                  <a:pt x="2590496" y="212825"/>
                </a:cubicBezTo>
                <a:lnTo>
                  <a:pt x="2590496" y="4043650"/>
                </a:lnTo>
                <a:cubicBezTo>
                  <a:pt x="2590496" y="4161190"/>
                  <a:pt x="2555203" y="4256474"/>
                  <a:pt x="2511667" y="4256474"/>
                </a:cubicBezTo>
                <a:lnTo>
                  <a:pt x="78829" y="4256474"/>
                </a:lnTo>
                <a:cubicBezTo>
                  <a:pt x="35293" y="4256474"/>
                  <a:pt x="0" y="4161190"/>
                  <a:pt x="0" y="4043650"/>
                </a:cubicBezTo>
                <a:lnTo>
                  <a:pt x="0" y="212825"/>
                </a:lnTo>
                <a:cubicBezTo>
                  <a:pt x="0" y="95285"/>
                  <a:pt x="35293" y="1"/>
                  <a:pt x="78829" y="1"/>
                </a:cubicBezTo>
                <a:lnTo>
                  <a:pt x="2511667" y="1"/>
                </a:lnTo>
                <a:close/>
              </a:path>
            </a:pathLst>
          </a:custGeom>
          <a:solidFill>
            <a:schemeClr val="accent1">
              <a:lumMod val="50000"/>
            </a:schemeClr>
          </a:solidFill>
        </p:spPr>
        <p:style>
          <a:lnRef idx="2">
            <a:schemeClr val="lt1">
              <a:hueOff val="0"/>
              <a:satOff val="0"/>
              <a:lumOff val="0"/>
              <a:alphaOff val="0"/>
            </a:schemeClr>
          </a:lnRef>
          <a:fillRef idx="1">
            <a:scrgbClr r="0" g="0" b="0"/>
          </a:fillRef>
          <a:effectRef idx="0">
            <a:schemeClr val="accent1">
              <a:shade val="50000"/>
              <a:hueOff val="0"/>
              <a:satOff val="0"/>
              <a:lumOff val="0"/>
              <a:alphaOff val="0"/>
            </a:schemeClr>
          </a:effectRef>
          <a:fontRef idx="minor">
            <a:schemeClr val="lt1"/>
          </a:fontRef>
        </p:style>
        <p:txBody>
          <a:bodyPr spcFirstLastPara="0" vert="horz" wrap="square" lIns="766165" tIns="82297" rIns="106681" bIns="2072396" numCol="1" spcCol="1270" anchor="t" anchorCtr="0">
            <a:noAutofit/>
          </a:bodyPr>
          <a:lstStyle/>
          <a:p>
            <a:pPr marL="0" lvl="0" indent="0" algn="r" defTabSz="1066800">
              <a:lnSpc>
                <a:spcPct val="90000"/>
              </a:lnSpc>
              <a:spcBef>
                <a:spcPct val="0"/>
              </a:spcBef>
              <a:spcAft>
                <a:spcPct val="35000"/>
              </a:spcAft>
              <a:buNone/>
            </a:pPr>
            <a:endParaRPr lang="en-US" sz="2400" kern="1200">
              <a:solidFill>
                <a:srgbClr val="197EBF"/>
              </a:solidFill>
            </a:endParaRPr>
          </a:p>
        </p:txBody>
      </p:sp>
      <p:sp>
        <p:nvSpPr>
          <p:cNvPr id="31" name="Title 1">
            <a:extLst>
              <a:ext uri="{FF2B5EF4-FFF2-40B4-BE49-F238E27FC236}">
                <a16:creationId xmlns:a16="http://schemas.microsoft.com/office/drawing/2014/main" id="{3979BD7D-18DD-3FEB-D8DB-4AA6607DBBB0}"/>
              </a:ext>
            </a:extLst>
          </p:cNvPr>
          <p:cNvSpPr txBox="1">
            <a:spLocks/>
          </p:cNvSpPr>
          <p:nvPr/>
        </p:nvSpPr>
        <p:spPr>
          <a:xfrm>
            <a:off x="287908" y="2218333"/>
            <a:ext cx="3322601" cy="427809"/>
          </a:xfrm>
          <a:prstGeom prst="rect">
            <a:avLst/>
          </a:prstGeom>
        </p:spPr>
        <p:txBody>
          <a:bodyPr vert="horz" wrap="square" lIns="91440" tIns="45720" rIns="91440" bIns="45720" rtlCol="0" anchor="t">
            <a:spAutoFit/>
          </a:bodyPr>
          <a:lstStyle>
            <a:lvl1pPr algn="l" defTabSz="914377" rtl="0" eaLnBrk="1" latinLnBrk="0" hangingPunct="1">
              <a:lnSpc>
                <a:spcPct val="90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r>
              <a:rPr lang="en-US" sz="2400">
                <a:solidFill>
                  <a:schemeClr val="bg1"/>
                </a:solidFill>
              </a:rPr>
              <a:t>Concept</a:t>
            </a:r>
          </a:p>
        </p:txBody>
      </p:sp>
      <p:sp>
        <p:nvSpPr>
          <p:cNvPr id="36" name="TextBox 35">
            <a:extLst>
              <a:ext uri="{FF2B5EF4-FFF2-40B4-BE49-F238E27FC236}">
                <a16:creationId xmlns:a16="http://schemas.microsoft.com/office/drawing/2014/main" id="{BB6ED4CD-61BD-FB5D-8588-1360F0CF20E7}"/>
              </a:ext>
            </a:extLst>
          </p:cNvPr>
          <p:cNvSpPr txBox="1"/>
          <p:nvPr/>
        </p:nvSpPr>
        <p:spPr>
          <a:xfrm>
            <a:off x="364070" y="2658138"/>
            <a:ext cx="3252977" cy="3131627"/>
          </a:xfrm>
          <a:prstGeom prst="rect">
            <a:avLst/>
          </a:prstGeom>
          <a:noFill/>
        </p:spPr>
        <p:txBody>
          <a:bodyPr wrap="square">
            <a:spAutoFit/>
          </a:bodyPr>
          <a:lstStyle/>
          <a:p>
            <a:pPr lvl="0">
              <a:lnSpc>
                <a:spcPct val="110000"/>
              </a:lnSpc>
            </a:pPr>
            <a:r>
              <a:rPr lang="en-US" sz="1200" b="1">
                <a:solidFill>
                  <a:schemeClr val="bg1"/>
                </a:solidFill>
                <a:latin typeface="+mn-lt"/>
              </a:rPr>
              <a:t>Primary focus:</a:t>
            </a:r>
            <a:endParaRPr lang="en-US" sz="1200">
              <a:solidFill>
                <a:schemeClr val="bg1"/>
              </a:solidFill>
              <a:latin typeface="+mn-lt"/>
            </a:endParaRPr>
          </a:p>
          <a:p>
            <a:pPr marL="171450" indent="-171450">
              <a:lnSpc>
                <a:spcPct val="110000"/>
              </a:lnSpc>
              <a:buFont typeface="Arial" panose="020B0604020202020204" pitchFamily="34" charset="0"/>
              <a:buChar char="•"/>
            </a:pPr>
            <a:r>
              <a:rPr lang="en-US" sz="1200">
                <a:solidFill>
                  <a:schemeClr val="bg1"/>
                </a:solidFill>
                <a:latin typeface="+mn-lt"/>
              </a:rPr>
              <a:t>Filter dropdown values to only programs relevant to the landing page content (/business-programs example on the right)</a:t>
            </a:r>
          </a:p>
          <a:p>
            <a:pPr marL="171450" indent="-171450">
              <a:lnSpc>
                <a:spcPct val="110000"/>
              </a:lnSpc>
              <a:buFont typeface="Arial" panose="020B0604020202020204" pitchFamily="34" charset="0"/>
              <a:buChar char="•"/>
            </a:pPr>
            <a:endParaRPr lang="en-US" sz="1200">
              <a:solidFill>
                <a:schemeClr val="bg1"/>
              </a:solidFill>
              <a:latin typeface="+mn-lt"/>
            </a:endParaRPr>
          </a:p>
          <a:p>
            <a:pPr>
              <a:lnSpc>
                <a:spcPct val="110000"/>
              </a:lnSpc>
            </a:pPr>
            <a:r>
              <a:rPr lang="en-US" sz="1200" b="1">
                <a:solidFill>
                  <a:schemeClr val="bg1"/>
                </a:solidFill>
                <a:latin typeface="+mn-lt"/>
              </a:rPr>
              <a:t>Rationale:</a:t>
            </a:r>
          </a:p>
          <a:p>
            <a:pPr marL="171450" indent="-171450">
              <a:lnSpc>
                <a:spcPct val="110000"/>
              </a:lnSpc>
              <a:buFont typeface="Arial" panose="020B0604020202020204" pitchFamily="34" charset="0"/>
              <a:buChar char="•"/>
            </a:pPr>
            <a:r>
              <a:rPr lang="en-US" sz="1200">
                <a:solidFill>
                  <a:schemeClr val="bg1"/>
                </a:solidFill>
                <a:latin typeface="+mn-lt"/>
              </a:rPr>
              <a:t>This is a best practice live on GCU (</a:t>
            </a:r>
            <a:r>
              <a:rPr lang="en-US" sz="1200">
                <a:solidFill>
                  <a:schemeClr val="bg1"/>
                </a:solidFill>
                <a:latin typeface="+mn-lt"/>
                <a:hlinkClick r:id="rId6">
                  <a:extLst>
                    <a:ext uri="{A12FA001-AC4F-418D-AE19-62706E023703}">
                      <ahyp:hlinkClr xmlns:ahyp="http://schemas.microsoft.com/office/drawing/2018/hyperlinkcolor" val="tx"/>
                    </a:ext>
                  </a:extLst>
                </a:hlinkClick>
              </a:rPr>
              <a:t>Link</a:t>
            </a:r>
            <a:r>
              <a:rPr lang="en-US" sz="1200">
                <a:solidFill>
                  <a:schemeClr val="bg1"/>
                </a:solidFill>
                <a:latin typeface="+mn-lt"/>
              </a:rPr>
              <a:t>)</a:t>
            </a:r>
          </a:p>
          <a:p>
            <a:pPr marL="171450" indent="-171450">
              <a:lnSpc>
                <a:spcPct val="110000"/>
              </a:lnSpc>
              <a:buFont typeface="Arial" panose="020B0604020202020204" pitchFamily="34" charset="0"/>
              <a:buChar char="•"/>
            </a:pPr>
            <a:r>
              <a:rPr lang="en-US" sz="1200">
                <a:solidFill>
                  <a:schemeClr val="bg1"/>
                </a:solidFill>
                <a:latin typeface="+mn-lt"/>
              </a:rPr>
              <a:t>Implementation is simple as it requires 1 line of CSS tied to relevant elements</a:t>
            </a:r>
          </a:p>
          <a:p>
            <a:pPr marL="171450" indent="-171450">
              <a:lnSpc>
                <a:spcPct val="110000"/>
              </a:lnSpc>
              <a:buFont typeface="Arial" panose="020B0604020202020204" pitchFamily="34" charset="0"/>
              <a:buChar char="•"/>
            </a:pPr>
            <a:endParaRPr lang="en-US" sz="1200">
              <a:solidFill>
                <a:schemeClr val="bg1"/>
              </a:solidFill>
              <a:latin typeface="+mn-lt"/>
            </a:endParaRPr>
          </a:p>
          <a:p>
            <a:pPr>
              <a:lnSpc>
                <a:spcPct val="110000"/>
              </a:lnSpc>
            </a:pPr>
            <a:r>
              <a:rPr lang="en-US" sz="1200">
                <a:solidFill>
                  <a:schemeClr val="bg1"/>
                </a:solidFill>
                <a:latin typeface="+mn-lt"/>
              </a:rPr>
              <a:t>Estimated 12M Impact If Winner: 252 Apps</a:t>
            </a:r>
          </a:p>
        </p:txBody>
      </p:sp>
      <p:cxnSp>
        <p:nvCxnSpPr>
          <p:cNvPr id="3" name="Straight Connector 2">
            <a:extLst>
              <a:ext uri="{FF2B5EF4-FFF2-40B4-BE49-F238E27FC236}">
                <a16:creationId xmlns:a16="http://schemas.microsoft.com/office/drawing/2014/main" id="{0B82FFC7-8A94-4959-ED17-1F7AF9F3AA23}"/>
              </a:ext>
            </a:extLst>
          </p:cNvPr>
          <p:cNvCxnSpPr>
            <a:cxnSpLocks/>
          </p:cNvCxnSpPr>
          <p:nvPr/>
        </p:nvCxnSpPr>
        <p:spPr>
          <a:xfrm flipV="1">
            <a:off x="4320208" y="2330871"/>
            <a:ext cx="7612020" cy="0"/>
          </a:xfrm>
          <a:prstGeom prst="line">
            <a:avLst/>
          </a:prstGeom>
          <a:ln w="38100" cap="rnd">
            <a:solidFill>
              <a:schemeClr val="accent2"/>
            </a:solidFill>
            <a:prstDash val="solid"/>
            <a:round/>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C6C4AF4-178F-92DA-D7AB-6805C6558AB5}"/>
              </a:ext>
            </a:extLst>
          </p:cNvPr>
          <p:cNvSpPr txBox="1"/>
          <p:nvPr/>
        </p:nvSpPr>
        <p:spPr>
          <a:xfrm>
            <a:off x="4320208" y="1966525"/>
            <a:ext cx="1903956" cy="356636"/>
          </a:xfrm>
          <a:prstGeom prst="rect">
            <a:avLst/>
          </a:prstGeom>
          <a:noFill/>
        </p:spPr>
        <p:txBody>
          <a:bodyPr wrap="square" rtlCol="0">
            <a:spAutoFit/>
          </a:bodyPr>
          <a:lstStyle/>
          <a:p>
            <a:pPr algn="l">
              <a:lnSpc>
                <a:spcPct val="112000"/>
              </a:lnSpc>
            </a:pPr>
            <a:r>
              <a:rPr lang="en-US" sz="1600">
                <a:latin typeface="+mj-lt"/>
              </a:rPr>
              <a:t>Control</a:t>
            </a:r>
          </a:p>
        </p:txBody>
      </p:sp>
      <p:sp>
        <p:nvSpPr>
          <p:cNvPr id="9" name="TextBox 8">
            <a:extLst>
              <a:ext uri="{FF2B5EF4-FFF2-40B4-BE49-F238E27FC236}">
                <a16:creationId xmlns:a16="http://schemas.microsoft.com/office/drawing/2014/main" id="{2129CA98-5D76-239F-979C-960D32313987}"/>
              </a:ext>
            </a:extLst>
          </p:cNvPr>
          <p:cNvSpPr txBox="1"/>
          <p:nvPr/>
        </p:nvSpPr>
        <p:spPr>
          <a:xfrm>
            <a:off x="8126218" y="1981946"/>
            <a:ext cx="1903956" cy="356636"/>
          </a:xfrm>
          <a:prstGeom prst="rect">
            <a:avLst/>
          </a:prstGeom>
          <a:noFill/>
        </p:spPr>
        <p:txBody>
          <a:bodyPr wrap="square" rtlCol="0">
            <a:spAutoFit/>
          </a:bodyPr>
          <a:lstStyle/>
          <a:p>
            <a:pPr algn="l">
              <a:lnSpc>
                <a:spcPct val="112000"/>
              </a:lnSpc>
            </a:pPr>
            <a:r>
              <a:rPr lang="en-US" sz="1600">
                <a:latin typeface="+mj-lt"/>
              </a:rPr>
              <a:t>Experiment</a:t>
            </a:r>
          </a:p>
        </p:txBody>
      </p:sp>
      <p:pic>
        <p:nvPicPr>
          <p:cNvPr id="4" name="Picture 3">
            <a:extLst>
              <a:ext uri="{FF2B5EF4-FFF2-40B4-BE49-F238E27FC236}">
                <a16:creationId xmlns:a16="http://schemas.microsoft.com/office/drawing/2014/main" id="{E1FAEDE2-3926-64FA-F353-9AA199AC3919}"/>
              </a:ext>
            </a:extLst>
          </p:cNvPr>
          <p:cNvPicPr>
            <a:picLocks noChangeAspect="1"/>
          </p:cNvPicPr>
          <p:nvPr/>
        </p:nvPicPr>
        <p:blipFill>
          <a:blip r:embed="rId7"/>
          <a:stretch>
            <a:fillRect/>
          </a:stretch>
        </p:blipFill>
        <p:spPr>
          <a:xfrm>
            <a:off x="8258174" y="2516231"/>
            <a:ext cx="3674053" cy="1545310"/>
          </a:xfrm>
          <a:prstGeom prst="rect">
            <a:avLst/>
          </a:prstGeom>
          <a:ln>
            <a:solidFill>
              <a:schemeClr val="tx1">
                <a:lumMod val="50000"/>
                <a:lumOff val="50000"/>
              </a:schemeClr>
            </a:solidFill>
          </a:ln>
        </p:spPr>
      </p:pic>
      <p:pic>
        <p:nvPicPr>
          <p:cNvPr id="11" name="Picture 10">
            <a:extLst>
              <a:ext uri="{FF2B5EF4-FFF2-40B4-BE49-F238E27FC236}">
                <a16:creationId xmlns:a16="http://schemas.microsoft.com/office/drawing/2014/main" id="{9E243E25-97C8-3609-D0D7-1EDE9BF673B4}"/>
              </a:ext>
            </a:extLst>
          </p:cNvPr>
          <p:cNvPicPr>
            <a:picLocks noChangeAspect="1"/>
          </p:cNvPicPr>
          <p:nvPr/>
        </p:nvPicPr>
        <p:blipFill>
          <a:blip r:embed="rId8"/>
          <a:stretch>
            <a:fillRect/>
          </a:stretch>
        </p:blipFill>
        <p:spPr>
          <a:xfrm>
            <a:off x="9078196" y="3429000"/>
            <a:ext cx="1946573" cy="1921094"/>
          </a:xfrm>
          <a:prstGeom prst="rect">
            <a:avLst/>
          </a:prstGeom>
          <a:ln>
            <a:solidFill>
              <a:schemeClr val="tx1">
                <a:lumMod val="50000"/>
                <a:lumOff val="50000"/>
              </a:schemeClr>
            </a:solidFill>
          </a:ln>
        </p:spPr>
      </p:pic>
      <p:sp>
        <p:nvSpPr>
          <p:cNvPr id="27" name="Rectangle 26">
            <a:extLst>
              <a:ext uri="{FF2B5EF4-FFF2-40B4-BE49-F238E27FC236}">
                <a16:creationId xmlns:a16="http://schemas.microsoft.com/office/drawing/2014/main" id="{61D671D5-125B-2BBE-CD0D-6802E757189D}"/>
              </a:ext>
            </a:extLst>
          </p:cNvPr>
          <p:cNvSpPr/>
          <p:nvPr/>
        </p:nvSpPr>
        <p:spPr>
          <a:xfrm>
            <a:off x="10907486" y="3061764"/>
            <a:ext cx="1122589" cy="1177415"/>
          </a:xfrm>
          <a:prstGeom prst="rect">
            <a:avLst/>
          </a:prstGeom>
          <a:noFill/>
          <a:ln w="28575">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bg1"/>
              </a:solidFill>
              <a:latin typeface="Poppins SemiBold" panose="00000700000000000000" pitchFamily="2" charset="0"/>
              <a:cs typeface="Poppins SemiBold" panose="00000700000000000000" pitchFamily="2" charset="0"/>
            </a:endParaRPr>
          </a:p>
        </p:txBody>
      </p:sp>
      <p:pic>
        <p:nvPicPr>
          <p:cNvPr id="14" name="Picture 13">
            <a:extLst>
              <a:ext uri="{FF2B5EF4-FFF2-40B4-BE49-F238E27FC236}">
                <a16:creationId xmlns:a16="http://schemas.microsoft.com/office/drawing/2014/main" id="{18BB0EFC-9372-3916-14D6-7BE11C886D5E}"/>
              </a:ext>
            </a:extLst>
          </p:cNvPr>
          <p:cNvPicPr>
            <a:picLocks noChangeAspect="1"/>
          </p:cNvPicPr>
          <p:nvPr/>
        </p:nvPicPr>
        <p:blipFill>
          <a:blip r:embed="rId9"/>
          <a:stretch>
            <a:fillRect/>
          </a:stretch>
        </p:blipFill>
        <p:spPr>
          <a:xfrm>
            <a:off x="5347308" y="3429001"/>
            <a:ext cx="2148442" cy="1921094"/>
          </a:xfrm>
          <a:prstGeom prst="rect">
            <a:avLst/>
          </a:prstGeom>
          <a:ln>
            <a:solidFill>
              <a:schemeClr val="tx1">
                <a:lumMod val="50000"/>
                <a:lumOff val="50000"/>
              </a:schemeClr>
            </a:solidFill>
          </a:ln>
        </p:spPr>
      </p:pic>
      <p:sp>
        <p:nvSpPr>
          <p:cNvPr id="25" name="Rectangle 24">
            <a:extLst>
              <a:ext uri="{FF2B5EF4-FFF2-40B4-BE49-F238E27FC236}">
                <a16:creationId xmlns:a16="http://schemas.microsoft.com/office/drawing/2014/main" id="{7300875E-4E93-4927-7633-E8C86649FE55}"/>
              </a:ext>
            </a:extLst>
          </p:cNvPr>
          <p:cNvSpPr/>
          <p:nvPr/>
        </p:nvSpPr>
        <p:spPr>
          <a:xfrm>
            <a:off x="5225143" y="4943477"/>
            <a:ext cx="2390503" cy="510164"/>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bg1"/>
              </a:solidFill>
              <a:latin typeface="Poppins SemiBold" panose="00000700000000000000" pitchFamily="2" charset="0"/>
              <a:cs typeface="Poppins SemiBold" panose="00000700000000000000" pitchFamily="2" charset="0"/>
            </a:endParaRPr>
          </a:p>
        </p:txBody>
      </p:sp>
      <p:sp>
        <p:nvSpPr>
          <p:cNvPr id="2" name="Rectangle 1">
            <a:extLst>
              <a:ext uri="{FF2B5EF4-FFF2-40B4-BE49-F238E27FC236}">
                <a16:creationId xmlns:a16="http://schemas.microsoft.com/office/drawing/2014/main" id="{D97C91D8-4C8C-78E5-FBC0-E6E958AB42DC}"/>
              </a:ext>
            </a:extLst>
          </p:cNvPr>
          <p:cNvSpPr/>
          <p:nvPr/>
        </p:nvSpPr>
        <p:spPr>
          <a:xfrm>
            <a:off x="8973161" y="3499301"/>
            <a:ext cx="2148441" cy="2065476"/>
          </a:xfrm>
          <a:prstGeom prst="rect">
            <a:avLst/>
          </a:prstGeom>
          <a:noFill/>
          <a:ln w="28575">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bg1"/>
              </a:solidFill>
              <a:latin typeface="Poppins SemiBold" panose="00000700000000000000" pitchFamily="2" charset="0"/>
              <a:cs typeface="Poppins SemiBold" panose="00000700000000000000" pitchFamily="2" charset="0"/>
            </a:endParaRPr>
          </a:p>
        </p:txBody>
      </p:sp>
      <p:sp>
        <p:nvSpPr>
          <p:cNvPr id="8" name="Rectangle: Top Corners Rounded 7">
            <a:extLst>
              <a:ext uri="{FF2B5EF4-FFF2-40B4-BE49-F238E27FC236}">
                <a16:creationId xmlns:a16="http://schemas.microsoft.com/office/drawing/2014/main" id="{8A1863DB-B9CF-5B18-D70A-7F8408C10169}"/>
              </a:ext>
            </a:extLst>
          </p:cNvPr>
          <p:cNvSpPr/>
          <p:nvPr/>
        </p:nvSpPr>
        <p:spPr>
          <a:xfrm rot="10800000">
            <a:off x="0" y="935385"/>
            <a:ext cx="1178896" cy="371980"/>
          </a:xfrm>
          <a:prstGeom prst="round2Same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bg1"/>
              </a:solidFill>
              <a:latin typeface="Poppins SemiBold" panose="00000700000000000000" pitchFamily="2" charset="0"/>
              <a:cs typeface="Poppins SemiBold" panose="00000700000000000000" pitchFamily="2" charset="0"/>
            </a:endParaRPr>
          </a:p>
        </p:txBody>
      </p:sp>
      <p:sp>
        <p:nvSpPr>
          <p:cNvPr id="12" name="TextBox 11">
            <a:extLst>
              <a:ext uri="{FF2B5EF4-FFF2-40B4-BE49-F238E27FC236}">
                <a16:creationId xmlns:a16="http://schemas.microsoft.com/office/drawing/2014/main" id="{45499F74-BC7C-2F42-F4B0-E0CBA0C7BA9A}"/>
              </a:ext>
            </a:extLst>
          </p:cNvPr>
          <p:cNvSpPr txBox="1"/>
          <p:nvPr/>
        </p:nvSpPr>
        <p:spPr>
          <a:xfrm>
            <a:off x="96350" y="1002019"/>
            <a:ext cx="986193" cy="232756"/>
          </a:xfrm>
          <a:prstGeom prst="rect">
            <a:avLst/>
          </a:prstGeom>
          <a:noFill/>
        </p:spPr>
        <p:txBody>
          <a:bodyPr wrap="square" rtlCol="0">
            <a:spAutoFit/>
          </a:bodyPr>
          <a:lstStyle/>
          <a:p>
            <a:pPr algn="ctr">
              <a:lnSpc>
                <a:spcPct val="112000"/>
              </a:lnSpc>
            </a:pPr>
            <a:r>
              <a:rPr lang="en-US" sz="850">
                <a:latin typeface="+mj-lt"/>
              </a:rPr>
              <a:t>Lead Capture</a:t>
            </a:r>
          </a:p>
        </p:txBody>
      </p:sp>
    </p:spTree>
    <p:extLst>
      <p:ext uri="{BB962C8B-B14F-4D97-AF65-F5344CB8AC3E}">
        <p14:creationId xmlns:p14="http://schemas.microsoft.com/office/powerpoint/2010/main" val="903998302"/>
      </p:ext>
    </p:extLst>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1A58F-C73B-4325-2CA2-C32DB436423B}"/>
            </a:ext>
          </a:extLst>
        </p:cNvPr>
        <p:cNvGrpSpPr/>
        <p:nvPr/>
      </p:nvGrpSpPr>
      <p:grpSpPr>
        <a:xfrm>
          <a:off x="0" y="0"/>
          <a:ext cx="0" cy="0"/>
          <a:chOff x="0" y="0"/>
          <a:chExt cx="0" cy="0"/>
        </a:xfrm>
      </p:grpSpPr>
      <p:sp>
        <p:nvSpPr>
          <p:cNvPr id="11" name="Freeform: Shape 10">
            <a:extLst>
              <a:ext uri="{FF2B5EF4-FFF2-40B4-BE49-F238E27FC236}">
                <a16:creationId xmlns:a16="http://schemas.microsoft.com/office/drawing/2014/main" id="{518AC5CE-51F7-0547-96DE-3169FE4E65DF}"/>
              </a:ext>
            </a:extLst>
          </p:cNvPr>
          <p:cNvSpPr/>
          <p:nvPr/>
        </p:nvSpPr>
        <p:spPr>
          <a:xfrm rot="16200000">
            <a:off x="-125902" y="2434902"/>
            <a:ext cx="4150219" cy="3358070"/>
          </a:xfrm>
          <a:custGeom>
            <a:avLst/>
            <a:gdLst>
              <a:gd name="connsiteX0" fmla="*/ 0 w 2590496"/>
              <a:gd name="connsiteY0" fmla="*/ 129525 h 4256475"/>
              <a:gd name="connsiteX1" fmla="*/ 129525 w 2590496"/>
              <a:gd name="connsiteY1" fmla="*/ 0 h 4256475"/>
              <a:gd name="connsiteX2" fmla="*/ 2460971 w 2590496"/>
              <a:gd name="connsiteY2" fmla="*/ 0 h 4256475"/>
              <a:gd name="connsiteX3" fmla="*/ 2590496 w 2590496"/>
              <a:gd name="connsiteY3" fmla="*/ 129525 h 4256475"/>
              <a:gd name="connsiteX4" fmla="*/ 2590496 w 2590496"/>
              <a:gd name="connsiteY4" fmla="*/ 4126950 h 4256475"/>
              <a:gd name="connsiteX5" fmla="*/ 2460971 w 2590496"/>
              <a:gd name="connsiteY5" fmla="*/ 4256475 h 4256475"/>
              <a:gd name="connsiteX6" fmla="*/ 129525 w 2590496"/>
              <a:gd name="connsiteY6" fmla="*/ 4256475 h 4256475"/>
              <a:gd name="connsiteX7" fmla="*/ 0 w 2590496"/>
              <a:gd name="connsiteY7" fmla="*/ 4126950 h 4256475"/>
              <a:gd name="connsiteX8" fmla="*/ 0 w 2590496"/>
              <a:gd name="connsiteY8" fmla="*/ 129525 h 4256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496" h="4256475">
                <a:moveTo>
                  <a:pt x="2511667" y="1"/>
                </a:moveTo>
                <a:cubicBezTo>
                  <a:pt x="2555203" y="1"/>
                  <a:pt x="2590496" y="95285"/>
                  <a:pt x="2590496" y="212825"/>
                </a:cubicBezTo>
                <a:lnTo>
                  <a:pt x="2590496" y="4043650"/>
                </a:lnTo>
                <a:cubicBezTo>
                  <a:pt x="2590496" y="4161190"/>
                  <a:pt x="2555203" y="4256474"/>
                  <a:pt x="2511667" y="4256474"/>
                </a:cubicBezTo>
                <a:lnTo>
                  <a:pt x="78829" y="4256474"/>
                </a:lnTo>
                <a:cubicBezTo>
                  <a:pt x="35293" y="4256474"/>
                  <a:pt x="0" y="4161190"/>
                  <a:pt x="0" y="4043650"/>
                </a:cubicBezTo>
                <a:lnTo>
                  <a:pt x="0" y="212825"/>
                </a:lnTo>
                <a:cubicBezTo>
                  <a:pt x="0" y="95285"/>
                  <a:pt x="35293" y="1"/>
                  <a:pt x="78829" y="1"/>
                </a:cubicBezTo>
                <a:lnTo>
                  <a:pt x="2511667" y="1"/>
                </a:lnTo>
                <a:close/>
              </a:path>
            </a:pathLst>
          </a:custGeom>
          <a:solidFill>
            <a:schemeClr val="accent1">
              <a:lumMod val="50000"/>
            </a:schemeClr>
          </a:solidFill>
        </p:spPr>
        <p:style>
          <a:lnRef idx="2">
            <a:schemeClr val="lt1">
              <a:hueOff val="0"/>
              <a:satOff val="0"/>
              <a:lumOff val="0"/>
              <a:alphaOff val="0"/>
            </a:schemeClr>
          </a:lnRef>
          <a:fillRef idx="1">
            <a:scrgbClr r="0" g="0" b="0"/>
          </a:fillRef>
          <a:effectRef idx="0">
            <a:schemeClr val="accent1">
              <a:shade val="50000"/>
              <a:hueOff val="0"/>
              <a:satOff val="0"/>
              <a:lumOff val="0"/>
              <a:alphaOff val="0"/>
            </a:schemeClr>
          </a:effectRef>
          <a:fontRef idx="minor">
            <a:schemeClr val="lt1"/>
          </a:fontRef>
        </p:style>
        <p:txBody>
          <a:bodyPr spcFirstLastPara="0" vert="horz" wrap="square" lIns="766165" tIns="82297" rIns="106681" bIns="2072396" numCol="1" spcCol="1270" anchor="t" anchorCtr="0">
            <a:noAutofit/>
          </a:bodyPr>
          <a:lstStyle/>
          <a:p>
            <a:pPr marL="0" lvl="0" indent="0" algn="r" defTabSz="1066800">
              <a:lnSpc>
                <a:spcPct val="90000"/>
              </a:lnSpc>
              <a:spcBef>
                <a:spcPct val="0"/>
              </a:spcBef>
              <a:spcAft>
                <a:spcPct val="35000"/>
              </a:spcAft>
              <a:buNone/>
            </a:pPr>
            <a:endParaRPr lang="en-US" sz="2400" kern="1200">
              <a:solidFill>
                <a:srgbClr val="197EBF"/>
              </a:solidFill>
            </a:endParaRPr>
          </a:p>
        </p:txBody>
      </p:sp>
      <p:pic>
        <p:nvPicPr>
          <p:cNvPr id="6" name="Picture 5">
            <a:extLst>
              <a:ext uri="{FF2B5EF4-FFF2-40B4-BE49-F238E27FC236}">
                <a16:creationId xmlns:a16="http://schemas.microsoft.com/office/drawing/2014/main" id="{C50E51C6-4451-1499-56BD-D6C2E654A030}"/>
              </a:ext>
            </a:extLst>
          </p:cNvPr>
          <p:cNvPicPr>
            <a:picLocks noChangeAspect="1"/>
          </p:cNvPicPr>
          <p:nvPr/>
        </p:nvPicPr>
        <p:blipFill>
          <a:blip r:embed="rId3"/>
          <a:srcRect b="20864"/>
          <a:stretch>
            <a:fillRect/>
          </a:stretch>
        </p:blipFill>
        <p:spPr>
          <a:xfrm>
            <a:off x="0" y="0"/>
            <a:ext cx="12192000" cy="935385"/>
          </a:xfrm>
          <a:prstGeom prst="rect">
            <a:avLst/>
          </a:prstGeom>
        </p:spPr>
      </p:pic>
      <p:sp>
        <p:nvSpPr>
          <p:cNvPr id="7" name="Title 9">
            <a:extLst>
              <a:ext uri="{FF2B5EF4-FFF2-40B4-BE49-F238E27FC236}">
                <a16:creationId xmlns:a16="http://schemas.microsoft.com/office/drawing/2014/main" id="{F7CB457B-86D3-EFBC-8B1F-64CD31E3D948}"/>
              </a:ext>
            </a:extLst>
          </p:cNvPr>
          <p:cNvSpPr txBox="1">
            <a:spLocks/>
          </p:cNvSpPr>
          <p:nvPr/>
        </p:nvSpPr>
        <p:spPr>
          <a:xfrm>
            <a:off x="474620" y="226142"/>
            <a:ext cx="11242760" cy="576055"/>
          </a:xfrm>
          <a:prstGeom prst="rect">
            <a:avLst/>
          </a:prstGeom>
        </p:spPr>
        <p:txBody>
          <a:bodyPr wrap="square" tIns="91440" bIns="91440">
            <a:spAutoFit/>
          </a:bodyPr>
          <a:lstStyle>
            <a:lvl1pPr marL="0" algn="ctr" defTabSz="914400" rtl="0" eaLnBrk="1" latinLnBrk="0" hangingPunct="1">
              <a:lnSpc>
                <a:spcPct val="90000"/>
              </a:lnSpc>
              <a:spcBef>
                <a:spcPct val="0"/>
              </a:spcBef>
              <a:buNone/>
              <a:defRPr lang="en-US" sz="2800" b="1" i="0" kern="1200">
                <a:solidFill>
                  <a:schemeClr val="accent2"/>
                </a:solidFill>
                <a:latin typeface="Poppins SemiBold" pitchFamily="2" charset="77"/>
                <a:ea typeface="+mj-ea"/>
                <a:cs typeface="Poppins SemiBold" pitchFamily="2" charset="77"/>
              </a:defRPr>
            </a:lvl1pPr>
          </a:lstStyle>
          <a:p>
            <a:pPr lvl="0" algn="l">
              <a:spcAft>
                <a:spcPts val="600"/>
              </a:spcAft>
              <a:defRPr/>
            </a:pPr>
            <a:r>
              <a:rPr lang="en-US">
                <a:solidFill>
                  <a:srgbClr val="FFFFFF"/>
                </a:solidFill>
                <a:latin typeface="Poppins"/>
                <a:cs typeface="Poppins" panose="00000500000000000000" pitchFamily="2" charset="0"/>
              </a:rPr>
              <a:t>Enrollment Dates Create Urgency (ABC or Multivariate)</a:t>
            </a:r>
          </a:p>
        </p:txBody>
      </p:sp>
      <p:sp>
        <p:nvSpPr>
          <p:cNvPr id="15" name="Title 1">
            <a:extLst>
              <a:ext uri="{FF2B5EF4-FFF2-40B4-BE49-F238E27FC236}">
                <a16:creationId xmlns:a16="http://schemas.microsoft.com/office/drawing/2014/main" id="{36778CF9-384C-4B0D-1A07-52FC8F05BB23}"/>
              </a:ext>
            </a:extLst>
          </p:cNvPr>
          <p:cNvSpPr txBox="1">
            <a:spLocks/>
          </p:cNvSpPr>
          <p:nvPr/>
        </p:nvSpPr>
        <p:spPr>
          <a:xfrm>
            <a:off x="1026565" y="1930939"/>
            <a:ext cx="2941322" cy="427809"/>
          </a:xfrm>
          <a:prstGeom prst="rect">
            <a:avLst/>
          </a:prstGeom>
        </p:spPr>
        <p:txBody>
          <a:bodyPr vert="horz" wrap="square" lIns="91440" tIns="45720" rIns="91440" bIns="45720" rtlCol="0" anchor="t">
            <a:spAutoFit/>
          </a:bodyPr>
          <a:lstStyle>
            <a:lvl1pPr algn="l" defTabSz="914377" rtl="0" eaLnBrk="1" latinLnBrk="0" hangingPunct="1">
              <a:lnSpc>
                <a:spcPct val="90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r>
              <a:rPr lang="en-US" sz="2400">
                <a:solidFill>
                  <a:schemeClr val="bg1"/>
                </a:solidFill>
              </a:rPr>
              <a:t>Week 0-2 </a:t>
            </a:r>
          </a:p>
        </p:txBody>
      </p:sp>
      <p:sp>
        <p:nvSpPr>
          <p:cNvPr id="10" name="Freeform: Shape 9">
            <a:extLst>
              <a:ext uri="{FF2B5EF4-FFF2-40B4-BE49-F238E27FC236}">
                <a16:creationId xmlns:a16="http://schemas.microsoft.com/office/drawing/2014/main" id="{CC1210C1-F615-4A2F-1B9D-56D6A06DD190}"/>
              </a:ext>
            </a:extLst>
          </p:cNvPr>
          <p:cNvSpPr/>
          <p:nvPr/>
        </p:nvSpPr>
        <p:spPr>
          <a:xfrm rot="16200000">
            <a:off x="291040" y="2040319"/>
            <a:ext cx="3316338" cy="3322600"/>
          </a:xfrm>
          <a:custGeom>
            <a:avLst/>
            <a:gdLst>
              <a:gd name="connsiteX0" fmla="*/ 0 w 2590496"/>
              <a:gd name="connsiteY0" fmla="*/ 129525 h 4256475"/>
              <a:gd name="connsiteX1" fmla="*/ 129525 w 2590496"/>
              <a:gd name="connsiteY1" fmla="*/ 0 h 4256475"/>
              <a:gd name="connsiteX2" fmla="*/ 2460971 w 2590496"/>
              <a:gd name="connsiteY2" fmla="*/ 0 h 4256475"/>
              <a:gd name="connsiteX3" fmla="*/ 2590496 w 2590496"/>
              <a:gd name="connsiteY3" fmla="*/ 129525 h 4256475"/>
              <a:gd name="connsiteX4" fmla="*/ 2590496 w 2590496"/>
              <a:gd name="connsiteY4" fmla="*/ 4126950 h 4256475"/>
              <a:gd name="connsiteX5" fmla="*/ 2460971 w 2590496"/>
              <a:gd name="connsiteY5" fmla="*/ 4256475 h 4256475"/>
              <a:gd name="connsiteX6" fmla="*/ 129525 w 2590496"/>
              <a:gd name="connsiteY6" fmla="*/ 4256475 h 4256475"/>
              <a:gd name="connsiteX7" fmla="*/ 0 w 2590496"/>
              <a:gd name="connsiteY7" fmla="*/ 4126950 h 4256475"/>
              <a:gd name="connsiteX8" fmla="*/ 0 w 2590496"/>
              <a:gd name="connsiteY8" fmla="*/ 129525 h 4256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496" h="4256475">
                <a:moveTo>
                  <a:pt x="2511667" y="1"/>
                </a:moveTo>
                <a:cubicBezTo>
                  <a:pt x="2555203" y="1"/>
                  <a:pt x="2590496" y="95285"/>
                  <a:pt x="2590496" y="212825"/>
                </a:cubicBezTo>
                <a:lnTo>
                  <a:pt x="2590496" y="4043650"/>
                </a:lnTo>
                <a:cubicBezTo>
                  <a:pt x="2590496" y="4161190"/>
                  <a:pt x="2555203" y="4256474"/>
                  <a:pt x="2511667" y="4256474"/>
                </a:cubicBezTo>
                <a:lnTo>
                  <a:pt x="78829" y="4256474"/>
                </a:lnTo>
                <a:cubicBezTo>
                  <a:pt x="35293" y="4256474"/>
                  <a:pt x="0" y="4161190"/>
                  <a:pt x="0" y="4043650"/>
                </a:cubicBezTo>
                <a:lnTo>
                  <a:pt x="0" y="212825"/>
                </a:lnTo>
                <a:cubicBezTo>
                  <a:pt x="0" y="95285"/>
                  <a:pt x="35293" y="1"/>
                  <a:pt x="78829" y="1"/>
                </a:cubicBezTo>
                <a:lnTo>
                  <a:pt x="2511667" y="1"/>
                </a:lnTo>
                <a:close/>
              </a:path>
            </a:pathLst>
          </a:custGeom>
          <a:solidFill>
            <a:schemeClr val="accent1">
              <a:lumMod val="50000"/>
            </a:schemeClr>
          </a:solidFill>
          <a:ln>
            <a:noFill/>
          </a:ln>
        </p:spPr>
        <p:style>
          <a:lnRef idx="2">
            <a:schemeClr val="lt1">
              <a:hueOff val="0"/>
              <a:satOff val="0"/>
              <a:lumOff val="0"/>
              <a:alphaOff val="0"/>
            </a:schemeClr>
          </a:lnRef>
          <a:fillRef idx="1">
            <a:scrgbClr r="0" g="0" b="0"/>
          </a:fillRef>
          <a:effectRef idx="0">
            <a:schemeClr val="accent1">
              <a:shade val="50000"/>
              <a:hueOff val="0"/>
              <a:satOff val="0"/>
              <a:lumOff val="0"/>
              <a:alphaOff val="0"/>
            </a:schemeClr>
          </a:effectRef>
          <a:fontRef idx="minor">
            <a:schemeClr val="lt1"/>
          </a:fontRef>
        </p:style>
        <p:txBody>
          <a:bodyPr spcFirstLastPara="0" vert="horz" wrap="square" lIns="766165" tIns="82297" rIns="106681" bIns="2072396" numCol="1" spcCol="1270" anchor="t" anchorCtr="0">
            <a:noAutofit/>
          </a:bodyPr>
          <a:lstStyle/>
          <a:p>
            <a:pPr marL="0" lvl="0" indent="0" algn="r" defTabSz="1066800">
              <a:lnSpc>
                <a:spcPct val="90000"/>
              </a:lnSpc>
              <a:spcBef>
                <a:spcPct val="0"/>
              </a:spcBef>
              <a:spcAft>
                <a:spcPct val="35000"/>
              </a:spcAft>
              <a:buNone/>
            </a:pPr>
            <a:endParaRPr lang="en-US" sz="2400" kern="1200">
              <a:solidFill>
                <a:srgbClr val="197EBF"/>
              </a:solidFill>
            </a:endParaRPr>
          </a:p>
        </p:txBody>
      </p:sp>
      <p:sp>
        <p:nvSpPr>
          <p:cNvPr id="31" name="Title 1">
            <a:extLst>
              <a:ext uri="{FF2B5EF4-FFF2-40B4-BE49-F238E27FC236}">
                <a16:creationId xmlns:a16="http://schemas.microsoft.com/office/drawing/2014/main" id="{4550E30F-A807-551C-9AED-2516F045FB97}"/>
              </a:ext>
            </a:extLst>
          </p:cNvPr>
          <p:cNvSpPr txBox="1">
            <a:spLocks/>
          </p:cNvSpPr>
          <p:nvPr/>
        </p:nvSpPr>
        <p:spPr>
          <a:xfrm>
            <a:off x="287908" y="2204259"/>
            <a:ext cx="3322601" cy="427809"/>
          </a:xfrm>
          <a:prstGeom prst="rect">
            <a:avLst/>
          </a:prstGeom>
        </p:spPr>
        <p:txBody>
          <a:bodyPr vert="horz" wrap="square" lIns="91440" tIns="45720" rIns="91440" bIns="45720" rtlCol="0" anchor="t">
            <a:spAutoFit/>
          </a:bodyPr>
          <a:lstStyle>
            <a:lvl1pPr algn="l" defTabSz="914377" rtl="0" eaLnBrk="1" latinLnBrk="0" hangingPunct="1">
              <a:lnSpc>
                <a:spcPct val="90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r>
              <a:rPr lang="en-US" sz="2400">
                <a:solidFill>
                  <a:schemeClr val="bg1"/>
                </a:solidFill>
              </a:rPr>
              <a:t>Concept</a:t>
            </a:r>
          </a:p>
        </p:txBody>
      </p:sp>
      <p:sp>
        <p:nvSpPr>
          <p:cNvPr id="36" name="TextBox 35">
            <a:extLst>
              <a:ext uri="{FF2B5EF4-FFF2-40B4-BE49-F238E27FC236}">
                <a16:creationId xmlns:a16="http://schemas.microsoft.com/office/drawing/2014/main" id="{39E5E16F-CEE7-C5F5-2E53-0A7C417F8015}"/>
              </a:ext>
            </a:extLst>
          </p:cNvPr>
          <p:cNvSpPr txBox="1"/>
          <p:nvPr/>
        </p:nvSpPr>
        <p:spPr>
          <a:xfrm>
            <a:off x="335934" y="2644064"/>
            <a:ext cx="3252977" cy="3131627"/>
          </a:xfrm>
          <a:prstGeom prst="rect">
            <a:avLst/>
          </a:prstGeom>
          <a:noFill/>
        </p:spPr>
        <p:txBody>
          <a:bodyPr wrap="square">
            <a:spAutoFit/>
          </a:bodyPr>
          <a:lstStyle/>
          <a:p>
            <a:pPr lvl="0">
              <a:lnSpc>
                <a:spcPct val="110000"/>
              </a:lnSpc>
            </a:pPr>
            <a:r>
              <a:rPr lang="en-US" sz="1200" b="1">
                <a:solidFill>
                  <a:schemeClr val="bg1"/>
                </a:solidFill>
                <a:latin typeface="+mn-lt"/>
              </a:rPr>
              <a:t>Primary focus:</a:t>
            </a:r>
            <a:endParaRPr lang="en-US" sz="1200">
              <a:solidFill>
                <a:schemeClr val="bg1"/>
              </a:solidFill>
              <a:latin typeface="+mn-lt"/>
            </a:endParaRPr>
          </a:p>
          <a:p>
            <a:pPr marL="171450" indent="-171450">
              <a:lnSpc>
                <a:spcPct val="110000"/>
              </a:lnSpc>
              <a:buFont typeface="Arial" panose="020B0604020202020204" pitchFamily="34" charset="0"/>
              <a:buChar char="•"/>
            </a:pPr>
            <a:r>
              <a:rPr lang="en-US" sz="1200">
                <a:solidFill>
                  <a:schemeClr val="bg1"/>
                </a:solidFill>
                <a:latin typeface="+mn-lt"/>
              </a:rPr>
              <a:t>Create enrollment urgency by communicating the next date classes start</a:t>
            </a:r>
          </a:p>
          <a:p>
            <a:pPr marL="171450" indent="-171450">
              <a:lnSpc>
                <a:spcPct val="110000"/>
              </a:lnSpc>
              <a:buFont typeface="Arial" panose="020B0604020202020204" pitchFamily="34" charset="0"/>
              <a:buChar char="•"/>
            </a:pPr>
            <a:endParaRPr lang="en-US" sz="1200">
              <a:solidFill>
                <a:schemeClr val="bg1"/>
              </a:solidFill>
              <a:latin typeface="+mn-lt"/>
            </a:endParaRPr>
          </a:p>
          <a:p>
            <a:pPr>
              <a:lnSpc>
                <a:spcPct val="110000"/>
              </a:lnSpc>
            </a:pPr>
            <a:r>
              <a:rPr lang="en-US" sz="1200" b="1">
                <a:solidFill>
                  <a:schemeClr val="bg1"/>
                </a:solidFill>
                <a:latin typeface="+mn-lt"/>
              </a:rPr>
              <a:t>Rationale:</a:t>
            </a:r>
          </a:p>
          <a:p>
            <a:pPr marL="171450" indent="-171450">
              <a:lnSpc>
                <a:spcPct val="110000"/>
              </a:lnSpc>
              <a:buFont typeface="Arial" panose="020B0604020202020204" pitchFamily="34" charset="0"/>
              <a:buChar char="•"/>
            </a:pPr>
            <a:r>
              <a:rPr lang="en-US" sz="1200">
                <a:solidFill>
                  <a:schemeClr val="bg1"/>
                </a:solidFill>
                <a:latin typeface="+mn-lt"/>
              </a:rPr>
              <a:t>Urgency is a commonly winning tactic across ecom and lead gen: </a:t>
            </a:r>
            <a:r>
              <a:rPr lang="en-US" sz="1200">
                <a:solidFill>
                  <a:schemeClr val="bg1"/>
                </a:solidFill>
                <a:latin typeface="+mn-lt"/>
                <a:hlinkClick r:id="rId4">
                  <a:extLst>
                    <a:ext uri="{A12FA001-AC4F-418D-AE19-62706E023703}">
                      <ahyp:hlinkClr xmlns:ahyp="http://schemas.microsoft.com/office/drawing/2018/hyperlinkcolor" val="tx"/>
                    </a:ext>
                  </a:extLst>
                </a:hlinkClick>
              </a:rPr>
              <a:t>Link</a:t>
            </a:r>
            <a:endParaRPr lang="en-US" sz="1200">
              <a:solidFill>
                <a:schemeClr val="bg1"/>
              </a:solidFill>
              <a:latin typeface="+mn-lt"/>
            </a:endParaRPr>
          </a:p>
          <a:p>
            <a:pPr marL="171450" indent="-171450">
              <a:lnSpc>
                <a:spcPct val="110000"/>
              </a:lnSpc>
              <a:buFont typeface="Arial" panose="020B0604020202020204" pitchFamily="34" charset="0"/>
              <a:buChar char="•"/>
            </a:pPr>
            <a:r>
              <a:rPr lang="en-US" sz="1200">
                <a:solidFill>
                  <a:schemeClr val="bg1"/>
                </a:solidFill>
                <a:latin typeface="+mn-lt"/>
              </a:rPr>
              <a:t>Colorado Tech uses clear enrollment dates to create urgency: </a:t>
            </a:r>
            <a:r>
              <a:rPr lang="en-US" sz="1200">
                <a:solidFill>
                  <a:schemeClr val="bg1"/>
                </a:solidFill>
                <a:latin typeface="+mn-lt"/>
                <a:hlinkClick r:id="rId5">
                  <a:extLst>
                    <a:ext uri="{A12FA001-AC4F-418D-AE19-62706E023703}">
                      <ahyp:hlinkClr xmlns:ahyp="http://schemas.microsoft.com/office/drawing/2018/hyperlinkcolor" val="tx"/>
                    </a:ext>
                  </a:extLst>
                </a:hlinkClick>
              </a:rPr>
              <a:t>Link</a:t>
            </a:r>
            <a:endParaRPr lang="en-US" sz="1200">
              <a:solidFill>
                <a:schemeClr val="bg1"/>
              </a:solidFill>
              <a:latin typeface="+mn-lt"/>
            </a:endParaRPr>
          </a:p>
          <a:p>
            <a:pPr marL="171450" indent="-171450">
              <a:lnSpc>
                <a:spcPct val="110000"/>
              </a:lnSpc>
              <a:buFont typeface="Arial" panose="020B0604020202020204" pitchFamily="34" charset="0"/>
              <a:buChar char="•"/>
            </a:pPr>
            <a:r>
              <a:rPr lang="en-US" sz="1200">
                <a:solidFill>
                  <a:schemeClr val="bg1"/>
                </a:solidFill>
                <a:latin typeface="+mn-lt"/>
              </a:rPr>
              <a:t>Copy changes and simple module insertions make concept low lift</a:t>
            </a:r>
          </a:p>
          <a:p>
            <a:pPr marL="171450" indent="-171450">
              <a:lnSpc>
                <a:spcPct val="110000"/>
              </a:lnSpc>
              <a:buFont typeface="Arial" panose="020B0604020202020204" pitchFamily="34" charset="0"/>
              <a:buChar char="•"/>
            </a:pPr>
            <a:endParaRPr lang="en-US" sz="1200">
              <a:solidFill>
                <a:schemeClr val="bg1"/>
              </a:solidFill>
              <a:latin typeface="+mn-lt"/>
            </a:endParaRPr>
          </a:p>
          <a:p>
            <a:pPr>
              <a:lnSpc>
                <a:spcPct val="110000"/>
              </a:lnSpc>
            </a:pPr>
            <a:r>
              <a:rPr lang="en-US" sz="1200">
                <a:solidFill>
                  <a:schemeClr val="bg1"/>
                </a:solidFill>
                <a:latin typeface="Poppins "/>
              </a:rPr>
              <a:t>Estimated 12M Impact If Winner:</a:t>
            </a:r>
            <a:r>
              <a:rPr lang="en-US" sz="1200">
                <a:solidFill>
                  <a:schemeClr val="bg1"/>
                </a:solidFill>
                <a:latin typeface="+mn-lt"/>
              </a:rPr>
              <a:t> </a:t>
            </a:r>
          </a:p>
          <a:p>
            <a:pPr>
              <a:lnSpc>
                <a:spcPct val="110000"/>
              </a:lnSpc>
            </a:pPr>
            <a:r>
              <a:rPr lang="en-US" sz="1200">
                <a:solidFill>
                  <a:schemeClr val="bg1"/>
                </a:solidFill>
                <a:latin typeface="+mn-lt"/>
              </a:rPr>
              <a:t>125 Apps</a:t>
            </a:r>
          </a:p>
        </p:txBody>
      </p:sp>
      <p:cxnSp>
        <p:nvCxnSpPr>
          <p:cNvPr id="3" name="Straight Connector 2">
            <a:extLst>
              <a:ext uri="{FF2B5EF4-FFF2-40B4-BE49-F238E27FC236}">
                <a16:creationId xmlns:a16="http://schemas.microsoft.com/office/drawing/2014/main" id="{C308BDC6-113F-6981-65FA-E0DFFBE4E9E1}"/>
              </a:ext>
            </a:extLst>
          </p:cNvPr>
          <p:cNvCxnSpPr>
            <a:cxnSpLocks/>
          </p:cNvCxnSpPr>
          <p:nvPr/>
        </p:nvCxnSpPr>
        <p:spPr>
          <a:xfrm flipV="1">
            <a:off x="4320208" y="2330871"/>
            <a:ext cx="7612020" cy="0"/>
          </a:xfrm>
          <a:prstGeom prst="line">
            <a:avLst/>
          </a:prstGeom>
          <a:ln w="38100" cap="rnd">
            <a:solidFill>
              <a:schemeClr val="accent2"/>
            </a:solidFill>
            <a:prstDash val="solid"/>
            <a:round/>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2D72A37-2DE0-3CFB-D70E-A1F2B2BCC71D}"/>
              </a:ext>
            </a:extLst>
          </p:cNvPr>
          <p:cNvSpPr txBox="1"/>
          <p:nvPr/>
        </p:nvSpPr>
        <p:spPr>
          <a:xfrm>
            <a:off x="4320208" y="1966525"/>
            <a:ext cx="1903956" cy="356636"/>
          </a:xfrm>
          <a:prstGeom prst="rect">
            <a:avLst/>
          </a:prstGeom>
          <a:noFill/>
        </p:spPr>
        <p:txBody>
          <a:bodyPr wrap="square" rtlCol="0">
            <a:spAutoFit/>
          </a:bodyPr>
          <a:lstStyle/>
          <a:p>
            <a:pPr algn="l">
              <a:lnSpc>
                <a:spcPct val="112000"/>
              </a:lnSpc>
            </a:pPr>
            <a:r>
              <a:rPr lang="en-US" sz="1600">
                <a:latin typeface="+mj-lt"/>
              </a:rPr>
              <a:t>Control</a:t>
            </a:r>
          </a:p>
        </p:txBody>
      </p:sp>
      <p:sp>
        <p:nvSpPr>
          <p:cNvPr id="9" name="TextBox 8">
            <a:extLst>
              <a:ext uri="{FF2B5EF4-FFF2-40B4-BE49-F238E27FC236}">
                <a16:creationId xmlns:a16="http://schemas.microsoft.com/office/drawing/2014/main" id="{B1105CED-6FB4-6B47-6299-CF50518E9F21}"/>
              </a:ext>
            </a:extLst>
          </p:cNvPr>
          <p:cNvSpPr txBox="1"/>
          <p:nvPr/>
        </p:nvSpPr>
        <p:spPr>
          <a:xfrm>
            <a:off x="8126218" y="1981946"/>
            <a:ext cx="1903956" cy="356636"/>
          </a:xfrm>
          <a:prstGeom prst="rect">
            <a:avLst/>
          </a:prstGeom>
          <a:noFill/>
        </p:spPr>
        <p:txBody>
          <a:bodyPr wrap="square" rtlCol="0">
            <a:spAutoFit/>
          </a:bodyPr>
          <a:lstStyle/>
          <a:p>
            <a:pPr algn="l">
              <a:lnSpc>
                <a:spcPct val="112000"/>
              </a:lnSpc>
            </a:pPr>
            <a:r>
              <a:rPr lang="en-US" sz="1600">
                <a:latin typeface="+mj-lt"/>
              </a:rPr>
              <a:t>Experiment</a:t>
            </a:r>
          </a:p>
        </p:txBody>
      </p:sp>
      <p:pic>
        <p:nvPicPr>
          <p:cNvPr id="4" name="Picture 3">
            <a:extLst>
              <a:ext uri="{FF2B5EF4-FFF2-40B4-BE49-F238E27FC236}">
                <a16:creationId xmlns:a16="http://schemas.microsoft.com/office/drawing/2014/main" id="{6D11183D-E61E-3801-7014-AF150B6E1133}"/>
              </a:ext>
            </a:extLst>
          </p:cNvPr>
          <p:cNvPicPr>
            <a:picLocks noChangeAspect="1"/>
          </p:cNvPicPr>
          <p:nvPr/>
        </p:nvPicPr>
        <p:blipFill>
          <a:blip r:embed="rId6"/>
          <a:srcRect l="48549" r="19316" b="64265"/>
          <a:stretch>
            <a:fillRect/>
          </a:stretch>
        </p:blipFill>
        <p:spPr>
          <a:xfrm>
            <a:off x="8126218" y="2619130"/>
            <a:ext cx="2610159" cy="1402699"/>
          </a:xfrm>
          <a:prstGeom prst="rect">
            <a:avLst/>
          </a:prstGeom>
          <a:ln>
            <a:solidFill>
              <a:schemeClr val="tx1">
                <a:lumMod val="50000"/>
                <a:lumOff val="50000"/>
              </a:schemeClr>
            </a:solidFill>
          </a:ln>
        </p:spPr>
      </p:pic>
      <p:pic>
        <p:nvPicPr>
          <p:cNvPr id="13" name="Picture 12">
            <a:extLst>
              <a:ext uri="{FF2B5EF4-FFF2-40B4-BE49-F238E27FC236}">
                <a16:creationId xmlns:a16="http://schemas.microsoft.com/office/drawing/2014/main" id="{00FDDB7D-AE89-4956-7D99-888EDB59BCD8}"/>
              </a:ext>
            </a:extLst>
          </p:cNvPr>
          <p:cNvPicPr>
            <a:picLocks noChangeAspect="1"/>
          </p:cNvPicPr>
          <p:nvPr/>
        </p:nvPicPr>
        <p:blipFill>
          <a:blip r:embed="rId7"/>
          <a:srcRect l="47547" r="20317" b="64265"/>
          <a:stretch>
            <a:fillRect/>
          </a:stretch>
        </p:blipFill>
        <p:spPr>
          <a:xfrm>
            <a:off x="4287824" y="2619131"/>
            <a:ext cx="2610159" cy="1402714"/>
          </a:xfrm>
          <a:prstGeom prst="rect">
            <a:avLst/>
          </a:prstGeom>
          <a:ln>
            <a:solidFill>
              <a:schemeClr val="tx1">
                <a:lumMod val="50000"/>
                <a:lumOff val="50000"/>
              </a:schemeClr>
            </a:solidFill>
          </a:ln>
        </p:spPr>
      </p:pic>
      <p:pic>
        <p:nvPicPr>
          <p:cNvPr id="17" name="Picture 16">
            <a:extLst>
              <a:ext uri="{FF2B5EF4-FFF2-40B4-BE49-F238E27FC236}">
                <a16:creationId xmlns:a16="http://schemas.microsoft.com/office/drawing/2014/main" id="{4A53F6A7-2677-41F9-82BF-A03321AE27FC}"/>
              </a:ext>
            </a:extLst>
          </p:cNvPr>
          <p:cNvPicPr>
            <a:picLocks noChangeAspect="1"/>
          </p:cNvPicPr>
          <p:nvPr/>
        </p:nvPicPr>
        <p:blipFill>
          <a:blip r:embed="rId8"/>
          <a:stretch>
            <a:fillRect/>
          </a:stretch>
        </p:blipFill>
        <p:spPr>
          <a:xfrm>
            <a:off x="4846078" y="3218363"/>
            <a:ext cx="1370099" cy="2836171"/>
          </a:xfrm>
          <a:prstGeom prst="rect">
            <a:avLst/>
          </a:prstGeom>
          <a:ln>
            <a:solidFill>
              <a:schemeClr val="tx1">
                <a:lumMod val="50000"/>
                <a:lumOff val="50000"/>
              </a:schemeClr>
            </a:solidFill>
          </a:ln>
        </p:spPr>
      </p:pic>
      <p:pic>
        <p:nvPicPr>
          <p:cNvPr id="21" name="Picture 20">
            <a:extLst>
              <a:ext uri="{FF2B5EF4-FFF2-40B4-BE49-F238E27FC236}">
                <a16:creationId xmlns:a16="http://schemas.microsoft.com/office/drawing/2014/main" id="{B8E1F808-3085-41BB-2DF0-04AED9381D25}"/>
              </a:ext>
            </a:extLst>
          </p:cNvPr>
          <p:cNvPicPr>
            <a:picLocks noChangeAspect="1"/>
          </p:cNvPicPr>
          <p:nvPr/>
        </p:nvPicPr>
        <p:blipFill>
          <a:blip r:embed="rId9"/>
          <a:stretch>
            <a:fillRect/>
          </a:stretch>
        </p:blipFill>
        <p:spPr>
          <a:xfrm>
            <a:off x="8574159" y="3219521"/>
            <a:ext cx="1369540" cy="2835013"/>
          </a:xfrm>
          <a:prstGeom prst="rect">
            <a:avLst/>
          </a:prstGeom>
          <a:ln>
            <a:solidFill>
              <a:schemeClr val="tx1">
                <a:lumMod val="50000"/>
                <a:lumOff val="50000"/>
              </a:schemeClr>
            </a:solidFill>
          </a:ln>
        </p:spPr>
      </p:pic>
      <p:sp>
        <p:nvSpPr>
          <p:cNvPr id="24" name="Rectangle 23">
            <a:extLst>
              <a:ext uri="{FF2B5EF4-FFF2-40B4-BE49-F238E27FC236}">
                <a16:creationId xmlns:a16="http://schemas.microsoft.com/office/drawing/2014/main" id="{7A4B0D0B-6CBD-2C03-BD87-1E47774468EA}"/>
              </a:ext>
            </a:extLst>
          </p:cNvPr>
          <p:cNvSpPr/>
          <p:nvPr/>
        </p:nvSpPr>
        <p:spPr>
          <a:xfrm>
            <a:off x="4575132" y="2576623"/>
            <a:ext cx="876821" cy="345759"/>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bg1"/>
              </a:solidFill>
              <a:latin typeface="Poppins SemiBold" panose="00000700000000000000" pitchFamily="2" charset="0"/>
              <a:cs typeface="Poppins SemiBold" panose="00000700000000000000" pitchFamily="2" charset="0"/>
            </a:endParaRPr>
          </a:p>
        </p:txBody>
      </p:sp>
      <p:sp>
        <p:nvSpPr>
          <p:cNvPr id="25" name="Rectangle 24">
            <a:extLst>
              <a:ext uri="{FF2B5EF4-FFF2-40B4-BE49-F238E27FC236}">
                <a16:creationId xmlns:a16="http://schemas.microsoft.com/office/drawing/2014/main" id="{FEDAEA7D-0E77-B578-EE4D-96D3F9A311C8}"/>
              </a:ext>
            </a:extLst>
          </p:cNvPr>
          <p:cNvSpPr/>
          <p:nvPr/>
        </p:nvSpPr>
        <p:spPr>
          <a:xfrm>
            <a:off x="4654306" y="4463568"/>
            <a:ext cx="1673923" cy="345759"/>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bg1"/>
              </a:solidFill>
              <a:latin typeface="Poppins SemiBold" panose="00000700000000000000" pitchFamily="2" charset="0"/>
              <a:cs typeface="Poppins SemiBold" panose="00000700000000000000" pitchFamily="2" charset="0"/>
            </a:endParaRPr>
          </a:p>
        </p:txBody>
      </p:sp>
      <p:sp>
        <p:nvSpPr>
          <p:cNvPr id="26" name="Rectangle 25">
            <a:extLst>
              <a:ext uri="{FF2B5EF4-FFF2-40B4-BE49-F238E27FC236}">
                <a16:creationId xmlns:a16="http://schemas.microsoft.com/office/drawing/2014/main" id="{3E709626-ABE9-1984-D188-A38EFB854ABA}"/>
              </a:ext>
            </a:extLst>
          </p:cNvPr>
          <p:cNvSpPr/>
          <p:nvPr/>
        </p:nvSpPr>
        <p:spPr>
          <a:xfrm>
            <a:off x="8341590" y="2604616"/>
            <a:ext cx="876821" cy="345759"/>
          </a:xfrm>
          <a:prstGeom prst="rect">
            <a:avLst/>
          </a:prstGeom>
          <a:noFill/>
          <a:ln w="28575">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bg1"/>
              </a:solidFill>
              <a:latin typeface="Poppins SemiBold" panose="00000700000000000000" pitchFamily="2" charset="0"/>
              <a:cs typeface="Poppins SemiBold" panose="00000700000000000000" pitchFamily="2" charset="0"/>
            </a:endParaRPr>
          </a:p>
        </p:txBody>
      </p:sp>
      <p:pic>
        <p:nvPicPr>
          <p:cNvPr id="1026" name="Picture 2">
            <a:extLst>
              <a:ext uri="{FF2B5EF4-FFF2-40B4-BE49-F238E27FC236}">
                <a16:creationId xmlns:a16="http://schemas.microsoft.com/office/drawing/2014/main" id="{6D4D4D9A-3D0E-AF84-B954-13588AAC05E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171841" y="3218364"/>
            <a:ext cx="1375506" cy="2835012"/>
          </a:xfrm>
          <a:prstGeom prst="rect">
            <a:avLst/>
          </a:prstGeom>
          <a:noFill/>
          <a:ln>
            <a:solidFill>
              <a:schemeClr val="tx1">
                <a:lumMod val="50000"/>
                <a:lumOff val="50000"/>
              </a:schemeClr>
            </a:solidFill>
          </a:ln>
          <a:extLst>
            <a:ext uri="{909E8E84-426E-40DD-AFC4-6F175D3DCCD1}">
              <a14:hiddenFill xmlns:a14="http://schemas.microsoft.com/office/drawing/2010/main">
                <a:solidFill>
                  <a:srgbClr val="FFFFFF"/>
                </a:solidFill>
              </a14:hiddenFill>
            </a:ext>
          </a:extLst>
        </p:spPr>
      </p:pic>
      <p:sp>
        <p:nvSpPr>
          <p:cNvPr id="2" name="Rectangle: Top Corners Rounded 1">
            <a:extLst>
              <a:ext uri="{FF2B5EF4-FFF2-40B4-BE49-F238E27FC236}">
                <a16:creationId xmlns:a16="http://schemas.microsoft.com/office/drawing/2014/main" id="{EC5CCDD7-6BAA-817F-9FAE-57C6241F85EB}"/>
              </a:ext>
            </a:extLst>
          </p:cNvPr>
          <p:cNvSpPr/>
          <p:nvPr/>
        </p:nvSpPr>
        <p:spPr>
          <a:xfrm rot="10800000">
            <a:off x="0" y="935385"/>
            <a:ext cx="1178896" cy="371980"/>
          </a:xfrm>
          <a:prstGeom prst="round2Same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bg1"/>
              </a:solidFill>
              <a:latin typeface="Poppins SemiBold" panose="00000700000000000000" pitchFamily="2" charset="0"/>
              <a:cs typeface="Poppins SemiBold" panose="00000700000000000000" pitchFamily="2" charset="0"/>
            </a:endParaRPr>
          </a:p>
        </p:txBody>
      </p:sp>
      <p:sp>
        <p:nvSpPr>
          <p:cNvPr id="8" name="TextBox 7">
            <a:extLst>
              <a:ext uri="{FF2B5EF4-FFF2-40B4-BE49-F238E27FC236}">
                <a16:creationId xmlns:a16="http://schemas.microsoft.com/office/drawing/2014/main" id="{40C4C2F4-DB41-6BD7-7275-81446A6388EF}"/>
              </a:ext>
            </a:extLst>
          </p:cNvPr>
          <p:cNvSpPr txBox="1"/>
          <p:nvPr/>
        </p:nvSpPr>
        <p:spPr>
          <a:xfrm>
            <a:off x="96350" y="1002019"/>
            <a:ext cx="986193" cy="232756"/>
          </a:xfrm>
          <a:prstGeom prst="rect">
            <a:avLst/>
          </a:prstGeom>
          <a:noFill/>
        </p:spPr>
        <p:txBody>
          <a:bodyPr wrap="square" rtlCol="0">
            <a:spAutoFit/>
          </a:bodyPr>
          <a:lstStyle/>
          <a:p>
            <a:pPr algn="ctr">
              <a:lnSpc>
                <a:spcPct val="112000"/>
              </a:lnSpc>
            </a:pPr>
            <a:r>
              <a:rPr lang="en-US" sz="850">
                <a:latin typeface="+mj-lt"/>
              </a:rPr>
              <a:t>Lead Capture</a:t>
            </a:r>
          </a:p>
        </p:txBody>
      </p:sp>
      <p:sp>
        <p:nvSpPr>
          <p:cNvPr id="12" name="Rectangle 11">
            <a:extLst>
              <a:ext uri="{FF2B5EF4-FFF2-40B4-BE49-F238E27FC236}">
                <a16:creationId xmlns:a16="http://schemas.microsoft.com/office/drawing/2014/main" id="{0CE7007F-6E4A-23A4-62E7-9F5F40A3C778}"/>
              </a:ext>
            </a:extLst>
          </p:cNvPr>
          <p:cNvSpPr/>
          <p:nvPr/>
        </p:nvSpPr>
        <p:spPr>
          <a:xfrm>
            <a:off x="8466558" y="4530952"/>
            <a:ext cx="1563616" cy="345759"/>
          </a:xfrm>
          <a:prstGeom prst="rect">
            <a:avLst/>
          </a:prstGeom>
          <a:noFill/>
          <a:ln w="28575">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bg1"/>
              </a:solidFill>
              <a:latin typeface="Poppins SemiBold" panose="00000700000000000000" pitchFamily="2" charset="0"/>
              <a:cs typeface="Poppins SemiBold" panose="00000700000000000000" pitchFamily="2" charset="0"/>
            </a:endParaRPr>
          </a:p>
        </p:txBody>
      </p:sp>
      <p:sp>
        <p:nvSpPr>
          <p:cNvPr id="14" name="Rectangle 13">
            <a:extLst>
              <a:ext uri="{FF2B5EF4-FFF2-40B4-BE49-F238E27FC236}">
                <a16:creationId xmlns:a16="http://schemas.microsoft.com/office/drawing/2014/main" id="{BC44BF80-2082-518C-0AED-FFB2962ECA80}"/>
              </a:ext>
            </a:extLst>
          </p:cNvPr>
          <p:cNvSpPr/>
          <p:nvPr/>
        </p:nvSpPr>
        <p:spPr>
          <a:xfrm>
            <a:off x="10077786" y="3419856"/>
            <a:ext cx="1563616" cy="345759"/>
          </a:xfrm>
          <a:prstGeom prst="rect">
            <a:avLst/>
          </a:prstGeom>
          <a:noFill/>
          <a:ln w="28575">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bg1"/>
              </a:solidFill>
              <a:latin typeface="Poppins SemiBold" panose="00000700000000000000" pitchFamily="2" charset="0"/>
              <a:cs typeface="Poppins SemiBold" panose="00000700000000000000" pitchFamily="2" charset="0"/>
            </a:endParaRPr>
          </a:p>
        </p:txBody>
      </p:sp>
    </p:spTree>
    <p:extLst>
      <p:ext uri="{BB962C8B-B14F-4D97-AF65-F5344CB8AC3E}">
        <p14:creationId xmlns:p14="http://schemas.microsoft.com/office/powerpoint/2010/main" val="9617531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4AB56-1F49-CCFE-B7E0-CC89EC73277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5C7294C-8508-383E-0CE0-CDEE6D9ED2A6}"/>
              </a:ext>
            </a:extLst>
          </p:cNvPr>
          <p:cNvPicPr>
            <a:picLocks noChangeAspect="1"/>
          </p:cNvPicPr>
          <p:nvPr/>
        </p:nvPicPr>
        <p:blipFill>
          <a:blip r:embed="rId3"/>
          <a:srcRect b="20864"/>
          <a:stretch>
            <a:fillRect/>
          </a:stretch>
        </p:blipFill>
        <p:spPr>
          <a:xfrm>
            <a:off x="0" y="0"/>
            <a:ext cx="12192000" cy="935385"/>
          </a:xfrm>
          <a:prstGeom prst="rect">
            <a:avLst/>
          </a:prstGeom>
        </p:spPr>
      </p:pic>
      <p:sp>
        <p:nvSpPr>
          <p:cNvPr id="7" name="Title 9">
            <a:extLst>
              <a:ext uri="{FF2B5EF4-FFF2-40B4-BE49-F238E27FC236}">
                <a16:creationId xmlns:a16="http://schemas.microsoft.com/office/drawing/2014/main" id="{9FBD905F-8E6F-C6C5-7364-A55B02978EFC}"/>
              </a:ext>
            </a:extLst>
          </p:cNvPr>
          <p:cNvSpPr txBox="1">
            <a:spLocks/>
          </p:cNvSpPr>
          <p:nvPr/>
        </p:nvSpPr>
        <p:spPr>
          <a:xfrm>
            <a:off x="474620" y="226142"/>
            <a:ext cx="11242760" cy="576055"/>
          </a:xfrm>
          <a:prstGeom prst="rect">
            <a:avLst/>
          </a:prstGeom>
        </p:spPr>
        <p:txBody>
          <a:bodyPr wrap="square" tIns="91440" bIns="91440">
            <a:spAutoFit/>
          </a:bodyPr>
          <a:lstStyle>
            <a:lvl1pPr marL="0" algn="ctr" defTabSz="914400" rtl="0" eaLnBrk="1" latinLnBrk="0" hangingPunct="1">
              <a:lnSpc>
                <a:spcPct val="90000"/>
              </a:lnSpc>
              <a:spcBef>
                <a:spcPct val="0"/>
              </a:spcBef>
              <a:buNone/>
              <a:defRPr lang="en-US" sz="2800" b="1" i="0" kern="1200">
                <a:solidFill>
                  <a:schemeClr val="accent2"/>
                </a:solidFill>
                <a:latin typeface="Poppins SemiBold" pitchFamily="2" charset="77"/>
                <a:ea typeface="+mj-ea"/>
                <a:cs typeface="Poppins SemiBold" pitchFamily="2" charset="77"/>
              </a:defRPr>
            </a:lvl1pPr>
          </a:lstStyle>
          <a:p>
            <a:pPr lvl="0" algn="l">
              <a:spcAft>
                <a:spcPts val="600"/>
              </a:spcAft>
              <a:defRPr/>
            </a:pPr>
            <a:r>
              <a:rPr lang="en-US">
                <a:solidFill>
                  <a:srgbClr val="FFFFFF"/>
                </a:solidFill>
                <a:latin typeface="Poppins"/>
                <a:cs typeface="Poppins" panose="00000500000000000000" pitchFamily="2" charset="0"/>
              </a:rPr>
              <a:t>Sticky Product Intent Capture</a:t>
            </a:r>
          </a:p>
        </p:txBody>
      </p:sp>
      <p:sp>
        <p:nvSpPr>
          <p:cNvPr id="15" name="Title 1">
            <a:extLst>
              <a:ext uri="{FF2B5EF4-FFF2-40B4-BE49-F238E27FC236}">
                <a16:creationId xmlns:a16="http://schemas.microsoft.com/office/drawing/2014/main" id="{8B855471-C4A6-4D26-50A0-A3F40B6C6611}"/>
              </a:ext>
            </a:extLst>
          </p:cNvPr>
          <p:cNvSpPr txBox="1">
            <a:spLocks/>
          </p:cNvSpPr>
          <p:nvPr/>
        </p:nvSpPr>
        <p:spPr>
          <a:xfrm>
            <a:off x="1026565" y="1930939"/>
            <a:ext cx="2941322" cy="427809"/>
          </a:xfrm>
          <a:prstGeom prst="rect">
            <a:avLst/>
          </a:prstGeom>
        </p:spPr>
        <p:txBody>
          <a:bodyPr vert="horz" wrap="square" lIns="91440" tIns="45720" rIns="91440" bIns="45720" rtlCol="0" anchor="t">
            <a:spAutoFit/>
          </a:bodyPr>
          <a:lstStyle>
            <a:lvl1pPr algn="l" defTabSz="914377" rtl="0" eaLnBrk="1" latinLnBrk="0" hangingPunct="1">
              <a:lnSpc>
                <a:spcPct val="90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r>
              <a:rPr lang="en-US" sz="2400">
                <a:solidFill>
                  <a:schemeClr val="bg1"/>
                </a:solidFill>
              </a:rPr>
              <a:t>Week 0-2 </a:t>
            </a:r>
          </a:p>
        </p:txBody>
      </p:sp>
      <p:sp>
        <p:nvSpPr>
          <p:cNvPr id="10" name="Freeform: Shape 9">
            <a:extLst>
              <a:ext uri="{FF2B5EF4-FFF2-40B4-BE49-F238E27FC236}">
                <a16:creationId xmlns:a16="http://schemas.microsoft.com/office/drawing/2014/main" id="{560091F3-3B4C-F5E8-5316-DD838B9F14AE}"/>
              </a:ext>
            </a:extLst>
          </p:cNvPr>
          <p:cNvSpPr/>
          <p:nvPr/>
        </p:nvSpPr>
        <p:spPr>
          <a:xfrm rot="16200000">
            <a:off x="-503105" y="2510910"/>
            <a:ext cx="4883825" cy="3358070"/>
          </a:xfrm>
          <a:custGeom>
            <a:avLst/>
            <a:gdLst>
              <a:gd name="connsiteX0" fmla="*/ 0 w 2590496"/>
              <a:gd name="connsiteY0" fmla="*/ 129525 h 4256475"/>
              <a:gd name="connsiteX1" fmla="*/ 129525 w 2590496"/>
              <a:gd name="connsiteY1" fmla="*/ 0 h 4256475"/>
              <a:gd name="connsiteX2" fmla="*/ 2460971 w 2590496"/>
              <a:gd name="connsiteY2" fmla="*/ 0 h 4256475"/>
              <a:gd name="connsiteX3" fmla="*/ 2590496 w 2590496"/>
              <a:gd name="connsiteY3" fmla="*/ 129525 h 4256475"/>
              <a:gd name="connsiteX4" fmla="*/ 2590496 w 2590496"/>
              <a:gd name="connsiteY4" fmla="*/ 4126950 h 4256475"/>
              <a:gd name="connsiteX5" fmla="*/ 2460971 w 2590496"/>
              <a:gd name="connsiteY5" fmla="*/ 4256475 h 4256475"/>
              <a:gd name="connsiteX6" fmla="*/ 129525 w 2590496"/>
              <a:gd name="connsiteY6" fmla="*/ 4256475 h 4256475"/>
              <a:gd name="connsiteX7" fmla="*/ 0 w 2590496"/>
              <a:gd name="connsiteY7" fmla="*/ 4126950 h 4256475"/>
              <a:gd name="connsiteX8" fmla="*/ 0 w 2590496"/>
              <a:gd name="connsiteY8" fmla="*/ 129525 h 4256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496" h="4256475">
                <a:moveTo>
                  <a:pt x="2511667" y="1"/>
                </a:moveTo>
                <a:cubicBezTo>
                  <a:pt x="2555203" y="1"/>
                  <a:pt x="2590496" y="95285"/>
                  <a:pt x="2590496" y="212825"/>
                </a:cubicBezTo>
                <a:lnTo>
                  <a:pt x="2590496" y="4043650"/>
                </a:lnTo>
                <a:cubicBezTo>
                  <a:pt x="2590496" y="4161190"/>
                  <a:pt x="2555203" y="4256474"/>
                  <a:pt x="2511667" y="4256474"/>
                </a:cubicBezTo>
                <a:lnTo>
                  <a:pt x="78829" y="4256474"/>
                </a:lnTo>
                <a:cubicBezTo>
                  <a:pt x="35293" y="4256474"/>
                  <a:pt x="0" y="4161190"/>
                  <a:pt x="0" y="4043650"/>
                </a:cubicBezTo>
                <a:lnTo>
                  <a:pt x="0" y="212825"/>
                </a:lnTo>
                <a:cubicBezTo>
                  <a:pt x="0" y="95285"/>
                  <a:pt x="35293" y="1"/>
                  <a:pt x="78829" y="1"/>
                </a:cubicBezTo>
                <a:lnTo>
                  <a:pt x="2511667" y="1"/>
                </a:lnTo>
                <a:close/>
              </a:path>
            </a:pathLst>
          </a:custGeom>
          <a:solidFill>
            <a:schemeClr val="accent1">
              <a:lumMod val="50000"/>
            </a:schemeClr>
          </a:solidFill>
        </p:spPr>
        <p:style>
          <a:lnRef idx="2">
            <a:schemeClr val="lt1">
              <a:hueOff val="0"/>
              <a:satOff val="0"/>
              <a:lumOff val="0"/>
              <a:alphaOff val="0"/>
            </a:schemeClr>
          </a:lnRef>
          <a:fillRef idx="1">
            <a:scrgbClr r="0" g="0" b="0"/>
          </a:fillRef>
          <a:effectRef idx="0">
            <a:schemeClr val="accent1">
              <a:shade val="50000"/>
              <a:hueOff val="0"/>
              <a:satOff val="0"/>
              <a:lumOff val="0"/>
              <a:alphaOff val="0"/>
            </a:schemeClr>
          </a:effectRef>
          <a:fontRef idx="minor">
            <a:schemeClr val="lt1"/>
          </a:fontRef>
        </p:style>
        <p:txBody>
          <a:bodyPr spcFirstLastPara="0" vert="horz" wrap="square" lIns="766165" tIns="82297" rIns="106681" bIns="2072396" numCol="1" spcCol="1270" anchor="t" anchorCtr="0">
            <a:noAutofit/>
          </a:bodyPr>
          <a:lstStyle/>
          <a:p>
            <a:pPr marL="0" lvl="0" indent="0" algn="r" defTabSz="1066800">
              <a:lnSpc>
                <a:spcPct val="90000"/>
              </a:lnSpc>
              <a:spcBef>
                <a:spcPct val="0"/>
              </a:spcBef>
              <a:spcAft>
                <a:spcPct val="35000"/>
              </a:spcAft>
              <a:buNone/>
            </a:pPr>
            <a:endParaRPr lang="en-US" sz="2400" kern="1200">
              <a:solidFill>
                <a:srgbClr val="197EBF"/>
              </a:solidFill>
            </a:endParaRPr>
          </a:p>
        </p:txBody>
      </p:sp>
      <p:sp>
        <p:nvSpPr>
          <p:cNvPr id="31" name="Title 1">
            <a:extLst>
              <a:ext uri="{FF2B5EF4-FFF2-40B4-BE49-F238E27FC236}">
                <a16:creationId xmlns:a16="http://schemas.microsoft.com/office/drawing/2014/main" id="{14221C49-9C28-502A-6BF0-4D49ACA24042}"/>
              </a:ext>
            </a:extLst>
          </p:cNvPr>
          <p:cNvSpPr txBox="1">
            <a:spLocks/>
          </p:cNvSpPr>
          <p:nvPr/>
        </p:nvSpPr>
        <p:spPr>
          <a:xfrm>
            <a:off x="259772" y="1908843"/>
            <a:ext cx="3322601" cy="427809"/>
          </a:xfrm>
          <a:prstGeom prst="rect">
            <a:avLst/>
          </a:prstGeom>
        </p:spPr>
        <p:txBody>
          <a:bodyPr vert="horz" wrap="square" lIns="91440" tIns="45720" rIns="91440" bIns="45720" rtlCol="0" anchor="t">
            <a:spAutoFit/>
          </a:bodyPr>
          <a:lstStyle>
            <a:lvl1pPr algn="l" defTabSz="914377" rtl="0" eaLnBrk="1" latinLnBrk="0" hangingPunct="1">
              <a:lnSpc>
                <a:spcPct val="90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r>
              <a:rPr lang="en-US" sz="2400">
                <a:solidFill>
                  <a:schemeClr val="bg1"/>
                </a:solidFill>
              </a:rPr>
              <a:t>Concept</a:t>
            </a:r>
          </a:p>
        </p:txBody>
      </p:sp>
      <p:sp>
        <p:nvSpPr>
          <p:cNvPr id="36" name="TextBox 35">
            <a:extLst>
              <a:ext uri="{FF2B5EF4-FFF2-40B4-BE49-F238E27FC236}">
                <a16:creationId xmlns:a16="http://schemas.microsoft.com/office/drawing/2014/main" id="{59A301ED-A9D3-A8C7-58A3-4D412CB23E2C}"/>
              </a:ext>
            </a:extLst>
          </p:cNvPr>
          <p:cNvSpPr txBox="1"/>
          <p:nvPr/>
        </p:nvSpPr>
        <p:spPr>
          <a:xfrm>
            <a:off x="307798" y="2348648"/>
            <a:ext cx="3252977" cy="3630225"/>
          </a:xfrm>
          <a:prstGeom prst="rect">
            <a:avLst/>
          </a:prstGeom>
          <a:noFill/>
        </p:spPr>
        <p:txBody>
          <a:bodyPr wrap="square">
            <a:spAutoFit/>
          </a:bodyPr>
          <a:lstStyle/>
          <a:p>
            <a:pPr lvl="0"/>
            <a:r>
              <a:rPr lang="en-US" sz="1200" b="1">
                <a:solidFill>
                  <a:schemeClr val="bg1"/>
                </a:solidFill>
                <a:latin typeface="+mn-lt"/>
              </a:rPr>
              <a:t>Primary focus:</a:t>
            </a:r>
            <a:endParaRPr lang="en-US" sz="1200">
              <a:solidFill>
                <a:schemeClr val="bg1"/>
              </a:solidFill>
              <a:latin typeface="+mn-lt"/>
            </a:endParaRPr>
          </a:p>
          <a:p>
            <a:pPr marL="171450" indent="-171450">
              <a:buFont typeface="Arial" panose="020B0604020202020204" pitchFamily="34" charset="0"/>
              <a:buChar char="•"/>
            </a:pPr>
            <a:r>
              <a:rPr lang="en-US" sz="1200">
                <a:solidFill>
                  <a:schemeClr val="bg1"/>
                </a:solidFill>
                <a:latin typeface="+mn-lt"/>
              </a:rPr>
              <a:t>Enable users to convert at the moment of intent with a sticky CTA that includes program of interest capture</a:t>
            </a:r>
          </a:p>
          <a:p>
            <a:pPr marL="171450" indent="-171450">
              <a:buFont typeface="Arial" panose="020B0604020202020204" pitchFamily="34" charset="0"/>
              <a:buChar char="•"/>
            </a:pPr>
            <a:r>
              <a:rPr lang="en-US" sz="1200">
                <a:solidFill>
                  <a:schemeClr val="bg1"/>
                </a:solidFill>
                <a:latin typeface="+mn-lt"/>
              </a:rPr>
              <a:t>Ensure selection is passed as a pre-fill </a:t>
            </a:r>
          </a:p>
          <a:p>
            <a:pPr marL="171450" indent="-171450">
              <a:buFont typeface="Arial" panose="020B0604020202020204" pitchFamily="34" charset="0"/>
              <a:buChar char="•"/>
            </a:pPr>
            <a:r>
              <a:rPr lang="en-US" sz="1200">
                <a:solidFill>
                  <a:schemeClr val="bg1"/>
                </a:solidFill>
                <a:latin typeface="+mn-lt"/>
              </a:rPr>
              <a:t>ABC as an anchor link on current page or linking to more specific page</a:t>
            </a:r>
          </a:p>
          <a:p>
            <a:pPr marL="171450" indent="-171450">
              <a:buFont typeface="Arial" panose="020B0604020202020204" pitchFamily="34" charset="0"/>
              <a:buChar char="•"/>
            </a:pPr>
            <a:endParaRPr lang="en-US" sz="1200">
              <a:solidFill>
                <a:schemeClr val="bg1"/>
              </a:solidFill>
              <a:latin typeface="+mn-lt"/>
            </a:endParaRPr>
          </a:p>
          <a:p>
            <a:r>
              <a:rPr lang="en-US" sz="1200" b="1">
                <a:solidFill>
                  <a:schemeClr val="bg1"/>
                </a:solidFill>
                <a:latin typeface="+mn-lt"/>
              </a:rPr>
              <a:t>Rationale:</a:t>
            </a:r>
          </a:p>
          <a:p>
            <a:pPr marL="171450" indent="-171450">
              <a:buFont typeface="Arial" panose="020B0604020202020204" pitchFamily="34" charset="0"/>
              <a:buChar char="•"/>
            </a:pPr>
            <a:r>
              <a:rPr lang="en-US" sz="1200">
                <a:solidFill>
                  <a:schemeClr val="bg1"/>
                </a:solidFill>
                <a:latin typeface="+mn-lt"/>
              </a:rPr>
              <a:t>This is a winning concept from other clients (11% primary KPI lift)</a:t>
            </a:r>
          </a:p>
          <a:p>
            <a:pPr marL="171450" indent="-171450">
              <a:buFont typeface="Arial" panose="020B0604020202020204" pitchFamily="34" charset="0"/>
              <a:buChar char="•"/>
            </a:pPr>
            <a:r>
              <a:rPr lang="en-US" sz="1200">
                <a:solidFill>
                  <a:schemeClr val="bg1"/>
                </a:solidFill>
                <a:latin typeface="+mn-lt"/>
              </a:rPr>
              <a:t>Pre-selecting program of interest reduces requirements for engaging with a more complicated form</a:t>
            </a:r>
          </a:p>
          <a:p>
            <a:pPr marL="171450" indent="-171450">
              <a:buFont typeface="Arial" panose="020B0604020202020204" pitchFamily="34" charset="0"/>
              <a:buChar char="•"/>
            </a:pPr>
            <a:endParaRPr lang="en-US" sz="1200">
              <a:solidFill>
                <a:schemeClr val="bg1"/>
              </a:solidFill>
              <a:latin typeface="+mn-lt"/>
            </a:endParaRPr>
          </a:p>
          <a:p>
            <a:pPr>
              <a:lnSpc>
                <a:spcPct val="110000"/>
              </a:lnSpc>
            </a:pPr>
            <a:r>
              <a:rPr lang="en-US" sz="1200">
                <a:solidFill>
                  <a:schemeClr val="bg1"/>
                </a:solidFill>
                <a:latin typeface="+mn-lt"/>
              </a:rPr>
              <a:t>Estimated 12M Impact If Winner: 165 Apps</a:t>
            </a:r>
          </a:p>
        </p:txBody>
      </p:sp>
      <p:cxnSp>
        <p:nvCxnSpPr>
          <p:cNvPr id="3" name="Straight Connector 2">
            <a:extLst>
              <a:ext uri="{FF2B5EF4-FFF2-40B4-BE49-F238E27FC236}">
                <a16:creationId xmlns:a16="http://schemas.microsoft.com/office/drawing/2014/main" id="{ADEF2C9C-8022-354D-CC14-E5DF79A9AEDE}"/>
              </a:ext>
            </a:extLst>
          </p:cNvPr>
          <p:cNvCxnSpPr>
            <a:cxnSpLocks/>
          </p:cNvCxnSpPr>
          <p:nvPr/>
        </p:nvCxnSpPr>
        <p:spPr>
          <a:xfrm flipV="1">
            <a:off x="4320208" y="2330871"/>
            <a:ext cx="7612020" cy="0"/>
          </a:xfrm>
          <a:prstGeom prst="line">
            <a:avLst/>
          </a:prstGeom>
          <a:ln w="38100" cap="rnd">
            <a:solidFill>
              <a:schemeClr val="accent2"/>
            </a:solidFill>
            <a:prstDash val="solid"/>
            <a:round/>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3CBDCD9-79C9-CDD5-61AF-E926A8B5DF95}"/>
              </a:ext>
            </a:extLst>
          </p:cNvPr>
          <p:cNvSpPr txBox="1"/>
          <p:nvPr/>
        </p:nvSpPr>
        <p:spPr>
          <a:xfrm>
            <a:off x="4320208" y="1966525"/>
            <a:ext cx="1903956" cy="356636"/>
          </a:xfrm>
          <a:prstGeom prst="rect">
            <a:avLst/>
          </a:prstGeom>
          <a:noFill/>
        </p:spPr>
        <p:txBody>
          <a:bodyPr wrap="square" rtlCol="0">
            <a:spAutoFit/>
          </a:bodyPr>
          <a:lstStyle/>
          <a:p>
            <a:pPr algn="l">
              <a:lnSpc>
                <a:spcPct val="112000"/>
              </a:lnSpc>
            </a:pPr>
            <a:r>
              <a:rPr lang="en-US" sz="1600">
                <a:latin typeface="+mj-lt"/>
              </a:rPr>
              <a:t>Control</a:t>
            </a:r>
          </a:p>
        </p:txBody>
      </p:sp>
      <p:sp>
        <p:nvSpPr>
          <p:cNvPr id="9" name="TextBox 8">
            <a:extLst>
              <a:ext uri="{FF2B5EF4-FFF2-40B4-BE49-F238E27FC236}">
                <a16:creationId xmlns:a16="http://schemas.microsoft.com/office/drawing/2014/main" id="{784DE4BF-0C75-612A-6438-6476A97E856D}"/>
              </a:ext>
            </a:extLst>
          </p:cNvPr>
          <p:cNvSpPr txBox="1"/>
          <p:nvPr/>
        </p:nvSpPr>
        <p:spPr>
          <a:xfrm>
            <a:off x="8126218" y="1981946"/>
            <a:ext cx="1903956" cy="356636"/>
          </a:xfrm>
          <a:prstGeom prst="rect">
            <a:avLst/>
          </a:prstGeom>
          <a:noFill/>
        </p:spPr>
        <p:txBody>
          <a:bodyPr wrap="square" rtlCol="0">
            <a:spAutoFit/>
          </a:bodyPr>
          <a:lstStyle/>
          <a:p>
            <a:pPr algn="l">
              <a:lnSpc>
                <a:spcPct val="112000"/>
              </a:lnSpc>
            </a:pPr>
            <a:r>
              <a:rPr lang="en-US" sz="1600">
                <a:latin typeface="+mj-lt"/>
              </a:rPr>
              <a:t>Experiment</a:t>
            </a:r>
          </a:p>
        </p:txBody>
      </p:sp>
      <p:pic>
        <p:nvPicPr>
          <p:cNvPr id="14" name="Picture 13">
            <a:extLst>
              <a:ext uri="{FF2B5EF4-FFF2-40B4-BE49-F238E27FC236}">
                <a16:creationId xmlns:a16="http://schemas.microsoft.com/office/drawing/2014/main" id="{6CA16D99-D0F3-883D-AA6B-C56808FD901C}"/>
              </a:ext>
            </a:extLst>
          </p:cNvPr>
          <p:cNvPicPr>
            <a:picLocks noChangeAspect="1"/>
          </p:cNvPicPr>
          <p:nvPr/>
        </p:nvPicPr>
        <p:blipFill>
          <a:blip r:embed="rId4"/>
          <a:stretch>
            <a:fillRect/>
          </a:stretch>
        </p:blipFill>
        <p:spPr>
          <a:xfrm>
            <a:off x="4320208" y="2580112"/>
            <a:ext cx="3604592" cy="1723116"/>
          </a:xfrm>
          <a:prstGeom prst="rect">
            <a:avLst/>
          </a:prstGeom>
          <a:ln>
            <a:solidFill>
              <a:schemeClr val="tx1">
                <a:lumMod val="50000"/>
                <a:lumOff val="50000"/>
              </a:schemeClr>
            </a:solidFill>
          </a:ln>
        </p:spPr>
      </p:pic>
      <p:pic>
        <p:nvPicPr>
          <p:cNvPr id="11" name="Picture 10">
            <a:extLst>
              <a:ext uri="{FF2B5EF4-FFF2-40B4-BE49-F238E27FC236}">
                <a16:creationId xmlns:a16="http://schemas.microsoft.com/office/drawing/2014/main" id="{40E24433-2B88-3718-DB16-B768AA274848}"/>
              </a:ext>
            </a:extLst>
          </p:cNvPr>
          <p:cNvPicPr>
            <a:picLocks noChangeAspect="1"/>
          </p:cNvPicPr>
          <p:nvPr/>
        </p:nvPicPr>
        <p:blipFill>
          <a:blip r:embed="rId5"/>
          <a:stretch>
            <a:fillRect/>
          </a:stretch>
        </p:blipFill>
        <p:spPr>
          <a:xfrm>
            <a:off x="5790631" y="3779576"/>
            <a:ext cx="1196420" cy="2587533"/>
          </a:xfrm>
          <a:prstGeom prst="rect">
            <a:avLst/>
          </a:prstGeom>
          <a:ln>
            <a:solidFill>
              <a:schemeClr val="tx1">
                <a:lumMod val="50000"/>
                <a:lumOff val="50000"/>
              </a:schemeClr>
            </a:solidFill>
          </a:ln>
        </p:spPr>
      </p:pic>
      <p:pic>
        <p:nvPicPr>
          <p:cNvPr id="16" name="Picture 15">
            <a:extLst>
              <a:ext uri="{FF2B5EF4-FFF2-40B4-BE49-F238E27FC236}">
                <a16:creationId xmlns:a16="http://schemas.microsoft.com/office/drawing/2014/main" id="{3ACC8F5F-5185-AB46-D28B-57AF13819B5C}"/>
              </a:ext>
            </a:extLst>
          </p:cNvPr>
          <p:cNvPicPr>
            <a:picLocks noChangeAspect="1"/>
          </p:cNvPicPr>
          <p:nvPr/>
        </p:nvPicPr>
        <p:blipFill>
          <a:blip r:embed="rId4"/>
          <a:stretch>
            <a:fillRect/>
          </a:stretch>
        </p:blipFill>
        <p:spPr>
          <a:xfrm>
            <a:off x="8164664" y="2580112"/>
            <a:ext cx="3604592" cy="1723116"/>
          </a:xfrm>
          <a:prstGeom prst="rect">
            <a:avLst/>
          </a:prstGeom>
          <a:ln>
            <a:solidFill>
              <a:schemeClr val="tx1">
                <a:lumMod val="50000"/>
                <a:lumOff val="50000"/>
              </a:schemeClr>
            </a:solidFill>
          </a:ln>
        </p:spPr>
      </p:pic>
      <p:pic>
        <p:nvPicPr>
          <p:cNvPr id="17" name="Picture 16">
            <a:extLst>
              <a:ext uri="{FF2B5EF4-FFF2-40B4-BE49-F238E27FC236}">
                <a16:creationId xmlns:a16="http://schemas.microsoft.com/office/drawing/2014/main" id="{B7C1F551-41FE-9C7E-B106-6FB7F4A8F842}"/>
              </a:ext>
            </a:extLst>
          </p:cNvPr>
          <p:cNvPicPr>
            <a:picLocks noChangeAspect="1"/>
          </p:cNvPicPr>
          <p:nvPr/>
        </p:nvPicPr>
        <p:blipFill>
          <a:blip r:embed="rId5"/>
          <a:srcRect t="2087" b="-1"/>
          <a:stretch>
            <a:fillRect/>
          </a:stretch>
        </p:blipFill>
        <p:spPr>
          <a:xfrm>
            <a:off x="9635087" y="3833568"/>
            <a:ext cx="1196420" cy="2533541"/>
          </a:xfrm>
          <a:prstGeom prst="rect">
            <a:avLst/>
          </a:prstGeom>
          <a:ln>
            <a:solidFill>
              <a:schemeClr val="tx1">
                <a:lumMod val="50000"/>
                <a:lumOff val="50000"/>
              </a:schemeClr>
            </a:solidFill>
          </a:ln>
        </p:spPr>
      </p:pic>
      <p:pic>
        <p:nvPicPr>
          <p:cNvPr id="21" name="Picture 20">
            <a:extLst>
              <a:ext uri="{FF2B5EF4-FFF2-40B4-BE49-F238E27FC236}">
                <a16:creationId xmlns:a16="http://schemas.microsoft.com/office/drawing/2014/main" id="{0AF891AB-43DC-6655-0B04-FB226A9F85AC}"/>
              </a:ext>
            </a:extLst>
          </p:cNvPr>
          <p:cNvPicPr>
            <a:picLocks noChangeAspect="1"/>
          </p:cNvPicPr>
          <p:nvPr/>
        </p:nvPicPr>
        <p:blipFill>
          <a:blip r:embed="rId6"/>
          <a:stretch>
            <a:fillRect/>
          </a:stretch>
        </p:blipFill>
        <p:spPr>
          <a:xfrm>
            <a:off x="10917259" y="2601656"/>
            <a:ext cx="562799" cy="143322"/>
          </a:xfrm>
          <a:prstGeom prst="rect">
            <a:avLst/>
          </a:prstGeom>
        </p:spPr>
      </p:pic>
      <p:pic>
        <p:nvPicPr>
          <p:cNvPr id="23" name="Picture 22">
            <a:extLst>
              <a:ext uri="{FF2B5EF4-FFF2-40B4-BE49-F238E27FC236}">
                <a16:creationId xmlns:a16="http://schemas.microsoft.com/office/drawing/2014/main" id="{22E8B39F-EE7E-C16D-42A9-D771EEE4755C}"/>
              </a:ext>
            </a:extLst>
          </p:cNvPr>
          <p:cNvPicPr>
            <a:picLocks noChangeAspect="1"/>
          </p:cNvPicPr>
          <p:nvPr/>
        </p:nvPicPr>
        <p:blipFill>
          <a:blip r:embed="rId7"/>
          <a:stretch>
            <a:fillRect/>
          </a:stretch>
        </p:blipFill>
        <p:spPr>
          <a:xfrm>
            <a:off x="10765478" y="2620519"/>
            <a:ext cx="887166" cy="124459"/>
          </a:xfrm>
          <a:prstGeom prst="rect">
            <a:avLst/>
          </a:prstGeom>
        </p:spPr>
      </p:pic>
      <p:pic>
        <p:nvPicPr>
          <p:cNvPr id="26" name="Picture 25">
            <a:extLst>
              <a:ext uri="{FF2B5EF4-FFF2-40B4-BE49-F238E27FC236}">
                <a16:creationId xmlns:a16="http://schemas.microsoft.com/office/drawing/2014/main" id="{89EAEE90-4D7B-20EB-54B4-2DF31A836660}"/>
              </a:ext>
            </a:extLst>
          </p:cNvPr>
          <p:cNvPicPr>
            <a:picLocks noChangeAspect="1"/>
          </p:cNvPicPr>
          <p:nvPr/>
        </p:nvPicPr>
        <p:blipFill>
          <a:blip r:embed="rId8"/>
          <a:stretch>
            <a:fillRect/>
          </a:stretch>
        </p:blipFill>
        <p:spPr>
          <a:xfrm>
            <a:off x="10062493" y="2594186"/>
            <a:ext cx="771633" cy="124460"/>
          </a:xfrm>
          <a:prstGeom prst="rect">
            <a:avLst/>
          </a:prstGeom>
        </p:spPr>
      </p:pic>
      <p:pic>
        <p:nvPicPr>
          <p:cNvPr id="32" name="Picture 31">
            <a:extLst>
              <a:ext uri="{FF2B5EF4-FFF2-40B4-BE49-F238E27FC236}">
                <a16:creationId xmlns:a16="http://schemas.microsoft.com/office/drawing/2014/main" id="{B68ECDA3-FAB9-22A2-5CC9-949FA275E141}"/>
              </a:ext>
            </a:extLst>
          </p:cNvPr>
          <p:cNvPicPr>
            <a:picLocks noChangeAspect="1"/>
          </p:cNvPicPr>
          <p:nvPr/>
        </p:nvPicPr>
        <p:blipFill>
          <a:blip r:embed="rId9"/>
          <a:stretch>
            <a:fillRect/>
          </a:stretch>
        </p:blipFill>
        <p:spPr>
          <a:xfrm>
            <a:off x="9465011" y="2617445"/>
            <a:ext cx="956610" cy="122465"/>
          </a:xfrm>
          <a:prstGeom prst="rect">
            <a:avLst/>
          </a:prstGeom>
        </p:spPr>
      </p:pic>
      <p:pic>
        <p:nvPicPr>
          <p:cNvPr id="34" name="Picture 33">
            <a:extLst>
              <a:ext uri="{FF2B5EF4-FFF2-40B4-BE49-F238E27FC236}">
                <a16:creationId xmlns:a16="http://schemas.microsoft.com/office/drawing/2014/main" id="{30E24AD3-240A-D4C0-BE01-6753EA6F6436}"/>
              </a:ext>
            </a:extLst>
          </p:cNvPr>
          <p:cNvPicPr>
            <a:picLocks noChangeAspect="1"/>
          </p:cNvPicPr>
          <p:nvPr/>
        </p:nvPicPr>
        <p:blipFill>
          <a:blip r:embed="rId10"/>
          <a:stretch>
            <a:fillRect/>
          </a:stretch>
        </p:blipFill>
        <p:spPr>
          <a:xfrm>
            <a:off x="10042503" y="2609572"/>
            <a:ext cx="381499" cy="136013"/>
          </a:xfrm>
          <a:prstGeom prst="rect">
            <a:avLst/>
          </a:prstGeom>
        </p:spPr>
      </p:pic>
      <p:pic>
        <p:nvPicPr>
          <p:cNvPr id="41" name="Picture 40">
            <a:extLst>
              <a:ext uri="{FF2B5EF4-FFF2-40B4-BE49-F238E27FC236}">
                <a16:creationId xmlns:a16="http://schemas.microsoft.com/office/drawing/2014/main" id="{BB676CC2-CE9F-0489-EA62-32512EFA73BF}"/>
              </a:ext>
            </a:extLst>
          </p:cNvPr>
          <p:cNvPicPr>
            <a:picLocks noChangeAspect="1"/>
          </p:cNvPicPr>
          <p:nvPr/>
        </p:nvPicPr>
        <p:blipFill>
          <a:blip r:embed="rId11"/>
          <a:stretch>
            <a:fillRect/>
          </a:stretch>
        </p:blipFill>
        <p:spPr>
          <a:xfrm>
            <a:off x="10096765" y="3844982"/>
            <a:ext cx="106673" cy="95788"/>
          </a:xfrm>
          <a:prstGeom prst="rect">
            <a:avLst/>
          </a:prstGeom>
        </p:spPr>
      </p:pic>
      <p:pic>
        <p:nvPicPr>
          <p:cNvPr id="44" name="Picture 43">
            <a:extLst>
              <a:ext uri="{FF2B5EF4-FFF2-40B4-BE49-F238E27FC236}">
                <a16:creationId xmlns:a16="http://schemas.microsoft.com/office/drawing/2014/main" id="{1ABDE534-FDBA-3E42-3BBF-C41B5A7A5381}"/>
              </a:ext>
            </a:extLst>
          </p:cNvPr>
          <p:cNvPicPr>
            <a:picLocks noChangeAspect="1"/>
          </p:cNvPicPr>
          <p:nvPr/>
        </p:nvPicPr>
        <p:blipFill>
          <a:blip r:embed="rId12"/>
          <a:stretch>
            <a:fillRect/>
          </a:stretch>
        </p:blipFill>
        <p:spPr>
          <a:xfrm>
            <a:off x="10420143" y="3854555"/>
            <a:ext cx="381773" cy="68756"/>
          </a:xfrm>
          <a:prstGeom prst="rect">
            <a:avLst/>
          </a:prstGeom>
        </p:spPr>
      </p:pic>
      <p:sp>
        <p:nvSpPr>
          <p:cNvPr id="27" name="Rectangle 26">
            <a:extLst>
              <a:ext uri="{FF2B5EF4-FFF2-40B4-BE49-F238E27FC236}">
                <a16:creationId xmlns:a16="http://schemas.microsoft.com/office/drawing/2014/main" id="{64E5E296-0288-80B2-B70D-9408565118F7}"/>
              </a:ext>
            </a:extLst>
          </p:cNvPr>
          <p:cNvSpPr/>
          <p:nvPr/>
        </p:nvSpPr>
        <p:spPr>
          <a:xfrm>
            <a:off x="9294762" y="2506655"/>
            <a:ext cx="2589440" cy="345759"/>
          </a:xfrm>
          <a:prstGeom prst="rect">
            <a:avLst/>
          </a:prstGeom>
          <a:noFill/>
          <a:ln w="28575">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bg1"/>
              </a:solidFill>
              <a:latin typeface="Poppins SemiBold" panose="00000700000000000000" pitchFamily="2" charset="0"/>
              <a:cs typeface="Poppins SemiBold" panose="00000700000000000000" pitchFamily="2" charset="0"/>
            </a:endParaRPr>
          </a:p>
        </p:txBody>
      </p:sp>
      <p:pic>
        <p:nvPicPr>
          <p:cNvPr id="50" name="Picture 49">
            <a:extLst>
              <a:ext uri="{FF2B5EF4-FFF2-40B4-BE49-F238E27FC236}">
                <a16:creationId xmlns:a16="http://schemas.microsoft.com/office/drawing/2014/main" id="{66681DF3-28D9-2ED1-A19F-88DB0DD7C25F}"/>
              </a:ext>
            </a:extLst>
          </p:cNvPr>
          <p:cNvPicPr>
            <a:picLocks noChangeAspect="1"/>
          </p:cNvPicPr>
          <p:nvPr/>
        </p:nvPicPr>
        <p:blipFill>
          <a:blip r:embed="rId13"/>
          <a:stretch>
            <a:fillRect/>
          </a:stretch>
        </p:blipFill>
        <p:spPr>
          <a:xfrm>
            <a:off x="9637799" y="3833568"/>
            <a:ext cx="1193707" cy="344590"/>
          </a:xfrm>
          <a:prstGeom prst="rect">
            <a:avLst/>
          </a:prstGeom>
        </p:spPr>
      </p:pic>
      <p:sp>
        <p:nvSpPr>
          <p:cNvPr id="25" name="Rectangle 24">
            <a:extLst>
              <a:ext uri="{FF2B5EF4-FFF2-40B4-BE49-F238E27FC236}">
                <a16:creationId xmlns:a16="http://schemas.microsoft.com/office/drawing/2014/main" id="{29EAB4FC-5B8C-86DA-CC2C-62BD380141E6}"/>
              </a:ext>
            </a:extLst>
          </p:cNvPr>
          <p:cNvSpPr/>
          <p:nvPr/>
        </p:nvSpPr>
        <p:spPr>
          <a:xfrm>
            <a:off x="5748668" y="2477675"/>
            <a:ext cx="2117635" cy="345759"/>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bg1"/>
              </a:solidFill>
              <a:latin typeface="Poppins SemiBold" panose="00000700000000000000" pitchFamily="2" charset="0"/>
              <a:cs typeface="Poppins SemiBold" panose="00000700000000000000" pitchFamily="2" charset="0"/>
            </a:endParaRPr>
          </a:p>
        </p:txBody>
      </p:sp>
      <p:sp>
        <p:nvSpPr>
          <p:cNvPr id="51" name="Rectangle 50">
            <a:extLst>
              <a:ext uri="{FF2B5EF4-FFF2-40B4-BE49-F238E27FC236}">
                <a16:creationId xmlns:a16="http://schemas.microsoft.com/office/drawing/2014/main" id="{9FA1E2ED-EFE7-8FC2-9BC8-BBE45655B615}"/>
              </a:ext>
            </a:extLst>
          </p:cNvPr>
          <p:cNvSpPr/>
          <p:nvPr/>
        </p:nvSpPr>
        <p:spPr>
          <a:xfrm>
            <a:off x="9534144" y="3940770"/>
            <a:ext cx="1463040" cy="339825"/>
          </a:xfrm>
          <a:prstGeom prst="rect">
            <a:avLst/>
          </a:prstGeom>
          <a:noFill/>
          <a:ln w="28575">
            <a:solidFill>
              <a:srgbClr val="00B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bg1"/>
              </a:solidFill>
              <a:latin typeface="Poppins SemiBold" panose="00000700000000000000" pitchFamily="2" charset="0"/>
              <a:cs typeface="Poppins SemiBold" panose="00000700000000000000" pitchFamily="2" charset="0"/>
            </a:endParaRPr>
          </a:p>
        </p:txBody>
      </p:sp>
      <p:sp>
        <p:nvSpPr>
          <p:cNvPr id="52" name="Rectangle 51">
            <a:extLst>
              <a:ext uri="{FF2B5EF4-FFF2-40B4-BE49-F238E27FC236}">
                <a16:creationId xmlns:a16="http://schemas.microsoft.com/office/drawing/2014/main" id="{64F96940-AA2F-07DC-3348-F9EFAB126483}"/>
              </a:ext>
            </a:extLst>
          </p:cNvPr>
          <p:cNvSpPr/>
          <p:nvPr/>
        </p:nvSpPr>
        <p:spPr>
          <a:xfrm>
            <a:off x="5699900" y="3940770"/>
            <a:ext cx="1446187" cy="345759"/>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bg1"/>
              </a:solidFill>
              <a:latin typeface="Poppins SemiBold" panose="00000700000000000000" pitchFamily="2" charset="0"/>
              <a:cs typeface="Poppins SemiBold" panose="00000700000000000000" pitchFamily="2" charset="0"/>
            </a:endParaRPr>
          </a:p>
        </p:txBody>
      </p:sp>
      <p:sp>
        <p:nvSpPr>
          <p:cNvPr id="2" name="Rectangle: Top Corners Rounded 1">
            <a:extLst>
              <a:ext uri="{FF2B5EF4-FFF2-40B4-BE49-F238E27FC236}">
                <a16:creationId xmlns:a16="http://schemas.microsoft.com/office/drawing/2014/main" id="{3C51366A-5231-A3D0-C3DD-53CE4E21BC50}"/>
              </a:ext>
            </a:extLst>
          </p:cNvPr>
          <p:cNvSpPr/>
          <p:nvPr/>
        </p:nvSpPr>
        <p:spPr>
          <a:xfrm rot="10800000">
            <a:off x="0" y="935385"/>
            <a:ext cx="1178896" cy="371980"/>
          </a:xfrm>
          <a:prstGeom prst="round2Same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bg1"/>
              </a:solidFill>
              <a:latin typeface="Poppins SemiBold" panose="00000700000000000000" pitchFamily="2" charset="0"/>
              <a:cs typeface="Poppins SemiBold" panose="00000700000000000000" pitchFamily="2" charset="0"/>
            </a:endParaRPr>
          </a:p>
        </p:txBody>
      </p:sp>
      <p:sp>
        <p:nvSpPr>
          <p:cNvPr id="4" name="TextBox 3">
            <a:extLst>
              <a:ext uri="{FF2B5EF4-FFF2-40B4-BE49-F238E27FC236}">
                <a16:creationId xmlns:a16="http://schemas.microsoft.com/office/drawing/2014/main" id="{45773701-9FC7-472B-0F64-E4A238319930}"/>
              </a:ext>
            </a:extLst>
          </p:cNvPr>
          <p:cNvSpPr txBox="1"/>
          <p:nvPr/>
        </p:nvSpPr>
        <p:spPr>
          <a:xfrm>
            <a:off x="96350" y="925019"/>
            <a:ext cx="986193" cy="379271"/>
          </a:xfrm>
          <a:prstGeom prst="rect">
            <a:avLst/>
          </a:prstGeom>
          <a:noFill/>
        </p:spPr>
        <p:txBody>
          <a:bodyPr wrap="square" rtlCol="0">
            <a:spAutoFit/>
          </a:bodyPr>
          <a:lstStyle/>
          <a:p>
            <a:pPr algn="ctr">
              <a:lnSpc>
                <a:spcPct val="112000"/>
              </a:lnSpc>
            </a:pPr>
            <a:r>
              <a:rPr lang="en-US" sz="850">
                <a:solidFill>
                  <a:schemeClr val="bg1"/>
                </a:solidFill>
                <a:latin typeface="+mj-lt"/>
              </a:rPr>
              <a:t>Information Hierarchy</a:t>
            </a:r>
          </a:p>
        </p:txBody>
      </p:sp>
    </p:spTree>
    <p:extLst>
      <p:ext uri="{BB962C8B-B14F-4D97-AF65-F5344CB8AC3E}">
        <p14:creationId xmlns:p14="http://schemas.microsoft.com/office/powerpoint/2010/main" val="439122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58557-D7F8-C3F7-4289-7D5FF8F315EF}"/>
            </a:ext>
          </a:extLst>
        </p:cNvPr>
        <p:cNvGrpSpPr/>
        <p:nvPr/>
      </p:nvGrpSpPr>
      <p:grpSpPr>
        <a:xfrm>
          <a:off x="0" y="0"/>
          <a:ext cx="0" cy="0"/>
          <a:chOff x="0" y="0"/>
          <a:chExt cx="0" cy="0"/>
        </a:xfrm>
      </p:grpSpPr>
      <p:pic>
        <p:nvPicPr>
          <p:cNvPr id="44" name="Picture 43">
            <a:extLst>
              <a:ext uri="{FF2B5EF4-FFF2-40B4-BE49-F238E27FC236}">
                <a16:creationId xmlns:a16="http://schemas.microsoft.com/office/drawing/2014/main" id="{B10EBBD9-9D80-3B6A-7458-DE4EE5C0F208}"/>
              </a:ext>
            </a:extLst>
          </p:cNvPr>
          <p:cNvPicPr>
            <a:picLocks noChangeAspect="1"/>
          </p:cNvPicPr>
          <p:nvPr/>
        </p:nvPicPr>
        <p:blipFill>
          <a:blip r:embed="rId3"/>
          <a:stretch>
            <a:fillRect/>
          </a:stretch>
        </p:blipFill>
        <p:spPr>
          <a:xfrm>
            <a:off x="3249979" y="2560236"/>
            <a:ext cx="3912821" cy="1870460"/>
          </a:xfrm>
          <a:prstGeom prst="rect">
            <a:avLst/>
          </a:prstGeom>
          <a:ln>
            <a:solidFill>
              <a:schemeClr val="tx1">
                <a:lumMod val="50000"/>
                <a:lumOff val="50000"/>
              </a:schemeClr>
            </a:solidFill>
          </a:ln>
        </p:spPr>
      </p:pic>
      <p:pic>
        <p:nvPicPr>
          <p:cNvPr id="4" name="Picture 3">
            <a:extLst>
              <a:ext uri="{FF2B5EF4-FFF2-40B4-BE49-F238E27FC236}">
                <a16:creationId xmlns:a16="http://schemas.microsoft.com/office/drawing/2014/main" id="{0E064ADF-159A-093C-C301-730AC142AF80}"/>
              </a:ext>
            </a:extLst>
          </p:cNvPr>
          <p:cNvPicPr>
            <a:picLocks noChangeAspect="1"/>
          </p:cNvPicPr>
          <p:nvPr/>
        </p:nvPicPr>
        <p:blipFill>
          <a:blip r:embed="rId4"/>
          <a:stretch>
            <a:fillRect/>
          </a:stretch>
        </p:blipFill>
        <p:spPr>
          <a:xfrm>
            <a:off x="7791343" y="1595536"/>
            <a:ext cx="4178153" cy="2407210"/>
          </a:xfrm>
          <a:prstGeom prst="rect">
            <a:avLst/>
          </a:prstGeom>
          <a:ln>
            <a:solidFill>
              <a:schemeClr val="tx1">
                <a:lumMod val="50000"/>
                <a:lumOff val="50000"/>
              </a:schemeClr>
            </a:solidFill>
          </a:ln>
        </p:spPr>
      </p:pic>
      <p:pic>
        <p:nvPicPr>
          <p:cNvPr id="6" name="Picture 5">
            <a:extLst>
              <a:ext uri="{FF2B5EF4-FFF2-40B4-BE49-F238E27FC236}">
                <a16:creationId xmlns:a16="http://schemas.microsoft.com/office/drawing/2014/main" id="{01E37582-EA37-43A6-638E-D65CF7D87EF7}"/>
              </a:ext>
            </a:extLst>
          </p:cNvPr>
          <p:cNvPicPr>
            <a:picLocks noChangeAspect="1"/>
          </p:cNvPicPr>
          <p:nvPr/>
        </p:nvPicPr>
        <p:blipFill>
          <a:blip r:embed="rId5"/>
          <a:srcRect b="20864"/>
          <a:stretch>
            <a:fillRect/>
          </a:stretch>
        </p:blipFill>
        <p:spPr>
          <a:xfrm>
            <a:off x="0" y="0"/>
            <a:ext cx="12192000" cy="935385"/>
          </a:xfrm>
          <a:prstGeom prst="rect">
            <a:avLst/>
          </a:prstGeom>
        </p:spPr>
      </p:pic>
      <p:sp>
        <p:nvSpPr>
          <p:cNvPr id="7" name="Title 9">
            <a:extLst>
              <a:ext uri="{FF2B5EF4-FFF2-40B4-BE49-F238E27FC236}">
                <a16:creationId xmlns:a16="http://schemas.microsoft.com/office/drawing/2014/main" id="{A274BD41-F0DA-342A-4A24-DEFAD4C99445}"/>
              </a:ext>
            </a:extLst>
          </p:cNvPr>
          <p:cNvSpPr txBox="1">
            <a:spLocks/>
          </p:cNvSpPr>
          <p:nvPr/>
        </p:nvSpPr>
        <p:spPr>
          <a:xfrm>
            <a:off x="474620" y="226142"/>
            <a:ext cx="11242760" cy="576055"/>
          </a:xfrm>
          <a:prstGeom prst="rect">
            <a:avLst/>
          </a:prstGeom>
        </p:spPr>
        <p:txBody>
          <a:bodyPr wrap="square" tIns="91440" bIns="91440">
            <a:spAutoFit/>
          </a:bodyPr>
          <a:lstStyle>
            <a:lvl1pPr marL="0" algn="ctr" defTabSz="914400" rtl="0" eaLnBrk="1" latinLnBrk="0" hangingPunct="1">
              <a:lnSpc>
                <a:spcPct val="90000"/>
              </a:lnSpc>
              <a:spcBef>
                <a:spcPct val="0"/>
              </a:spcBef>
              <a:buNone/>
              <a:defRPr lang="en-US" sz="2800" b="1" i="0" kern="1200">
                <a:solidFill>
                  <a:schemeClr val="accent2"/>
                </a:solidFill>
                <a:latin typeface="Poppins SemiBold" pitchFamily="2" charset="77"/>
                <a:ea typeface="+mj-ea"/>
                <a:cs typeface="Poppins SemiBold" pitchFamily="2" charset="77"/>
              </a:defRPr>
            </a:lvl1pPr>
          </a:lstStyle>
          <a:p>
            <a:pPr lvl="0" algn="l">
              <a:spcAft>
                <a:spcPts val="600"/>
              </a:spcAft>
              <a:defRPr/>
            </a:pPr>
            <a:r>
              <a:rPr lang="en-US">
                <a:solidFill>
                  <a:srgbClr val="FFFFFF"/>
                </a:solidFill>
                <a:latin typeface="Poppins"/>
                <a:cs typeface="Poppins" panose="00000500000000000000" pitchFamily="2" charset="0"/>
              </a:rPr>
              <a:t>Content Progression Engages Researching Users</a:t>
            </a:r>
          </a:p>
        </p:txBody>
      </p:sp>
      <p:sp>
        <p:nvSpPr>
          <p:cNvPr id="15" name="Title 1">
            <a:extLst>
              <a:ext uri="{FF2B5EF4-FFF2-40B4-BE49-F238E27FC236}">
                <a16:creationId xmlns:a16="http://schemas.microsoft.com/office/drawing/2014/main" id="{852AF122-78D4-2F57-9D7D-248C35FB3D56}"/>
              </a:ext>
            </a:extLst>
          </p:cNvPr>
          <p:cNvSpPr txBox="1">
            <a:spLocks/>
          </p:cNvSpPr>
          <p:nvPr/>
        </p:nvSpPr>
        <p:spPr>
          <a:xfrm>
            <a:off x="1026565" y="1930939"/>
            <a:ext cx="2941322" cy="427809"/>
          </a:xfrm>
          <a:prstGeom prst="rect">
            <a:avLst/>
          </a:prstGeom>
        </p:spPr>
        <p:txBody>
          <a:bodyPr vert="horz" wrap="square" lIns="91440" tIns="45720" rIns="91440" bIns="45720" rtlCol="0" anchor="t">
            <a:spAutoFit/>
          </a:bodyPr>
          <a:lstStyle>
            <a:lvl1pPr algn="l" defTabSz="914377" rtl="0" eaLnBrk="1" latinLnBrk="0" hangingPunct="1">
              <a:lnSpc>
                <a:spcPct val="90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r>
              <a:rPr lang="en-US" sz="2400">
                <a:solidFill>
                  <a:schemeClr val="bg1"/>
                </a:solidFill>
              </a:rPr>
              <a:t>Week 0-2 </a:t>
            </a:r>
          </a:p>
        </p:txBody>
      </p:sp>
      <p:sp>
        <p:nvSpPr>
          <p:cNvPr id="10" name="Freeform: Shape 9">
            <a:extLst>
              <a:ext uri="{FF2B5EF4-FFF2-40B4-BE49-F238E27FC236}">
                <a16:creationId xmlns:a16="http://schemas.microsoft.com/office/drawing/2014/main" id="{5CDE1BD6-5F35-A7BB-15F1-6496CE1E224B}"/>
              </a:ext>
            </a:extLst>
          </p:cNvPr>
          <p:cNvSpPr/>
          <p:nvPr/>
        </p:nvSpPr>
        <p:spPr>
          <a:xfrm rot="16200000">
            <a:off x="-952192" y="2506890"/>
            <a:ext cx="5012897" cy="2991710"/>
          </a:xfrm>
          <a:custGeom>
            <a:avLst/>
            <a:gdLst>
              <a:gd name="connsiteX0" fmla="*/ 0 w 2590496"/>
              <a:gd name="connsiteY0" fmla="*/ 129525 h 4256475"/>
              <a:gd name="connsiteX1" fmla="*/ 129525 w 2590496"/>
              <a:gd name="connsiteY1" fmla="*/ 0 h 4256475"/>
              <a:gd name="connsiteX2" fmla="*/ 2460971 w 2590496"/>
              <a:gd name="connsiteY2" fmla="*/ 0 h 4256475"/>
              <a:gd name="connsiteX3" fmla="*/ 2590496 w 2590496"/>
              <a:gd name="connsiteY3" fmla="*/ 129525 h 4256475"/>
              <a:gd name="connsiteX4" fmla="*/ 2590496 w 2590496"/>
              <a:gd name="connsiteY4" fmla="*/ 4126950 h 4256475"/>
              <a:gd name="connsiteX5" fmla="*/ 2460971 w 2590496"/>
              <a:gd name="connsiteY5" fmla="*/ 4256475 h 4256475"/>
              <a:gd name="connsiteX6" fmla="*/ 129525 w 2590496"/>
              <a:gd name="connsiteY6" fmla="*/ 4256475 h 4256475"/>
              <a:gd name="connsiteX7" fmla="*/ 0 w 2590496"/>
              <a:gd name="connsiteY7" fmla="*/ 4126950 h 4256475"/>
              <a:gd name="connsiteX8" fmla="*/ 0 w 2590496"/>
              <a:gd name="connsiteY8" fmla="*/ 129525 h 4256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90496" h="4256475">
                <a:moveTo>
                  <a:pt x="2511667" y="1"/>
                </a:moveTo>
                <a:cubicBezTo>
                  <a:pt x="2555203" y="1"/>
                  <a:pt x="2590496" y="95285"/>
                  <a:pt x="2590496" y="212825"/>
                </a:cubicBezTo>
                <a:lnTo>
                  <a:pt x="2590496" y="4043650"/>
                </a:lnTo>
                <a:cubicBezTo>
                  <a:pt x="2590496" y="4161190"/>
                  <a:pt x="2555203" y="4256474"/>
                  <a:pt x="2511667" y="4256474"/>
                </a:cubicBezTo>
                <a:lnTo>
                  <a:pt x="78829" y="4256474"/>
                </a:lnTo>
                <a:cubicBezTo>
                  <a:pt x="35293" y="4256474"/>
                  <a:pt x="0" y="4161190"/>
                  <a:pt x="0" y="4043650"/>
                </a:cubicBezTo>
                <a:lnTo>
                  <a:pt x="0" y="212825"/>
                </a:lnTo>
                <a:cubicBezTo>
                  <a:pt x="0" y="95285"/>
                  <a:pt x="35293" y="1"/>
                  <a:pt x="78829" y="1"/>
                </a:cubicBezTo>
                <a:lnTo>
                  <a:pt x="2511667" y="1"/>
                </a:lnTo>
                <a:close/>
              </a:path>
            </a:pathLst>
          </a:custGeom>
          <a:solidFill>
            <a:schemeClr val="accent1">
              <a:lumMod val="50000"/>
            </a:schemeClr>
          </a:solidFill>
        </p:spPr>
        <p:style>
          <a:lnRef idx="2">
            <a:schemeClr val="lt1">
              <a:hueOff val="0"/>
              <a:satOff val="0"/>
              <a:lumOff val="0"/>
              <a:alphaOff val="0"/>
            </a:schemeClr>
          </a:lnRef>
          <a:fillRef idx="1">
            <a:scrgbClr r="0" g="0" b="0"/>
          </a:fillRef>
          <a:effectRef idx="0">
            <a:schemeClr val="accent1">
              <a:shade val="50000"/>
              <a:hueOff val="0"/>
              <a:satOff val="0"/>
              <a:lumOff val="0"/>
              <a:alphaOff val="0"/>
            </a:schemeClr>
          </a:effectRef>
          <a:fontRef idx="minor">
            <a:schemeClr val="lt1"/>
          </a:fontRef>
        </p:style>
        <p:txBody>
          <a:bodyPr spcFirstLastPara="0" vert="horz" wrap="square" lIns="766165" tIns="82297" rIns="106681" bIns="2072396" numCol="1" spcCol="1270" anchor="t" anchorCtr="0">
            <a:noAutofit/>
          </a:bodyPr>
          <a:lstStyle/>
          <a:p>
            <a:pPr marL="0" lvl="0" indent="0" algn="r" defTabSz="1066800">
              <a:lnSpc>
                <a:spcPct val="90000"/>
              </a:lnSpc>
              <a:spcBef>
                <a:spcPct val="0"/>
              </a:spcBef>
              <a:spcAft>
                <a:spcPct val="35000"/>
              </a:spcAft>
              <a:buNone/>
            </a:pPr>
            <a:endParaRPr lang="en-US" sz="2400" kern="1200">
              <a:solidFill>
                <a:srgbClr val="197EBF"/>
              </a:solidFill>
            </a:endParaRPr>
          </a:p>
        </p:txBody>
      </p:sp>
      <p:sp>
        <p:nvSpPr>
          <p:cNvPr id="31" name="Title 1">
            <a:extLst>
              <a:ext uri="{FF2B5EF4-FFF2-40B4-BE49-F238E27FC236}">
                <a16:creationId xmlns:a16="http://schemas.microsoft.com/office/drawing/2014/main" id="{80440DB2-F488-CA6F-9FE4-8D7CAB734348}"/>
              </a:ext>
            </a:extLst>
          </p:cNvPr>
          <p:cNvSpPr txBox="1">
            <a:spLocks/>
          </p:cNvSpPr>
          <p:nvPr/>
        </p:nvSpPr>
        <p:spPr>
          <a:xfrm>
            <a:off x="79272" y="1633579"/>
            <a:ext cx="2872155" cy="427809"/>
          </a:xfrm>
          <a:prstGeom prst="rect">
            <a:avLst/>
          </a:prstGeom>
        </p:spPr>
        <p:txBody>
          <a:bodyPr vert="horz" wrap="square" lIns="91440" tIns="45720" rIns="91440" bIns="45720" rtlCol="0" anchor="t">
            <a:spAutoFit/>
          </a:bodyPr>
          <a:lstStyle>
            <a:lvl1pPr algn="l" defTabSz="914377" rtl="0" eaLnBrk="1" latinLnBrk="0" hangingPunct="1">
              <a:lnSpc>
                <a:spcPct val="90000"/>
              </a:lnSpc>
              <a:spcBef>
                <a:spcPct val="0"/>
              </a:spcBef>
              <a:buNone/>
              <a:defRPr sz="3200" b="1" kern="1200">
                <a:solidFill>
                  <a:schemeClr val="accent4"/>
                </a:solidFill>
                <a:latin typeface="Poppins" panose="00000500000000000000" pitchFamily="2" charset="0"/>
                <a:ea typeface="+mj-ea"/>
                <a:cs typeface="Poppins" panose="00000500000000000000" pitchFamily="2" charset="0"/>
              </a:defRPr>
            </a:lvl1pPr>
          </a:lstStyle>
          <a:p>
            <a:pPr algn="ctr"/>
            <a:r>
              <a:rPr lang="en-US" sz="2400">
                <a:solidFill>
                  <a:schemeClr val="bg1"/>
                </a:solidFill>
              </a:rPr>
              <a:t>Concept</a:t>
            </a:r>
          </a:p>
        </p:txBody>
      </p:sp>
      <p:sp>
        <p:nvSpPr>
          <p:cNvPr id="36" name="TextBox 35">
            <a:extLst>
              <a:ext uri="{FF2B5EF4-FFF2-40B4-BE49-F238E27FC236}">
                <a16:creationId xmlns:a16="http://schemas.microsoft.com/office/drawing/2014/main" id="{B508A09C-7F1B-F594-3B5E-562B0D27912B}"/>
              </a:ext>
            </a:extLst>
          </p:cNvPr>
          <p:cNvSpPr txBox="1"/>
          <p:nvPr/>
        </p:nvSpPr>
        <p:spPr>
          <a:xfrm>
            <a:off x="87992" y="2058872"/>
            <a:ext cx="2941322" cy="4350422"/>
          </a:xfrm>
          <a:prstGeom prst="rect">
            <a:avLst/>
          </a:prstGeom>
          <a:noFill/>
        </p:spPr>
        <p:txBody>
          <a:bodyPr wrap="square">
            <a:spAutoFit/>
          </a:bodyPr>
          <a:lstStyle/>
          <a:p>
            <a:pPr lvl="0">
              <a:lnSpc>
                <a:spcPct val="110000"/>
              </a:lnSpc>
            </a:pPr>
            <a:r>
              <a:rPr lang="en-US" sz="1200" b="1">
                <a:solidFill>
                  <a:schemeClr val="bg1"/>
                </a:solidFill>
                <a:latin typeface="+mn-lt"/>
              </a:rPr>
              <a:t>Primary focus:</a:t>
            </a:r>
            <a:endParaRPr lang="en-US" sz="1200">
              <a:solidFill>
                <a:schemeClr val="bg1"/>
              </a:solidFill>
              <a:latin typeface="+mn-lt"/>
            </a:endParaRPr>
          </a:p>
          <a:p>
            <a:pPr marL="171450" indent="-171450">
              <a:lnSpc>
                <a:spcPct val="110000"/>
              </a:lnSpc>
              <a:buFont typeface="Arial" panose="020B0604020202020204" pitchFamily="34" charset="0"/>
              <a:buChar char="•"/>
            </a:pPr>
            <a:r>
              <a:rPr lang="en-US" sz="1200">
                <a:solidFill>
                  <a:schemeClr val="bg1"/>
                </a:solidFill>
                <a:latin typeface="+mn-lt"/>
              </a:rPr>
              <a:t>On Higher level pages (Core, tech, business and health), link to the most relevant specific topic page to engage researching users in the upper funnel with progressive learning and avoid frustration and abandonment</a:t>
            </a:r>
          </a:p>
          <a:p>
            <a:pPr marL="171450" indent="-171450">
              <a:lnSpc>
                <a:spcPct val="110000"/>
              </a:lnSpc>
              <a:buFont typeface="Arial" panose="020B0604020202020204" pitchFamily="34" charset="0"/>
              <a:buChar char="•"/>
            </a:pPr>
            <a:endParaRPr lang="en-US" sz="1200">
              <a:solidFill>
                <a:schemeClr val="bg1"/>
              </a:solidFill>
              <a:latin typeface="+mn-lt"/>
            </a:endParaRPr>
          </a:p>
          <a:p>
            <a:pPr>
              <a:lnSpc>
                <a:spcPct val="110000"/>
              </a:lnSpc>
            </a:pPr>
            <a:r>
              <a:rPr lang="en-US" sz="1200" b="1">
                <a:solidFill>
                  <a:schemeClr val="bg1"/>
                </a:solidFill>
                <a:latin typeface="+mn-lt"/>
              </a:rPr>
              <a:t>Rationale:</a:t>
            </a:r>
          </a:p>
          <a:p>
            <a:pPr marL="171450" indent="-171450">
              <a:lnSpc>
                <a:spcPct val="110000"/>
              </a:lnSpc>
              <a:buFont typeface="Arial" panose="020B0604020202020204" pitchFamily="34" charset="0"/>
              <a:buChar char="•"/>
            </a:pPr>
            <a:r>
              <a:rPr lang="en-US" sz="1200">
                <a:solidFill>
                  <a:schemeClr val="bg1"/>
                </a:solidFill>
                <a:latin typeface="+mn-lt"/>
              </a:rPr>
              <a:t>Progressive specificity is in place on major competitors like ASU (</a:t>
            </a:r>
            <a:r>
              <a:rPr lang="en-US" sz="1200">
                <a:solidFill>
                  <a:schemeClr val="bg1"/>
                </a:solidFill>
                <a:latin typeface="+mn-lt"/>
                <a:hlinkClick r:id="rId6">
                  <a:extLst>
                    <a:ext uri="{A12FA001-AC4F-418D-AE19-62706E023703}">
                      <ahyp:hlinkClr xmlns:ahyp="http://schemas.microsoft.com/office/drawing/2018/hyperlinkcolor" val="tx"/>
                    </a:ext>
                  </a:extLst>
                </a:hlinkClick>
              </a:rPr>
              <a:t>Link</a:t>
            </a:r>
            <a:r>
              <a:rPr lang="en-US" sz="1200">
                <a:solidFill>
                  <a:schemeClr val="bg1"/>
                </a:solidFill>
                <a:latin typeface="+mn-lt"/>
              </a:rPr>
              <a:t>), University of Phoenix (</a:t>
            </a:r>
            <a:r>
              <a:rPr lang="en-US" sz="1200">
                <a:solidFill>
                  <a:schemeClr val="bg1"/>
                </a:solidFill>
                <a:latin typeface="+mn-lt"/>
                <a:hlinkClick r:id="rId7">
                  <a:extLst>
                    <a:ext uri="{A12FA001-AC4F-418D-AE19-62706E023703}">
                      <ahyp:hlinkClr xmlns:ahyp="http://schemas.microsoft.com/office/drawing/2018/hyperlinkcolor" val="tx"/>
                    </a:ext>
                  </a:extLst>
                </a:hlinkClick>
              </a:rPr>
              <a:t>Link</a:t>
            </a:r>
            <a:r>
              <a:rPr lang="en-US" sz="1200">
                <a:solidFill>
                  <a:schemeClr val="bg1"/>
                </a:solidFill>
                <a:latin typeface="+mn-lt"/>
              </a:rPr>
              <a:t>) in a similar hierarchy, Colorado State (</a:t>
            </a:r>
            <a:r>
              <a:rPr lang="en-US" sz="1200">
                <a:solidFill>
                  <a:schemeClr val="bg1"/>
                </a:solidFill>
                <a:latin typeface="+mn-lt"/>
                <a:hlinkClick r:id="rId8">
                  <a:extLst>
                    <a:ext uri="{A12FA001-AC4F-418D-AE19-62706E023703}">
                      <ahyp:hlinkClr xmlns:ahyp="http://schemas.microsoft.com/office/drawing/2018/hyperlinkcolor" val="tx"/>
                    </a:ext>
                  </a:extLst>
                </a:hlinkClick>
              </a:rPr>
              <a:t>Link</a:t>
            </a:r>
            <a:r>
              <a:rPr lang="en-US" sz="1200">
                <a:solidFill>
                  <a:schemeClr val="bg1"/>
                </a:solidFill>
                <a:latin typeface="+mn-lt"/>
              </a:rPr>
              <a:t>) and Walden (</a:t>
            </a:r>
            <a:r>
              <a:rPr lang="en-US" sz="1200">
                <a:solidFill>
                  <a:schemeClr val="bg1"/>
                </a:solidFill>
                <a:latin typeface="+mn-lt"/>
                <a:hlinkClick r:id="rId9">
                  <a:extLst>
                    <a:ext uri="{A12FA001-AC4F-418D-AE19-62706E023703}">
                      <ahyp:hlinkClr xmlns:ahyp="http://schemas.microsoft.com/office/drawing/2018/hyperlinkcolor" val="tx"/>
                    </a:ext>
                  </a:extLst>
                </a:hlinkClick>
              </a:rPr>
              <a:t>Link</a:t>
            </a:r>
            <a:r>
              <a:rPr lang="en-US" sz="1200">
                <a:solidFill>
                  <a:schemeClr val="bg1"/>
                </a:solidFill>
                <a:latin typeface="+mn-lt"/>
              </a:rPr>
              <a:t>)</a:t>
            </a:r>
          </a:p>
          <a:p>
            <a:pPr marL="171450" indent="-171450">
              <a:lnSpc>
                <a:spcPct val="110000"/>
              </a:lnSpc>
              <a:buFont typeface="Arial" panose="020B0604020202020204" pitchFamily="34" charset="0"/>
              <a:buChar char="•"/>
            </a:pPr>
            <a:r>
              <a:rPr lang="en-US" sz="1200">
                <a:solidFill>
                  <a:schemeClr val="bg1"/>
                </a:solidFill>
                <a:latin typeface="+mn-lt"/>
              </a:rPr>
              <a:t>Specific queries to specific LPs convert 44% better than specific queries to broad LPs</a:t>
            </a:r>
          </a:p>
          <a:p>
            <a:pPr>
              <a:lnSpc>
                <a:spcPct val="110000"/>
              </a:lnSpc>
            </a:pPr>
            <a:endParaRPr lang="en-US" sz="1200">
              <a:solidFill>
                <a:schemeClr val="bg1"/>
              </a:solidFill>
              <a:latin typeface="+mn-lt"/>
            </a:endParaRPr>
          </a:p>
          <a:p>
            <a:pPr>
              <a:lnSpc>
                <a:spcPct val="110000"/>
              </a:lnSpc>
            </a:pPr>
            <a:r>
              <a:rPr lang="en-US" sz="1200">
                <a:solidFill>
                  <a:schemeClr val="bg1"/>
                </a:solidFill>
                <a:latin typeface="+mn-lt"/>
              </a:rPr>
              <a:t>Estimated 12M Impact If Winner: 351 Apps</a:t>
            </a:r>
          </a:p>
        </p:txBody>
      </p:sp>
      <p:cxnSp>
        <p:nvCxnSpPr>
          <p:cNvPr id="3" name="Straight Connector 2">
            <a:extLst>
              <a:ext uri="{FF2B5EF4-FFF2-40B4-BE49-F238E27FC236}">
                <a16:creationId xmlns:a16="http://schemas.microsoft.com/office/drawing/2014/main" id="{600DF1C9-28D3-0C3D-ED00-A25A3DA28E06}"/>
              </a:ext>
            </a:extLst>
          </p:cNvPr>
          <p:cNvCxnSpPr>
            <a:cxnSpLocks/>
          </p:cNvCxnSpPr>
          <p:nvPr/>
        </p:nvCxnSpPr>
        <p:spPr>
          <a:xfrm flipV="1">
            <a:off x="3241216" y="1540964"/>
            <a:ext cx="8728280" cy="7710"/>
          </a:xfrm>
          <a:prstGeom prst="line">
            <a:avLst/>
          </a:prstGeom>
          <a:ln w="38100" cap="rnd">
            <a:solidFill>
              <a:schemeClr val="accent2"/>
            </a:solidFill>
            <a:prstDash val="solid"/>
            <a:round/>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857C301-132C-DD69-81C3-95AF8C6175A2}"/>
              </a:ext>
            </a:extLst>
          </p:cNvPr>
          <p:cNvSpPr txBox="1"/>
          <p:nvPr/>
        </p:nvSpPr>
        <p:spPr>
          <a:xfrm>
            <a:off x="3241216" y="1184328"/>
            <a:ext cx="1903956" cy="356636"/>
          </a:xfrm>
          <a:prstGeom prst="rect">
            <a:avLst/>
          </a:prstGeom>
          <a:noFill/>
        </p:spPr>
        <p:txBody>
          <a:bodyPr wrap="square" rtlCol="0">
            <a:spAutoFit/>
          </a:bodyPr>
          <a:lstStyle/>
          <a:p>
            <a:pPr algn="l">
              <a:lnSpc>
                <a:spcPct val="112000"/>
              </a:lnSpc>
            </a:pPr>
            <a:r>
              <a:rPr lang="en-US" sz="1600">
                <a:latin typeface="+mj-lt"/>
              </a:rPr>
              <a:t>Control</a:t>
            </a:r>
          </a:p>
        </p:txBody>
      </p:sp>
      <p:sp>
        <p:nvSpPr>
          <p:cNvPr id="9" name="TextBox 8">
            <a:extLst>
              <a:ext uri="{FF2B5EF4-FFF2-40B4-BE49-F238E27FC236}">
                <a16:creationId xmlns:a16="http://schemas.microsoft.com/office/drawing/2014/main" id="{7D41EFD6-387C-FB1E-79AD-8D830FDC3E39}"/>
              </a:ext>
            </a:extLst>
          </p:cNvPr>
          <p:cNvSpPr txBox="1"/>
          <p:nvPr/>
        </p:nvSpPr>
        <p:spPr>
          <a:xfrm>
            <a:off x="7779708" y="1199749"/>
            <a:ext cx="1903956" cy="356636"/>
          </a:xfrm>
          <a:prstGeom prst="rect">
            <a:avLst/>
          </a:prstGeom>
          <a:noFill/>
        </p:spPr>
        <p:txBody>
          <a:bodyPr wrap="square" rtlCol="0">
            <a:spAutoFit/>
          </a:bodyPr>
          <a:lstStyle/>
          <a:p>
            <a:pPr algn="l">
              <a:lnSpc>
                <a:spcPct val="112000"/>
              </a:lnSpc>
            </a:pPr>
            <a:r>
              <a:rPr lang="en-US" sz="1600">
                <a:latin typeface="+mj-lt"/>
              </a:rPr>
              <a:t>Experiment</a:t>
            </a:r>
          </a:p>
        </p:txBody>
      </p:sp>
      <p:cxnSp>
        <p:nvCxnSpPr>
          <p:cNvPr id="14" name="Straight Arrow Connector 13">
            <a:extLst>
              <a:ext uri="{FF2B5EF4-FFF2-40B4-BE49-F238E27FC236}">
                <a16:creationId xmlns:a16="http://schemas.microsoft.com/office/drawing/2014/main" id="{3477A574-C45A-22EB-FBFE-441C5E04278D}"/>
              </a:ext>
            </a:extLst>
          </p:cNvPr>
          <p:cNvCxnSpPr>
            <a:cxnSpLocks/>
            <a:endCxn id="47" idx="0"/>
          </p:cNvCxnSpPr>
          <p:nvPr/>
        </p:nvCxnSpPr>
        <p:spPr>
          <a:xfrm>
            <a:off x="4510743" y="4225691"/>
            <a:ext cx="695647" cy="361176"/>
          </a:xfrm>
          <a:prstGeom prst="straightConnector1">
            <a:avLst/>
          </a:prstGeom>
          <a:ln w="19050" cap="rnd">
            <a:solidFill>
              <a:schemeClr val="accent2"/>
            </a:solidFill>
            <a:prstDash val="solid"/>
            <a:round/>
            <a:tailEnd type="triangle"/>
          </a:ln>
        </p:spPr>
        <p:style>
          <a:lnRef idx="1">
            <a:schemeClr val="accent1"/>
          </a:lnRef>
          <a:fillRef idx="0">
            <a:schemeClr val="accent1"/>
          </a:fillRef>
          <a:effectRef idx="0">
            <a:schemeClr val="accent1"/>
          </a:effectRef>
          <a:fontRef idx="minor">
            <a:schemeClr val="tx1"/>
          </a:fontRef>
        </p:style>
      </p:cxnSp>
      <p:pic>
        <p:nvPicPr>
          <p:cNvPr id="42" name="Picture 41">
            <a:extLst>
              <a:ext uri="{FF2B5EF4-FFF2-40B4-BE49-F238E27FC236}">
                <a16:creationId xmlns:a16="http://schemas.microsoft.com/office/drawing/2014/main" id="{C14491EB-64BB-0FEE-71E2-168C1D7BCA17}"/>
              </a:ext>
            </a:extLst>
          </p:cNvPr>
          <p:cNvPicPr>
            <a:picLocks noChangeAspect="1"/>
          </p:cNvPicPr>
          <p:nvPr/>
        </p:nvPicPr>
        <p:blipFill>
          <a:blip r:embed="rId10"/>
          <a:stretch>
            <a:fillRect/>
          </a:stretch>
        </p:blipFill>
        <p:spPr>
          <a:xfrm>
            <a:off x="11416063" y="4878647"/>
            <a:ext cx="687945" cy="1488462"/>
          </a:xfrm>
          <a:prstGeom prst="rect">
            <a:avLst/>
          </a:prstGeom>
          <a:ln>
            <a:solidFill>
              <a:schemeClr val="tx1">
                <a:lumMod val="50000"/>
                <a:lumOff val="50000"/>
              </a:schemeClr>
            </a:solidFill>
          </a:ln>
        </p:spPr>
      </p:pic>
      <p:cxnSp>
        <p:nvCxnSpPr>
          <p:cNvPr id="2" name="Straight Arrow Connector 1">
            <a:extLst>
              <a:ext uri="{FF2B5EF4-FFF2-40B4-BE49-F238E27FC236}">
                <a16:creationId xmlns:a16="http://schemas.microsoft.com/office/drawing/2014/main" id="{8687FB11-E053-EDA6-F8C0-F1D7E51FF14B}"/>
              </a:ext>
            </a:extLst>
          </p:cNvPr>
          <p:cNvCxnSpPr>
            <a:cxnSpLocks/>
            <a:endCxn id="42" idx="0"/>
          </p:cNvCxnSpPr>
          <p:nvPr/>
        </p:nvCxnSpPr>
        <p:spPr>
          <a:xfrm>
            <a:off x="11540228" y="3027853"/>
            <a:ext cx="219808" cy="1850794"/>
          </a:xfrm>
          <a:prstGeom prst="straightConnector1">
            <a:avLst/>
          </a:prstGeom>
          <a:ln w="19050" cap="rnd">
            <a:solidFill>
              <a:schemeClr val="accent2"/>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0B58A42-71D8-0292-798F-08FB0CF6EF85}"/>
              </a:ext>
            </a:extLst>
          </p:cNvPr>
          <p:cNvCxnSpPr>
            <a:cxnSpLocks/>
            <a:endCxn id="37" idx="0"/>
          </p:cNvCxnSpPr>
          <p:nvPr/>
        </p:nvCxnSpPr>
        <p:spPr>
          <a:xfrm>
            <a:off x="10199284" y="3027853"/>
            <a:ext cx="852999" cy="1850794"/>
          </a:xfrm>
          <a:prstGeom prst="straightConnector1">
            <a:avLst/>
          </a:prstGeom>
          <a:ln w="19050" cap="rnd">
            <a:solidFill>
              <a:schemeClr val="accent2"/>
            </a:solidFill>
            <a:prstDash val="solid"/>
            <a:round/>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17D8C8D-5B86-7AE3-1F2B-ADBFBEEF538A}"/>
              </a:ext>
            </a:extLst>
          </p:cNvPr>
          <p:cNvCxnSpPr>
            <a:cxnSpLocks/>
            <a:endCxn id="39" idx="0"/>
          </p:cNvCxnSpPr>
          <p:nvPr/>
        </p:nvCxnSpPr>
        <p:spPr>
          <a:xfrm>
            <a:off x="8905201" y="3027853"/>
            <a:ext cx="1444621" cy="1850793"/>
          </a:xfrm>
          <a:prstGeom prst="straightConnector1">
            <a:avLst/>
          </a:prstGeom>
          <a:ln w="19050" cap="rnd">
            <a:solidFill>
              <a:schemeClr val="accent2"/>
            </a:solidFill>
            <a:prstDash val="solid"/>
            <a:round/>
            <a:tailEnd type="triangle"/>
          </a:ln>
        </p:spPr>
        <p:style>
          <a:lnRef idx="1">
            <a:schemeClr val="accent1"/>
          </a:lnRef>
          <a:fillRef idx="0">
            <a:schemeClr val="accent1"/>
          </a:fillRef>
          <a:effectRef idx="0">
            <a:schemeClr val="accent1"/>
          </a:effectRef>
          <a:fontRef idx="minor">
            <a:schemeClr val="tx1"/>
          </a:fontRef>
        </p:style>
      </p:cxnSp>
      <p:pic>
        <p:nvPicPr>
          <p:cNvPr id="37" name="Picture 36">
            <a:extLst>
              <a:ext uri="{FF2B5EF4-FFF2-40B4-BE49-F238E27FC236}">
                <a16:creationId xmlns:a16="http://schemas.microsoft.com/office/drawing/2014/main" id="{5AEC4856-1E96-5682-7976-3B51AA379207}"/>
              </a:ext>
            </a:extLst>
          </p:cNvPr>
          <p:cNvPicPr>
            <a:picLocks noChangeAspect="1"/>
          </p:cNvPicPr>
          <p:nvPr/>
        </p:nvPicPr>
        <p:blipFill>
          <a:blip r:embed="rId11"/>
          <a:stretch>
            <a:fillRect/>
          </a:stretch>
        </p:blipFill>
        <p:spPr>
          <a:xfrm>
            <a:off x="10708166" y="4878647"/>
            <a:ext cx="688233" cy="1488461"/>
          </a:xfrm>
          <a:prstGeom prst="rect">
            <a:avLst/>
          </a:prstGeom>
          <a:ln>
            <a:solidFill>
              <a:schemeClr val="tx1">
                <a:lumMod val="50000"/>
                <a:lumOff val="50000"/>
              </a:schemeClr>
            </a:solidFill>
          </a:ln>
        </p:spPr>
      </p:pic>
      <p:pic>
        <p:nvPicPr>
          <p:cNvPr id="39" name="Picture 38">
            <a:extLst>
              <a:ext uri="{FF2B5EF4-FFF2-40B4-BE49-F238E27FC236}">
                <a16:creationId xmlns:a16="http://schemas.microsoft.com/office/drawing/2014/main" id="{0A96AFA9-D19D-0173-7776-5FED6B4EBAC9}"/>
              </a:ext>
            </a:extLst>
          </p:cNvPr>
          <p:cNvPicPr>
            <a:picLocks noChangeAspect="1"/>
          </p:cNvPicPr>
          <p:nvPr/>
        </p:nvPicPr>
        <p:blipFill>
          <a:blip r:embed="rId12"/>
          <a:stretch>
            <a:fillRect/>
          </a:stretch>
        </p:blipFill>
        <p:spPr>
          <a:xfrm>
            <a:off x="10005705" y="4878646"/>
            <a:ext cx="688233" cy="1488461"/>
          </a:xfrm>
          <a:prstGeom prst="rect">
            <a:avLst/>
          </a:prstGeom>
          <a:ln>
            <a:solidFill>
              <a:schemeClr val="tx1">
                <a:lumMod val="50000"/>
                <a:lumOff val="50000"/>
              </a:schemeClr>
            </a:solidFill>
          </a:ln>
        </p:spPr>
      </p:pic>
      <p:pic>
        <p:nvPicPr>
          <p:cNvPr id="40" name="Picture 39">
            <a:extLst>
              <a:ext uri="{FF2B5EF4-FFF2-40B4-BE49-F238E27FC236}">
                <a16:creationId xmlns:a16="http://schemas.microsoft.com/office/drawing/2014/main" id="{717FA9C0-AB63-6DA7-585E-528D6367F741}"/>
              </a:ext>
            </a:extLst>
          </p:cNvPr>
          <p:cNvPicPr>
            <a:picLocks noChangeAspect="1"/>
          </p:cNvPicPr>
          <p:nvPr/>
        </p:nvPicPr>
        <p:blipFill>
          <a:blip r:embed="rId13"/>
          <a:stretch>
            <a:fillRect/>
          </a:stretch>
        </p:blipFill>
        <p:spPr>
          <a:xfrm>
            <a:off x="3245533" y="1626615"/>
            <a:ext cx="2488012" cy="881080"/>
          </a:xfrm>
          <a:prstGeom prst="rect">
            <a:avLst/>
          </a:prstGeom>
        </p:spPr>
      </p:pic>
      <p:cxnSp>
        <p:nvCxnSpPr>
          <p:cNvPr id="41" name="Straight Arrow Connector 40">
            <a:extLst>
              <a:ext uri="{FF2B5EF4-FFF2-40B4-BE49-F238E27FC236}">
                <a16:creationId xmlns:a16="http://schemas.microsoft.com/office/drawing/2014/main" id="{1BDC9EE6-0737-EEB5-16DA-E16E91A7A557}"/>
              </a:ext>
            </a:extLst>
          </p:cNvPr>
          <p:cNvCxnSpPr>
            <a:cxnSpLocks/>
          </p:cNvCxnSpPr>
          <p:nvPr/>
        </p:nvCxnSpPr>
        <p:spPr>
          <a:xfrm>
            <a:off x="4467584" y="2219960"/>
            <a:ext cx="407197" cy="753354"/>
          </a:xfrm>
          <a:prstGeom prst="straightConnector1">
            <a:avLst/>
          </a:prstGeom>
          <a:ln w="19050" cap="rnd">
            <a:solidFill>
              <a:schemeClr val="accent2"/>
            </a:solidFill>
            <a:prstDash val="solid"/>
            <a:round/>
            <a:tailEnd type="triangle"/>
          </a:ln>
        </p:spPr>
        <p:style>
          <a:lnRef idx="1">
            <a:schemeClr val="accent1"/>
          </a:lnRef>
          <a:fillRef idx="0">
            <a:schemeClr val="accent1"/>
          </a:fillRef>
          <a:effectRef idx="0">
            <a:schemeClr val="accent1"/>
          </a:effectRef>
          <a:fontRef idx="minor">
            <a:schemeClr val="tx1"/>
          </a:fontRef>
        </p:style>
      </p:cxnSp>
      <p:pic>
        <p:nvPicPr>
          <p:cNvPr id="47" name="Picture 46">
            <a:extLst>
              <a:ext uri="{FF2B5EF4-FFF2-40B4-BE49-F238E27FC236}">
                <a16:creationId xmlns:a16="http://schemas.microsoft.com/office/drawing/2014/main" id="{B814CD3A-24A5-9381-4326-9D5588E54226}"/>
              </a:ext>
            </a:extLst>
          </p:cNvPr>
          <p:cNvPicPr>
            <a:picLocks noChangeAspect="1"/>
          </p:cNvPicPr>
          <p:nvPr/>
        </p:nvPicPr>
        <p:blipFill>
          <a:blip r:embed="rId14"/>
          <a:stretch>
            <a:fillRect/>
          </a:stretch>
        </p:blipFill>
        <p:spPr>
          <a:xfrm>
            <a:off x="3249979" y="4586867"/>
            <a:ext cx="3912821" cy="1870459"/>
          </a:xfrm>
          <a:prstGeom prst="rect">
            <a:avLst/>
          </a:prstGeom>
          <a:ln>
            <a:solidFill>
              <a:schemeClr val="tx1">
                <a:lumMod val="50000"/>
                <a:lumOff val="50000"/>
              </a:schemeClr>
            </a:solidFill>
          </a:ln>
        </p:spPr>
      </p:pic>
      <p:pic>
        <p:nvPicPr>
          <p:cNvPr id="50" name="Picture 49">
            <a:extLst>
              <a:ext uri="{FF2B5EF4-FFF2-40B4-BE49-F238E27FC236}">
                <a16:creationId xmlns:a16="http://schemas.microsoft.com/office/drawing/2014/main" id="{B81F9C35-7287-10EF-6BEB-A4A5E689B2C6}"/>
              </a:ext>
            </a:extLst>
          </p:cNvPr>
          <p:cNvPicPr>
            <a:picLocks noChangeAspect="1"/>
          </p:cNvPicPr>
          <p:nvPr/>
        </p:nvPicPr>
        <p:blipFill>
          <a:blip r:embed="rId15"/>
          <a:stretch>
            <a:fillRect/>
          </a:stretch>
        </p:blipFill>
        <p:spPr>
          <a:xfrm>
            <a:off x="11252688" y="1618961"/>
            <a:ext cx="716808" cy="1354353"/>
          </a:xfrm>
          <a:prstGeom prst="rect">
            <a:avLst/>
          </a:prstGeom>
          <a:ln>
            <a:solidFill>
              <a:schemeClr val="tx1">
                <a:lumMod val="50000"/>
                <a:lumOff val="50000"/>
              </a:schemeClr>
            </a:solidFill>
          </a:ln>
        </p:spPr>
      </p:pic>
      <p:pic>
        <p:nvPicPr>
          <p:cNvPr id="52" name="Picture 51">
            <a:extLst>
              <a:ext uri="{FF2B5EF4-FFF2-40B4-BE49-F238E27FC236}">
                <a16:creationId xmlns:a16="http://schemas.microsoft.com/office/drawing/2014/main" id="{75FCEB34-07D5-6C37-11F5-76F2D95B435B}"/>
              </a:ext>
            </a:extLst>
          </p:cNvPr>
          <p:cNvPicPr>
            <a:picLocks noChangeAspect="1"/>
          </p:cNvPicPr>
          <p:nvPr/>
        </p:nvPicPr>
        <p:blipFill>
          <a:blip r:embed="rId16"/>
          <a:stretch>
            <a:fillRect/>
          </a:stretch>
        </p:blipFill>
        <p:spPr>
          <a:xfrm>
            <a:off x="7779708" y="4359732"/>
            <a:ext cx="2075604" cy="1728965"/>
          </a:xfrm>
          <a:prstGeom prst="rect">
            <a:avLst/>
          </a:prstGeom>
          <a:ln>
            <a:solidFill>
              <a:schemeClr val="tx1">
                <a:lumMod val="50000"/>
                <a:lumOff val="50000"/>
              </a:schemeClr>
            </a:solidFill>
          </a:ln>
        </p:spPr>
      </p:pic>
      <p:cxnSp>
        <p:nvCxnSpPr>
          <p:cNvPr id="57" name="Straight Arrow Connector 56">
            <a:extLst>
              <a:ext uri="{FF2B5EF4-FFF2-40B4-BE49-F238E27FC236}">
                <a16:creationId xmlns:a16="http://schemas.microsoft.com/office/drawing/2014/main" id="{DF284A7A-2829-30D1-A5C8-1A7E3FFEFB2A}"/>
              </a:ext>
            </a:extLst>
          </p:cNvPr>
          <p:cNvCxnSpPr>
            <a:cxnSpLocks/>
            <a:endCxn id="39" idx="1"/>
          </p:cNvCxnSpPr>
          <p:nvPr/>
        </p:nvCxnSpPr>
        <p:spPr>
          <a:xfrm>
            <a:off x="9078191" y="5622876"/>
            <a:ext cx="927514" cy="1"/>
          </a:xfrm>
          <a:prstGeom prst="straightConnector1">
            <a:avLst/>
          </a:prstGeom>
          <a:ln w="19050" cap="rnd">
            <a:solidFill>
              <a:schemeClr val="accent2"/>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BC5B1EFB-E790-4F18-928B-6BCB6FEEB80C}"/>
              </a:ext>
            </a:extLst>
          </p:cNvPr>
          <p:cNvSpPr txBox="1"/>
          <p:nvPr/>
        </p:nvSpPr>
        <p:spPr>
          <a:xfrm>
            <a:off x="7105040" y="1636171"/>
            <a:ext cx="732371" cy="429861"/>
          </a:xfrm>
          <a:prstGeom prst="rect">
            <a:avLst/>
          </a:prstGeom>
          <a:noFill/>
        </p:spPr>
        <p:txBody>
          <a:bodyPr wrap="square" rtlCol="0">
            <a:spAutoFit/>
          </a:bodyPr>
          <a:lstStyle/>
          <a:p>
            <a:pPr algn="l">
              <a:lnSpc>
                <a:spcPct val="112000"/>
              </a:lnSpc>
            </a:pPr>
            <a:r>
              <a:rPr lang="en-US" sz="1000">
                <a:latin typeface="+mn-lt"/>
              </a:rPr>
              <a:t>Option 1 (reco)</a:t>
            </a:r>
          </a:p>
        </p:txBody>
      </p:sp>
      <p:sp>
        <p:nvSpPr>
          <p:cNvPr id="61" name="TextBox 60">
            <a:extLst>
              <a:ext uri="{FF2B5EF4-FFF2-40B4-BE49-F238E27FC236}">
                <a16:creationId xmlns:a16="http://schemas.microsoft.com/office/drawing/2014/main" id="{0F978D0B-673F-F400-D468-87391CD4021B}"/>
              </a:ext>
            </a:extLst>
          </p:cNvPr>
          <p:cNvSpPr txBox="1"/>
          <p:nvPr/>
        </p:nvSpPr>
        <p:spPr>
          <a:xfrm>
            <a:off x="7579632" y="4094363"/>
            <a:ext cx="1043363" cy="257506"/>
          </a:xfrm>
          <a:prstGeom prst="rect">
            <a:avLst/>
          </a:prstGeom>
          <a:noFill/>
        </p:spPr>
        <p:txBody>
          <a:bodyPr wrap="square" rtlCol="0">
            <a:spAutoFit/>
          </a:bodyPr>
          <a:lstStyle/>
          <a:p>
            <a:pPr algn="l">
              <a:lnSpc>
                <a:spcPct val="112000"/>
              </a:lnSpc>
            </a:pPr>
            <a:r>
              <a:rPr lang="en-US" sz="1000">
                <a:latin typeface="+mn-lt"/>
              </a:rPr>
              <a:t>Option 2</a:t>
            </a:r>
          </a:p>
        </p:txBody>
      </p:sp>
      <p:cxnSp>
        <p:nvCxnSpPr>
          <p:cNvPr id="62" name="Straight Arrow Connector 61">
            <a:extLst>
              <a:ext uri="{FF2B5EF4-FFF2-40B4-BE49-F238E27FC236}">
                <a16:creationId xmlns:a16="http://schemas.microsoft.com/office/drawing/2014/main" id="{907AFC9B-2B62-B89F-5037-07EB2B3963C5}"/>
              </a:ext>
            </a:extLst>
          </p:cNvPr>
          <p:cNvCxnSpPr>
            <a:cxnSpLocks/>
          </p:cNvCxnSpPr>
          <p:nvPr/>
        </p:nvCxnSpPr>
        <p:spPr>
          <a:xfrm>
            <a:off x="4510743" y="2219960"/>
            <a:ext cx="3280600" cy="152400"/>
          </a:xfrm>
          <a:prstGeom prst="straightConnector1">
            <a:avLst/>
          </a:prstGeom>
          <a:ln w="19050" cap="rnd">
            <a:solidFill>
              <a:schemeClr val="accent2"/>
            </a:solidFill>
            <a:prstDash val="solid"/>
            <a:round/>
            <a:tailEnd type="triangle"/>
          </a:ln>
        </p:spPr>
        <p:style>
          <a:lnRef idx="1">
            <a:schemeClr val="accent1"/>
          </a:lnRef>
          <a:fillRef idx="0">
            <a:schemeClr val="accent1"/>
          </a:fillRef>
          <a:effectRef idx="0">
            <a:schemeClr val="accent1"/>
          </a:effectRef>
          <a:fontRef idx="minor">
            <a:schemeClr val="tx1"/>
          </a:fontRef>
        </p:style>
      </p:cxnSp>
      <p:sp>
        <p:nvSpPr>
          <p:cNvPr id="8" name="Rectangle: Top Corners Rounded 7">
            <a:extLst>
              <a:ext uri="{FF2B5EF4-FFF2-40B4-BE49-F238E27FC236}">
                <a16:creationId xmlns:a16="http://schemas.microsoft.com/office/drawing/2014/main" id="{5D8B1B9F-A59E-0451-302F-739A792C0B3B}"/>
              </a:ext>
            </a:extLst>
          </p:cNvPr>
          <p:cNvSpPr/>
          <p:nvPr/>
        </p:nvSpPr>
        <p:spPr>
          <a:xfrm rot="10800000">
            <a:off x="0" y="935385"/>
            <a:ext cx="1178896" cy="371980"/>
          </a:xfrm>
          <a:prstGeom prst="round2Same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solidFill>
                <a:schemeClr val="bg1"/>
              </a:solidFill>
              <a:latin typeface="Poppins SemiBold" panose="00000700000000000000" pitchFamily="2" charset="0"/>
              <a:cs typeface="Poppins SemiBold" panose="00000700000000000000" pitchFamily="2" charset="0"/>
            </a:endParaRPr>
          </a:p>
        </p:txBody>
      </p:sp>
      <p:sp>
        <p:nvSpPr>
          <p:cNvPr id="11" name="TextBox 10">
            <a:extLst>
              <a:ext uri="{FF2B5EF4-FFF2-40B4-BE49-F238E27FC236}">
                <a16:creationId xmlns:a16="http://schemas.microsoft.com/office/drawing/2014/main" id="{10BE5427-52A0-1265-740A-72A4FCACA2AC}"/>
              </a:ext>
            </a:extLst>
          </p:cNvPr>
          <p:cNvSpPr txBox="1"/>
          <p:nvPr/>
        </p:nvSpPr>
        <p:spPr>
          <a:xfrm>
            <a:off x="96350" y="925019"/>
            <a:ext cx="986193" cy="379271"/>
          </a:xfrm>
          <a:prstGeom prst="rect">
            <a:avLst/>
          </a:prstGeom>
          <a:noFill/>
        </p:spPr>
        <p:txBody>
          <a:bodyPr wrap="square" rtlCol="0">
            <a:spAutoFit/>
          </a:bodyPr>
          <a:lstStyle/>
          <a:p>
            <a:pPr algn="ctr">
              <a:lnSpc>
                <a:spcPct val="112000"/>
              </a:lnSpc>
            </a:pPr>
            <a:r>
              <a:rPr lang="en-US" sz="850">
                <a:solidFill>
                  <a:schemeClr val="bg1"/>
                </a:solidFill>
                <a:latin typeface="+mj-lt"/>
              </a:rPr>
              <a:t>Information Hierarchy</a:t>
            </a:r>
          </a:p>
        </p:txBody>
      </p:sp>
    </p:spTree>
    <p:extLst>
      <p:ext uri="{BB962C8B-B14F-4D97-AF65-F5344CB8AC3E}">
        <p14:creationId xmlns:p14="http://schemas.microsoft.com/office/powerpoint/2010/main" val="9286344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LUS_ID" val="title"/>
</p:tagLst>
</file>

<file path=ppt/theme/theme1.xml><?xml version="1.0" encoding="utf-8"?>
<a:theme xmlns:a="http://schemas.openxmlformats.org/drawingml/2006/main" name="1_Sharkninja">
  <a:themeElements>
    <a:clrScheme name="SharkNinja">
      <a:dk1>
        <a:srgbClr val="000000"/>
      </a:dk1>
      <a:lt1>
        <a:srgbClr val="FFFFFF"/>
      </a:lt1>
      <a:dk2>
        <a:srgbClr val="54575B"/>
      </a:dk2>
      <a:lt2>
        <a:srgbClr val="E7E6E6"/>
      </a:lt2>
      <a:accent1>
        <a:srgbClr val="00A29E"/>
      </a:accent1>
      <a:accent2>
        <a:srgbClr val="006A66"/>
      </a:accent2>
      <a:accent3>
        <a:srgbClr val="F5F5F5"/>
      </a:accent3>
      <a:accent4>
        <a:srgbClr val="C2C961"/>
      </a:accent4>
      <a:accent5>
        <a:srgbClr val="ED8236"/>
      </a:accent5>
      <a:accent6>
        <a:srgbClr val="1AC0EE"/>
      </a:accent6>
      <a:hlink>
        <a:srgbClr val="00A29E"/>
      </a:hlink>
      <a:folHlink>
        <a:srgbClr val="006A67"/>
      </a:folHlink>
    </a:clrScheme>
    <a:fontScheme name="Poppins">
      <a:majorFont>
        <a:latin typeface="Poppins Bold"/>
        <a:ea typeface=""/>
        <a:cs typeface=""/>
      </a:majorFont>
      <a:minorFont>
        <a:latin typeface="Poppi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spPr>
      <a:bodyPr rtlCol="0" anchor="ctr"/>
      <a:lstStyle>
        <a:defPPr algn="ctr">
          <a:defRPr sz="1600" b="1" dirty="0" smtClean="0">
            <a:latin typeface="Poppins SemiBold" pitchFamily="2" charset="77"/>
            <a:cs typeface="Poppins SemiBold" pitchFamily="2" charset="77"/>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bg1">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91440" tIns="91440" rIns="91440" bIns="91440" rtlCol="0">
        <a:spAutoFit/>
      </a:bodyPr>
      <a:lstStyle>
        <a:defPPr marL="0" marR="0" indent="0" algn="l" defTabSz="914400" rtl="0" eaLnBrk="1" fontAlgn="base" latinLnBrk="0" hangingPunct="1">
          <a:lnSpc>
            <a:spcPct val="112000"/>
          </a:lnSpc>
          <a:spcBef>
            <a:spcPct val="0"/>
          </a:spcBef>
          <a:spcAft>
            <a:spcPct val="0"/>
          </a:spcAft>
          <a:buClr>
            <a:srgbClr val="442735"/>
          </a:buClr>
          <a:buSzTx/>
          <a:buFontTx/>
          <a:buNone/>
          <a:tabLst/>
          <a:defRPr kumimoji="0" sz="1400" b="0" i="0" u="none" strike="noStrike" kern="1200" cap="none" spc="0" normalizeH="0" baseline="0" noProof="0" dirty="0">
            <a:ln>
              <a:noFill/>
            </a:ln>
            <a:solidFill>
              <a:schemeClr val="tx2"/>
            </a:solidFill>
            <a:effectLst/>
            <a:uLnTx/>
            <a:uFillTx/>
            <a:latin typeface="Avenir Next LT Pro" panose="020B0504020202020204" pitchFamily="34" charset="77"/>
            <a:ea typeface="+mn-ea"/>
            <a:cs typeface="+mn-cs"/>
          </a:defRPr>
        </a:defPPr>
      </a:lstStyle>
    </a:txDef>
  </a:objectDefaults>
  <a:extraClrSchemeLst/>
  <a:extLst>
    <a:ext uri="{05A4C25C-085E-4340-85A3-A5531E510DB2}">
      <thm15:themeFamily xmlns:thm15="http://schemas.microsoft.com/office/thememl/2012/main" name="Sharkninja" id="{ADD008D2-7F49-5547-B82C-540BB4DA0115}" vid="{29EA7BCC-7BED-A14C-8744-B152912B37DA}"/>
    </a:ext>
  </a:extLst>
</a:theme>
</file>

<file path=ppt/theme/theme2.xml><?xml version="1.0" encoding="utf-8"?>
<a:theme xmlns:a="http://schemas.openxmlformats.org/drawingml/2006/main" name="Devry">
  <a:themeElements>
    <a:clrScheme name="Devry">
      <a:dk1>
        <a:srgbClr val="000000"/>
      </a:dk1>
      <a:lt1>
        <a:srgbClr val="FFFFFF"/>
      </a:lt1>
      <a:dk2>
        <a:srgbClr val="000000"/>
      </a:dk2>
      <a:lt2>
        <a:srgbClr val="E7E6E6"/>
      </a:lt2>
      <a:accent1>
        <a:srgbClr val="0059FF"/>
      </a:accent1>
      <a:accent2>
        <a:srgbClr val="01239A"/>
      </a:accent2>
      <a:accent3>
        <a:srgbClr val="FFE200"/>
      </a:accent3>
      <a:accent4>
        <a:srgbClr val="C9D6E5"/>
      </a:accent4>
      <a:accent5>
        <a:srgbClr val="CCE8FF"/>
      </a:accent5>
      <a:accent6>
        <a:srgbClr val="F5F2EE"/>
      </a:accent6>
      <a:hlink>
        <a:srgbClr val="01239A"/>
      </a:hlink>
      <a:folHlink>
        <a:srgbClr val="FFE200"/>
      </a:folHlink>
    </a:clrScheme>
    <a:fontScheme name="Poppins">
      <a:majorFont>
        <a:latin typeface="Poppins SemiBold"/>
        <a:ea typeface=""/>
        <a:cs typeface=""/>
      </a:majorFont>
      <a:minorFont>
        <a:latin typeface="Poppi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B050"/>
        </a:solidFill>
        <a:ln>
          <a:noFill/>
        </a:ln>
      </a:spPr>
      <a:bodyPr rtlCol="0" anchor="ctr"/>
      <a:lstStyle>
        <a:defPPr algn="ctr">
          <a:defRPr sz="1400" dirty="0" err="1">
            <a:solidFill>
              <a:schemeClr val="bg1"/>
            </a:solidFill>
            <a:latin typeface="Poppins SemiBold" panose="00000700000000000000" pitchFamily="2" charset="0"/>
            <a:cs typeface="Poppins SemiBold" panose="000007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9050" cap="rnd">
          <a:solidFill>
            <a:schemeClr val="bg1">
              <a:lumMod val="85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lnSpc>
            <a:spcPct val="112000"/>
          </a:lnSpc>
          <a:defRPr sz="1600" dirty="0" err="1" smtClean="0">
            <a:latin typeface="Univers Condensed Light" panose="020B030602020204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Devry">
  <a:themeElements>
    <a:clrScheme name="Devry">
      <a:dk1>
        <a:srgbClr val="000000"/>
      </a:dk1>
      <a:lt1>
        <a:srgbClr val="FFFFFF"/>
      </a:lt1>
      <a:dk2>
        <a:srgbClr val="000000"/>
      </a:dk2>
      <a:lt2>
        <a:srgbClr val="E7E6E6"/>
      </a:lt2>
      <a:accent1>
        <a:srgbClr val="0059FF"/>
      </a:accent1>
      <a:accent2>
        <a:srgbClr val="01239A"/>
      </a:accent2>
      <a:accent3>
        <a:srgbClr val="FFE200"/>
      </a:accent3>
      <a:accent4>
        <a:srgbClr val="C9D6E5"/>
      </a:accent4>
      <a:accent5>
        <a:srgbClr val="CCE8FF"/>
      </a:accent5>
      <a:accent6>
        <a:srgbClr val="F5F2EE"/>
      </a:accent6>
      <a:hlink>
        <a:srgbClr val="01239A"/>
      </a:hlink>
      <a:folHlink>
        <a:srgbClr val="FFE200"/>
      </a:folHlink>
    </a:clrScheme>
    <a:fontScheme name="Poppins">
      <a:majorFont>
        <a:latin typeface="Poppins SemiBold"/>
        <a:ea typeface=""/>
        <a:cs typeface=""/>
      </a:majorFont>
      <a:minorFont>
        <a:latin typeface="Poppi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sz="1400" dirty="0" err="1" smtClean="0">
            <a:solidFill>
              <a:schemeClr val="bg1"/>
            </a:solidFill>
            <a:latin typeface="Poppins SemiBold" panose="00000700000000000000" pitchFamily="2" charset="0"/>
            <a:cs typeface="Poppins SemiBold" panose="000007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9050" cap="rnd">
          <a:solidFill>
            <a:schemeClr val="bg1">
              <a:lumMod val="85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lnSpc>
            <a:spcPct val="112000"/>
          </a:lnSpc>
          <a:defRPr sz="1600" dirty="0" err="1" smtClean="0">
            <a:latin typeface="Univers Condensed Light" panose="020B030602020204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5">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EC4BADD6-BBF1-4377-8BF7-126DD54970C7}">
  <we:reference id="WA200007130" version="1.0.0.1" store="Omex" storeType="OMEX"/>
  <we:alternateReferences>
    <we:reference id="WA200007130" version="1.0.0.1" store="WA200007130"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B00A7371-A4F5-4EC0-9452-89006C7B2801}">
  <we:reference id="WA200010001" version="1.0.0.1" store="Omex" storeType="OMEX"/>
  <we:alternateReferences>
    <we:reference id="WA200010001" version="1.0.0.1" store="WA200010001" storeType="OMEX"/>
  </we:alternateReferences>
  <we:properties>
    <we:property name="claude.fileId" value="&quot;cfbe5ca9-404a-4e7e-8195-a0ec1ec58460&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E02F0EA130091489E3146B467F55735" ma:contentTypeVersion="21" ma:contentTypeDescription="Create a new document." ma:contentTypeScope="" ma:versionID="f9ddfaacf6d7b5e5843bc722112eec3e">
  <xsd:schema xmlns:xsd="http://www.w3.org/2001/XMLSchema" xmlns:xs="http://www.w3.org/2001/XMLSchema" xmlns:p="http://schemas.microsoft.com/office/2006/metadata/properties" xmlns:ns2="2644a2af-62a5-4e8d-98dc-8a79b8aeb8cb" xmlns:ns3="0938163b-3131-4d51-8c32-57a4c87c7dcf" targetNamespace="http://schemas.microsoft.com/office/2006/metadata/properties" ma:root="true" ma:fieldsID="5d69f62928b4928ab2d5c89c2d6ddfd5" ns2:_="" ns3:_="">
    <xsd:import namespace="2644a2af-62a5-4e8d-98dc-8a79b8aeb8cb"/>
    <xsd:import namespace="0938163b-3131-4d51-8c32-57a4c87c7dc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lcf76f155ced4ddcb4097134ff3c332f" minOccurs="0"/>
                <xsd:element ref="ns3:TaxCatchAll" minOccurs="0"/>
                <xsd:element ref="ns2:MediaServiceSearchProperties" minOccurs="0"/>
                <xsd:element ref="ns2:Client_x002d_Facing"/>
                <xsd:element ref="ns2:MediaServiceObjectDetectorVersion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44a2af-62a5-4e8d-98dc-8a79b8aeb8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81f119d9-9750-42cd-a5ee-7af4dcc4525e" ma:termSetId="09814cd3-568e-fe90-9814-8d621ff8fb84" ma:anchorId="fba54fb3-c3e1-fe81-a776-ca4b69148c4d" ma:open="true" ma:isKeyword="false">
      <xsd:complexType>
        <xsd:sequence>
          <xsd:element ref="pc:Terms" minOccurs="0" maxOccurs="1"/>
        </xsd:sequence>
      </xsd:complexType>
    </xsd:element>
    <xsd:element name="MediaServiceSearchProperties" ma:index="22" nillable="true" ma:displayName="MediaServiceSearchProperties" ma:hidden="true" ma:internalName="MediaServiceSearchProperties" ma:readOnly="true">
      <xsd:simpleType>
        <xsd:restriction base="dms:Note"/>
      </xsd:simpleType>
    </xsd:element>
    <xsd:element name="Client_x002d_Facing" ma:index="23" ma:displayName="Client-Facing" ma:default="0" ma:description="Is this document client facing?" ma:format="Dropdown" ma:internalName="Client_x002d_Facing">
      <xsd:simpleType>
        <xsd:restriction base="dms:Boolea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Location" ma:index="25" nillable="true" ma:displayName="Location" ma:indexed="true" ma:internalName="MediaServiceLocation" ma:readOnly="true">
      <xsd:simpleType>
        <xsd:restriction base="dms:Text"/>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938163b-3131-4d51-8c32-57a4c87c7d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e4730522-532f-4b4e-baa1-16554052326c}" ma:internalName="TaxCatchAll" ma:showField="CatchAllData" ma:web="0938163b-3131-4d51-8c32-57a4c87c7d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644a2af-62a5-4e8d-98dc-8a79b8aeb8cb">
      <Terms xmlns="http://schemas.microsoft.com/office/infopath/2007/PartnerControls"/>
    </lcf76f155ced4ddcb4097134ff3c332f>
    <TaxCatchAll xmlns="0938163b-3131-4d51-8c32-57a4c87c7dcf" xsi:nil="true"/>
    <Client_x002d_Facing xmlns="2644a2af-62a5-4e8d-98dc-8a79b8aeb8cb">false</Client_x002d_Facing>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1D8D414-1832-4F83-9DA6-D9AF9B7A3784}">
  <ds:schemaRefs>
    <ds:schemaRef ds:uri="0938163b-3131-4d51-8c32-57a4c87c7dcf"/>
    <ds:schemaRef ds:uri="2644a2af-62a5-4e8d-98dc-8a79b8aeb8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C262769-23B3-4D91-A939-43C6D883E87D}">
  <ds:schemaRefs>
    <ds:schemaRef ds:uri="http://www.w3.org/XML/1998/namespace"/>
    <ds:schemaRef ds:uri="http://schemas.microsoft.com/office/2006/metadata/properties"/>
    <ds:schemaRef ds:uri="http://purl.org/dc/elements/1.1/"/>
    <ds:schemaRef ds:uri="http://purl.org/dc/terms/"/>
    <ds:schemaRef ds:uri="2644a2af-62a5-4e8d-98dc-8a79b8aeb8cb"/>
    <ds:schemaRef ds:uri="http://purl.org/dc/dcmitype/"/>
    <ds:schemaRef ds:uri="http://schemas.openxmlformats.org/package/2006/metadata/core-properties"/>
    <ds:schemaRef ds:uri="http://schemas.microsoft.com/office/2006/documentManagement/types"/>
    <ds:schemaRef ds:uri="http://schemas.microsoft.com/office/infopath/2007/PartnerControls"/>
    <ds:schemaRef ds:uri="0938163b-3131-4d51-8c32-57a4c87c7dcf"/>
  </ds:schemaRefs>
</ds:datastoreItem>
</file>

<file path=customXml/itemProps3.xml><?xml version="1.0" encoding="utf-8"?>
<ds:datastoreItem xmlns:ds="http://schemas.openxmlformats.org/officeDocument/2006/customXml" ds:itemID="{BFAE4DD2-F0B7-4AC4-93C0-080FA0DF282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7</TotalTime>
  <Words>4143</Words>
  <Application>Microsoft Office PowerPoint</Application>
  <PresentationFormat>Widescreen</PresentationFormat>
  <Paragraphs>483</Paragraphs>
  <Slides>21</Slides>
  <Notes>21</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21</vt:i4>
      </vt:variant>
    </vt:vector>
  </HeadingPairs>
  <TitlesOfParts>
    <vt:vector size="37" baseType="lpstr">
      <vt:lpstr>Arial</vt:lpstr>
      <vt:lpstr>Avenir Next LT Pro</vt:lpstr>
      <vt:lpstr>Calibri</vt:lpstr>
      <vt:lpstr>Open Sans SemiBold</vt:lpstr>
      <vt:lpstr>Poppins</vt:lpstr>
      <vt:lpstr>Poppins </vt:lpstr>
      <vt:lpstr>Poppins  </vt:lpstr>
      <vt:lpstr>Poppins (Headings)</vt:lpstr>
      <vt:lpstr>Poppins ExtraBold</vt:lpstr>
      <vt:lpstr>Poppins ExtraLight</vt:lpstr>
      <vt:lpstr>Poppins Light</vt:lpstr>
      <vt:lpstr>Poppins Medium</vt:lpstr>
      <vt:lpstr>Poppins SemiBold</vt:lpstr>
      <vt:lpstr>1_Sharkninja</vt:lpstr>
      <vt:lpstr>Devry</vt:lpstr>
      <vt:lpstr>1_Devry</vt:lpstr>
      <vt:lpstr>PowerPoint Presentation</vt:lpstr>
      <vt:lpstr>WHY WE’RE HERE TODAY</vt:lpstr>
      <vt:lpstr>What We’ll Cover</vt:lpstr>
      <vt:lpstr>Our End-to-End Approach for Unlocking Conversion Growth</vt:lpstr>
      <vt:lpstr>Strategic Audit Uncovers Impactful &amp; Testable Opportunities To Drive Growth With Clear Execution Path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POWERED HUMAN UNDERSTANDING</dc:title>
  <dc:creator>Julian Bonilla</dc:creator>
  <cp:lastModifiedBy>Jordan Shapiro</cp:lastModifiedBy>
  <cp:revision>9</cp:revision>
  <cp:lastPrinted>2026-04-21T16:41:52Z</cp:lastPrinted>
  <dcterms:created xsi:type="dcterms:W3CDTF">2018-10-17T15:20:37Z</dcterms:created>
  <dcterms:modified xsi:type="dcterms:W3CDTF">2026-06-11T13:05:34Z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0x0101005E02F0EA130091489E3146B467F55735</vt:lpwstr>
  </property>
  <property fmtid="{D5CDD505-2E9C-101B-9397-08002B2CF9AE}" pid="3" name="MediaServiceImageTags">
    <vt:lpwstr/>
  </property>
</Properties>
</file>