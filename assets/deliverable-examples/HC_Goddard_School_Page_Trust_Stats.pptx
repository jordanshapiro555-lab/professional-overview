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092" r:id="rId4"/>
    <p:sldMasterId id="2147485103" r:id="rId5"/>
  </p:sldMasterIdLst>
  <p:notesMasterIdLst>
    <p:notesMasterId r:id="rId8"/>
  </p:notesMasterIdLst>
  <p:sldIdLst>
    <p:sldId id="288" r:id="rId6"/>
    <p:sldId id="289" r:id="rId7"/>
  </p:sldIdLst>
  <p:sldSz cx="6858000" cy="82296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" id="{B0EC1558-7D69-46CC-93AE-D709D2FB2D5D}">
          <p14:sldIdLst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118" userDrawn="1">
          <p15:clr>
            <a:srgbClr val="A4A3A4"/>
          </p15:clr>
        </p15:guide>
        <p15:guide id="2" pos="217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6F27B05-B380-A508-B94F-828C498CC063}" name="Maria Tullin" initials="MT" userId="S::mtullin@horizonmedia.com::aac8871a-2cd6-466b-a6e8-5454b63820f3" providerId="AD"/>
  <p188:author id="{2D50510C-E4A5-A47D-F059-E2D618C1F8B0}" name="Ali Yang" initials="AY" userId="S::AYang@horizon-next.com::6506549a-74a7-4c9e-8759-1808e4a7aa04" providerId="AD"/>
  <p188:author id="{6D4FF512-BC90-AB35-AC06-A8FD322413F8}" name="Brian Dahms" initials="BD" userId="S::bdahms@horizon-next.com::c3e8a035-2b44-468e-a363-2e8278c704f5" providerId="AD"/>
  <p188:author id="{ACFFE415-E7D5-FDDD-1C8C-C221D1B25509}" name="Heather Kleeman" initials="HK" userId="S::hkleeman@horizon-next.com::0a5fac54-dc21-4d72-9564-77182dbbb87c" providerId="AD"/>
  <p188:author id="{C8B41A17-95B5-FDF7-E521-FC62BFDA3B0A}" name="Cherie Hankin Calingasan" initials="CHC" userId="S::chcalingasan@horizon-next.com::5d1e5b94-7bfe-4001-b20a-c5d925fb6b1d" providerId="AD"/>
  <p188:author id="{CCEE2F20-2426-D9C3-6B6F-75D9C0E21729}" name="Jacqueline Conklin" initials="JC" userId="S::jconklin@horizon-next.com::7a1b4aa6-231c-4fa2-ab7a-b4211ce74772" providerId="AD"/>
  <p188:author id="{2D7BE220-2389-D2C7-0A5F-3A83AC3B1BC8}" name="David Yuan" initials="DY" userId="S::dyuan@night-market.com::4ce66996-e684-448d-8d55-19d0c50742fb" providerId="AD"/>
  <p188:author id="{9E953E28-03F9-763C-A388-A6685DECEC19}" name="Michael O'Connor" initials="MO" userId="S::moconnor@horizon-next.com::1fe67b22-e8c6-43ad-b0a4-82b4277c39ee" providerId="AD"/>
  <p188:author id="{C3156D32-7251-3E8E-AA1D-BD131D92E721}" name="Zoe Gonzalez" initials="ZG" userId="S::zgonzalez@horizon-next.com::4b3816bc-0205-4ffc-a237-2768f2a151f1" providerId="AD"/>
  <p188:author id="{392DA135-8D19-FD71-E11E-593DBDF444A3}" name="Jennifer Lovold" initials="JL" userId="S::JLovold@horizoncommerce.com::7629fd42-3616-4afb-b1ae-cf47d47de7b2" providerId="AD"/>
  <p188:author id="{6D9A9747-D274-8A81-B369-9B256C2FB221}" name="Jordan Shapiro" initials="JS" userId="S::JoShapiro@horizoncommerce.com::92b2466c-6413-4671-86a6-7745ec6dd2d5" providerId="AD"/>
  <p188:author id="{3F35414A-AEF5-1B25-4AA8-83026E71FCAB}" name="Lauren Russo" initials="LR" userId="S::Lrusso@horizonmedia.com::0e8da455-1146-4839-9530-01b993b98919" providerId="AD"/>
  <p188:author id="{45AEA14E-F348-2455-E479-E09B15A18E88}" name="Courtney Hirose" initials="CH" userId="S::chirose@horizonmedia.com::7dddb706-2bd4-4e77-956b-f62f7c083db7" providerId="AD"/>
  <p188:author id="{0C5F3751-A1F9-899A-6F08-6EBCF294A124}" name="Yamila Frej" initials="YF" userId="S::yfrej@horizon-next.com::0c5b4632-f555-4803-8d4f-98a7c5d56af4" providerId="AD"/>
  <p188:author id="{B4E49151-52B7-4ADE-CBCC-D5C2D7FB0D08}" name="Carmel Shalev" initials="CS" userId="S::cshalev@horizon-next.com::fe158908-70f3-442c-8138-5d71f3582556" providerId="AD"/>
  <p188:author id="{2ECB075C-F1BA-B8DD-8861-F4FE2C5108D8}" name="Michelle Posen" initials="MP" userId="S::mposen@horizon-big.com::3fc1eaf9-8e67-4023-b6a8-a89c65ed421c" providerId="AD"/>
  <p188:author id="{7B0CE265-204A-B1E4-6F77-EA9637F1DA98}" name="Rachel Wallach-Baker" initials="RW" userId="S::rwbaker@horizon-next.com::ae6a4867-02dc-46e9-be97-83d8f6a05418" providerId="AD"/>
  <p188:author id="{A7C97466-916D-49AC-698C-CE106D8B70E2}" name="Khasai Ramsey" initials="" userId="S::KRamsey@horizonmedia.com::15459d6c-7aaf-457e-99b1-b095dbba96b7" providerId="AD"/>
  <p188:author id="{77122E69-55AA-84A8-BEBB-068E0D7B3484}" name="Kevin McGehee" initials="" userId="S::KeMcGehee@horizonmedia.com::7150370f-7a21-46fa-8a13-c41b1d91e936" providerId="AD"/>
  <p188:author id="{B50AF875-8BFF-7D0A-559A-4D10DF118FF0}" name="Yamila Frej" initials="YF" userId="S::YFrej@horizon-next.com::0c5b4632-f555-4803-8d4f-98a7c5d56af4" providerId="AD"/>
  <p188:author id="{665F5676-8F3F-93E2-7AAC-CC9966EBAE02}" name="Radames Roldan" initials="" userId="S::RRoldan@horizoncommerce.com::9e720aa8-609b-4402-97ba-d7b699c305f3" providerId="AD"/>
  <p188:author id="{D6680478-815C-C307-0DE8-4FBA3E9D499E}" name="Julie Russell" initials="JR" userId="S::jrussell@horizon-next.com::71981a0d-5b5d-4a9e-b6b3-a84f0b11f538" providerId="AD"/>
  <p188:author id="{3D263B7F-3776-E91A-0539-B848EACCA50B}" name="Will McGihon" initials="WM" userId="S::wmcgihon@horizoncommerce.com::420d5f3b-cd55-4f5a-9090-ad5f75817626" providerId="AD"/>
  <p188:author id="{DBBD7C83-13FC-3D01-DC76-A685EC661261}" name="Andrew Jones" initials="AJ" userId="S::anjones@night-market.com::1e283303-1d46-4200-8cb5-02aae40765bc" providerId="AD"/>
  <p188:author id="{A9BDDA83-55D2-24CE-40A5-6A2339A863F3}" name="Julie Heppt" initials="JH" userId="S::jheppt@horizon-next.com::820f031e-d33b-4625-ab9a-d1d30e453649" providerId="AD"/>
  <p188:author id="{B6958D89-B9D4-40DF-F9E5-EB4EDB83D794}" name="Rachel Hazelwood" initials="RH" userId="S::RHazelwood@horizoncommerce.com::5d7a4f47-d9d9-4ea5-a2f8-08b612e116e8" providerId="AD"/>
  <p188:author id="{599CCF8F-5C19-4D4D-6645-AF77D68446FE}" name="Caroline Cook" initials="CC" userId="S::ccook@horizon-next.com::58e9ba11-6296-409c-9e8b-9b1730435328" providerId="AD"/>
  <p188:author id="{CAEC9893-3F60-F5B3-BAA4-9999CC108C82}" name="Katie Comerford" initials="KC" userId="S::kcomerford@horizon-next.com::a9d30a89-c7c6-48e7-98e1-bc24511332b8" providerId="AD"/>
  <p188:author id="{ACAF8296-8479-9163-3485-99A7A3E259A9}" name="Laila Leszyk" initials="" userId="S::lleszyk@horizon-next.com::ff5afe76-66ef-4425-b81d-0400e676aab6" providerId="AD"/>
  <p188:author id="{12A5FAA4-F185-7CBE-3A5E-7D5C2620670F}" name="Gene Turner" initials="GT" userId="S::gturner@horizon-next.com::69237c72-5d4d-4ad8-822d-212f9a7da37c" providerId="AD"/>
  <p188:author id="{B7E96FA9-8546-5300-DCDA-AAF29808BB43}" name="Katie Kelly" initials="KK" userId="S::KaKelly@night-market.com::c591806e-921f-49ac-bb98-c06d433d3659" providerId="AD"/>
  <p188:author id="{E3FFFEAA-96E3-FB4B-E318-9DA50DE71550}" name="Keith Brewer" initials="KB" userId="S::kbrewer@horizon-next.com::b360ee03-826a-433c-8564-8fb185862b3b" providerId="AD"/>
  <p188:author id="{63B871AC-2781-A780-6E10-F3F6D650CD3E}" name="Ken Nippes" initials="KN" userId="S::knippes@horizon-next.com::4c270593-5dd1-44d7-b817-2f59ed9e5600" providerId="AD"/>
  <p188:author id="{27505EB9-78FA-A67D-A832-E95A449AE717}" name="Lauren Russo" initials="LR" userId="S::lrusso@horizonmedia.com::0e8da455-1146-4839-9530-01b993b98919" providerId="AD"/>
  <p188:author id="{AB20F4C5-F8A8-E422-878E-240F3B2AB22A}" name="Rachel Hazelwood" initials="RH" userId="S::rhazelwood@horizoncommerce.com::5d7a4f47-d9d9-4ea5-a2f8-08b612e116e8" providerId="AD"/>
  <p188:author id="{7168ABC6-6B29-1523-5D89-AF6799914902}" name="Emmeline van der Post" initials="EP" userId="S::evanderpost@night-market.com::752d3862-efcb-4c5a-8aff-afe147443aaf" providerId="AD"/>
  <p188:author id="{D215A1D3-4D04-5B89-2AB8-952711FC1965}" name="Will McGihon" initials="WM" userId="S::WMcGihon@horizoncommerce.com::420d5f3b-cd55-4f5a-9090-ad5f75817626" providerId="AD"/>
  <p188:author id="{F50326E2-9553-99E2-C6EA-068841B9EA43}" name="Jamie Leder" initials="JL" userId="S::jleder@horizonmedia.com::30735221-dc81-42b9-bc00-b7ddf7651edd" providerId="AD"/>
  <p188:author id="{231433E8-68A9-7EE2-6F6A-ECE7C8AC7E7F}" name="Mia Cosgrove" initials="MC" userId="S::mcosgrove@horizon-next.com::cb0231d0-9661-4b91-8b58-17eeb0ee099d" providerId="AD"/>
  <p188:author id="{5637B7E8-B415-49F5-AA28-0570E820F3ED}" name="Emmeline van der Post" initials="Ev" userId="S::evanderpost@horizoncommerce.com::752d3862-efcb-4c5a-8aff-afe147443aaf" providerId="AD"/>
  <p188:author id="{F59DE8EA-FB97-7D95-A991-DF44BBCFBF97}" name="Randolph Browning" initials="RB" userId="S::rbrowning@horizoncommerce.com::73f245ed-1392-4c97-b1f9-93db3a94fcaf" providerId="AD"/>
  <p188:author id="{1EE9D7EB-9E95-96CD-3FC7-C5ADC864B138}" name="Andrew Jones" initials="AJ" userId="S::AnJones@horizoncommerce.com::1e283303-1d46-4200-8cb5-02aae40765bc" providerId="AD"/>
  <p188:author id="{5A8E3CF2-76DB-56CF-61F1-B2E06ADC598D}" name="Anita Palachan" initials="AP" userId="S::apalachan@horizonmedia.com::dfd23ba8-c670-4264-a399-78289c5b452d" providerId="AD"/>
  <p188:author id="{67CAEBF5-C439-8081-438C-028B3B5CC171}" name="Suzanna Hodges" initials="SH" userId="S::shodges@horizon-next.com::57b7a683-a0ff-485a-89ec-576eb853283a" providerId="AD"/>
  <p188:author id="{DCF845FC-8C30-099C-28F4-217922633308}" name="Randolph Browning" initials="" userId="S::rbrowning@night-market.com::73f245ed-1392-4c97-b1f9-93db3a94fcaf" providerId="AD"/>
  <p188:author id="{E0A7BFFC-7B78-9645-0711-F8402E249ABE}" name="Katie Kelly" initials="" userId="S::KaKelly@horizoncommerce.com::c591806e-921f-49ac-bb98-c06d433d3659" providerId="AD"/>
  <p188:author id="{B48395FE-BF38-A2BE-936B-44D6B106B3C4}" name="Camilla Cunningham" initials="CC" userId="S::ccunningham@horizon-big.com::7845fc2b-c4e7-4e7c-8892-b917a3635df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B449"/>
    <a:srgbClr val="004D85"/>
    <a:srgbClr val="002740"/>
    <a:srgbClr val="006284"/>
    <a:srgbClr val="007CA7"/>
    <a:srgbClr val="00355B"/>
    <a:srgbClr val="13405B"/>
    <a:srgbClr val="00B2AA"/>
    <a:srgbClr val="17274A"/>
    <a:srgbClr val="00A0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E9B620-856A-4EA9-93B7-1B623FB14DBA}" v="111" dt="2026-06-29T14:00:33.1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2128" y="52"/>
      </p:cViewPr>
      <p:guideLst>
        <p:guide orient="horz" pos="4118"/>
        <p:guide pos="21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81B32E7-0916-BB49-895C-AECA9D6419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Avenir Next LT Pro" panose="020B0504020202020204" pitchFamily="34" charset="77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E28B15-6B1D-9646-9D1E-75AA6357316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latin typeface="Avenir Next LT Pro" panose="020B0504020202020204" pitchFamily="34" charset="77"/>
              </a:defRPr>
            </a:lvl1pPr>
          </a:lstStyle>
          <a:p>
            <a:pPr>
              <a:defRPr/>
            </a:pPr>
            <a:fld id="{A1F1C37A-FA55-1C49-B48D-209D44EEA36A}" type="datetimeFigureOut">
              <a:rPr lang="en-US" smtClean="0"/>
              <a:pPr>
                <a:defRPr/>
              </a:pPr>
              <a:t>8/24/2026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52F77C7-E035-2946-BC08-5466FD6030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1143000"/>
            <a:ext cx="2571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3F449BA-52E8-3549-9DC9-F71F39E1A5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EF490-BB14-B048-8368-2A8BD316EDF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Avenir Next LT Pro" panose="020B0504020202020204" pitchFamily="34" charset="77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16755-CE0D-A541-8D5F-A107B4D2F1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latin typeface="Avenir Next LT Pro" panose="020B0504020202020204" pitchFamily="34" charset="77"/>
              </a:defRPr>
            </a:lvl1pPr>
          </a:lstStyle>
          <a:p>
            <a:pPr>
              <a:defRPr/>
            </a:pPr>
            <a:fld id="{4AA59A63-F837-CF4C-8906-49CCB333AF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venir Next LT Pro" panose="020B0504020202020204" pitchFamily="34" charset="77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venir Next LT Pro" panose="020B0504020202020204" pitchFamily="34" charset="77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venir Next LT Pro" panose="020B0504020202020204" pitchFamily="34" charset="77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venir Next LT Pro" panose="020B0504020202020204" pitchFamily="34" charset="77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venir Next LT Pro" panose="020B0504020202020204" pitchFamily="34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B41CF-5DAD-91D8-2A58-E0ADD2E89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FFE0A0-2391-DA99-4F1F-7B8B92750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43125" y="1143000"/>
            <a:ext cx="25717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612D8-51F5-6106-DBCB-D3F964CBE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>
              <a:solidFill>
                <a:schemeClr val="tx1"/>
              </a:solidFill>
              <a:effectLst/>
              <a:latin typeface="Avenir Next LT Pro" panose="020B0504020202020204" pitchFamily="34" charset="77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10E88-210E-B87B-A9B6-F6D9A75E5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AA59A63-F837-CF4C-8906-49CCB333AF10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659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449C6-F103-F60E-186A-5640582F3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346200"/>
            <a:ext cx="5143500" cy="286543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6A3FA4-1ED3-5D0E-D7BE-1ABC203F88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4322763"/>
            <a:ext cx="5143500" cy="19859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651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0AE9D-B81B-46C8-7378-2DF70607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29141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Gradi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466615-4DC5-EEA2-FF79-55D4BE263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90" y="1087649"/>
            <a:ext cx="5915025" cy="888413"/>
          </a:xfrm>
          <a:prstGeom prst="rect">
            <a:avLst/>
          </a:prstGeom>
        </p:spPr>
        <p:txBody>
          <a:bodyPr/>
          <a:lstStyle>
            <a:lvl1pPr algn="ctr">
              <a:defRPr sz="3200" baseline="0">
                <a:solidFill>
                  <a:schemeClr val="tx1"/>
                </a:solidFill>
                <a:latin typeface="Poppins SemiBold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3150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710614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0AE9D-B81B-46C8-7378-2DF70607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97283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D85459-D7D9-41FA-9EAD-B86DE6D0E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90" y="909808"/>
            <a:ext cx="5915025" cy="67525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shape&#10;&#10;Description automatically generated">
            <a:extLst>
              <a:ext uri="{FF2B5EF4-FFF2-40B4-BE49-F238E27FC236}">
                <a16:creationId xmlns:a16="http://schemas.microsoft.com/office/drawing/2014/main" id="{BA1139D7-B9F0-ADD2-6B4C-C6FD296D9B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" y="-828859"/>
            <a:ext cx="1343025" cy="7620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DA9167D-5EF9-381C-22EA-387560AEE427}"/>
              </a:ext>
            </a:extLst>
          </p:cNvPr>
          <p:cNvSpPr txBox="1">
            <a:spLocks/>
          </p:cNvSpPr>
          <p:nvPr userDrawn="1"/>
        </p:nvSpPr>
        <p:spPr>
          <a:xfrm>
            <a:off x="5338921" y="7681679"/>
            <a:ext cx="143814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ClanOT-Book" panose="0200050303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chemeClr val="bg1">
                    <a:lumMod val="50000"/>
                  </a:schemeClr>
                </a:solidFill>
                <a:latin typeface="Poppins  "/>
                <a:sym typeface="Symbol" panose="05050102010706020507" pitchFamily="18" charset="2"/>
              </a:rPr>
              <a:t>SHARKNINJA  |  HORIZON  </a:t>
            </a:r>
            <a:fld id="{CF067BAB-ACAF-470B-88DC-99E80D1D4992}" type="slidenum">
              <a:rPr lang="en-US" sz="600" smtClean="0">
                <a:solidFill>
                  <a:schemeClr val="bg1">
                    <a:lumMod val="50000"/>
                  </a:schemeClr>
                </a:solidFill>
                <a:latin typeface="Poppins  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600">
              <a:solidFill>
                <a:schemeClr val="bg1">
                  <a:lumMod val="50000"/>
                </a:schemeClr>
              </a:solidFill>
              <a:latin typeface="Poppins  "/>
            </a:endParaRPr>
          </a:p>
        </p:txBody>
      </p:sp>
    </p:spTree>
    <p:extLst>
      <p:ext uri="{BB962C8B-B14F-4D97-AF65-F5344CB8AC3E}">
        <p14:creationId xmlns:p14="http://schemas.microsoft.com/office/powerpoint/2010/main" val="184792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01" r:id="rId1"/>
    <p:sldLayoutId id="2147485102" r:id="rId2"/>
    <p:sldLayoutId id="2147485091" r:id="rId3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chemeClr val="tx1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895458-591E-6286-E7B0-C74662AD9982}"/>
              </a:ext>
            </a:extLst>
          </p:cNvPr>
          <p:cNvSpPr txBox="1">
            <a:spLocks/>
          </p:cNvSpPr>
          <p:nvPr userDrawn="1"/>
        </p:nvSpPr>
        <p:spPr>
          <a:xfrm>
            <a:off x="5338921" y="7681679"/>
            <a:ext cx="143814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ClanOT-Book" panose="0200050303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chemeClr val="bg1">
                    <a:lumMod val="50000"/>
                  </a:schemeClr>
                </a:solidFill>
                <a:latin typeface="Poppins  "/>
                <a:sym typeface="Symbol" panose="05050102010706020507" pitchFamily="18" charset="2"/>
              </a:rPr>
              <a:t>SHARKNINJA  |  HORIZON  </a:t>
            </a:r>
            <a:fld id="{CF067BAB-ACAF-470B-88DC-99E80D1D4992}" type="slidenum">
              <a:rPr lang="en-US" sz="600" smtClean="0">
                <a:solidFill>
                  <a:schemeClr val="bg1">
                    <a:lumMod val="50000"/>
                  </a:schemeClr>
                </a:solidFill>
                <a:latin typeface="Poppins  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600">
              <a:solidFill>
                <a:schemeClr val="bg1">
                  <a:lumMod val="50000"/>
                </a:schemeClr>
              </a:solidFill>
              <a:latin typeface="Poppins  "/>
            </a:endParaRPr>
          </a:p>
        </p:txBody>
      </p:sp>
    </p:spTree>
    <p:extLst>
      <p:ext uri="{BB962C8B-B14F-4D97-AF65-F5344CB8AC3E}">
        <p14:creationId xmlns:p14="http://schemas.microsoft.com/office/powerpoint/2010/main" val="3649010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04" r:id="rId1"/>
    <p:sldLayoutId id="2147485105" r:id="rId2"/>
  </p:sldLayoutIdLst>
  <p:hf hdr="0" dt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goddardschool.com/schools/dc/washington/washington-dc-the-wharf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06F2E-407E-63F0-41A6-CBE62D72F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2036AA45-598F-F6F7-3C8A-F49D9D32C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414" y="7731516"/>
            <a:ext cx="523730" cy="33893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B3CD1A8-71F2-B75B-A846-3BDD52390B25}"/>
              </a:ext>
            </a:extLst>
          </p:cNvPr>
          <p:cNvSpPr txBox="1"/>
          <p:nvPr/>
        </p:nvSpPr>
        <p:spPr>
          <a:xfrm>
            <a:off x="4374442" y="1766906"/>
            <a:ext cx="2506189" cy="30162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 b="1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Date Duration</a:t>
            </a:r>
            <a:r>
              <a:rPr lang="en-US" sz="1000" b="1">
                <a:solidFill>
                  <a:schemeClr val="tx2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00">
                <a:latin typeface="Poppins" panose="00000500000000000000" pitchFamily="2" charset="0"/>
                <a:cs typeface="Poppins" panose="00000500000000000000" pitchFamily="2" charset="0"/>
              </a:rPr>
              <a:t>6/3/26 – 6/18/26</a:t>
            </a:r>
          </a:p>
          <a:p>
            <a:endParaRPr lang="en-US" sz="1000" b="1">
              <a:solidFill>
                <a:schemeClr val="tx2">
                  <a:lumMod val="65000"/>
                  <a:lumOff val="3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000" b="1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Target URL</a:t>
            </a:r>
            <a:r>
              <a:rPr lang="en-US" sz="1000" b="1">
                <a:solidFill>
                  <a:schemeClr val="tx2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r>
              <a:rPr lang="en-US" sz="1000">
                <a:latin typeface="Poppins" panose="00000500000000000000" pitchFamily="2" charset="0"/>
                <a:cs typeface="Poppins" panose="00000500000000000000" pitchFamily="2" charset="0"/>
              </a:rPr>
              <a:t>School pages. Ex: </a:t>
            </a:r>
            <a:r>
              <a:rPr lang="en-US" sz="1000">
                <a:solidFill>
                  <a:schemeClr val="tx2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  <a:hlinkClick r:id="rId4"/>
              </a:rPr>
              <a:t>https://www.goddardschool.com/schools/dc/washington/washington-dc-the-wharf</a:t>
            </a:r>
            <a:r>
              <a:rPr lang="en-US" sz="1000">
                <a:solidFill>
                  <a:schemeClr val="tx2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endParaRPr lang="en-US" sz="1000" b="1">
              <a:solidFill>
                <a:schemeClr val="accent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000" b="1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Primary KPI </a:t>
            </a:r>
          </a:p>
          <a:p>
            <a:r>
              <a:rPr lang="en-US" sz="1000" b="1">
                <a:latin typeface="Poppins" panose="00000500000000000000" pitchFamily="2" charset="0"/>
                <a:cs typeface="Poppins" panose="00000500000000000000" pitchFamily="2" charset="0"/>
              </a:rPr>
              <a:t>Long Lead Submit: </a:t>
            </a:r>
            <a:r>
              <a:rPr lang="en-US" sz="1000">
                <a:latin typeface="Poppins" panose="00000500000000000000" pitchFamily="2" charset="0"/>
                <a:cs typeface="Poppins" panose="00000500000000000000" pitchFamily="2" charset="0"/>
              </a:rPr>
              <a:t>The rate at which users submit contact information</a:t>
            </a:r>
          </a:p>
          <a:p>
            <a:endParaRPr lang="en-US" sz="1000" b="1">
              <a:solidFill>
                <a:schemeClr val="tx2">
                  <a:lumMod val="65000"/>
                  <a:lumOff val="3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000" b="1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Guardrail KPI </a:t>
            </a:r>
            <a:endParaRPr lang="en-US" sz="1000">
              <a:solidFill>
                <a:schemeClr val="accent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000" b="1">
                <a:latin typeface="Poppins" panose="00000500000000000000" pitchFamily="2" charset="0"/>
                <a:cs typeface="Poppins" panose="00000500000000000000" pitchFamily="2" charset="0"/>
              </a:rPr>
              <a:t>Tour Booked Rate: </a:t>
            </a:r>
            <a:r>
              <a:rPr lang="en-US" sz="1000">
                <a:latin typeface="Poppins" panose="00000500000000000000" pitchFamily="2" charset="0"/>
                <a:cs typeface="Poppins" panose="00000500000000000000" pitchFamily="2" charset="0"/>
              </a:rPr>
              <a:t>The rate at which users book a tour after lead submit</a:t>
            </a:r>
          </a:p>
          <a:p>
            <a:endParaRPr lang="en-US" sz="1000" b="0" i="0" u="none" strike="noStrike">
              <a:solidFill>
                <a:schemeClr val="tx2">
                  <a:lumMod val="65000"/>
                  <a:lumOff val="35000"/>
                </a:schemeClr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000" b="1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Additional KPI </a:t>
            </a:r>
            <a:endParaRPr lang="en-US" sz="1000">
              <a:solidFill>
                <a:schemeClr val="accent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000" b="1">
                <a:latin typeface="Poppins" panose="00000500000000000000" pitchFamily="2" charset="0"/>
                <a:cs typeface="Poppins" panose="00000500000000000000" pitchFamily="2" charset="0"/>
              </a:rPr>
              <a:t>Form Entry Rate: </a:t>
            </a:r>
            <a:r>
              <a:rPr lang="en-US" sz="1000">
                <a:latin typeface="Poppins" panose="00000500000000000000" pitchFamily="2" charset="0"/>
                <a:cs typeface="Poppins" panose="00000500000000000000" pitchFamily="2" charset="0"/>
              </a:rPr>
              <a:t>The rate at which users enter the form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FB16A3-3DA2-4459-D59C-372D1A717580}"/>
              </a:ext>
            </a:extLst>
          </p:cNvPr>
          <p:cNvSpPr txBox="1"/>
          <p:nvPr/>
        </p:nvSpPr>
        <p:spPr>
          <a:xfrm>
            <a:off x="4317196" y="4828373"/>
            <a:ext cx="2553228" cy="261610"/>
          </a:xfrm>
          <a:prstGeom prst="rect">
            <a:avLst/>
          </a:prstGeom>
          <a:solidFill>
            <a:schemeClr val="accent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Variations</a:t>
            </a:r>
            <a:endParaRPr lang="en-US" sz="11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D57F77-A83D-FB24-87D5-8A334EFD3939}"/>
              </a:ext>
            </a:extLst>
          </p:cNvPr>
          <p:cNvSpPr txBox="1"/>
          <p:nvPr/>
        </p:nvSpPr>
        <p:spPr>
          <a:xfrm>
            <a:off x="105136" y="1862388"/>
            <a:ext cx="4134631" cy="4467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eaLnBrk="1" fontAlgn="auto" hangingPunct="1">
              <a:lnSpc>
                <a:spcPct val="112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050" b="1" kern="0">
                <a:latin typeface="Poppins" panose="00000500000000000000" pitchFamily="2" charset="0"/>
                <a:cs typeface="Poppins" panose="00000500000000000000" pitchFamily="2" charset="0"/>
              </a:rPr>
              <a:t>What Changed</a:t>
            </a:r>
            <a:r>
              <a:rPr lang="en-US" sz="1050" kern="0">
                <a:latin typeface="Poppins" panose="00000500000000000000" pitchFamily="2" charset="0"/>
                <a:cs typeface="Poppins" panose="00000500000000000000" pitchFamily="2" charset="0"/>
              </a:rPr>
              <a:t>: Added brand level trust stats immediately below the fold on individual Goddard School pages</a:t>
            </a:r>
            <a:endParaRPr lang="en-US" sz="1100" kern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006406-816D-59B8-F1DF-24740B6EA0C2}"/>
              </a:ext>
            </a:extLst>
          </p:cNvPr>
          <p:cNvSpPr/>
          <p:nvPr/>
        </p:nvSpPr>
        <p:spPr>
          <a:xfrm>
            <a:off x="0" y="-3542"/>
            <a:ext cx="6858000" cy="1416865"/>
          </a:xfrm>
          <a:prstGeom prst="rect">
            <a:avLst/>
          </a:prstGeom>
          <a:solidFill>
            <a:srgbClr val="004D85"/>
          </a:solidFill>
          <a:ln>
            <a:solidFill>
              <a:srgbClr val="0062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C76A4C34-04C3-95F4-BD91-947C573A7B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8209" y="892304"/>
            <a:ext cx="1068899" cy="3382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898DEE-F04E-1B72-B3AB-7F2E81EFC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029" y="126775"/>
            <a:ext cx="5327317" cy="750711"/>
          </a:xfrm>
        </p:spPr>
        <p:txBody>
          <a:bodyPr/>
          <a:lstStyle/>
          <a:p>
            <a:pPr algn="l"/>
            <a:r>
              <a:rPr lang="en-US" altLang="en-US" sz="2000" b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Added trust Stats On School Pages</a:t>
            </a:r>
            <a:endParaRPr lang="en-US" altLang="en-US" sz="20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9B67A9A-14EB-2B8F-E059-6052E12AFBB4}"/>
              </a:ext>
            </a:extLst>
          </p:cNvPr>
          <p:cNvSpPr txBox="1">
            <a:spLocks/>
          </p:cNvSpPr>
          <p:nvPr/>
        </p:nvSpPr>
        <p:spPr bwMode="auto">
          <a:xfrm>
            <a:off x="230893" y="571918"/>
            <a:ext cx="5160964" cy="700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altLang="en-US" sz="2800" b="1" i="0" kern="1200">
                <a:solidFill>
                  <a:srgbClr val="00355B"/>
                </a:solidFill>
                <a:latin typeface="Poppins" pitchFamily="2" charset="77"/>
                <a:ea typeface="+mj-ea"/>
                <a:cs typeface="Poppins" pitchFamily="2" charset="77"/>
              </a:defRPr>
            </a:lvl1pPr>
            <a:lvl2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rgbClr val="767171"/>
                </a:solidFill>
                <a:latin typeface="Gotham Light" pitchFamily="2" charset="0"/>
              </a:defRPr>
            </a:lvl2pPr>
            <a:lvl3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rgbClr val="767171"/>
                </a:solidFill>
                <a:latin typeface="Gotham Light" pitchFamily="2" charset="0"/>
              </a:defRPr>
            </a:lvl3pPr>
            <a:lvl4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rgbClr val="767171"/>
                </a:solidFill>
                <a:latin typeface="Gotham Light" pitchFamily="2" charset="0"/>
              </a:defRPr>
            </a:lvl4pPr>
            <a:lvl5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rgbClr val="767171"/>
                </a:solidFill>
                <a:latin typeface="Gotham Light" pitchFamily="2" charset="0"/>
              </a:defRPr>
            </a:lvl5pPr>
            <a:lvl6pPr marL="45720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rgbClr val="767171"/>
                </a:solidFill>
                <a:latin typeface="Gotham Light" pitchFamily="2" charset="0"/>
              </a:defRPr>
            </a:lvl6pPr>
            <a:lvl7pPr marL="91440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rgbClr val="767171"/>
                </a:solidFill>
                <a:latin typeface="Gotham Light" pitchFamily="2" charset="0"/>
              </a:defRPr>
            </a:lvl7pPr>
            <a:lvl8pPr marL="137160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rgbClr val="767171"/>
                </a:solidFill>
                <a:latin typeface="Gotham Light" pitchFamily="2" charset="0"/>
              </a:defRPr>
            </a:lvl8pPr>
            <a:lvl9pPr marL="182880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rgbClr val="767171"/>
                </a:solidFill>
                <a:latin typeface="Gotham Light" pitchFamily="2" charset="0"/>
              </a:defRPr>
            </a:lvl9pPr>
          </a:lstStyle>
          <a:p>
            <a:pPr algn="l"/>
            <a:r>
              <a:rPr lang="en-US" sz="1200" b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Adding brand level trust stats to school pages </a:t>
            </a:r>
            <a:r>
              <a:rPr lang="en-US" sz="120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decreased long lead submit conversion rate by 2.83%</a:t>
            </a:r>
            <a:endParaRPr lang="en-US" altLang="en-US" sz="1200">
              <a:solidFill>
                <a:srgbClr val="FFC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C597B-405E-7768-691E-CE1D9064DF07}"/>
              </a:ext>
            </a:extLst>
          </p:cNvPr>
          <p:cNvSpPr txBox="1"/>
          <p:nvPr/>
        </p:nvSpPr>
        <p:spPr>
          <a:xfrm>
            <a:off x="4441427" y="1417449"/>
            <a:ext cx="2439204" cy="261609"/>
          </a:xfrm>
          <a:prstGeom prst="rect">
            <a:avLst/>
          </a:prstGeom>
          <a:solidFill>
            <a:schemeClr val="accent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Test Details</a:t>
            </a:r>
            <a:endParaRPr lang="en-US" sz="11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A587FA-1C9D-81A3-3ACA-2E4B209850D4}"/>
              </a:ext>
            </a:extLst>
          </p:cNvPr>
          <p:cNvSpPr txBox="1"/>
          <p:nvPr/>
        </p:nvSpPr>
        <p:spPr>
          <a:xfrm>
            <a:off x="2643" y="1416999"/>
            <a:ext cx="4438781" cy="261610"/>
          </a:xfrm>
          <a:prstGeom prst="rect">
            <a:avLst/>
          </a:prstGeom>
          <a:solidFill>
            <a:schemeClr val="accent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Changed?</a:t>
            </a:r>
            <a:endParaRPr lang="en-US" sz="11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955E19E-98A7-65FD-1E50-98B1FBA135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03284"/>
              </p:ext>
            </p:extLst>
          </p:nvPr>
        </p:nvGraphicFramePr>
        <p:xfrm>
          <a:off x="60279" y="2934058"/>
          <a:ext cx="4194794" cy="90559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132590">
                  <a:extLst>
                    <a:ext uri="{9D8B030D-6E8A-4147-A177-3AD203B41FA5}">
                      <a16:colId xmlns:a16="http://schemas.microsoft.com/office/drawing/2014/main" val="27011481"/>
                    </a:ext>
                  </a:extLst>
                </a:gridCol>
                <a:gridCol w="609255">
                  <a:extLst>
                    <a:ext uri="{9D8B030D-6E8A-4147-A177-3AD203B41FA5}">
                      <a16:colId xmlns:a16="http://schemas.microsoft.com/office/drawing/2014/main" val="1426676292"/>
                    </a:ext>
                  </a:extLst>
                </a:gridCol>
                <a:gridCol w="984183">
                  <a:extLst>
                    <a:ext uri="{9D8B030D-6E8A-4147-A177-3AD203B41FA5}">
                      <a16:colId xmlns:a16="http://schemas.microsoft.com/office/drawing/2014/main" val="3242126595"/>
                    </a:ext>
                  </a:extLst>
                </a:gridCol>
                <a:gridCol w="879410">
                  <a:extLst>
                    <a:ext uri="{9D8B030D-6E8A-4147-A177-3AD203B41FA5}">
                      <a16:colId xmlns:a16="http://schemas.microsoft.com/office/drawing/2014/main" val="1591258839"/>
                    </a:ext>
                  </a:extLst>
                </a:gridCol>
                <a:gridCol w="589356">
                  <a:extLst>
                    <a:ext uri="{9D8B030D-6E8A-4147-A177-3AD203B41FA5}">
                      <a16:colId xmlns:a16="http://schemas.microsoft.com/office/drawing/2014/main" val="2692139001"/>
                    </a:ext>
                  </a:extLst>
                </a:gridCol>
              </a:tblGrid>
              <a:tr h="249135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1"/>
                          </a:solidFill>
                          <a:effectLst/>
                        </a:rPr>
                        <a:t> Version</a:t>
                      </a:r>
                      <a:endParaRPr lang="en-US" sz="1000">
                        <a:solidFill>
                          <a:schemeClr val="bg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1"/>
                          </a:solidFill>
                          <a:effectLst/>
                        </a:rPr>
                        <a:t>Unique Visitors</a:t>
                      </a:r>
                      <a:endParaRPr lang="en-US" sz="1000">
                        <a:solidFill>
                          <a:schemeClr val="bg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Leads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1"/>
                          </a:solidFill>
                          <a:effectLst/>
                        </a:rPr>
                        <a:t>Long Lead Submit Rate</a:t>
                      </a:r>
                      <a:endParaRPr lang="en-US" sz="1000">
                        <a:solidFill>
                          <a:schemeClr val="bg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1"/>
                          </a:solidFill>
                          <a:effectLst/>
                        </a:rPr>
                        <a:t>Lift</a:t>
                      </a:r>
                      <a:endParaRPr lang="en-US" sz="1000">
                        <a:solidFill>
                          <a:schemeClr val="bg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94771971"/>
                  </a:ext>
                </a:extLst>
              </a:tr>
              <a:tr h="212697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chemeClr val="bg1"/>
                          </a:solidFill>
                          <a:effectLst/>
                        </a:rPr>
                        <a:t>A (Control – No Trust Stats)</a:t>
                      </a:r>
                      <a:endParaRPr lang="en-US" sz="900">
                        <a:solidFill>
                          <a:schemeClr val="bg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u="none" strike="noStrike">
                          <a:solidFill>
                            <a:srgbClr val="00355B"/>
                          </a:solidFill>
                          <a:effectLst/>
                        </a:rPr>
                        <a:t>28,373</a:t>
                      </a:r>
                      <a:endParaRPr lang="en-US" sz="900" b="0" i="0" u="none" strike="noStrike">
                        <a:solidFill>
                          <a:srgbClr val="00355B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2,862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u="none" strike="noStrike">
                          <a:solidFill>
                            <a:srgbClr val="002060"/>
                          </a:solidFill>
                          <a:effectLst/>
                        </a:rPr>
                        <a:t>11.53%</a:t>
                      </a:r>
                      <a:endParaRPr lang="en-US" sz="900" b="0" i="0" u="none" strike="noStrike">
                        <a:solidFill>
                          <a:srgbClr val="00206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marL="0" marR="85725" algn="ctr" fontAlgn="base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79093714"/>
                  </a:ext>
                </a:extLst>
              </a:tr>
              <a:tr h="299673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chemeClr val="bg1"/>
                          </a:solidFill>
                          <a:effectLst/>
                        </a:rPr>
                        <a:t>B (Test - Added Trust Stats)</a:t>
                      </a:r>
                      <a:endParaRPr lang="en-US" sz="900">
                        <a:solidFill>
                          <a:schemeClr val="bg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u="none" strike="noStrike">
                          <a:solidFill>
                            <a:srgbClr val="00355B"/>
                          </a:solidFill>
                          <a:effectLst/>
                        </a:rPr>
                        <a:t>28,709</a:t>
                      </a:r>
                      <a:endParaRPr lang="en-US" sz="900" b="0" i="0" u="none" strike="noStrike">
                        <a:solidFill>
                          <a:srgbClr val="00355B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2,796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u="none" strike="noStrike">
                          <a:solidFill>
                            <a:srgbClr val="FF0000"/>
                          </a:solidFill>
                          <a:effectLst/>
                        </a:rPr>
                        <a:t>11.20%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marL="0" marR="85725" algn="ctr" fontAlgn="base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FF0000"/>
                          </a:solidFill>
                          <a:effectLst/>
                        </a:rPr>
                        <a:t>-2.83% (84% SS)</a:t>
                      </a:r>
                      <a:endParaRPr lang="en-US" sz="90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00864402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CCBAA70-9BC2-3DDA-97C7-0F81A0813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764026"/>
              </p:ext>
            </p:extLst>
          </p:nvPr>
        </p:nvGraphicFramePr>
        <p:xfrm>
          <a:off x="60279" y="4032465"/>
          <a:ext cx="4190251" cy="57690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820472">
                  <a:extLst>
                    <a:ext uri="{9D8B030D-6E8A-4147-A177-3AD203B41FA5}">
                      <a16:colId xmlns:a16="http://schemas.microsoft.com/office/drawing/2014/main" val="27011481"/>
                    </a:ext>
                  </a:extLst>
                </a:gridCol>
                <a:gridCol w="1215921">
                  <a:extLst>
                    <a:ext uri="{9D8B030D-6E8A-4147-A177-3AD203B41FA5}">
                      <a16:colId xmlns:a16="http://schemas.microsoft.com/office/drawing/2014/main" val="1426676292"/>
                    </a:ext>
                  </a:extLst>
                </a:gridCol>
                <a:gridCol w="1076929">
                  <a:extLst>
                    <a:ext uri="{9D8B030D-6E8A-4147-A177-3AD203B41FA5}">
                      <a16:colId xmlns:a16="http://schemas.microsoft.com/office/drawing/2014/main" val="267777169"/>
                    </a:ext>
                  </a:extLst>
                </a:gridCol>
                <a:gridCol w="1076929">
                  <a:extLst>
                    <a:ext uri="{9D8B030D-6E8A-4147-A177-3AD203B41FA5}">
                      <a16:colId xmlns:a16="http://schemas.microsoft.com/office/drawing/2014/main" val="3989422480"/>
                    </a:ext>
                  </a:extLst>
                </a:gridCol>
              </a:tblGrid>
              <a:tr h="197224">
                <a:tc>
                  <a:txBody>
                    <a:bodyPr/>
                    <a:lstStyle/>
                    <a:p>
                      <a:pPr marL="0" marR="0" lvl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kern="1200">
                          <a:solidFill>
                            <a:schemeClr val="bg1"/>
                          </a:solidFill>
                          <a:effectLst/>
                        </a:rPr>
                        <a:t>Metrics</a:t>
                      </a:r>
                      <a:endParaRPr lang="en-US" sz="1000" b="1" kern="12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kern="1200">
                          <a:solidFill>
                            <a:schemeClr val="bg1"/>
                          </a:solidFill>
                          <a:effectLst/>
                        </a:rPr>
                        <a:t>A (Control)</a:t>
                      </a:r>
                      <a:endParaRPr lang="en-US" sz="1000" b="1" kern="12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kern="1200">
                          <a:solidFill>
                            <a:schemeClr val="bg1"/>
                          </a:solidFill>
                          <a:effectLst/>
                        </a:rPr>
                        <a:t>B (Test)</a:t>
                      </a:r>
                      <a:endParaRPr lang="en-US" sz="1000" b="1" kern="12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kern="1200">
                          <a:solidFill>
                            <a:schemeClr val="bg1"/>
                          </a:solidFill>
                          <a:effectLst/>
                        </a:rPr>
                        <a:t>Stat Sig</a:t>
                      </a:r>
                      <a:endParaRPr lang="en-US" sz="1000" b="1" kern="12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94771971"/>
                  </a:ext>
                </a:extLst>
              </a:tr>
              <a:tr h="189838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>
                          <a:solidFill>
                            <a:schemeClr val="bg1"/>
                          </a:solidFill>
                          <a:effectLst/>
                        </a:rPr>
                        <a:t>Tour Booked Rate</a:t>
                      </a:r>
                      <a:endParaRPr lang="en-US" sz="700" b="0">
                        <a:solidFill>
                          <a:schemeClr val="bg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800">
                          <a:solidFill>
                            <a:srgbClr val="004D85"/>
                          </a:solidFill>
                        </a:rPr>
                        <a:t>6.13%</a:t>
                      </a:r>
                      <a:endParaRPr lang="en-US" sz="800">
                        <a:solidFill>
                          <a:srgbClr val="004D85"/>
                        </a:solidFill>
                        <a:latin typeface="+mn-lt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800" b="0">
                          <a:solidFill>
                            <a:srgbClr val="002060"/>
                          </a:solidFill>
                        </a:rPr>
                        <a:t>6.05%</a:t>
                      </a:r>
                      <a:endParaRPr lang="en-US" sz="800" b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800">
                          <a:solidFill>
                            <a:srgbClr val="004D85"/>
                          </a:solidFill>
                        </a:rPr>
                        <a:t>29%</a:t>
                      </a:r>
                      <a:endParaRPr lang="en-US" sz="800">
                        <a:solidFill>
                          <a:srgbClr val="004D85"/>
                        </a:solidFill>
                        <a:latin typeface="+mn-lt"/>
                      </a:endParaRPr>
                    </a:p>
                  </a:txBody>
                  <a:tcPr marL="6350" marR="6350" marT="6350" marB="9144" anchor="ctr"/>
                </a:tc>
                <a:extLst>
                  <a:ext uri="{0D108BD9-81ED-4DB2-BD59-A6C34878D82A}">
                    <a16:rowId xmlns:a16="http://schemas.microsoft.com/office/drawing/2014/main" val="2871688575"/>
                  </a:ext>
                </a:extLst>
              </a:tr>
              <a:tr h="189838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>
                          <a:solidFill>
                            <a:schemeClr val="bg1"/>
                          </a:solidFill>
                          <a:effectLst/>
                        </a:rPr>
                        <a:t>Form Entry Rate</a:t>
                      </a:r>
                      <a:endParaRPr lang="en-US" sz="700" b="0">
                        <a:solidFill>
                          <a:schemeClr val="bg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800">
                          <a:solidFill>
                            <a:srgbClr val="004D85"/>
                          </a:solidFill>
                        </a:rPr>
                        <a:t>21.83%</a:t>
                      </a:r>
                      <a:endParaRPr lang="en-US" sz="800">
                        <a:solidFill>
                          <a:srgbClr val="004D85"/>
                        </a:solidFill>
                        <a:latin typeface="+mn-lt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800">
                          <a:solidFill>
                            <a:srgbClr val="002060"/>
                          </a:solidFill>
                        </a:rPr>
                        <a:t>22.45%</a:t>
                      </a:r>
                      <a:endParaRPr lang="en-US" sz="80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800">
                          <a:solidFill>
                            <a:srgbClr val="004D85"/>
                          </a:solidFill>
                        </a:rPr>
                        <a:t>92%</a:t>
                      </a:r>
                      <a:endParaRPr lang="en-US" sz="800">
                        <a:solidFill>
                          <a:srgbClr val="004D85"/>
                        </a:solidFill>
                        <a:latin typeface="+mn-lt"/>
                      </a:endParaRPr>
                    </a:p>
                  </a:txBody>
                  <a:tcPr marL="6350" marR="6350" marT="6350" marB="9144" anchor="ctr"/>
                </a:tc>
                <a:extLst>
                  <a:ext uri="{0D108BD9-81ED-4DB2-BD59-A6C34878D82A}">
                    <a16:rowId xmlns:a16="http://schemas.microsoft.com/office/drawing/2014/main" val="360105323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37D6446-3E48-8708-65FD-6042CB5459CB}"/>
              </a:ext>
            </a:extLst>
          </p:cNvPr>
          <p:cNvSpPr txBox="1"/>
          <p:nvPr/>
        </p:nvSpPr>
        <p:spPr>
          <a:xfrm>
            <a:off x="-7617" y="2503360"/>
            <a:ext cx="4314607" cy="261610"/>
          </a:xfrm>
          <a:prstGeom prst="rect">
            <a:avLst/>
          </a:prstGeom>
          <a:solidFill>
            <a:schemeClr val="accent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  <a:endParaRPr lang="en-US" sz="11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0C9A04-20F8-9ADA-F202-65C59C095A6E}"/>
              </a:ext>
            </a:extLst>
          </p:cNvPr>
          <p:cNvSpPr txBox="1"/>
          <p:nvPr/>
        </p:nvSpPr>
        <p:spPr>
          <a:xfrm>
            <a:off x="14825" y="4835829"/>
            <a:ext cx="4317310" cy="261610"/>
          </a:xfrm>
          <a:prstGeom prst="rect">
            <a:avLst/>
          </a:prstGeom>
          <a:solidFill>
            <a:schemeClr val="accent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Next Steps &amp; Testing Opportunities</a:t>
            </a:r>
            <a:endParaRPr lang="en-US" sz="11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AA4392-D934-91F4-D4F6-7F4BC2035656}"/>
              </a:ext>
            </a:extLst>
          </p:cNvPr>
          <p:cNvCxnSpPr>
            <a:cxnSpLocks/>
          </p:cNvCxnSpPr>
          <p:nvPr/>
        </p:nvCxnSpPr>
        <p:spPr>
          <a:xfrm flipH="1">
            <a:off x="4306990" y="1357307"/>
            <a:ext cx="10206" cy="6543676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ACA9946-F452-74FA-51C8-563FB630797A}"/>
              </a:ext>
            </a:extLst>
          </p:cNvPr>
          <p:cNvSpPr txBox="1"/>
          <p:nvPr/>
        </p:nvSpPr>
        <p:spPr>
          <a:xfrm>
            <a:off x="48317" y="5182804"/>
            <a:ext cx="4214174" cy="286232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kern="0">
                <a:latin typeface="Poppins" panose="00000500000000000000" pitchFamily="2" charset="0"/>
                <a:cs typeface="Poppins" panose="00000500000000000000" pitchFamily="2" charset="0"/>
              </a:rPr>
              <a:t>Learnings:</a:t>
            </a:r>
            <a:endParaRPr lang="en-US" sz="1000" kern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en-US" sz="1000" kern="0">
                <a:latin typeface="Poppins" panose="00000500000000000000" pitchFamily="2" charset="0"/>
                <a:cs typeface="Poppins" panose="00000500000000000000" pitchFamily="2" charset="0"/>
              </a:rPr>
              <a:t>Despite better form entry and step 1 completion, the test saw fewer leads. CVR delta came after step 3 complete, where test users went back to school pages more often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en-US" sz="1000" kern="0">
                <a:latin typeface="Poppins" panose="00000500000000000000" pitchFamily="2" charset="0"/>
                <a:cs typeface="Poppins" panose="00000500000000000000" pitchFamily="2" charset="0"/>
              </a:rPr>
              <a:t>Drop-off at information submit is not caused by the experience pushing users into the form too quickly as variant visitors viewed 1% more school pages per session compared to the control and scrolled further. 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en-US" sz="1000" kern="0">
                <a:latin typeface="Poppins" panose="00000500000000000000" pitchFamily="2" charset="0"/>
                <a:cs typeface="Poppins" panose="00000500000000000000" pitchFamily="2" charset="0"/>
              </a:rPr>
              <a:t>Device-specific segments did not behave substantially differently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1000" kern="0">
                <a:latin typeface="Poppins" panose="00000500000000000000" pitchFamily="2" charset="0"/>
                <a:cs typeface="Poppins" panose="00000500000000000000" pitchFamily="2" charset="0"/>
              </a:rPr>
              <a:t>The trust stats pushed users into the funnel but did not successfully motivate lead submit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00" b="1" kern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kern="0">
                <a:latin typeface="Poppins" panose="00000500000000000000" pitchFamily="2" charset="0"/>
                <a:cs typeface="Poppins" panose="00000500000000000000" pitchFamily="2" charset="0"/>
              </a:rPr>
              <a:t>Next Steps &amp; Testing Opportunities: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en-US" sz="1000" kern="0">
                <a:latin typeface="Poppins" panose="00000500000000000000" pitchFamily="2" charset="0"/>
                <a:cs typeface="Poppins" panose="00000500000000000000" pitchFamily="2" charset="0"/>
              </a:rPr>
              <a:t>Pause test (</a:t>
            </a:r>
            <a:r>
              <a:rPr lang="en-US" sz="1000" b="1" kern="0">
                <a:solidFill>
                  <a:srgbClr val="37B44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Done</a:t>
            </a:r>
            <a:r>
              <a:rPr lang="en-US" sz="1000" kern="0"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en-US" sz="1000" kern="0">
                <a:latin typeface="Poppins" panose="00000500000000000000" pitchFamily="2" charset="0"/>
                <a:cs typeface="Poppins" panose="00000500000000000000" pitchFamily="2" charset="0"/>
              </a:rPr>
              <a:t>Align on next steps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en-US" sz="1000" kern="0">
                <a:latin typeface="Poppins" panose="00000500000000000000" pitchFamily="2" charset="0"/>
                <a:cs typeface="Poppins" panose="00000500000000000000" pitchFamily="2" charset="0"/>
              </a:rPr>
              <a:t>Hold in backlog for potential re-test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endParaRPr lang="en-US" sz="1000" kern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4C54BF8-AC93-498E-FA36-C5E0BF01F311}"/>
              </a:ext>
            </a:extLst>
          </p:cNvPr>
          <p:cNvSpPr/>
          <p:nvPr/>
        </p:nvSpPr>
        <p:spPr>
          <a:xfrm>
            <a:off x="4441427" y="5278631"/>
            <a:ext cx="2285410" cy="147834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81A3ED-FFF6-641A-F22F-34E8CD0C731F}"/>
              </a:ext>
            </a:extLst>
          </p:cNvPr>
          <p:cNvSpPr txBox="1"/>
          <p:nvPr/>
        </p:nvSpPr>
        <p:spPr>
          <a:xfrm>
            <a:off x="4441427" y="5403617"/>
            <a:ext cx="2292342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>
                <a:latin typeface="Poppins" panose="00000500000000000000" pitchFamily="2" charset="0"/>
                <a:cs typeface="Poppins" panose="00000500000000000000" pitchFamily="2" charset="0"/>
              </a:rPr>
              <a:t>Control – No Trust Stats</a:t>
            </a:r>
            <a:endParaRPr lang="en-US" sz="10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4C00B9-0507-F19A-2270-AEF4BFD30C89}"/>
              </a:ext>
            </a:extLst>
          </p:cNvPr>
          <p:cNvSpPr txBox="1"/>
          <p:nvPr/>
        </p:nvSpPr>
        <p:spPr>
          <a:xfrm>
            <a:off x="4815830" y="5165088"/>
            <a:ext cx="1543534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Winner</a:t>
            </a:r>
            <a:endParaRPr lang="en-US" sz="1000">
              <a:solidFill>
                <a:schemeClr val="accent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4E5EBB-2BCB-69BE-C683-C1EEB39AA493}"/>
              </a:ext>
            </a:extLst>
          </p:cNvPr>
          <p:cNvSpPr txBox="1"/>
          <p:nvPr/>
        </p:nvSpPr>
        <p:spPr>
          <a:xfrm>
            <a:off x="4583269" y="6789346"/>
            <a:ext cx="2008832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>
                <a:latin typeface="Poppins" panose="00000500000000000000" pitchFamily="2" charset="0"/>
                <a:cs typeface="Poppins" panose="00000500000000000000" pitchFamily="2" charset="0"/>
              </a:rPr>
              <a:t>Test – Added  Trust Stats</a:t>
            </a:r>
            <a:endParaRPr lang="en-US" sz="10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0370BD-2548-BE36-58E6-FF0F0B022D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8209" y="242250"/>
            <a:ext cx="1133438" cy="3926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0229A50-F02C-8349-F5EB-E6AC192A6C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8430" y="7059745"/>
            <a:ext cx="1758211" cy="104308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DB958AE-5AAB-F631-02B4-C505E4B252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8430" y="5661383"/>
            <a:ext cx="1758211" cy="100972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59944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CDD8CFF-3CCA-DF78-A83E-EF1E7D0E9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91" y="528969"/>
            <a:ext cx="6737708" cy="96167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74C9BE-520E-3D33-9AD6-B96C5944A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962" y="4846600"/>
            <a:ext cx="3482037" cy="25865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797E8D-0AF0-24D7-6EFC-398999B05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91" y="4846600"/>
            <a:ext cx="3255671" cy="25865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B776620-BEEC-E405-1D2E-FD801F5C02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91" y="1746726"/>
            <a:ext cx="4706007" cy="144800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AE100E7-482A-4F92-70B4-467C7410F8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291" y="3561188"/>
            <a:ext cx="3658111" cy="87642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21270C0-8398-E365-6892-7A56DAC049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1623" y="7532140"/>
            <a:ext cx="1343212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087716"/>
      </p:ext>
    </p:extLst>
  </p:cSld>
  <p:clrMapOvr>
    <a:masterClrMapping/>
  </p:clrMapOvr>
</p:sld>
</file>

<file path=ppt/theme/theme1.xml><?xml version="1.0" encoding="utf-8"?>
<a:theme xmlns:a="http://schemas.openxmlformats.org/drawingml/2006/main" name="1_Sharkninja">
  <a:themeElements>
    <a:clrScheme name="SharkNinja">
      <a:dk1>
        <a:srgbClr val="000000"/>
      </a:dk1>
      <a:lt1>
        <a:srgbClr val="FFFFFF"/>
      </a:lt1>
      <a:dk2>
        <a:srgbClr val="54575B"/>
      </a:dk2>
      <a:lt2>
        <a:srgbClr val="E7E6E6"/>
      </a:lt2>
      <a:accent1>
        <a:srgbClr val="00A29E"/>
      </a:accent1>
      <a:accent2>
        <a:srgbClr val="006A66"/>
      </a:accent2>
      <a:accent3>
        <a:srgbClr val="F5F5F5"/>
      </a:accent3>
      <a:accent4>
        <a:srgbClr val="C2C961"/>
      </a:accent4>
      <a:accent5>
        <a:srgbClr val="ED8236"/>
      </a:accent5>
      <a:accent6>
        <a:srgbClr val="1AC0EE"/>
      </a:accent6>
      <a:hlink>
        <a:srgbClr val="00A29E"/>
      </a:hlink>
      <a:folHlink>
        <a:srgbClr val="006A67"/>
      </a:folHlink>
    </a:clrScheme>
    <a:fontScheme name="Poppins">
      <a:majorFont>
        <a:latin typeface="Poppins 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 sz="1600" b="1" dirty="0" smtClean="0">
            <a:latin typeface="Poppins SemiBold" pitchFamily="2" charset="77"/>
            <a:cs typeface="Poppins SemiBold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0" marR="0" indent="0" algn="l" defTabSz="914400" rtl="0" eaLnBrk="1" fontAlgn="base" latinLnBrk="0" hangingPunct="1">
          <a:lnSpc>
            <a:spcPct val="112000"/>
          </a:lnSpc>
          <a:spcBef>
            <a:spcPct val="0"/>
          </a:spcBef>
          <a:spcAft>
            <a:spcPct val="0"/>
          </a:spcAft>
          <a:buClr>
            <a:srgbClr val="442735"/>
          </a:buClr>
          <a:buSzTx/>
          <a:buFontTx/>
          <a:buNone/>
          <a:tabLst/>
          <a:defRPr kumimoji="0" sz="1400" b="0" i="0" u="none" strike="noStrike" kern="1200" cap="none" spc="0" normalizeH="0" baseline="0" noProof="0" dirty="0">
            <a:ln>
              <a:noFill/>
            </a:ln>
            <a:solidFill>
              <a:schemeClr val="tx2"/>
            </a:solidFill>
            <a:effectLst/>
            <a:uLnTx/>
            <a:uFillTx/>
            <a:latin typeface="Avenir Next LT Pro" panose="020B0504020202020204" pitchFamily="34" charset="77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harkninja" id="{ADD008D2-7F49-5547-B82C-540BB4DA0115}" vid="{29EA7BCC-7BED-A14C-8744-B152912B37DA}"/>
    </a:ext>
  </a:extLst>
</a:theme>
</file>

<file path=ppt/theme/theme2.xml><?xml version="1.0" encoding="utf-8"?>
<a:theme xmlns:a="http://schemas.openxmlformats.org/drawingml/2006/main" name="Goddard_School_Locator_CRO_Strategy_Audi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C703C54-BDBE-4A9F-A66B-84C194E51D5A}">
  <we:reference id="WA200005566" version="3.0.0.3" store="Omex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44a2af-62a5-4e8d-98dc-8a79b8aeb8cb">
      <Terms xmlns="http://schemas.microsoft.com/office/infopath/2007/PartnerControls"/>
    </lcf76f155ced4ddcb4097134ff3c332f>
    <TaxCatchAll xmlns="0938163b-3131-4d51-8c32-57a4c87c7dcf" xsi:nil="true"/>
    <Client_x002d_Facing xmlns="2644a2af-62a5-4e8d-98dc-8a79b8aeb8cb">false</Client_x002d_Facing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02F0EA130091489E3146B467F55735" ma:contentTypeVersion="21" ma:contentTypeDescription="Create a new document." ma:contentTypeScope="" ma:versionID="f9ddfaacf6d7b5e5843bc722112eec3e">
  <xsd:schema xmlns:xsd="http://www.w3.org/2001/XMLSchema" xmlns:xs="http://www.w3.org/2001/XMLSchema" xmlns:p="http://schemas.microsoft.com/office/2006/metadata/properties" xmlns:ns2="2644a2af-62a5-4e8d-98dc-8a79b8aeb8cb" xmlns:ns3="0938163b-3131-4d51-8c32-57a4c87c7dcf" targetNamespace="http://schemas.microsoft.com/office/2006/metadata/properties" ma:root="true" ma:fieldsID="5d69f62928b4928ab2d5c89c2d6ddfd5" ns2:_="" ns3:_="">
    <xsd:import namespace="2644a2af-62a5-4e8d-98dc-8a79b8aeb8cb"/>
    <xsd:import namespace="0938163b-3131-4d51-8c32-57a4c87c7d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Client_x002d_Facing"/>
                <xsd:element ref="ns2:MediaServiceObjectDetectorVersion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44a2af-62a5-4e8d-98dc-8a79b8aeb8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1f119d9-9750-42cd-a5ee-7af4dcc452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lient_x002d_Facing" ma:index="23" ma:displayName="Client-Facing" ma:default="0" ma:description="Is this document client facing?" ma:format="Dropdown" ma:internalName="Client_x002d_Facing">
      <xsd:simpleType>
        <xsd:restriction base="dms:Boolea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38163b-3131-4d51-8c32-57a4c87c7dc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e4730522-532f-4b4e-baa1-16554052326c}" ma:internalName="TaxCatchAll" ma:showField="CatchAllData" ma:web="0938163b-3131-4d51-8c32-57a4c87c7d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262769-23B3-4D91-A939-43C6D883E87D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0938163b-3131-4d51-8c32-57a4c87c7dcf"/>
    <ds:schemaRef ds:uri="2644a2af-62a5-4e8d-98dc-8a79b8aeb8cb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B1063AC-B7AF-4498-86B1-87F77B71A9B4}">
  <ds:schemaRefs>
    <ds:schemaRef ds:uri="0938163b-3131-4d51-8c32-57a4c87c7dcf"/>
    <ds:schemaRef ds:uri="2644a2af-62a5-4e8d-98dc-8a79b8aeb8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FAE4DD2-F0B7-4AC4-93C0-080FA0DF282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321</Words>
  <Application>Microsoft Office PowerPoint</Application>
  <PresentationFormat>Custom</PresentationFormat>
  <Paragraphs>61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Avenir Next LT Pro</vt:lpstr>
      <vt:lpstr>Calibri</vt:lpstr>
      <vt:lpstr>Poppins</vt:lpstr>
      <vt:lpstr>Poppins  </vt:lpstr>
      <vt:lpstr>Poppins SemiBold</vt:lpstr>
      <vt:lpstr>1_Sharkninja</vt:lpstr>
      <vt:lpstr>Goddard_School_Locator_CRO_Strategy_Audit</vt:lpstr>
      <vt:lpstr>Added trust Stats On School Pages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POWERED HUMAN UNDERSTANDING</dc:title>
  <dc:creator>Julian Bonilla</dc:creator>
  <cp:lastModifiedBy>Jordan Shapiro</cp:lastModifiedBy>
  <cp:revision>2</cp:revision>
  <dcterms:created xsi:type="dcterms:W3CDTF">2018-10-17T15:20:37Z</dcterms:created>
  <dcterms:modified xsi:type="dcterms:W3CDTF">2026-08-24T18:17:58Z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0x0101005E02F0EA130091489E3146B467F55735</vt:lpwstr>
  </property>
  <property fmtid="{D5CDD505-2E9C-101B-9397-08002B2CF9AE}" pid="3" name="MediaServiceImageTags">
    <vt:lpwstr/>
  </property>
</Properties>
</file>